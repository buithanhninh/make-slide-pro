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77F901-1271-46E3-88E6-8CCE4AA4A1D5}"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38D73B-9522-4255-AFD6-ECDCAED5C986}" type="slidenum">
              <a:rPr lang="en-US" smtClean="0"/>
              <a:t>‹#›</a:t>
            </a:fld>
            <a:endParaRPr lang="en-US"/>
          </a:p>
        </p:txBody>
      </p:sp>
    </p:spTree>
    <p:extLst>
      <p:ext uri="{BB962C8B-B14F-4D97-AF65-F5344CB8AC3E}">
        <p14:creationId xmlns:p14="http://schemas.microsoft.com/office/powerpoint/2010/main" val="1439205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Kính chào quý học viên, hôm nay chúng ta bắt đầu chuyên đề Nhập môn Dân số học nhằm nắm vững các khái niệm và nguyên lý vận động của dân số.</a:t>
            </a:r>
          </a:p>
        </p:txBody>
      </p:sp>
      <p:sp>
        <p:nvSpPr>
          <p:cNvPr id="4" name="Slide Number Placeholder 3"/>
          <p:cNvSpPr>
            <a:spLocks noGrp="1"/>
          </p:cNvSpPr>
          <p:nvPr>
            <p:ph type="sldNum" sz="quarter" idx="5"/>
          </p:nvPr>
        </p:nvSpPr>
        <p:spPr/>
        <p:txBody>
          <a:bodyPr/>
          <a:lstStyle/>
          <a:p>
            <a:fld id="{3B38D73B-9522-4255-AFD6-ECDCAED5C986}" type="slidenum">
              <a:rPr lang="en-US" smtClean="0"/>
              <a:t>1</a:t>
            </a:fld>
            <a:endParaRPr lang="en-US"/>
          </a:p>
        </p:txBody>
      </p:sp>
    </p:spTree>
    <p:extLst>
      <p:ext uri="{BB962C8B-B14F-4D97-AF65-F5344CB8AC3E}">
        <p14:creationId xmlns:p14="http://schemas.microsoft.com/office/powerpoint/2010/main" val="1574793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Mục tiêu bài giảng yêu cầu người học phân biệt rành mạch giữa dân cư và dân số, từ đó vận dụng phương pháp nghiên cứu chính xác.</a:t>
            </a:r>
            <a:endParaRPr lang="en-US"/>
          </a:p>
        </p:txBody>
      </p:sp>
      <p:sp>
        <p:nvSpPr>
          <p:cNvPr id="4" name="Slide Number Placeholder 3"/>
          <p:cNvSpPr>
            <a:spLocks noGrp="1"/>
          </p:cNvSpPr>
          <p:nvPr>
            <p:ph type="sldNum" sz="quarter" idx="5"/>
          </p:nvPr>
        </p:nvSpPr>
        <p:spPr/>
        <p:txBody>
          <a:bodyPr/>
          <a:lstStyle/>
          <a:p>
            <a:fld id="{3B38D73B-9522-4255-AFD6-ECDCAED5C986}" type="slidenum">
              <a:rPr lang="en-US" smtClean="0"/>
              <a:t>2</a:t>
            </a:fld>
            <a:endParaRPr lang="en-US"/>
          </a:p>
        </p:txBody>
      </p:sp>
    </p:spTree>
    <p:extLst>
      <p:ext uri="{BB962C8B-B14F-4D97-AF65-F5344CB8AC3E}">
        <p14:creationId xmlns:p14="http://schemas.microsoft.com/office/powerpoint/2010/main" val="1017325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Cần lưu ý dân cư là khái niệm rộng hơn rất nhiều so với dân số. Dân số chỉ tập trung vào các lát cắt có thể đo lường và quản trị.</a:t>
            </a:r>
            <a:endParaRPr lang="en-US"/>
          </a:p>
        </p:txBody>
      </p:sp>
      <p:sp>
        <p:nvSpPr>
          <p:cNvPr id="4" name="Slide Number Placeholder 3"/>
          <p:cNvSpPr>
            <a:spLocks noGrp="1"/>
          </p:cNvSpPr>
          <p:nvPr>
            <p:ph type="sldNum" sz="quarter" idx="5"/>
          </p:nvPr>
        </p:nvSpPr>
        <p:spPr/>
        <p:txBody>
          <a:bodyPr/>
          <a:lstStyle/>
          <a:p>
            <a:fld id="{3B38D73B-9522-4255-AFD6-ECDCAED5C986}" type="slidenum">
              <a:rPr lang="en-US" smtClean="0"/>
              <a:t>3</a:t>
            </a:fld>
            <a:endParaRPr lang="en-US"/>
          </a:p>
        </p:txBody>
      </p:sp>
    </p:spTree>
    <p:extLst>
      <p:ext uri="{BB962C8B-B14F-4D97-AF65-F5344CB8AC3E}">
        <p14:creationId xmlns:p14="http://schemas.microsoft.com/office/powerpoint/2010/main" val="1045514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Sự kết hợp giữa điều tra tĩnh và theo dõi động giúp các nhà nhân khẩu học nắm bắt đầy đủ bức tranh biến đổi dân số.</a:t>
            </a:r>
          </a:p>
        </p:txBody>
      </p:sp>
      <p:sp>
        <p:nvSpPr>
          <p:cNvPr id="4" name="Slide Number Placeholder 3"/>
          <p:cNvSpPr>
            <a:spLocks noGrp="1"/>
          </p:cNvSpPr>
          <p:nvPr>
            <p:ph type="sldNum" sz="quarter" idx="5"/>
          </p:nvPr>
        </p:nvSpPr>
        <p:spPr/>
        <p:txBody>
          <a:bodyPr/>
          <a:lstStyle/>
          <a:p>
            <a:fld id="{3B38D73B-9522-4255-AFD6-ECDCAED5C986}" type="slidenum">
              <a:rPr lang="en-US" smtClean="0"/>
              <a:t>4</a:t>
            </a:fld>
            <a:endParaRPr lang="en-US"/>
          </a:p>
        </p:txBody>
      </p:sp>
    </p:spTree>
    <p:extLst>
      <p:ext uri="{BB962C8B-B14F-4D97-AF65-F5344CB8AC3E}">
        <p14:creationId xmlns:p14="http://schemas.microsoft.com/office/powerpoint/2010/main" val="2838605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Dân số học giữ vai trò then chốt trong việc hoạch định chính sách phát triển quốc gia dựa trên bằng chứng định lượng vững chắc.</a:t>
            </a:r>
            <a:endParaRPr lang="en-US"/>
          </a:p>
        </p:txBody>
      </p:sp>
      <p:sp>
        <p:nvSpPr>
          <p:cNvPr id="4" name="Slide Number Placeholder 3"/>
          <p:cNvSpPr>
            <a:spLocks noGrp="1"/>
          </p:cNvSpPr>
          <p:nvPr>
            <p:ph type="sldNum" sz="quarter" idx="5"/>
          </p:nvPr>
        </p:nvSpPr>
        <p:spPr/>
        <p:txBody>
          <a:bodyPr/>
          <a:lstStyle/>
          <a:p>
            <a:fld id="{3B38D73B-9522-4255-AFD6-ECDCAED5C986}" type="slidenum">
              <a:rPr lang="en-US" smtClean="0"/>
              <a:t>5</a:t>
            </a:fld>
            <a:endParaRPr lang="en-US"/>
          </a:p>
        </p:txBody>
      </p:sp>
    </p:spTree>
    <p:extLst>
      <p:ext uri="{BB962C8B-B14F-4D97-AF65-F5344CB8AC3E}">
        <p14:creationId xmlns:p14="http://schemas.microsoft.com/office/powerpoint/2010/main" val="3743503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Cảm ơn quý học viên đã lắng nghe. Xin mời thảo luận và đặt câu hỏi cho chuyên đề Nhập môn Dân số học.</a:t>
            </a:r>
            <a:endParaRPr lang="en-US"/>
          </a:p>
        </p:txBody>
      </p:sp>
      <p:sp>
        <p:nvSpPr>
          <p:cNvPr id="4" name="Slide Number Placeholder 3"/>
          <p:cNvSpPr>
            <a:spLocks noGrp="1"/>
          </p:cNvSpPr>
          <p:nvPr>
            <p:ph type="sldNum" sz="quarter" idx="5"/>
          </p:nvPr>
        </p:nvSpPr>
        <p:spPr/>
        <p:txBody>
          <a:bodyPr/>
          <a:lstStyle/>
          <a:p>
            <a:fld id="{3B38D73B-9522-4255-AFD6-ECDCAED5C986}" type="slidenum">
              <a:rPr lang="en-US" smtClean="0"/>
              <a:t>6</a:t>
            </a:fld>
            <a:endParaRPr lang="en-US"/>
          </a:p>
        </p:txBody>
      </p:sp>
    </p:spTree>
    <p:extLst>
      <p:ext uri="{BB962C8B-B14F-4D97-AF65-F5344CB8AC3E}">
        <p14:creationId xmlns:p14="http://schemas.microsoft.com/office/powerpoint/2010/main" val="684460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1C1C-D87A-7312-7600-E02225539B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253CD4C-05E0-A5AC-8835-ECF272AEA8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5EDF6D-48DE-CE6C-20C0-9CE79B732252}"/>
              </a:ext>
            </a:extLst>
          </p:cNvPr>
          <p:cNvSpPr>
            <a:spLocks noGrp="1"/>
          </p:cNvSpPr>
          <p:nvPr>
            <p:ph type="dt" sz="half" idx="10"/>
          </p:nvPr>
        </p:nvSpPr>
        <p:spPr/>
        <p:txBody>
          <a:bodyPr/>
          <a:lstStyle/>
          <a:p>
            <a:fld id="{7185D7C2-9E08-46EC-9549-9E6010319356}" type="datetimeFigureOut">
              <a:rPr lang="en-US" smtClean="0"/>
              <a:t>9/17/2026</a:t>
            </a:fld>
            <a:endParaRPr lang="en-US"/>
          </a:p>
        </p:txBody>
      </p:sp>
      <p:sp>
        <p:nvSpPr>
          <p:cNvPr id="5" name="Footer Placeholder 4">
            <a:extLst>
              <a:ext uri="{FF2B5EF4-FFF2-40B4-BE49-F238E27FC236}">
                <a16:creationId xmlns:a16="http://schemas.microsoft.com/office/drawing/2014/main" id="{58DD0022-FE5F-B36E-0221-FA33880F58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3BED6B-6E67-7FA4-AF26-F5785C45964A}"/>
              </a:ext>
            </a:extLst>
          </p:cNvPr>
          <p:cNvSpPr>
            <a:spLocks noGrp="1"/>
          </p:cNvSpPr>
          <p:nvPr>
            <p:ph type="sldNum" sz="quarter" idx="12"/>
          </p:nvPr>
        </p:nvSpPr>
        <p:spPr/>
        <p:txBody>
          <a:bodyPr/>
          <a:lstStyle/>
          <a:p>
            <a:fld id="{5E82E804-A452-44BB-862A-8060806FA24C}" type="slidenum">
              <a:rPr lang="en-US" smtClean="0"/>
              <a:t>‹#›</a:t>
            </a:fld>
            <a:endParaRPr lang="en-US"/>
          </a:p>
        </p:txBody>
      </p:sp>
    </p:spTree>
    <p:extLst>
      <p:ext uri="{BB962C8B-B14F-4D97-AF65-F5344CB8AC3E}">
        <p14:creationId xmlns:p14="http://schemas.microsoft.com/office/powerpoint/2010/main" val="267395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F34B3-00B6-E96D-6BC8-F35E9CD2BC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B25183-B76C-22A9-722E-8E6322B9E8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427A4B-F8C0-4471-0020-ADEDF4226826}"/>
              </a:ext>
            </a:extLst>
          </p:cNvPr>
          <p:cNvSpPr>
            <a:spLocks noGrp="1"/>
          </p:cNvSpPr>
          <p:nvPr>
            <p:ph type="dt" sz="half" idx="10"/>
          </p:nvPr>
        </p:nvSpPr>
        <p:spPr/>
        <p:txBody>
          <a:bodyPr/>
          <a:lstStyle/>
          <a:p>
            <a:fld id="{7185D7C2-9E08-46EC-9549-9E6010319356}" type="datetimeFigureOut">
              <a:rPr lang="en-US" smtClean="0"/>
              <a:t>9/17/2026</a:t>
            </a:fld>
            <a:endParaRPr lang="en-US"/>
          </a:p>
        </p:txBody>
      </p:sp>
      <p:sp>
        <p:nvSpPr>
          <p:cNvPr id="5" name="Footer Placeholder 4">
            <a:extLst>
              <a:ext uri="{FF2B5EF4-FFF2-40B4-BE49-F238E27FC236}">
                <a16:creationId xmlns:a16="http://schemas.microsoft.com/office/drawing/2014/main" id="{805008E2-F91A-FEDD-ADC0-0107473832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BB9C1D-0A6B-6D27-D680-C64D373293F2}"/>
              </a:ext>
            </a:extLst>
          </p:cNvPr>
          <p:cNvSpPr>
            <a:spLocks noGrp="1"/>
          </p:cNvSpPr>
          <p:nvPr>
            <p:ph type="sldNum" sz="quarter" idx="12"/>
          </p:nvPr>
        </p:nvSpPr>
        <p:spPr/>
        <p:txBody>
          <a:bodyPr/>
          <a:lstStyle/>
          <a:p>
            <a:fld id="{5E82E804-A452-44BB-862A-8060806FA24C}" type="slidenum">
              <a:rPr lang="en-US" smtClean="0"/>
              <a:t>‹#›</a:t>
            </a:fld>
            <a:endParaRPr lang="en-US"/>
          </a:p>
        </p:txBody>
      </p:sp>
    </p:spTree>
    <p:extLst>
      <p:ext uri="{BB962C8B-B14F-4D97-AF65-F5344CB8AC3E}">
        <p14:creationId xmlns:p14="http://schemas.microsoft.com/office/powerpoint/2010/main" val="596801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B3683-E941-E5A7-CE54-055E719AF9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3A82F9-BC01-C5FA-CA1B-3DFBA97845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A8BEC9-55F6-453D-5DAB-92B4B6B0E682}"/>
              </a:ext>
            </a:extLst>
          </p:cNvPr>
          <p:cNvSpPr>
            <a:spLocks noGrp="1"/>
          </p:cNvSpPr>
          <p:nvPr>
            <p:ph type="dt" sz="half" idx="10"/>
          </p:nvPr>
        </p:nvSpPr>
        <p:spPr/>
        <p:txBody>
          <a:bodyPr/>
          <a:lstStyle/>
          <a:p>
            <a:fld id="{7185D7C2-9E08-46EC-9549-9E6010319356}" type="datetimeFigureOut">
              <a:rPr lang="en-US" smtClean="0"/>
              <a:t>9/17/2026</a:t>
            </a:fld>
            <a:endParaRPr lang="en-US"/>
          </a:p>
        </p:txBody>
      </p:sp>
      <p:sp>
        <p:nvSpPr>
          <p:cNvPr id="5" name="Footer Placeholder 4">
            <a:extLst>
              <a:ext uri="{FF2B5EF4-FFF2-40B4-BE49-F238E27FC236}">
                <a16:creationId xmlns:a16="http://schemas.microsoft.com/office/drawing/2014/main" id="{D1CD6FB2-0BB8-0DFD-6FFA-3D0C8F0510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03AACC-4354-B4DB-5EC6-6FF61740789B}"/>
              </a:ext>
            </a:extLst>
          </p:cNvPr>
          <p:cNvSpPr>
            <a:spLocks noGrp="1"/>
          </p:cNvSpPr>
          <p:nvPr>
            <p:ph type="sldNum" sz="quarter" idx="12"/>
          </p:nvPr>
        </p:nvSpPr>
        <p:spPr/>
        <p:txBody>
          <a:bodyPr/>
          <a:lstStyle/>
          <a:p>
            <a:fld id="{5E82E804-A452-44BB-862A-8060806FA24C}" type="slidenum">
              <a:rPr lang="en-US" smtClean="0"/>
              <a:t>‹#›</a:t>
            </a:fld>
            <a:endParaRPr lang="en-US"/>
          </a:p>
        </p:txBody>
      </p:sp>
    </p:spTree>
    <p:extLst>
      <p:ext uri="{BB962C8B-B14F-4D97-AF65-F5344CB8AC3E}">
        <p14:creationId xmlns:p14="http://schemas.microsoft.com/office/powerpoint/2010/main" val="283961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2FD05-4723-CF1F-341F-A0572BFD4D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C57DF6-1AE2-CF13-238C-4352DD3542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6B96BC-19FD-99CF-DBD1-0E596AFDC7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E7279E-C8EC-92AB-5A87-8CC66D65A2BC}"/>
              </a:ext>
            </a:extLst>
          </p:cNvPr>
          <p:cNvSpPr>
            <a:spLocks noGrp="1"/>
          </p:cNvSpPr>
          <p:nvPr>
            <p:ph type="dt" sz="half" idx="10"/>
          </p:nvPr>
        </p:nvSpPr>
        <p:spPr/>
        <p:txBody>
          <a:bodyPr/>
          <a:lstStyle/>
          <a:p>
            <a:fld id="{7185D7C2-9E08-46EC-9549-9E6010319356}" type="datetimeFigureOut">
              <a:rPr lang="en-US" smtClean="0"/>
              <a:t>9/17/2026</a:t>
            </a:fld>
            <a:endParaRPr lang="en-US"/>
          </a:p>
        </p:txBody>
      </p:sp>
      <p:sp>
        <p:nvSpPr>
          <p:cNvPr id="6" name="Footer Placeholder 5">
            <a:extLst>
              <a:ext uri="{FF2B5EF4-FFF2-40B4-BE49-F238E27FC236}">
                <a16:creationId xmlns:a16="http://schemas.microsoft.com/office/drawing/2014/main" id="{5FB96F58-2F25-2EEB-262E-41A87AB245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7CD146-1B29-4FF3-0DF5-FAC8304D3F0A}"/>
              </a:ext>
            </a:extLst>
          </p:cNvPr>
          <p:cNvSpPr>
            <a:spLocks noGrp="1"/>
          </p:cNvSpPr>
          <p:nvPr>
            <p:ph type="sldNum" sz="quarter" idx="12"/>
          </p:nvPr>
        </p:nvSpPr>
        <p:spPr/>
        <p:txBody>
          <a:bodyPr/>
          <a:lstStyle/>
          <a:p>
            <a:fld id="{5E82E804-A452-44BB-862A-8060806FA24C}" type="slidenum">
              <a:rPr lang="en-US" smtClean="0"/>
              <a:t>‹#›</a:t>
            </a:fld>
            <a:endParaRPr lang="en-US"/>
          </a:p>
        </p:txBody>
      </p:sp>
    </p:spTree>
    <p:extLst>
      <p:ext uri="{BB962C8B-B14F-4D97-AF65-F5344CB8AC3E}">
        <p14:creationId xmlns:p14="http://schemas.microsoft.com/office/powerpoint/2010/main" val="4141866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3862-F564-6AA0-3236-3A0BB59A9F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E00AE9-FFA0-5A6F-FAE8-457B2EDACC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75B0D6-8389-0BFD-B187-28E0E8BEEE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BA6D50-0562-DA89-CD04-C24C345199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B78192-D4EB-2FDB-E6C4-A53D9BB734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7B2896-5F35-35A6-B106-D90AA063794C}"/>
              </a:ext>
            </a:extLst>
          </p:cNvPr>
          <p:cNvSpPr>
            <a:spLocks noGrp="1"/>
          </p:cNvSpPr>
          <p:nvPr>
            <p:ph type="dt" sz="half" idx="10"/>
          </p:nvPr>
        </p:nvSpPr>
        <p:spPr/>
        <p:txBody>
          <a:bodyPr/>
          <a:lstStyle/>
          <a:p>
            <a:fld id="{7185D7C2-9E08-46EC-9549-9E6010319356}" type="datetimeFigureOut">
              <a:rPr lang="en-US" smtClean="0"/>
              <a:t>9/17/2026</a:t>
            </a:fld>
            <a:endParaRPr lang="en-US"/>
          </a:p>
        </p:txBody>
      </p:sp>
      <p:sp>
        <p:nvSpPr>
          <p:cNvPr id="8" name="Footer Placeholder 7">
            <a:extLst>
              <a:ext uri="{FF2B5EF4-FFF2-40B4-BE49-F238E27FC236}">
                <a16:creationId xmlns:a16="http://schemas.microsoft.com/office/drawing/2014/main" id="{01A2B4B6-DBBF-E9DE-87CD-4C5A4E165D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639887-6DCC-5FAA-9981-2F6A8D3BD172}"/>
              </a:ext>
            </a:extLst>
          </p:cNvPr>
          <p:cNvSpPr>
            <a:spLocks noGrp="1"/>
          </p:cNvSpPr>
          <p:nvPr>
            <p:ph type="sldNum" sz="quarter" idx="12"/>
          </p:nvPr>
        </p:nvSpPr>
        <p:spPr/>
        <p:txBody>
          <a:bodyPr/>
          <a:lstStyle/>
          <a:p>
            <a:fld id="{5E82E804-A452-44BB-862A-8060806FA24C}" type="slidenum">
              <a:rPr lang="en-US" smtClean="0"/>
              <a:t>‹#›</a:t>
            </a:fld>
            <a:endParaRPr lang="en-US"/>
          </a:p>
        </p:txBody>
      </p:sp>
    </p:spTree>
    <p:extLst>
      <p:ext uri="{BB962C8B-B14F-4D97-AF65-F5344CB8AC3E}">
        <p14:creationId xmlns:p14="http://schemas.microsoft.com/office/powerpoint/2010/main" val="2761900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B1D3E-CB75-3879-32E8-18CEDDD969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AAAD17-E07E-3AF2-F369-465B5EFB74BB}"/>
              </a:ext>
            </a:extLst>
          </p:cNvPr>
          <p:cNvSpPr>
            <a:spLocks noGrp="1"/>
          </p:cNvSpPr>
          <p:nvPr>
            <p:ph type="dt" sz="half" idx="10"/>
          </p:nvPr>
        </p:nvSpPr>
        <p:spPr/>
        <p:txBody>
          <a:bodyPr/>
          <a:lstStyle/>
          <a:p>
            <a:fld id="{7185D7C2-9E08-46EC-9549-9E6010319356}" type="datetimeFigureOut">
              <a:rPr lang="en-US" smtClean="0"/>
              <a:t>9/17/2026</a:t>
            </a:fld>
            <a:endParaRPr lang="en-US"/>
          </a:p>
        </p:txBody>
      </p:sp>
      <p:sp>
        <p:nvSpPr>
          <p:cNvPr id="4" name="Footer Placeholder 3">
            <a:extLst>
              <a:ext uri="{FF2B5EF4-FFF2-40B4-BE49-F238E27FC236}">
                <a16:creationId xmlns:a16="http://schemas.microsoft.com/office/drawing/2014/main" id="{B86385A9-5081-115C-817E-566002AA2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2FF493-FD51-780B-AAA4-FE65B5389AD2}"/>
              </a:ext>
            </a:extLst>
          </p:cNvPr>
          <p:cNvSpPr>
            <a:spLocks noGrp="1"/>
          </p:cNvSpPr>
          <p:nvPr>
            <p:ph type="sldNum" sz="quarter" idx="12"/>
          </p:nvPr>
        </p:nvSpPr>
        <p:spPr/>
        <p:txBody>
          <a:bodyPr/>
          <a:lstStyle/>
          <a:p>
            <a:fld id="{5E82E804-A452-44BB-862A-8060806FA24C}" type="slidenum">
              <a:rPr lang="en-US" smtClean="0"/>
              <a:t>‹#›</a:t>
            </a:fld>
            <a:endParaRPr lang="en-US"/>
          </a:p>
        </p:txBody>
      </p:sp>
    </p:spTree>
    <p:extLst>
      <p:ext uri="{BB962C8B-B14F-4D97-AF65-F5344CB8AC3E}">
        <p14:creationId xmlns:p14="http://schemas.microsoft.com/office/powerpoint/2010/main" val="1562080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2C0557-9DB2-1F2A-DDB0-20E220A34ADD}"/>
              </a:ext>
            </a:extLst>
          </p:cNvPr>
          <p:cNvSpPr>
            <a:spLocks noGrp="1"/>
          </p:cNvSpPr>
          <p:nvPr>
            <p:ph type="dt" sz="half" idx="10"/>
          </p:nvPr>
        </p:nvSpPr>
        <p:spPr/>
        <p:txBody>
          <a:bodyPr/>
          <a:lstStyle/>
          <a:p>
            <a:fld id="{7185D7C2-9E08-46EC-9549-9E6010319356}" type="datetimeFigureOut">
              <a:rPr lang="en-US" smtClean="0"/>
              <a:t>9/17/2026</a:t>
            </a:fld>
            <a:endParaRPr lang="en-US"/>
          </a:p>
        </p:txBody>
      </p:sp>
      <p:sp>
        <p:nvSpPr>
          <p:cNvPr id="3" name="Footer Placeholder 2">
            <a:extLst>
              <a:ext uri="{FF2B5EF4-FFF2-40B4-BE49-F238E27FC236}">
                <a16:creationId xmlns:a16="http://schemas.microsoft.com/office/drawing/2014/main" id="{9EE471A9-52DE-2A30-DFD7-9D942A21B3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17AC5-59CC-8B09-5022-1F5DFF202733}"/>
              </a:ext>
            </a:extLst>
          </p:cNvPr>
          <p:cNvSpPr>
            <a:spLocks noGrp="1"/>
          </p:cNvSpPr>
          <p:nvPr>
            <p:ph type="sldNum" sz="quarter" idx="12"/>
          </p:nvPr>
        </p:nvSpPr>
        <p:spPr/>
        <p:txBody>
          <a:bodyPr/>
          <a:lstStyle/>
          <a:p>
            <a:fld id="{5E82E804-A452-44BB-862A-8060806FA24C}" type="slidenum">
              <a:rPr lang="en-US" smtClean="0"/>
              <a:t>‹#›</a:t>
            </a:fld>
            <a:endParaRPr lang="en-US"/>
          </a:p>
        </p:txBody>
      </p:sp>
    </p:spTree>
    <p:extLst>
      <p:ext uri="{BB962C8B-B14F-4D97-AF65-F5344CB8AC3E}">
        <p14:creationId xmlns:p14="http://schemas.microsoft.com/office/powerpoint/2010/main" val="2629235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34397-BF44-FAD5-86E6-36A162E95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8A8B74-FF7B-8DEF-D3E2-0C50FFC87F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05BFB5-5922-FDAC-42A0-ACE8670E04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B3B66A-1551-94AD-8B9A-984E4D22081F}"/>
              </a:ext>
            </a:extLst>
          </p:cNvPr>
          <p:cNvSpPr>
            <a:spLocks noGrp="1"/>
          </p:cNvSpPr>
          <p:nvPr>
            <p:ph type="dt" sz="half" idx="10"/>
          </p:nvPr>
        </p:nvSpPr>
        <p:spPr/>
        <p:txBody>
          <a:bodyPr/>
          <a:lstStyle/>
          <a:p>
            <a:fld id="{7185D7C2-9E08-46EC-9549-9E6010319356}" type="datetimeFigureOut">
              <a:rPr lang="en-US" smtClean="0"/>
              <a:t>9/17/2026</a:t>
            </a:fld>
            <a:endParaRPr lang="en-US"/>
          </a:p>
        </p:txBody>
      </p:sp>
      <p:sp>
        <p:nvSpPr>
          <p:cNvPr id="6" name="Footer Placeholder 5">
            <a:extLst>
              <a:ext uri="{FF2B5EF4-FFF2-40B4-BE49-F238E27FC236}">
                <a16:creationId xmlns:a16="http://schemas.microsoft.com/office/drawing/2014/main" id="{1E534C74-3275-685C-033B-4EDBB9C42B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E467B5-07A7-9C3C-CFF9-48DC6AB395CE}"/>
              </a:ext>
            </a:extLst>
          </p:cNvPr>
          <p:cNvSpPr>
            <a:spLocks noGrp="1"/>
          </p:cNvSpPr>
          <p:nvPr>
            <p:ph type="sldNum" sz="quarter" idx="12"/>
          </p:nvPr>
        </p:nvSpPr>
        <p:spPr/>
        <p:txBody>
          <a:bodyPr/>
          <a:lstStyle/>
          <a:p>
            <a:fld id="{5E82E804-A452-44BB-862A-8060806FA24C}" type="slidenum">
              <a:rPr lang="en-US" smtClean="0"/>
              <a:t>‹#›</a:t>
            </a:fld>
            <a:endParaRPr lang="en-US"/>
          </a:p>
        </p:txBody>
      </p:sp>
    </p:spTree>
    <p:extLst>
      <p:ext uri="{BB962C8B-B14F-4D97-AF65-F5344CB8AC3E}">
        <p14:creationId xmlns:p14="http://schemas.microsoft.com/office/powerpoint/2010/main" val="680321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37FC3-2336-59B9-7754-C339B6E256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D723D6-E811-55B1-9BD5-597D827958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672179-4F4D-FA32-720B-06EF6B8D26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60B773-934E-2ABD-7F2D-6BE741F9689B}"/>
              </a:ext>
            </a:extLst>
          </p:cNvPr>
          <p:cNvSpPr>
            <a:spLocks noGrp="1"/>
          </p:cNvSpPr>
          <p:nvPr>
            <p:ph type="dt" sz="half" idx="10"/>
          </p:nvPr>
        </p:nvSpPr>
        <p:spPr/>
        <p:txBody>
          <a:bodyPr/>
          <a:lstStyle/>
          <a:p>
            <a:fld id="{7185D7C2-9E08-46EC-9549-9E6010319356}" type="datetimeFigureOut">
              <a:rPr lang="en-US" smtClean="0"/>
              <a:t>9/17/2026</a:t>
            </a:fld>
            <a:endParaRPr lang="en-US"/>
          </a:p>
        </p:txBody>
      </p:sp>
      <p:sp>
        <p:nvSpPr>
          <p:cNvPr id="6" name="Footer Placeholder 5">
            <a:extLst>
              <a:ext uri="{FF2B5EF4-FFF2-40B4-BE49-F238E27FC236}">
                <a16:creationId xmlns:a16="http://schemas.microsoft.com/office/drawing/2014/main" id="{58179B85-0909-C591-84DA-3368E08B39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D69EC6-C715-5FDD-0B7D-D14463ECF997}"/>
              </a:ext>
            </a:extLst>
          </p:cNvPr>
          <p:cNvSpPr>
            <a:spLocks noGrp="1"/>
          </p:cNvSpPr>
          <p:nvPr>
            <p:ph type="sldNum" sz="quarter" idx="12"/>
          </p:nvPr>
        </p:nvSpPr>
        <p:spPr/>
        <p:txBody>
          <a:bodyPr/>
          <a:lstStyle/>
          <a:p>
            <a:fld id="{5E82E804-A452-44BB-862A-8060806FA24C}" type="slidenum">
              <a:rPr lang="en-US" smtClean="0"/>
              <a:t>‹#›</a:t>
            </a:fld>
            <a:endParaRPr lang="en-US"/>
          </a:p>
        </p:txBody>
      </p:sp>
    </p:spTree>
    <p:extLst>
      <p:ext uri="{BB962C8B-B14F-4D97-AF65-F5344CB8AC3E}">
        <p14:creationId xmlns:p14="http://schemas.microsoft.com/office/powerpoint/2010/main" val="123144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5313D-C21A-721B-78F0-F6F7C1E33C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05D7FB-D6D4-B56F-793E-9DCAA578D5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B85C85-EE19-9618-92E7-18213B6399A6}"/>
              </a:ext>
            </a:extLst>
          </p:cNvPr>
          <p:cNvSpPr>
            <a:spLocks noGrp="1"/>
          </p:cNvSpPr>
          <p:nvPr>
            <p:ph type="dt" sz="half" idx="10"/>
          </p:nvPr>
        </p:nvSpPr>
        <p:spPr/>
        <p:txBody>
          <a:bodyPr/>
          <a:lstStyle/>
          <a:p>
            <a:fld id="{7185D7C2-9E08-46EC-9549-9E6010319356}" type="datetimeFigureOut">
              <a:rPr lang="en-US" smtClean="0"/>
              <a:t>9/17/2026</a:t>
            </a:fld>
            <a:endParaRPr lang="en-US"/>
          </a:p>
        </p:txBody>
      </p:sp>
      <p:sp>
        <p:nvSpPr>
          <p:cNvPr id="5" name="Footer Placeholder 4">
            <a:extLst>
              <a:ext uri="{FF2B5EF4-FFF2-40B4-BE49-F238E27FC236}">
                <a16:creationId xmlns:a16="http://schemas.microsoft.com/office/drawing/2014/main" id="{7C143F42-38AC-2CF8-9E12-27ACACA791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E5069-517C-165A-70CC-E17985E237A7}"/>
              </a:ext>
            </a:extLst>
          </p:cNvPr>
          <p:cNvSpPr>
            <a:spLocks noGrp="1"/>
          </p:cNvSpPr>
          <p:nvPr>
            <p:ph type="sldNum" sz="quarter" idx="12"/>
          </p:nvPr>
        </p:nvSpPr>
        <p:spPr/>
        <p:txBody>
          <a:bodyPr/>
          <a:lstStyle/>
          <a:p>
            <a:fld id="{5E82E804-A452-44BB-862A-8060806FA24C}" type="slidenum">
              <a:rPr lang="en-US" smtClean="0"/>
              <a:t>‹#›</a:t>
            </a:fld>
            <a:endParaRPr lang="en-US"/>
          </a:p>
        </p:txBody>
      </p:sp>
    </p:spTree>
    <p:extLst>
      <p:ext uri="{BB962C8B-B14F-4D97-AF65-F5344CB8AC3E}">
        <p14:creationId xmlns:p14="http://schemas.microsoft.com/office/powerpoint/2010/main" val="2927418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050C6A-B3A5-1E64-443D-FEE28B5BEA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9F6DF2-BB60-30D2-E9FE-A758C04D16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1C9F4D-BD81-2518-C5D9-FF5927C1F256}"/>
              </a:ext>
            </a:extLst>
          </p:cNvPr>
          <p:cNvSpPr>
            <a:spLocks noGrp="1"/>
          </p:cNvSpPr>
          <p:nvPr>
            <p:ph type="dt" sz="half" idx="10"/>
          </p:nvPr>
        </p:nvSpPr>
        <p:spPr/>
        <p:txBody>
          <a:bodyPr/>
          <a:lstStyle/>
          <a:p>
            <a:fld id="{7185D7C2-9E08-46EC-9549-9E6010319356}" type="datetimeFigureOut">
              <a:rPr lang="en-US" smtClean="0"/>
              <a:t>9/17/2026</a:t>
            </a:fld>
            <a:endParaRPr lang="en-US"/>
          </a:p>
        </p:txBody>
      </p:sp>
      <p:sp>
        <p:nvSpPr>
          <p:cNvPr id="5" name="Footer Placeholder 4">
            <a:extLst>
              <a:ext uri="{FF2B5EF4-FFF2-40B4-BE49-F238E27FC236}">
                <a16:creationId xmlns:a16="http://schemas.microsoft.com/office/drawing/2014/main" id="{8DAD9F0F-F322-8131-A432-22A98A4F05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EEC343-11BB-9991-B615-D097EA1A76C3}"/>
              </a:ext>
            </a:extLst>
          </p:cNvPr>
          <p:cNvSpPr>
            <a:spLocks noGrp="1"/>
          </p:cNvSpPr>
          <p:nvPr>
            <p:ph type="sldNum" sz="quarter" idx="12"/>
          </p:nvPr>
        </p:nvSpPr>
        <p:spPr/>
        <p:txBody>
          <a:bodyPr/>
          <a:lstStyle/>
          <a:p>
            <a:fld id="{5E82E804-A452-44BB-862A-8060806FA24C}" type="slidenum">
              <a:rPr lang="en-US" smtClean="0"/>
              <a:t>‹#›</a:t>
            </a:fld>
            <a:endParaRPr lang="en-US"/>
          </a:p>
        </p:txBody>
      </p:sp>
    </p:spTree>
    <p:extLst>
      <p:ext uri="{BB962C8B-B14F-4D97-AF65-F5344CB8AC3E}">
        <p14:creationId xmlns:p14="http://schemas.microsoft.com/office/powerpoint/2010/main" val="2925499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D5965-1BB0-2508-541A-85CDF9BFCB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F6D47E-3B42-AF74-29D1-4AC5DDD4C8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83117E-60EA-B4C1-DF16-D4060322A3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85D7C2-9E08-46EC-9549-9E6010319356}" type="datetimeFigureOut">
              <a:rPr lang="en-US" smtClean="0"/>
              <a:t>9/17/2026</a:t>
            </a:fld>
            <a:endParaRPr lang="en-US"/>
          </a:p>
        </p:txBody>
      </p:sp>
      <p:sp>
        <p:nvSpPr>
          <p:cNvPr id="5" name="Footer Placeholder 4">
            <a:extLst>
              <a:ext uri="{FF2B5EF4-FFF2-40B4-BE49-F238E27FC236}">
                <a16:creationId xmlns:a16="http://schemas.microsoft.com/office/drawing/2014/main" id="{1491D643-5A92-E35B-4304-A2CA4E8B4E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6D9DDEA-AAEF-D7D1-B57A-9CE5D6D933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82E804-A452-44BB-862A-8060806FA24C}" type="slidenum">
              <a:rPr lang="en-US" smtClean="0"/>
              <a:t>‹#›</a:t>
            </a:fld>
            <a:endParaRPr lang="en-US"/>
          </a:p>
        </p:txBody>
      </p:sp>
    </p:spTree>
    <p:extLst>
      <p:ext uri="{BB962C8B-B14F-4D97-AF65-F5344CB8AC3E}">
        <p14:creationId xmlns:p14="http://schemas.microsoft.com/office/powerpoint/2010/main" val="4277749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72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68261B-65CB-00AB-23BB-6499792913AE}"/>
              </a:ext>
            </a:extLst>
          </p:cNvPr>
          <p:cNvSpPr/>
          <p:nvPr/>
        </p:nvSpPr>
        <p:spPr>
          <a:xfrm>
            <a:off x="609600" y="508000"/>
            <a:ext cx="10160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35DE89F-29F3-296A-DEB8-31316352AE67}"/>
              </a:ext>
            </a:extLst>
          </p:cNvPr>
          <p:cNvSpPr txBox="1"/>
          <p:nvPr/>
        </p:nvSpPr>
        <p:spPr>
          <a:xfrm>
            <a:off x="609600" y="711200"/>
            <a:ext cx="10972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TỔNG QUAN CHUYÊN ĐỀ</a:t>
            </a:r>
          </a:p>
        </p:txBody>
      </p:sp>
      <p:sp>
        <p:nvSpPr>
          <p:cNvPr id="4" name="TextBox 3">
            <a:extLst>
              <a:ext uri="{FF2B5EF4-FFF2-40B4-BE49-F238E27FC236}">
                <a16:creationId xmlns:a16="http://schemas.microsoft.com/office/drawing/2014/main" id="{EF87DE37-0C62-7464-3FA8-498E0108AB6C}"/>
              </a:ext>
            </a:extLst>
          </p:cNvPr>
          <p:cNvSpPr txBox="1"/>
          <p:nvPr/>
        </p:nvSpPr>
        <p:spPr>
          <a:xfrm>
            <a:off x="609600" y="1117600"/>
            <a:ext cx="10972800" cy="646331"/>
          </a:xfrm>
          <a:prstGeom prst="rect">
            <a:avLst/>
          </a:prstGeom>
          <a:noFill/>
        </p:spPr>
        <p:txBody>
          <a:bodyPr vert="horz" wrap="square" rtlCol="0">
            <a:spAutoFit/>
          </a:bodyPr>
          <a:lstStyle/>
          <a:p>
            <a:r>
              <a:rPr lang="en-US" sz="3600" b="1">
                <a:solidFill>
                  <a:srgbClr val="FFFFFF"/>
                </a:solidFill>
                <a:latin typeface="Segoe UI" panose="020B0502040204020203" pitchFamily="34" charset="0"/>
              </a:rPr>
              <a:t>BÀI I. NHẬP MÔN DÂN SỐ HỌC</a:t>
            </a:r>
          </a:p>
        </p:txBody>
      </p:sp>
      <p:sp>
        <p:nvSpPr>
          <p:cNvPr id="5" name="TextBox 4">
            <a:extLst>
              <a:ext uri="{FF2B5EF4-FFF2-40B4-BE49-F238E27FC236}">
                <a16:creationId xmlns:a16="http://schemas.microsoft.com/office/drawing/2014/main" id="{0A7DDB06-FBEA-C330-2C62-C30C144C2BE1}"/>
              </a:ext>
            </a:extLst>
          </p:cNvPr>
          <p:cNvSpPr txBox="1"/>
          <p:nvPr/>
        </p:nvSpPr>
        <p:spPr>
          <a:xfrm>
            <a:off x="609600" y="3048000"/>
            <a:ext cx="9326880" cy="646331"/>
          </a:xfrm>
          <a:prstGeom prst="rect">
            <a:avLst/>
          </a:prstGeom>
          <a:noFill/>
        </p:spPr>
        <p:txBody>
          <a:bodyPr vert="horz" wrap="square" rtlCol="0">
            <a:spAutoFit/>
          </a:bodyPr>
          <a:lstStyle/>
          <a:p>
            <a:r>
              <a:rPr lang="vi-VN">
                <a:solidFill>
                  <a:srgbClr val="D9E3EE"/>
                </a:solidFill>
                <a:latin typeface="Segoe UI" panose="020B0502040204020203" pitchFamily="34" charset="0"/>
              </a:rPr>
              <a:t>Khung lý thuyết nền tảng về quy mô, cơ cấu, chất lượng và phương pháp luận nghiên cứu Dân số học hiện đại.</a:t>
            </a:r>
            <a:endParaRPr lang="en-US">
              <a:solidFill>
                <a:srgbClr val="D9E3EE"/>
              </a:solidFill>
              <a:latin typeface="Segoe UI" panose="020B0502040204020203" pitchFamily="34" charset="0"/>
            </a:endParaRPr>
          </a:p>
        </p:txBody>
      </p:sp>
      <p:sp>
        <p:nvSpPr>
          <p:cNvPr id="6" name="TextBox 5">
            <a:extLst>
              <a:ext uri="{FF2B5EF4-FFF2-40B4-BE49-F238E27FC236}">
                <a16:creationId xmlns:a16="http://schemas.microsoft.com/office/drawing/2014/main" id="{2F5A57DF-1767-6DD0-1B45-D5AB268372C5}"/>
              </a:ext>
            </a:extLst>
          </p:cNvPr>
          <p:cNvSpPr txBox="1"/>
          <p:nvPr/>
        </p:nvSpPr>
        <p:spPr>
          <a:xfrm>
            <a:off x="609600" y="6096000"/>
            <a:ext cx="10972800" cy="246221"/>
          </a:xfrm>
          <a:prstGeom prst="rect">
            <a:avLst/>
          </a:prstGeom>
          <a:noFill/>
        </p:spPr>
        <p:txBody>
          <a:bodyPr vert="horz" rtlCol="0">
            <a:spAutoFit/>
          </a:bodyPr>
          <a:lstStyle/>
          <a:p>
            <a:r>
              <a:rPr lang="en-US" sz="1000">
                <a:solidFill>
                  <a:srgbClr val="53677D"/>
                </a:solidFill>
                <a:latin typeface="Segoe UI" panose="020B0502040204020203" pitchFamily="34" charset="0"/>
              </a:rPr>
              <a:t>Bản thuyết trình chuẩn hóa • Pipeline G0-G15 • Make Slide Pro 6.2</a:t>
            </a:r>
          </a:p>
        </p:txBody>
      </p:sp>
    </p:spTree>
    <p:extLst>
      <p:ext uri="{BB962C8B-B14F-4D97-AF65-F5344CB8AC3E}">
        <p14:creationId xmlns:p14="http://schemas.microsoft.com/office/powerpoint/2010/main" val="2322579717"/>
      </p:ext>
    </p:extLst>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8FF25E-D3B2-793F-987B-984AC9FD73B6}"/>
              </a:ext>
            </a:extLst>
          </p:cNvPr>
          <p:cNvSpPr txBox="1"/>
          <p:nvPr/>
        </p:nvSpPr>
        <p:spPr>
          <a:xfrm>
            <a:off x="609600" y="5080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MỤC TIÊU BÀI HỌC  •  TRỌNG TÂM</a:t>
            </a:r>
          </a:p>
        </p:txBody>
      </p:sp>
      <p:sp>
        <p:nvSpPr>
          <p:cNvPr id="3" name="TextBox 2">
            <a:extLst>
              <a:ext uri="{FF2B5EF4-FFF2-40B4-BE49-F238E27FC236}">
                <a16:creationId xmlns:a16="http://schemas.microsoft.com/office/drawing/2014/main" id="{10536ADC-4DB1-509E-719D-B4A6D635F043}"/>
              </a:ext>
            </a:extLst>
          </p:cNvPr>
          <p:cNvSpPr txBox="1"/>
          <p:nvPr/>
        </p:nvSpPr>
        <p:spPr>
          <a:xfrm>
            <a:off x="10820400" y="508000"/>
            <a:ext cx="762000" cy="276999"/>
          </a:xfrm>
          <a:prstGeom prst="rect">
            <a:avLst/>
          </a:prstGeom>
          <a:noFill/>
        </p:spPr>
        <p:txBody>
          <a:bodyPr vert="horz" rtlCol="0">
            <a:spAutoFit/>
          </a:bodyPr>
          <a:lstStyle/>
          <a:p>
            <a:pPr algn="r"/>
            <a:r>
              <a:rPr lang="en-US" sz="1200" b="1">
                <a:solidFill>
                  <a:srgbClr val="53677D"/>
                </a:solidFill>
                <a:latin typeface="Bahnschrift" panose="020B0502040204020203" pitchFamily="34" charset="0"/>
              </a:rPr>
              <a:t>02 / 06</a:t>
            </a:r>
          </a:p>
        </p:txBody>
      </p:sp>
      <p:sp>
        <p:nvSpPr>
          <p:cNvPr id="4" name="TextBox 3">
            <a:extLst>
              <a:ext uri="{FF2B5EF4-FFF2-40B4-BE49-F238E27FC236}">
                <a16:creationId xmlns:a16="http://schemas.microsoft.com/office/drawing/2014/main" id="{A71FE279-F57B-48E7-4C60-47602FC10CAF}"/>
              </a:ext>
            </a:extLst>
          </p:cNvPr>
          <p:cNvSpPr txBox="1"/>
          <p:nvPr/>
        </p:nvSpPr>
        <p:spPr>
          <a:xfrm>
            <a:off x="609600" y="762000"/>
            <a:ext cx="10972800" cy="369332"/>
          </a:xfrm>
          <a:prstGeom prst="rect">
            <a:avLst/>
          </a:prstGeom>
          <a:noFill/>
        </p:spPr>
        <p:txBody>
          <a:bodyPr vert="horz" wrap="square" tIns="0" bIns="0" rtlCol="0">
            <a:spAutoFit/>
          </a:bodyPr>
          <a:lstStyle/>
          <a:p>
            <a:r>
              <a:rPr lang="vi-VN" sz="2400" b="1">
                <a:solidFill>
                  <a:srgbClr val="102033"/>
                </a:solidFill>
                <a:latin typeface="Segoe UI" panose="020B0502040204020203" pitchFamily="34" charset="0"/>
              </a:rPr>
              <a:t>Nắm Vững Khái Niệm Cốt Lõi Và Phương Pháp Nghiên Cứu Dân Số Học</a:t>
            </a:r>
            <a:endParaRPr lang="en-US" sz="2400" b="1">
              <a:solidFill>
                <a:srgbClr val="102033"/>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3ABA6B6A-F14F-814A-AC16-4EC2B1F234FC}"/>
              </a:ext>
            </a:extLst>
          </p:cNvPr>
          <p:cNvSpPr/>
          <p:nvPr/>
        </p:nvSpPr>
        <p:spPr>
          <a:xfrm>
            <a:off x="609600" y="1803400"/>
            <a:ext cx="5334000" cy="43434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112BAAC-B20D-B776-8057-C44E5A50F540}"/>
              </a:ext>
            </a:extLst>
          </p:cNvPr>
          <p:cNvSpPr txBox="1"/>
          <p:nvPr/>
        </p:nvSpPr>
        <p:spPr>
          <a:xfrm>
            <a:off x="914400" y="2108200"/>
            <a:ext cx="4724400" cy="1573059"/>
          </a:xfrm>
          <a:prstGeom prst="rect">
            <a:avLst/>
          </a:prstGeom>
          <a:noFill/>
        </p:spPr>
        <p:txBody>
          <a:bodyPr vert="horz" wrap="square" rtlCol="0">
            <a:spAutoFit/>
          </a:bodyPr>
          <a:lstStyle/>
          <a:p>
            <a:pPr>
              <a:lnSpc>
                <a:spcPct val="130000"/>
              </a:lnSpc>
              <a:spcAft>
                <a:spcPts val="1200"/>
              </a:spcAft>
            </a:pPr>
            <a:r>
              <a:rPr lang="en-US" sz="2000" b="1">
                <a:solidFill>
                  <a:srgbClr val="102033"/>
                </a:solidFill>
                <a:latin typeface="Segoe UI" panose="020B0502040204020203" pitchFamily="34" charset="0"/>
              </a:rPr>
              <a:t>1. Năng Lực Khái Niệm
</a:t>
            </a:r>
            <a:r>
              <a:rPr lang="vi-VN" sz="1600" b="1">
                <a:solidFill>
                  <a:srgbClr val="53677D"/>
                </a:solidFill>
                <a:latin typeface="Segoe UI" panose="020B0502040204020203" pitchFamily="34" charset="0"/>
              </a:rPr>
              <a:t>Hiểu rõ và phân biệt rành mạch giữa 'Dân cư' và 'Dân số', các chiều kích tĩnh (quy mô, cơ cấu) và động (sinh, chết, di cư).</a:t>
            </a:r>
            <a:endParaRPr lang="en-US" sz="1600" b="1">
              <a:solidFill>
                <a:srgbClr val="53677D"/>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FC518062-99EA-F136-6C4D-702A43E0652E}"/>
              </a:ext>
            </a:extLst>
          </p:cNvPr>
          <p:cNvSpPr/>
          <p:nvPr/>
        </p:nvSpPr>
        <p:spPr>
          <a:xfrm>
            <a:off x="6248400" y="1803400"/>
            <a:ext cx="5334000" cy="43434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14450BE-9FD5-5011-0929-66C52A4EC6A0}"/>
              </a:ext>
            </a:extLst>
          </p:cNvPr>
          <p:cNvSpPr txBox="1"/>
          <p:nvPr/>
        </p:nvSpPr>
        <p:spPr>
          <a:xfrm>
            <a:off x="6553200" y="2108200"/>
            <a:ext cx="4724400" cy="1573059"/>
          </a:xfrm>
          <a:prstGeom prst="rect">
            <a:avLst/>
          </a:prstGeom>
          <a:noFill/>
        </p:spPr>
        <p:txBody>
          <a:bodyPr vert="horz" wrap="square" rtlCol="0">
            <a:spAutoFit/>
          </a:bodyPr>
          <a:lstStyle/>
          <a:p>
            <a:pPr>
              <a:lnSpc>
                <a:spcPct val="130000"/>
              </a:lnSpc>
              <a:spcAft>
                <a:spcPts val="1200"/>
              </a:spcAft>
            </a:pPr>
            <a:r>
              <a:rPr lang="vi-VN" sz="2000" b="1">
                <a:solidFill>
                  <a:srgbClr val="2563EB"/>
                </a:solidFill>
                <a:latin typeface="Segoe UI" panose="020B0502040204020203" pitchFamily="34" charset="0"/>
              </a:rPr>
              <a:t>2. Năng Lực Phương Pháp
</a:t>
            </a:r>
            <a:r>
              <a:rPr lang="vi-VN" sz="1600" b="1">
                <a:solidFill>
                  <a:srgbClr val="53677D"/>
                </a:solidFill>
                <a:latin typeface="Segoe UI" panose="020B0502040204020203" pitchFamily="34" charset="0"/>
              </a:rPr>
              <a:t>Trình bày chính xác đối tượng, phạm vi và phương pháp luận nghiên cứu dân số học phục vụ dự báo và hoạch định chính sách.</a:t>
            </a:r>
            <a:endParaRPr lang="en-US" sz="1600" b="1">
              <a:solidFill>
                <a:srgbClr val="53677D"/>
              </a:solidFill>
              <a:latin typeface="Segoe UI" panose="020B0502040204020203" pitchFamily="34" charset="0"/>
            </a:endParaRPr>
          </a:p>
        </p:txBody>
      </p:sp>
      <p:sp>
        <p:nvSpPr>
          <p:cNvPr id="9" name="TextBox 8">
            <a:extLst>
              <a:ext uri="{FF2B5EF4-FFF2-40B4-BE49-F238E27FC236}">
                <a16:creationId xmlns:a16="http://schemas.microsoft.com/office/drawing/2014/main" id="{55DB28F7-FECB-91F6-C815-8527784AF760}"/>
              </a:ext>
            </a:extLst>
          </p:cNvPr>
          <p:cNvSpPr txBox="1"/>
          <p:nvPr/>
        </p:nvSpPr>
        <p:spPr>
          <a:xfrm>
            <a:off x="609600" y="6223000"/>
            <a:ext cx="10972800" cy="246221"/>
          </a:xfrm>
          <a:prstGeom prst="rect">
            <a:avLst/>
          </a:prstGeom>
          <a:noFill/>
        </p:spPr>
        <p:txBody>
          <a:bodyPr vert="horz" rtlCol="0">
            <a:spAutoFit/>
          </a:bodyPr>
          <a:lstStyle/>
          <a:p>
            <a:r>
              <a:rPr lang="en-US" sz="1000">
                <a:solidFill>
                  <a:srgbClr val="53677D"/>
                </a:solidFill>
                <a:latin typeface="Segoe UI" panose="020B0502040204020203" pitchFamily="34" charset="0"/>
              </a:rPr>
              <a:t>Khung chuẩn đầu ra chuyên đề  |  Make Slide Pro V6.2 Certified</a:t>
            </a:r>
          </a:p>
        </p:txBody>
      </p:sp>
    </p:spTree>
    <p:extLst>
      <p:ext uri="{BB962C8B-B14F-4D97-AF65-F5344CB8AC3E}">
        <p14:creationId xmlns:p14="http://schemas.microsoft.com/office/powerpoint/2010/main" val="2162479000"/>
      </p:ext>
    </p:extLst>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D12859-AB79-CA4B-DA1A-E30F7F03FE69}"/>
              </a:ext>
            </a:extLst>
          </p:cNvPr>
          <p:cNvSpPr txBox="1"/>
          <p:nvPr/>
        </p:nvSpPr>
        <p:spPr>
          <a:xfrm>
            <a:off x="609600" y="5080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KHÁI NIỆM NỀN TẢNG  •  TRỌNG TÂM</a:t>
            </a:r>
          </a:p>
        </p:txBody>
      </p:sp>
      <p:sp>
        <p:nvSpPr>
          <p:cNvPr id="3" name="TextBox 2">
            <a:extLst>
              <a:ext uri="{FF2B5EF4-FFF2-40B4-BE49-F238E27FC236}">
                <a16:creationId xmlns:a16="http://schemas.microsoft.com/office/drawing/2014/main" id="{2D879717-A845-581B-90CF-7CDCD92D3DBA}"/>
              </a:ext>
            </a:extLst>
          </p:cNvPr>
          <p:cNvSpPr txBox="1"/>
          <p:nvPr/>
        </p:nvSpPr>
        <p:spPr>
          <a:xfrm>
            <a:off x="10820400" y="508000"/>
            <a:ext cx="762000" cy="276999"/>
          </a:xfrm>
          <a:prstGeom prst="rect">
            <a:avLst/>
          </a:prstGeom>
          <a:noFill/>
        </p:spPr>
        <p:txBody>
          <a:bodyPr vert="horz" rtlCol="0">
            <a:spAutoFit/>
          </a:bodyPr>
          <a:lstStyle/>
          <a:p>
            <a:pPr algn="r"/>
            <a:r>
              <a:rPr lang="en-US" sz="1200" b="1">
                <a:solidFill>
                  <a:srgbClr val="53677D"/>
                </a:solidFill>
                <a:latin typeface="Bahnschrift" panose="020B0502040204020203" pitchFamily="34" charset="0"/>
              </a:rPr>
              <a:t>03 / 06</a:t>
            </a:r>
          </a:p>
        </p:txBody>
      </p:sp>
      <p:sp>
        <p:nvSpPr>
          <p:cNvPr id="4" name="TextBox 3">
            <a:extLst>
              <a:ext uri="{FF2B5EF4-FFF2-40B4-BE49-F238E27FC236}">
                <a16:creationId xmlns:a16="http://schemas.microsoft.com/office/drawing/2014/main" id="{E5F269C6-2C99-1B2E-9BC2-6042607C0E84}"/>
              </a:ext>
            </a:extLst>
          </p:cNvPr>
          <p:cNvSpPr txBox="1"/>
          <p:nvPr/>
        </p:nvSpPr>
        <p:spPr>
          <a:xfrm>
            <a:off x="609600" y="762000"/>
            <a:ext cx="10972800" cy="369332"/>
          </a:xfrm>
          <a:prstGeom prst="rect">
            <a:avLst/>
          </a:prstGeom>
          <a:noFill/>
        </p:spPr>
        <p:txBody>
          <a:bodyPr vert="horz" wrap="square" tIns="0" bIns="0" rtlCol="0">
            <a:spAutoFit/>
          </a:bodyPr>
          <a:lstStyle/>
          <a:p>
            <a:r>
              <a:rPr lang="vi-VN" sz="2400" b="1">
                <a:solidFill>
                  <a:srgbClr val="102033"/>
                </a:solidFill>
                <a:latin typeface="Segoe UI" panose="020B0502040204020203" pitchFamily="34" charset="0"/>
              </a:rPr>
              <a:t>Khái Niệm Dân Cư Mang Tính Toàn Diện Hơn Nội Hàm Dân Số</a:t>
            </a:r>
            <a:endParaRPr lang="en-US" sz="2400" b="1">
              <a:solidFill>
                <a:srgbClr val="102033"/>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0EA13A43-E39E-3EEF-322D-91BF8F0ACCBE}"/>
              </a:ext>
            </a:extLst>
          </p:cNvPr>
          <p:cNvSpPr/>
          <p:nvPr/>
        </p:nvSpPr>
        <p:spPr>
          <a:xfrm>
            <a:off x="609600" y="1803400"/>
            <a:ext cx="5334000" cy="43434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CEF590B-DEF7-F99B-7A9B-9ED9F207B10A}"/>
              </a:ext>
            </a:extLst>
          </p:cNvPr>
          <p:cNvSpPr txBox="1"/>
          <p:nvPr/>
        </p:nvSpPr>
        <p:spPr>
          <a:xfrm>
            <a:off x="914400" y="2108200"/>
            <a:ext cx="4724400" cy="1573059"/>
          </a:xfrm>
          <a:prstGeom prst="rect">
            <a:avLst/>
          </a:prstGeom>
          <a:noFill/>
        </p:spPr>
        <p:txBody>
          <a:bodyPr vert="horz" wrap="square" rtlCol="0">
            <a:spAutoFit/>
          </a:bodyPr>
          <a:lstStyle/>
          <a:p>
            <a:pPr>
              <a:lnSpc>
                <a:spcPct val="130000"/>
              </a:lnSpc>
              <a:spcAft>
                <a:spcPts val="1200"/>
              </a:spcAft>
            </a:pPr>
            <a:r>
              <a:rPr lang="vi-VN" sz="2000" b="1">
                <a:solidFill>
                  <a:srgbClr val="102033"/>
                </a:solidFill>
                <a:latin typeface="Segoe UI" panose="020B0502040204020203" pitchFamily="34" charset="0"/>
              </a:rPr>
              <a:t>Dân Cư (Khái Niệm Rộng)
</a:t>
            </a:r>
            <a:r>
              <a:rPr lang="vi-VN" sz="1600" b="1">
                <a:solidFill>
                  <a:srgbClr val="53677D"/>
                </a:solidFill>
                <a:latin typeface="Segoe UI" panose="020B0502040204020203" pitchFamily="34" charset="0"/>
              </a:rPr>
              <a:t>Gồm toàn bộ con người cùng cư trú trên một lãnh thổ; xem xét dưới đa góc độ: Văn hóa, lịch sử, kinh tế, ẩm thực, tập quán và lối sống.</a:t>
            </a:r>
            <a:endParaRPr lang="en-US" sz="1600" b="1">
              <a:solidFill>
                <a:srgbClr val="53677D"/>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EABF11DF-F305-112B-D690-4DEA170D23CC}"/>
              </a:ext>
            </a:extLst>
          </p:cNvPr>
          <p:cNvSpPr/>
          <p:nvPr/>
        </p:nvSpPr>
        <p:spPr>
          <a:xfrm>
            <a:off x="6248400" y="1803400"/>
            <a:ext cx="5334000" cy="4343400"/>
          </a:xfrm>
          <a:prstGeom prst="round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110C3AA-74F5-C84C-CA39-0DFDD716B22A}"/>
              </a:ext>
            </a:extLst>
          </p:cNvPr>
          <p:cNvSpPr txBox="1"/>
          <p:nvPr/>
        </p:nvSpPr>
        <p:spPr>
          <a:xfrm>
            <a:off x="6553200" y="2108200"/>
            <a:ext cx="4724400" cy="1573059"/>
          </a:xfrm>
          <a:prstGeom prst="rect">
            <a:avLst/>
          </a:prstGeom>
          <a:noFill/>
        </p:spPr>
        <p:txBody>
          <a:bodyPr vert="horz" wrap="square" rtlCol="0">
            <a:spAutoFit/>
          </a:bodyPr>
          <a:lstStyle/>
          <a:p>
            <a:pPr>
              <a:lnSpc>
                <a:spcPct val="130000"/>
              </a:lnSpc>
              <a:spcAft>
                <a:spcPts val="1200"/>
              </a:spcAft>
            </a:pPr>
            <a:r>
              <a:rPr lang="vi-VN" sz="2000" b="1">
                <a:solidFill>
                  <a:srgbClr val="2563EB"/>
                </a:solidFill>
                <a:latin typeface="Segoe UI" panose="020B0502040204020203" pitchFamily="34" charset="0"/>
              </a:rPr>
              <a:t>Dân Số (Khái Niệm Định Lượng)
</a:t>
            </a:r>
            <a:r>
              <a:rPr lang="vi-VN" sz="1600" b="1">
                <a:solidFill>
                  <a:srgbClr val="53677D"/>
                </a:solidFill>
                <a:latin typeface="Segoe UI" panose="020B0502040204020203" pitchFamily="34" charset="0"/>
              </a:rPr>
              <a:t>Tập trung vào quy mô, cơ cấu giới tính - độ tuổi, phân bố lãnh thổ, chất lượng và các thành tố biến động: sinh, chết và di cư.</a:t>
            </a:r>
            <a:endParaRPr lang="en-US" sz="1600" b="1">
              <a:solidFill>
                <a:srgbClr val="53677D"/>
              </a:solidFill>
              <a:latin typeface="Segoe UI" panose="020B0502040204020203" pitchFamily="34" charset="0"/>
            </a:endParaRPr>
          </a:p>
        </p:txBody>
      </p:sp>
      <p:sp>
        <p:nvSpPr>
          <p:cNvPr id="9" name="TextBox 8">
            <a:extLst>
              <a:ext uri="{FF2B5EF4-FFF2-40B4-BE49-F238E27FC236}">
                <a16:creationId xmlns:a16="http://schemas.microsoft.com/office/drawing/2014/main" id="{80A61908-E267-C37D-9DF9-153485EC989C}"/>
              </a:ext>
            </a:extLst>
          </p:cNvPr>
          <p:cNvSpPr txBox="1"/>
          <p:nvPr/>
        </p:nvSpPr>
        <p:spPr>
          <a:xfrm>
            <a:off x="609600" y="6223000"/>
            <a:ext cx="10972800" cy="246221"/>
          </a:xfrm>
          <a:prstGeom prst="rect">
            <a:avLst/>
          </a:prstGeom>
          <a:noFill/>
        </p:spPr>
        <p:txBody>
          <a:bodyPr vert="horz" rtlCol="0">
            <a:spAutoFit/>
          </a:bodyPr>
          <a:lstStyle/>
          <a:p>
            <a:r>
              <a:rPr lang="vi-VN" sz="1000">
                <a:solidFill>
                  <a:srgbClr val="53677D"/>
                </a:solidFill>
                <a:latin typeface="Segoe UI" panose="020B0502040204020203" pitchFamily="34" charset="0"/>
              </a:rPr>
              <a:t>Giáo trình Dân số học đại cương  |  Make Slide Pro V6.2 Certified</a:t>
            </a:r>
            <a:endParaRPr lang="en-US" sz="1000">
              <a:solidFill>
                <a:srgbClr val="53677D"/>
              </a:solidFill>
              <a:latin typeface="Segoe UI" panose="020B0502040204020203" pitchFamily="34" charset="0"/>
            </a:endParaRPr>
          </a:p>
        </p:txBody>
      </p:sp>
    </p:spTree>
    <p:extLst>
      <p:ext uri="{BB962C8B-B14F-4D97-AF65-F5344CB8AC3E}">
        <p14:creationId xmlns:p14="http://schemas.microsoft.com/office/powerpoint/2010/main" val="3757326174"/>
      </p:ext>
    </p:extLst>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DDF256-F407-86D1-A056-961D5D7BA218}"/>
              </a:ext>
            </a:extLst>
          </p:cNvPr>
          <p:cNvSpPr txBox="1"/>
          <p:nvPr/>
        </p:nvSpPr>
        <p:spPr>
          <a:xfrm>
            <a:off x="609600" y="508000"/>
            <a:ext cx="9956800" cy="276999"/>
          </a:xfrm>
          <a:prstGeom prst="rect">
            <a:avLst/>
          </a:prstGeom>
          <a:noFill/>
        </p:spPr>
        <p:txBody>
          <a:bodyPr vert="horz" rtlCol="0">
            <a:spAutoFit/>
          </a:bodyPr>
          <a:lstStyle/>
          <a:p>
            <a:r>
              <a:rPr lang="vi-VN" sz="1200" b="1">
                <a:solidFill>
                  <a:srgbClr val="0284C7"/>
                </a:solidFill>
                <a:latin typeface="Segoe UI" panose="020B0502040204020203" pitchFamily="34" charset="0"/>
              </a:rPr>
              <a:t>PHƯƠNG PHÁP LUẬN  •  TRỌNG TÂM</a:t>
            </a:r>
            <a:endParaRPr lang="en-US" sz="1200" b="1">
              <a:solidFill>
                <a:srgbClr val="0284C7"/>
              </a:solidFill>
              <a:latin typeface="Segoe UI" panose="020B0502040204020203" pitchFamily="34" charset="0"/>
            </a:endParaRPr>
          </a:p>
        </p:txBody>
      </p:sp>
      <p:sp>
        <p:nvSpPr>
          <p:cNvPr id="3" name="TextBox 2">
            <a:extLst>
              <a:ext uri="{FF2B5EF4-FFF2-40B4-BE49-F238E27FC236}">
                <a16:creationId xmlns:a16="http://schemas.microsoft.com/office/drawing/2014/main" id="{84CEEBB5-0ACD-EC52-F9E1-2C044B9E333A}"/>
              </a:ext>
            </a:extLst>
          </p:cNvPr>
          <p:cNvSpPr txBox="1"/>
          <p:nvPr/>
        </p:nvSpPr>
        <p:spPr>
          <a:xfrm>
            <a:off x="10820400" y="508000"/>
            <a:ext cx="762000" cy="276999"/>
          </a:xfrm>
          <a:prstGeom prst="rect">
            <a:avLst/>
          </a:prstGeom>
          <a:noFill/>
        </p:spPr>
        <p:txBody>
          <a:bodyPr vert="horz" rtlCol="0">
            <a:spAutoFit/>
          </a:bodyPr>
          <a:lstStyle/>
          <a:p>
            <a:pPr algn="r"/>
            <a:r>
              <a:rPr lang="en-US" sz="1200" b="1">
                <a:solidFill>
                  <a:srgbClr val="53677D"/>
                </a:solidFill>
                <a:latin typeface="Bahnschrift" panose="020B0502040204020203" pitchFamily="34" charset="0"/>
              </a:rPr>
              <a:t>04 / 06</a:t>
            </a:r>
          </a:p>
        </p:txBody>
      </p:sp>
      <p:sp>
        <p:nvSpPr>
          <p:cNvPr id="4" name="TextBox 3">
            <a:extLst>
              <a:ext uri="{FF2B5EF4-FFF2-40B4-BE49-F238E27FC236}">
                <a16:creationId xmlns:a16="http://schemas.microsoft.com/office/drawing/2014/main" id="{47C75B5E-74D6-B9F2-43FA-EE25246D0792}"/>
              </a:ext>
            </a:extLst>
          </p:cNvPr>
          <p:cNvSpPr txBox="1"/>
          <p:nvPr/>
        </p:nvSpPr>
        <p:spPr>
          <a:xfrm>
            <a:off x="609600" y="762000"/>
            <a:ext cx="10972800" cy="738664"/>
          </a:xfrm>
          <a:prstGeom prst="rect">
            <a:avLst/>
          </a:prstGeom>
          <a:noFill/>
        </p:spPr>
        <p:txBody>
          <a:bodyPr vert="horz" wrap="square" tIns="0" bIns="0" rtlCol="0">
            <a:spAutoFit/>
          </a:bodyPr>
          <a:lstStyle/>
          <a:p>
            <a:r>
              <a:rPr lang="vi-VN" sz="2400" b="1">
                <a:solidFill>
                  <a:srgbClr val="102033"/>
                </a:solidFill>
                <a:latin typeface="Segoe UI" panose="020B0502040204020203" pitchFamily="34" charset="0"/>
              </a:rPr>
              <a:t>Dân Số Được Nghiên Cứu Song Hành Ở Trạng Thái Tĩnh Và Trạng Thái Động</a:t>
            </a:r>
            <a:endParaRPr lang="en-US" sz="2400" b="1">
              <a:solidFill>
                <a:srgbClr val="102033"/>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FDBBDB24-2EBA-1E3D-6ED7-93A2A65A4559}"/>
              </a:ext>
            </a:extLst>
          </p:cNvPr>
          <p:cNvSpPr/>
          <p:nvPr/>
        </p:nvSpPr>
        <p:spPr>
          <a:xfrm>
            <a:off x="609600" y="1803400"/>
            <a:ext cx="2609850" cy="43434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944362E-3C41-E5EB-04EA-0A45BFD0E446}"/>
              </a:ext>
            </a:extLst>
          </p:cNvPr>
          <p:cNvSpPr/>
          <p:nvPr/>
        </p:nvSpPr>
        <p:spPr>
          <a:xfrm>
            <a:off x="812800" y="2006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01</a:t>
            </a:r>
          </a:p>
        </p:txBody>
      </p:sp>
      <p:sp>
        <p:nvSpPr>
          <p:cNvPr id="7" name="TextBox 6">
            <a:extLst>
              <a:ext uri="{FF2B5EF4-FFF2-40B4-BE49-F238E27FC236}">
                <a16:creationId xmlns:a16="http://schemas.microsoft.com/office/drawing/2014/main" id="{F1A15D60-97A8-0C5B-6224-F9EDC8AE8608}"/>
              </a:ext>
            </a:extLst>
          </p:cNvPr>
          <p:cNvSpPr txBox="1"/>
          <p:nvPr/>
        </p:nvSpPr>
        <p:spPr>
          <a:xfrm>
            <a:off x="812800" y="2463800"/>
            <a:ext cx="2203450" cy="2077492"/>
          </a:xfrm>
          <a:prstGeom prst="rect">
            <a:avLst/>
          </a:prstGeom>
          <a:noFill/>
        </p:spPr>
        <p:txBody>
          <a:bodyPr vert="horz" wrap="square" lIns="0" rtlCol="0">
            <a:spAutoFit/>
          </a:bodyPr>
          <a:lstStyle/>
          <a:p>
            <a:pPr>
              <a:spcAft>
                <a:spcPts val="600"/>
              </a:spcAft>
            </a:pPr>
            <a:r>
              <a:rPr lang="en-US" sz="1700" b="1">
                <a:solidFill>
                  <a:srgbClr val="102033"/>
                </a:solidFill>
                <a:latin typeface="Segoe UI" panose="020B0502040204020203" pitchFamily="34" charset="0"/>
              </a:rPr>
              <a:t>Trạng Thái Tĩnh (Thời Điểm)
</a:t>
            </a:r>
            <a:r>
              <a:rPr lang="vi-VN" sz="1500" b="1">
                <a:solidFill>
                  <a:srgbClr val="53677D"/>
                </a:solidFill>
                <a:latin typeface="Segoe UI" panose="020B0502040204020203" pitchFamily="34" charset="0"/>
              </a:rPr>
              <a:t>Chụp lại quy mô, phân bố và cơ cấu theo tuổi, giới tính, tình trạng hôn nhân, trình độ học vấn tại thời điểm tổng điều tra.</a:t>
            </a:r>
            <a:endParaRPr lang="en-US" sz="1500" b="1">
              <a:solidFill>
                <a:srgbClr val="53677D"/>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7E49BF93-B926-9450-8A2D-1B55050D2A47}"/>
              </a:ext>
            </a:extLst>
          </p:cNvPr>
          <p:cNvSpPr/>
          <p:nvPr/>
        </p:nvSpPr>
        <p:spPr>
          <a:xfrm>
            <a:off x="3397250" y="1803400"/>
            <a:ext cx="2609850" cy="43434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AAB5E12-7917-A25A-1A7F-146A8C2C8D73}"/>
              </a:ext>
            </a:extLst>
          </p:cNvPr>
          <p:cNvSpPr/>
          <p:nvPr/>
        </p:nvSpPr>
        <p:spPr>
          <a:xfrm>
            <a:off x="3600450" y="2006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02</a:t>
            </a:r>
          </a:p>
        </p:txBody>
      </p:sp>
      <p:sp>
        <p:nvSpPr>
          <p:cNvPr id="10" name="TextBox 9">
            <a:extLst>
              <a:ext uri="{FF2B5EF4-FFF2-40B4-BE49-F238E27FC236}">
                <a16:creationId xmlns:a16="http://schemas.microsoft.com/office/drawing/2014/main" id="{EC31A0B4-5784-0439-C297-DE3C783AE5E6}"/>
              </a:ext>
            </a:extLst>
          </p:cNvPr>
          <p:cNvSpPr txBox="1"/>
          <p:nvPr/>
        </p:nvSpPr>
        <p:spPr>
          <a:xfrm>
            <a:off x="3600450" y="2463800"/>
            <a:ext cx="2203450" cy="1846659"/>
          </a:xfrm>
          <a:prstGeom prst="rect">
            <a:avLst/>
          </a:prstGeom>
          <a:noFill/>
        </p:spPr>
        <p:txBody>
          <a:bodyPr vert="horz" wrap="square" lIns="0" rtlCol="0">
            <a:spAutoFit/>
          </a:bodyPr>
          <a:lstStyle/>
          <a:p>
            <a:pPr>
              <a:spcAft>
                <a:spcPts val="600"/>
              </a:spcAft>
            </a:pPr>
            <a:r>
              <a:rPr lang="en-US" sz="1700" b="1">
                <a:solidFill>
                  <a:srgbClr val="102033"/>
                </a:solidFill>
                <a:latin typeface="Segoe UI" panose="020B0502040204020203" pitchFamily="34" charset="0"/>
              </a:rPr>
              <a:t>Vận Động Tự Nhiên (Động)
</a:t>
            </a:r>
            <a:r>
              <a:rPr lang="vi-VN" sz="1500" b="1">
                <a:solidFill>
                  <a:srgbClr val="53677D"/>
                </a:solidFill>
                <a:latin typeface="Segoe UI" panose="020B0502040204020203" pitchFamily="34" charset="0"/>
              </a:rPr>
              <a:t>Biến động liên tục của dân số thông qua quá trình sinh và chết; hình thành mức tăng tự nhiên của dân cư.</a:t>
            </a:r>
            <a:endParaRPr lang="en-US" sz="1500" b="1">
              <a:solidFill>
                <a:srgbClr val="53677D"/>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E11B2D45-C3AD-16DF-66C3-E703609634BD}"/>
              </a:ext>
            </a:extLst>
          </p:cNvPr>
          <p:cNvSpPr/>
          <p:nvPr/>
        </p:nvSpPr>
        <p:spPr>
          <a:xfrm>
            <a:off x="6184900" y="1803400"/>
            <a:ext cx="2609850" cy="43434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264156-B69B-209F-F0CA-7EDB04CE8C23}"/>
              </a:ext>
            </a:extLst>
          </p:cNvPr>
          <p:cNvSpPr/>
          <p:nvPr/>
        </p:nvSpPr>
        <p:spPr>
          <a:xfrm>
            <a:off x="6388100" y="2006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03</a:t>
            </a:r>
          </a:p>
        </p:txBody>
      </p:sp>
      <p:sp>
        <p:nvSpPr>
          <p:cNvPr id="13" name="TextBox 12">
            <a:extLst>
              <a:ext uri="{FF2B5EF4-FFF2-40B4-BE49-F238E27FC236}">
                <a16:creationId xmlns:a16="http://schemas.microsoft.com/office/drawing/2014/main" id="{7DDD5DA0-3EAF-AEA8-4E30-47118B56F276}"/>
              </a:ext>
            </a:extLst>
          </p:cNvPr>
          <p:cNvSpPr txBox="1"/>
          <p:nvPr/>
        </p:nvSpPr>
        <p:spPr>
          <a:xfrm>
            <a:off x="6388100" y="2463800"/>
            <a:ext cx="2203450" cy="1846659"/>
          </a:xfrm>
          <a:prstGeom prst="rect">
            <a:avLst/>
          </a:prstGeom>
          <a:noFill/>
        </p:spPr>
        <p:txBody>
          <a:bodyPr vert="horz" wrap="square" lIns="0" rtlCol="0">
            <a:spAutoFit/>
          </a:bodyPr>
          <a:lstStyle/>
          <a:p>
            <a:pPr>
              <a:spcAft>
                <a:spcPts val="600"/>
              </a:spcAft>
            </a:pPr>
            <a:r>
              <a:rPr lang="vi-VN" sz="1700" b="1">
                <a:solidFill>
                  <a:srgbClr val="102033"/>
                </a:solidFill>
                <a:latin typeface="Segoe UI" panose="020B0502040204020203" pitchFamily="34" charset="0"/>
              </a:rPr>
              <a:t>Vận Động Cơ Học (Động)
</a:t>
            </a:r>
            <a:r>
              <a:rPr lang="vi-VN" sz="1500" b="1">
                <a:solidFill>
                  <a:srgbClr val="53677D"/>
                </a:solidFill>
                <a:latin typeface="Segoe UI" panose="020B0502040204020203" pitchFamily="34" charset="0"/>
              </a:rPr>
              <a:t>Biến động thông qua các dòng di cư: Chuyển đến (nhập cư) và chuyển đi (xuất cư) giữa các vùng lãnh thổ.</a:t>
            </a:r>
            <a:endParaRPr lang="en-US" sz="1500" b="1">
              <a:solidFill>
                <a:srgbClr val="53677D"/>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0167C2BD-C48F-0F78-12A7-A99CBA51C83E}"/>
              </a:ext>
            </a:extLst>
          </p:cNvPr>
          <p:cNvSpPr/>
          <p:nvPr/>
        </p:nvSpPr>
        <p:spPr>
          <a:xfrm>
            <a:off x="8972550" y="1803400"/>
            <a:ext cx="2609850" cy="43434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AEFB15B-C71D-8CDA-7623-A7E9CA85D645}"/>
              </a:ext>
            </a:extLst>
          </p:cNvPr>
          <p:cNvSpPr/>
          <p:nvPr/>
        </p:nvSpPr>
        <p:spPr>
          <a:xfrm>
            <a:off x="9175750" y="2006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04</a:t>
            </a:r>
          </a:p>
        </p:txBody>
      </p:sp>
      <p:sp>
        <p:nvSpPr>
          <p:cNvPr id="16" name="TextBox 15">
            <a:extLst>
              <a:ext uri="{FF2B5EF4-FFF2-40B4-BE49-F238E27FC236}">
                <a16:creationId xmlns:a16="http://schemas.microsoft.com/office/drawing/2014/main" id="{12D873AC-05A5-CA86-B838-0E868B9A0006}"/>
              </a:ext>
            </a:extLst>
          </p:cNvPr>
          <p:cNvSpPr txBox="1"/>
          <p:nvPr/>
        </p:nvSpPr>
        <p:spPr>
          <a:xfrm>
            <a:off x="9175750" y="2463800"/>
            <a:ext cx="2203450" cy="1846659"/>
          </a:xfrm>
          <a:prstGeom prst="rect">
            <a:avLst/>
          </a:prstGeom>
          <a:noFill/>
        </p:spPr>
        <p:txBody>
          <a:bodyPr vert="horz" wrap="square" lIns="0" rtlCol="0">
            <a:spAutoFit/>
          </a:bodyPr>
          <a:lstStyle/>
          <a:p>
            <a:pPr>
              <a:spcAft>
                <a:spcPts val="600"/>
              </a:spcAft>
            </a:pPr>
            <a:r>
              <a:rPr lang="en-US" sz="1700" b="1">
                <a:solidFill>
                  <a:srgbClr val="102033"/>
                </a:solidFill>
                <a:latin typeface="Segoe UI" panose="020B0502040204020203" pitchFamily="34" charset="0"/>
              </a:rPr>
              <a:t>Vận Động Xã Hội (Động)
</a:t>
            </a:r>
            <a:r>
              <a:rPr lang="vi-VN" sz="1500" b="1">
                <a:solidFill>
                  <a:srgbClr val="53677D"/>
                </a:solidFill>
                <a:latin typeface="Segoe UI" panose="020B0502040204020203" pitchFamily="34" charset="0"/>
              </a:rPr>
              <a:t>Sự chuyển dịch về trình độ học vấn, cơ cấu nghề nghiệp, mức sống và chất lượng thể chất - trí lực.</a:t>
            </a:r>
            <a:endParaRPr lang="en-US" sz="1500" b="1">
              <a:solidFill>
                <a:srgbClr val="53677D"/>
              </a:solidFill>
              <a:latin typeface="Segoe UI" panose="020B0502040204020203" pitchFamily="34" charset="0"/>
            </a:endParaRPr>
          </a:p>
        </p:txBody>
      </p:sp>
      <p:sp>
        <p:nvSpPr>
          <p:cNvPr id="17" name="TextBox 16">
            <a:extLst>
              <a:ext uri="{FF2B5EF4-FFF2-40B4-BE49-F238E27FC236}">
                <a16:creationId xmlns:a16="http://schemas.microsoft.com/office/drawing/2014/main" id="{C0C3EBC4-71C1-0FF3-FC25-CC87EAB8DA82}"/>
              </a:ext>
            </a:extLst>
          </p:cNvPr>
          <p:cNvSpPr txBox="1"/>
          <p:nvPr/>
        </p:nvSpPr>
        <p:spPr>
          <a:xfrm>
            <a:off x="609600" y="6223000"/>
            <a:ext cx="10972800" cy="246221"/>
          </a:xfrm>
          <a:prstGeom prst="rect">
            <a:avLst/>
          </a:prstGeom>
          <a:noFill/>
        </p:spPr>
        <p:txBody>
          <a:bodyPr vert="horz" rtlCol="0">
            <a:spAutoFit/>
          </a:bodyPr>
          <a:lstStyle/>
          <a:p>
            <a:r>
              <a:rPr lang="en-US" sz="1000">
                <a:solidFill>
                  <a:srgbClr val="53677D"/>
                </a:solidFill>
                <a:latin typeface="Segoe UI" panose="020B0502040204020203" pitchFamily="34" charset="0"/>
              </a:rPr>
              <a:t>Tài liệu Liên Hợp Quốc &amp; Tổng cục Thống kê  |  Make Slide Pro V6.2 Certified</a:t>
            </a:r>
          </a:p>
        </p:txBody>
      </p:sp>
    </p:spTree>
    <p:extLst>
      <p:ext uri="{BB962C8B-B14F-4D97-AF65-F5344CB8AC3E}">
        <p14:creationId xmlns:p14="http://schemas.microsoft.com/office/powerpoint/2010/main" val="1130702987"/>
      </p:ext>
    </p:extLst>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1"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A93E0B-0020-A326-8250-6CB550D8F789}"/>
              </a:ext>
            </a:extLst>
          </p:cNvPr>
          <p:cNvSpPr txBox="1"/>
          <p:nvPr/>
        </p:nvSpPr>
        <p:spPr>
          <a:xfrm>
            <a:off x="609600" y="5080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BẢN CHẤT KHOA HỌC  •  TRỌNG TÂM</a:t>
            </a:r>
          </a:p>
        </p:txBody>
      </p:sp>
      <p:sp>
        <p:nvSpPr>
          <p:cNvPr id="3" name="TextBox 2">
            <a:extLst>
              <a:ext uri="{FF2B5EF4-FFF2-40B4-BE49-F238E27FC236}">
                <a16:creationId xmlns:a16="http://schemas.microsoft.com/office/drawing/2014/main" id="{52EDAFCB-C69E-C18E-4DE8-E7DAD658B10D}"/>
              </a:ext>
            </a:extLst>
          </p:cNvPr>
          <p:cNvSpPr txBox="1"/>
          <p:nvPr/>
        </p:nvSpPr>
        <p:spPr>
          <a:xfrm>
            <a:off x="10820400" y="508000"/>
            <a:ext cx="762000" cy="276999"/>
          </a:xfrm>
          <a:prstGeom prst="rect">
            <a:avLst/>
          </a:prstGeom>
          <a:noFill/>
        </p:spPr>
        <p:txBody>
          <a:bodyPr vert="horz" rtlCol="0">
            <a:spAutoFit/>
          </a:bodyPr>
          <a:lstStyle/>
          <a:p>
            <a:pPr algn="r"/>
            <a:r>
              <a:rPr lang="en-US" sz="1200" b="1">
                <a:solidFill>
                  <a:srgbClr val="53677D"/>
                </a:solidFill>
                <a:latin typeface="Bahnschrift" panose="020B0502040204020203" pitchFamily="34" charset="0"/>
              </a:rPr>
              <a:t>05 / 06</a:t>
            </a:r>
          </a:p>
        </p:txBody>
      </p:sp>
      <p:sp>
        <p:nvSpPr>
          <p:cNvPr id="4" name="TextBox 3">
            <a:extLst>
              <a:ext uri="{FF2B5EF4-FFF2-40B4-BE49-F238E27FC236}">
                <a16:creationId xmlns:a16="http://schemas.microsoft.com/office/drawing/2014/main" id="{8631101B-C1D2-F19A-A19F-542B983E34EF}"/>
              </a:ext>
            </a:extLst>
          </p:cNvPr>
          <p:cNvSpPr txBox="1"/>
          <p:nvPr/>
        </p:nvSpPr>
        <p:spPr>
          <a:xfrm>
            <a:off x="609600" y="762000"/>
            <a:ext cx="10972800" cy="369332"/>
          </a:xfrm>
          <a:prstGeom prst="rect">
            <a:avLst/>
          </a:prstGeom>
          <a:noFill/>
        </p:spPr>
        <p:txBody>
          <a:bodyPr vert="horz" wrap="square" tIns="0" bIns="0" rtlCol="0">
            <a:spAutoFit/>
          </a:bodyPr>
          <a:lstStyle/>
          <a:p>
            <a:r>
              <a:rPr lang="vi-VN" sz="2400" b="1">
                <a:solidFill>
                  <a:srgbClr val="102033"/>
                </a:solidFill>
                <a:latin typeface="Segoe UI" panose="020B0502040204020203" pitchFamily="34" charset="0"/>
              </a:rPr>
              <a:t>Dân Số Học Không Chỉ Mô Tả Hiện Tượng Mà Tìm Mối Quan Hệ Nhân Quả</a:t>
            </a:r>
            <a:endParaRPr lang="en-US" sz="2400" b="1">
              <a:solidFill>
                <a:srgbClr val="102033"/>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D99097AB-67EF-DE9E-DA78-7FF82050B844}"/>
              </a:ext>
            </a:extLst>
          </p:cNvPr>
          <p:cNvSpPr/>
          <p:nvPr/>
        </p:nvSpPr>
        <p:spPr>
          <a:xfrm>
            <a:off x="609600" y="1803400"/>
            <a:ext cx="3539067" cy="43434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779F389-734B-0445-DE11-AB179D64130A}"/>
              </a:ext>
            </a:extLst>
          </p:cNvPr>
          <p:cNvSpPr/>
          <p:nvPr/>
        </p:nvSpPr>
        <p:spPr>
          <a:xfrm>
            <a:off x="812800" y="2006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01</a:t>
            </a:r>
          </a:p>
        </p:txBody>
      </p:sp>
      <p:sp>
        <p:nvSpPr>
          <p:cNvPr id="7" name="TextBox 6">
            <a:extLst>
              <a:ext uri="{FF2B5EF4-FFF2-40B4-BE49-F238E27FC236}">
                <a16:creationId xmlns:a16="http://schemas.microsoft.com/office/drawing/2014/main" id="{E26F3A5B-BEE4-E418-4CDC-F0DCD27B8B25}"/>
              </a:ext>
            </a:extLst>
          </p:cNvPr>
          <p:cNvSpPr txBox="1"/>
          <p:nvPr/>
        </p:nvSpPr>
        <p:spPr>
          <a:xfrm>
            <a:off x="812800" y="2463800"/>
            <a:ext cx="3132667" cy="1615827"/>
          </a:xfrm>
          <a:prstGeom prst="rect">
            <a:avLst/>
          </a:prstGeom>
          <a:noFill/>
        </p:spPr>
        <p:txBody>
          <a:bodyPr vert="horz" wrap="square" lIns="0" rtlCol="0">
            <a:spAutoFit/>
          </a:bodyPr>
          <a:lstStyle/>
          <a:p>
            <a:pPr>
              <a:spcAft>
                <a:spcPts val="600"/>
              </a:spcAft>
            </a:pPr>
            <a:r>
              <a:rPr lang="vi-VN" sz="1700" b="1">
                <a:solidFill>
                  <a:srgbClr val="102033"/>
                </a:solidFill>
                <a:latin typeface="Segoe UI" panose="020B0502040204020203" pitchFamily="34" charset="0"/>
              </a:rPr>
              <a:t>1. Vượt Qua Mô Tả Đơn Thuần
</a:t>
            </a:r>
            <a:r>
              <a:rPr lang="vi-VN" sz="1500" b="1">
                <a:solidFill>
                  <a:srgbClr val="53677D"/>
                </a:solidFill>
                <a:latin typeface="Segoe UI" panose="020B0502040204020203" pitchFamily="34" charset="0"/>
              </a:rPr>
              <a:t>Không dừng ở câu hỏi 'Bao nhiêu người', mà phân tích nguyên nhân kinh tế, xã hội và công nghệ dẫn tới thay đổi mức sinh/chết.</a:t>
            </a:r>
            <a:endParaRPr lang="en-US" sz="1500" b="1">
              <a:solidFill>
                <a:srgbClr val="53677D"/>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F7B547C7-5252-F22D-315E-E2BC3214EAFB}"/>
              </a:ext>
            </a:extLst>
          </p:cNvPr>
          <p:cNvSpPr/>
          <p:nvPr/>
        </p:nvSpPr>
        <p:spPr>
          <a:xfrm>
            <a:off x="4326467" y="1803400"/>
            <a:ext cx="3539066" cy="43434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BE45917-A1AA-0B02-65D6-2A9A7EC3CF86}"/>
              </a:ext>
            </a:extLst>
          </p:cNvPr>
          <p:cNvSpPr/>
          <p:nvPr/>
        </p:nvSpPr>
        <p:spPr>
          <a:xfrm>
            <a:off x="4529667" y="2006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02</a:t>
            </a:r>
          </a:p>
        </p:txBody>
      </p:sp>
      <p:sp>
        <p:nvSpPr>
          <p:cNvPr id="10" name="TextBox 9">
            <a:extLst>
              <a:ext uri="{FF2B5EF4-FFF2-40B4-BE49-F238E27FC236}">
                <a16:creationId xmlns:a16="http://schemas.microsoft.com/office/drawing/2014/main" id="{08DC9C16-E006-72F0-E5A3-092D4C6D382E}"/>
              </a:ext>
            </a:extLst>
          </p:cNvPr>
          <p:cNvSpPr txBox="1"/>
          <p:nvPr/>
        </p:nvSpPr>
        <p:spPr>
          <a:xfrm>
            <a:off x="4529667" y="2463800"/>
            <a:ext cx="3132667" cy="1615827"/>
          </a:xfrm>
          <a:prstGeom prst="rect">
            <a:avLst/>
          </a:prstGeom>
          <a:noFill/>
        </p:spPr>
        <p:txBody>
          <a:bodyPr vert="horz" wrap="square" lIns="0" rtlCol="0">
            <a:spAutoFit/>
          </a:bodyPr>
          <a:lstStyle/>
          <a:p>
            <a:pPr>
              <a:spcAft>
                <a:spcPts val="600"/>
              </a:spcAft>
            </a:pPr>
            <a:r>
              <a:rPr lang="vi-VN" sz="1700" b="1">
                <a:solidFill>
                  <a:srgbClr val="102033"/>
                </a:solidFill>
                <a:latin typeface="Segoe UI" panose="020B0502040204020203" pitchFamily="34" charset="0"/>
              </a:rPr>
              <a:t>2. Dự Báo Xu Hướng Tương Lai
</a:t>
            </a:r>
            <a:r>
              <a:rPr lang="vi-VN" sz="1500" b="1">
                <a:solidFill>
                  <a:srgbClr val="53677D"/>
                </a:solidFill>
                <a:latin typeface="Segoe UI" panose="020B0502040204020203" pitchFamily="34" charset="0"/>
              </a:rPr>
              <a:t>Xây dựng các kịch bản dân số nhằm chuẩn bị cơ sở hạ tầng, trường học, bệnh viện và hệ thống an sinh xã hội.</a:t>
            </a:r>
            <a:endParaRPr lang="en-US" sz="1500" b="1">
              <a:solidFill>
                <a:srgbClr val="53677D"/>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9791CD5F-6AF8-DAD3-873D-A3EFE8BB7544}"/>
              </a:ext>
            </a:extLst>
          </p:cNvPr>
          <p:cNvSpPr/>
          <p:nvPr/>
        </p:nvSpPr>
        <p:spPr>
          <a:xfrm>
            <a:off x="8043333" y="1803400"/>
            <a:ext cx="3539067" cy="4343400"/>
          </a:xfrm>
          <a:prstGeom prst="roundRect">
            <a:avLst/>
          </a:prstGeom>
          <a:solidFill>
            <a:srgbClr val="FFFFFF"/>
          </a:solidFill>
          <a:ln>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EEE1AEE-A5D9-8CB7-5951-C242A3D86201}"/>
              </a:ext>
            </a:extLst>
          </p:cNvPr>
          <p:cNvSpPr/>
          <p:nvPr/>
        </p:nvSpPr>
        <p:spPr>
          <a:xfrm>
            <a:off x="8246533" y="2006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03</a:t>
            </a:r>
          </a:p>
        </p:txBody>
      </p:sp>
      <p:sp>
        <p:nvSpPr>
          <p:cNvPr id="13" name="TextBox 12">
            <a:extLst>
              <a:ext uri="{FF2B5EF4-FFF2-40B4-BE49-F238E27FC236}">
                <a16:creationId xmlns:a16="http://schemas.microsoft.com/office/drawing/2014/main" id="{EEAB0F59-5C87-CFFF-138F-8FFF51D4BF79}"/>
              </a:ext>
            </a:extLst>
          </p:cNvPr>
          <p:cNvSpPr txBox="1"/>
          <p:nvPr/>
        </p:nvSpPr>
        <p:spPr>
          <a:xfrm>
            <a:off x="8246533" y="2463800"/>
            <a:ext cx="3132667" cy="1354217"/>
          </a:xfrm>
          <a:prstGeom prst="rect">
            <a:avLst/>
          </a:prstGeom>
          <a:noFill/>
        </p:spPr>
        <p:txBody>
          <a:bodyPr vert="horz" wrap="square" lIns="0" rtlCol="0">
            <a:spAutoFit/>
          </a:bodyPr>
          <a:lstStyle/>
          <a:p>
            <a:pPr>
              <a:spcAft>
                <a:spcPts val="600"/>
              </a:spcAft>
            </a:pPr>
            <a:r>
              <a:rPr lang="en-US" sz="1700" b="1">
                <a:solidFill>
                  <a:srgbClr val="102033"/>
                </a:solidFill>
                <a:latin typeface="Segoe UI" panose="020B0502040204020203" pitchFamily="34" charset="0"/>
              </a:rPr>
              <a:t>3. Luận Cứ Cho Chính Sách
</a:t>
            </a:r>
            <a:r>
              <a:rPr lang="vi-VN" sz="1500" b="1">
                <a:solidFill>
                  <a:srgbClr val="53677D"/>
                </a:solidFill>
                <a:latin typeface="Segoe UI" panose="020B0502040204020203" pitchFamily="34" charset="0"/>
              </a:rPr>
              <a:t>Cung cấp bằng chứng khoa học phục vụ chiến lược dân số, tận dụng cơ hội dân số vàng và thích ứng già hóa dân số.</a:t>
            </a:r>
            <a:endParaRPr lang="en-US" sz="1500" b="1">
              <a:solidFill>
                <a:srgbClr val="53677D"/>
              </a:solidFill>
              <a:latin typeface="Segoe UI" panose="020B0502040204020203" pitchFamily="34" charset="0"/>
            </a:endParaRPr>
          </a:p>
        </p:txBody>
      </p:sp>
      <p:sp>
        <p:nvSpPr>
          <p:cNvPr id="14" name="TextBox 13">
            <a:extLst>
              <a:ext uri="{FF2B5EF4-FFF2-40B4-BE49-F238E27FC236}">
                <a16:creationId xmlns:a16="http://schemas.microsoft.com/office/drawing/2014/main" id="{89046C26-1D1F-D2F4-47BF-9E9A5573768A}"/>
              </a:ext>
            </a:extLst>
          </p:cNvPr>
          <p:cNvSpPr txBox="1"/>
          <p:nvPr/>
        </p:nvSpPr>
        <p:spPr>
          <a:xfrm>
            <a:off x="609600" y="6223000"/>
            <a:ext cx="10972800" cy="246221"/>
          </a:xfrm>
          <a:prstGeom prst="rect">
            <a:avLst/>
          </a:prstGeom>
          <a:noFill/>
        </p:spPr>
        <p:txBody>
          <a:bodyPr vert="horz" rtlCol="0">
            <a:spAutoFit/>
          </a:bodyPr>
          <a:lstStyle/>
          <a:p>
            <a:r>
              <a:rPr lang="vi-VN" sz="1000">
                <a:solidFill>
                  <a:srgbClr val="53677D"/>
                </a:solidFill>
                <a:latin typeface="Segoe UI" panose="020B0502040204020203" pitchFamily="34" charset="0"/>
              </a:rPr>
              <a:t>Liên Hợp Quốc (UN 1958) &amp; Chiến lược Dân số Việt Nam  |  Make Slide Pro V6.2 Certified</a:t>
            </a:r>
            <a:endParaRPr lang="en-US" sz="1000">
              <a:solidFill>
                <a:srgbClr val="53677D"/>
              </a:solidFill>
              <a:latin typeface="Segoe UI" panose="020B0502040204020203" pitchFamily="34" charset="0"/>
            </a:endParaRPr>
          </a:p>
        </p:txBody>
      </p:sp>
    </p:spTree>
    <p:extLst>
      <p:ext uri="{BB962C8B-B14F-4D97-AF65-F5344CB8AC3E}">
        <p14:creationId xmlns:p14="http://schemas.microsoft.com/office/powerpoint/2010/main" val="112700567"/>
      </p:ext>
    </p:extLst>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72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F24FE0-5F35-8774-147C-2A7D9A6847FF}"/>
              </a:ext>
            </a:extLst>
          </p:cNvPr>
          <p:cNvSpPr/>
          <p:nvPr/>
        </p:nvSpPr>
        <p:spPr>
          <a:xfrm>
            <a:off x="609600" y="508000"/>
            <a:ext cx="1016000" cy="50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F2F6DAA-B799-7BF6-F7CB-1D6D01C4754A}"/>
              </a:ext>
            </a:extLst>
          </p:cNvPr>
          <p:cNvSpPr txBox="1"/>
          <p:nvPr/>
        </p:nvSpPr>
        <p:spPr>
          <a:xfrm>
            <a:off x="609600" y="711200"/>
            <a:ext cx="10972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TỔNG KẾT BÀI HỌC</a:t>
            </a:r>
          </a:p>
        </p:txBody>
      </p:sp>
      <p:sp>
        <p:nvSpPr>
          <p:cNvPr id="4" name="TextBox 3">
            <a:extLst>
              <a:ext uri="{FF2B5EF4-FFF2-40B4-BE49-F238E27FC236}">
                <a16:creationId xmlns:a16="http://schemas.microsoft.com/office/drawing/2014/main" id="{2DF10DF6-BB94-6BBD-D712-E24CE14CB3FD}"/>
              </a:ext>
            </a:extLst>
          </p:cNvPr>
          <p:cNvSpPr txBox="1"/>
          <p:nvPr/>
        </p:nvSpPr>
        <p:spPr>
          <a:xfrm>
            <a:off x="609600" y="1117600"/>
            <a:ext cx="10972800" cy="1200329"/>
          </a:xfrm>
          <a:prstGeom prst="rect">
            <a:avLst/>
          </a:prstGeom>
          <a:noFill/>
        </p:spPr>
        <p:txBody>
          <a:bodyPr vert="horz" wrap="square" rtlCol="0">
            <a:spAutoFit/>
          </a:bodyPr>
          <a:lstStyle/>
          <a:p>
            <a:r>
              <a:rPr lang="vi-VN" sz="3600" b="1">
                <a:solidFill>
                  <a:srgbClr val="FFFFFF"/>
                </a:solidFill>
                <a:latin typeface="Segoe UI" panose="020B0502040204020203" pitchFamily="34" charset="0"/>
              </a:rPr>
              <a:t>Dân Số Là Trung Tâm Của Mọi Chiến Lược Phát Triển Kinh Tế - Xã Hội</a:t>
            </a:r>
            <a:endParaRPr lang="en-US" sz="36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A154E1F0-D0BD-274B-D8A1-14ED5BB9C292}"/>
              </a:ext>
            </a:extLst>
          </p:cNvPr>
          <p:cNvSpPr txBox="1"/>
          <p:nvPr/>
        </p:nvSpPr>
        <p:spPr>
          <a:xfrm>
            <a:off x="609600" y="3048000"/>
            <a:ext cx="9326880" cy="646331"/>
          </a:xfrm>
          <a:prstGeom prst="rect">
            <a:avLst/>
          </a:prstGeom>
          <a:noFill/>
        </p:spPr>
        <p:txBody>
          <a:bodyPr vert="horz" wrap="square" rtlCol="0">
            <a:spAutoFit/>
          </a:bodyPr>
          <a:lstStyle/>
          <a:p>
            <a:r>
              <a:rPr lang="vi-VN">
                <a:solidFill>
                  <a:srgbClr val="D9E3EE"/>
                </a:solidFill>
                <a:latin typeface="Segoe UI" panose="020B0502040204020203" pitchFamily="34" charset="0"/>
              </a:rPr>
              <a:t>Nắm vững quy luật dân số là điều kiện tiên quyết để xây dựng chính sách an sinh, lao động và tăng trưởng bền vững.</a:t>
            </a:r>
            <a:endParaRPr lang="en-US">
              <a:solidFill>
                <a:srgbClr val="D9E3EE"/>
              </a:solidFill>
              <a:latin typeface="Segoe UI" panose="020B0502040204020203" pitchFamily="34" charset="0"/>
            </a:endParaRPr>
          </a:p>
        </p:txBody>
      </p:sp>
      <p:sp>
        <p:nvSpPr>
          <p:cNvPr id="6" name="TextBox 5">
            <a:extLst>
              <a:ext uri="{FF2B5EF4-FFF2-40B4-BE49-F238E27FC236}">
                <a16:creationId xmlns:a16="http://schemas.microsoft.com/office/drawing/2014/main" id="{42484364-7876-8B99-E9D6-98992E35398F}"/>
              </a:ext>
            </a:extLst>
          </p:cNvPr>
          <p:cNvSpPr txBox="1"/>
          <p:nvPr/>
        </p:nvSpPr>
        <p:spPr>
          <a:xfrm>
            <a:off x="609600" y="6096000"/>
            <a:ext cx="10972800" cy="246221"/>
          </a:xfrm>
          <a:prstGeom prst="rect">
            <a:avLst/>
          </a:prstGeom>
          <a:noFill/>
        </p:spPr>
        <p:txBody>
          <a:bodyPr vert="horz" rtlCol="0">
            <a:spAutoFit/>
          </a:bodyPr>
          <a:lstStyle/>
          <a:p>
            <a:r>
              <a:rPr lang="en-US" sz="1000">
                <a:solidFill>
                  <a:srgbClr val="53677D"/>
                </a:solidFill>
                <a:latin typeface="Segoe UI" panose="020B0502040204020203" pitchFamily="34" charset="0"/>
              </a:rPr>
              <a:t>Bản thuyết trình chuẩn hóa • Pipeline G0-G15 • Make Slide Pro 6.2</a:t>
            </a:r>
          </a:p>
        </p:txBody>
      </p:sp>
    </p:spTree>
    <p:extLst>
      <p:ext uri="{BB962C8B-B14F-4D97-AF65-F5344CB8AC3E}">
        <p14:creationId xmlns:p14="http://schemas.microsoft.com/office/powerpoint/2010/main" val="1327293404"/>
      </p:ext>
    </p:extLst>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884</Words>
  <Application>Microsoft Office PowerPoint</Application>
  <PresentationFormat>Custom</PresentationFormat>
  <Paragraphs>54</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Bahnschrift</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Ninh Bui</dc:creator>
  <cp:lastModifiedBy>Thanh Ninh Bui</cp:lastModifiedBy>
  <cp:revision>1</cp:revision>
  <dcterms:created xsi:type="dcterms:W3CDTF">2026-09-17T10:52:06Z</dcterms:created>
  <dcterms:modified xsi:type="dcterms:W3CDTF">2026-09-17T10:52:06Z</dcterms:modified>
</cp:coreProperties>
</file>