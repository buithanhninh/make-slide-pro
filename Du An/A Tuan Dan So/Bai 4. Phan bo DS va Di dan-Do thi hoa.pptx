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573A-02C8-A4EE-6F40-1CFC7F9B5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F6226-66C2-D1C6-1D5B-6923E2DCE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B2633-29B9-4E71-F8DF-6FEAEA04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6EEDB-7D63-3C66-7587-6878EE63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E8C8-708C-1BB2-82AA-8E87C2B7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73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BA8A-8E38-3787-F4BC-A4575674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25CB2-A682-7812-34AA-17E140816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855F5-1466-F700-25D4-30627A48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6670D-55E3-B206-5959-EA7505E42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A5897-02B1-982B-5695-A8674024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4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40FF-687E-0FA3-528B-AAE4936F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BB452-2B23-A0BD-B948-4534C9BF1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CA9E-8C65-F9FC-A120-1BACB0B9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AEF2-3A47-0869-094D-27DDF73F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DF81D-F612-8C24-4CA8-1C9B421D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B1495-CF61-619D-5E7F-6DA66326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7E5B-9FF0-FBE2-0C2B-58DBFB507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4875D-59F0-08CA-0CD0-2EE871A40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48A28-36B2-A825-FD62-0030D1D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DC655-8756-4E3B-EE96-440A2F7A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90252-F20F-3D5F-8410-02C61590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8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F65D-4430-68E6-0A85-EC4CCFB9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FDACA-57E6-93DD-07BC-6726EEED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0CD60-9232-15D4-DF55-EEB9DBF4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B6216-856E-18A4-1487-8DCB4EFA2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659C8-FDB8-BD80-B3DE-ADC62DA5D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53996-8A17-2B88-CA25-80AC635C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6DC66-8EE6-4E64-2A07-A02E9FBC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13123-084C-A058-C805-EDBE175CD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84A0-9397-AB75-A230-590A429E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F89E6-8AC8-CA68-B34A-55DB201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C898B3-E172-0D2E-91B8-2319C682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1A1A0-ED73-3ED3-44A7-2B838C9C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6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DF72DA-76D5-93E3-1F78-4F336B03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420C8-901F-C069-52FA-59AA539B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AC15C-944B-6FB2-2531-912BDC57A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5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EE1E3-6F66-06A6-0C93-1088EFB0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A8311-DC29-E672-C66E-D9932A429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419AB-A4A4-7484-C429-E5262BA50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5FE03-A33B-2463-8FE6-1F68F0A5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FD09A-00AE-03BD-341E-F1E400B2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00C3B-CB2C-6319-6E3C-E22DAB82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41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CFFC-A480-5D1F-ABFC-4A571988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45893-1BF2-B1A8-B538-228936F08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FBF40-131D-19A3-1DDB-5F7A9F8BA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4B1E-CA0F-C817-8522-106D6802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0F453-88A3-5A68-EB12-21100DDF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17C91-AEDC-2A7E-4819-AB0B1F1C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AF13-8E08-D415-3757-A684E6CC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8BED4-243E-BA73-1507-989FD2025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760C7-45CB-B6D2-898A-2D622E00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2597-4F13-FBB6-FF7F-298AC201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BB3F-61F5-31ED-DDDD-167ADAA0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2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89125-D365-03B7-3837-C278280F8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9CB90-2F4A-98CF-ED51-95E8FE6EE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E4DB6-48EE-E5A2-7B38-27312374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AA5AA-D1E0-46D0-855F-6C89C26D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55723-0862-D045-558F-ABF9519E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7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18950-49C8-7803-A298-3142A5589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5D1B3-BA61-2761-66E7-B99A13906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B6A21-3063-C2F0-9721-84D00E7AB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421AA-98DC-47BD-91B1-1B1915233CB6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3F03-F041-AA0B-F4B0-E0BC35429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7539E-0A92-3F54-F9DC-23B593026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9640F-585E-4C48-BB5F-595610D1C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0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28.svg"/><Relationship Id="rId4" Type="http://schemas.openxmlformats.org/officeDocument/2006/relationships/image" Target="../media/image3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07BCF6-C691-24DE-E005-F9D0469BD7F7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B18B2-C688-6D5F-F230-AF22ADC35921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10B981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EBC3D-0E6B-1C74-BB37-0CC2120CE97F}"/>
              </a:ext>
            </a:extLst>
          </p:cNvPr>
          <p:cNvSpPr txBox="1"/>
          <p:nvPr/>
        </p:nvSpPr>
        <p:spPr>
          <a:xfrm>
            <a:off x="609600" y="1447800"/>
            <a:ext cx="5266944" cy="113877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Segoe UI" panose="020B0502040204020203" pitchFamily="34" charset="0"/>
              </a:rPr>
              <a:t>BÀI 4: PHÂN BỐ DÂN SỐ, DI DÂN VÀ ĐÔ THỊ HÓA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D05A5-B139-51D5-A0E4-C3604F074FBC}"/>
              </a:ext>
            </a:extLst>
          </p:cNvPr>
          <p:cNvSpPr txBox="1"/>
          <p:nvPr/>
        </p:nvSpPr>
        <p:spPr>
          <a:xfrm>
            <a:off x="609600" y="3187700"/>
            <a:ext cx="5266944" cy="584775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CBD5E1"/>
                </a:solidFill>
                <a:latin typeface="Segoe UI" panose="020B0502040204020203" pitchFamily="34" charset="0"/>
              </a:rPr>
              <a:t>Không gian phân bố dân cư, các luồng di chuyển cơ học và tiến trình đô thị hóa trong phát triển kinh tế - xã hội.</a:t>
            </a:r>
            <a:endParaRPr lang="en-US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1E6B85-B543-3552-DCD1-257878F164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4170480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9B6F279-0162-07BB-44A1-138201CDBAB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BA2C0EF-45B8-A7FB-4629-B062E892FD9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02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9132635-1EC7-0006-6A0A-56C1502B5AA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Năng Lực Khảo Sát Không Gian Dân Cư Và Luồng Dịch Chuyển Nhân Khẩu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A69F0541-364A-5C87-7064-97F8A63B0224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4AAE1B4-F2A7-DF71-2B50-0B40D5390CD4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0E548FA-5FA8-4959-F491-6FD77F191AFA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6D487EB-6779-058D-B90F-C4FEE46B0A8F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B685E19-265C-DC9F-2127-91AFDD65363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CE087E-6E38-C04E-1D15-734F18CC932E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Đo Lường Phân Bố Dân Số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Tính toán mật độ dân số số học, mật độ kinh tế và vẽ đường cong Lorenz đánh giá độ tập trung không gian dân cư.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FCCC0432-04BA-62E0-0693-6F0A86627DE1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24B1175-9284-3346-70AD-63A01B489EE5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BB846DD-17A4-9F22-20D9-CDC72CF9E3EC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54B12FE-3F3D-67BA-65AF-9609B20E1883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521D870-D4D0-7707-DD17-97431F18AB3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707C32-5536-FA65-0033-CE7660E42167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Phân Tích Động Lực Di Dân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Nhận diện 4 luồng di dân nội địa chủ yếu và vận dụng mô hình lực đẩy - lực kéo giải thích làn sóng dịch chuyển lao động.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924788D9-83CD-4C14-3157-05E56BB2292B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34214B-57D6-6E5E-A7D6-63AD338B98C9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DBC1614-A804-D611-AC44-D49E7E660EB2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2ED169E-6187-B6D0-8DA7-847D6369A956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B71D1A2-D6BB-544E-EAC0-D6976814B1E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468DF7-91B3-BC04-F290-0C386E946357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Đô Thị Hóa &amp; Quy Hoạch Không Gian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Đánh giá tốc độ đô thị hóa, áp lực lên siêu đô thị và đề xuất giải pháp phát triển chuỗi đô thị vệ tinh sinh thái bền vững.</a:t>
              </a: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63B61547-1796-585C-7919-6A57962CC38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385530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4238701-FDEA-2622-902C-1CE3701DCC5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PHÂN BỐ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CFEB1ED-F18C-47D9-1779-F0B1906A60D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03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3C359D7-4E70-A04F-446E-46157A61754A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 Phân Bố Dân Số Và Tính Không Gian Của Hiện Tượng Nhân Khẩu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F54A47C7-9A9F-2DF1-85AE-2B6C3DB56F58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6FAC64F-2D23-6966-7ACB-00AF05FE71E5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B9E5AC0-F675-9ACE-D80A-5FD4E19D4038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BEA7A1D-AD22-D03E-DFF3-D516DD127FF9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C5CAAF8-8629-AE5F-B277-18333483794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5B3900-C388-0E5D-0EF3-72150F0ED262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Phân bố dân số là sự sắp xếp, phân bổ tập hợp người trên bề mặt lãnh thổ tại một thời điểm xác định.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6B897C78-9FE3-62E6-5A61-50BF53B3F11C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817BDC1-C961-DD78-CD2A-2D579815F4F6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02C99B5-624B-A66A-38DA-07DC31DB5E0B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1156F9E-1727-D01F-5A3E-DD8E31074F1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BB1C89-FC17-1E84-580F-27B7A4883791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Tính Lịch Sử Và Địa Lý Tự Nhiên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Dân cư tập trung đông đúc ở các vùng đồng bằng châu thổ phì nhiêu, nguồn nước thuận tiện và mạng lưới giao thông thủy bộ.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D4DDF5A6-3742-6AB4-22BB-E612FE1E825B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B948A7D-F0A8-0977-4A8E-2C6CE0354F3B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946EE8A-0E5F-0C2E-12D5-D256BB238AE8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CE43705-ACB5-7408-B957-705A4F02151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D38D8F-FD58-8ABB-E343-E836186CD916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Tính Quy Định Bởi Kinh Tế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Nơi nào có mật độ khu công nghiệp, dịch vụ và cơ hội việc làm thu nhập cao thì nơi đó hút dân cư tập trung sinh sống.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F5CD1A2C-FE1D-789C-6FCF-A6A89E74F47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Giáo trình Địa lý nhân khẩu học</a:t>
            </a:r>
          </a:p>
        </p:txBody>
      </p:sp>
    </p:spTree>
    <p:extLst>
      <p:ext uri="{BB962C8B-B14F-4D97-AF65-F5344CB8AC3E}">
        <p14:creationId xmlns:p14="http://schemas.microsoft.com/office/powerpoint/2010/main" val="3632436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138C7DB-0124-86EE-F825-842D445BB78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MẬT ĐỘ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4A1C426-7A78-4822-4961-C0C85F4D2FE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04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2826415-2F0A-34E6-7113-5E586AEF2118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Mật Độ Dân Số Số Học Và Mật Độ Dân Số Kinh Tế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99CDD201-28D5-4A27-6392-D1DFAEA56F82}"/>
              </a:ext>
            </a:extLst>
          </p:cNvPr>
          <p:cNvGrpSpPr/>
          <p:nvPr/>
        </p:nvGrpSpPr>
        <p:grpSpPr>
          <a:xfrm>
            <a:off x="609600" y="1676400"/>
            <a:ext cx="10972800" cy="1237397"/>
            <a:chOff x="609600" y="1676400"/>
            <a:chExt cx="10972800" cy="123739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BA628F-BA62-A708-45B0-7DF33653F029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8BC71F2-BDD4-3720-F62B-A7DB946A75AF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2E7A9A-C2F8-1A5D-A179-56166C41D711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830997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vi-VN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D_sohoc = P / S (người/km²)  |  D_kinhte = P / S_nongnghiep (người/ha)</a:t>
              </a:r>
              <a:endParaRPr lang="en-US" sz="24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3C12B622-B9C1-26D4-A155-552925A2F8F0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A29554C-7D92-3B31-581B-D501B92BD104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BED53EC-8182-1A23-0FF6-E683E05E4A1A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89EACD7-7917-9818-3FCD-6658EF00842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6056BF-01A2-BD27-FF2C-D91FECE1AD28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Mật Độ Số Học (Crude Density)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D = P / S (người/km²). Với P là tổng dân số, S là tổng diện tích tự nhiên. Việt Nam đạt gần 300 người/km² (thuộc nhóm cao).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509D682A-D38C-8465-1C6B-11C823312549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8535BDE-4A6B-3F24-D702-24AE691C51B4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DD7AEE-7928-475A-AB05-F9C8EAC88054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B06486C-675F-F826-5773-AF31BCAA66D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2C1FA7-A796-A748-C59A-8BF4F0C3EC65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Mật Độ Kinh Tế Nông Nghiệp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Số dân nông nghiệp trên một đơn vị diện tích đất canh tác nông nghiệp, phản ánh chính xác sức ép dân số lên tư liệu sản xuất.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3FF1D8D0-6C43-EA4F-55FA-C39618EB94E0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741F8AF-AC9D-1865-7FCD-C3B6078F1CCA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741B9A9-7E9D-49C1-2FB3-92ED46BF5D79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F49AF0C-B0E2-7503-C288-D71FEBD0693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47A2FD-2917-B6F2-6479-D49ADB559F0B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Mật Độ Đô Thị Thực Tế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Mật độ dân cư trên diện tích đất xây dựng đô thị, phản ánh trực tiếp nguy cơ quá tải hạ tầng giao thông và thoát nước.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EE428130-D2F0-46DD-4CA7-D9FE9306740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Phương pháp đo lường không gian dân số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438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EDBBC16-EB0F-C7AF-04B1-EFAD64BDF5E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ĐƯỜNG CONG LORENZ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B10511D-5EE3-E5DB-722F-B68A72E7BEC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05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9325D9D-49EE-540C-1C7C-EEA2751291C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Đường Cong Lorenz Và Đánh Giá Độ Tập Trung Không Gian Dân Cư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B6CB7B45-41C0-C3CB-02F7-489F2320B6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2C34D295-DE0A-007A-4FD4-72B772CA01CF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B3AB46-D014-A25E-812D-EE92CAF4F6E5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DF190BE-F922-7B12-2429-1064853E33B8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CCD471A-E898-93BF-72C6-DA273EB244D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0427B6-1AC1-2A4A-5297-86FA8AD30FCA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Nguyên Lý Đường Cong Lorenz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Đồ thị biểu diễn phần trăm tích lũy dân số so với phần trăm tích lũy diện tích các đơn vị hành chính thành phần.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29D62593-BDDA-DBE9-45B6-168347F6BDE7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B06237C-7C5C-2D6C-68E7-713E1554629B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28E9C44-4BEA-2978-D5E4-B9E0BB2B7942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AEC6E0E-248D-1011-FA04-72D8103A9CB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B1F7D6-6BA9-61D6-9D5F-50D9C62E590F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Đường Bình Đẳng Tuyệt Đối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Đường chéo 45 độ: nếu đường cong càng phình xa đường chéo, mức độ tập trung dân số vào một vài vùng càng cực đoan.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62B23B6C-378C-392A-2081-DE74C21750C8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347D372-9991-84C5-3B2B-8AE29857657B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8A25B1-CE85-6862-2375-D2F09B46EF15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9DB31645-94F6-6CFF-4D03-05849842C17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F57288-1BC6-CB41-BBCB-C1C8C10EC812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Ứng Dụng Trong Quy Hoạch Vùng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Nhận diện tình trạng mất cân đối không gian để xây dựng chính sách phân bố lại lực lượng sản xuất và dịch cư có tổ chức.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D5BAB80C-EFF4-9BC0-9B14-0B97830751B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Kỹ thuật phân tích không gian kinh tế - xã hội</a:t>
            </a:r>
          </a:p>
        </p:txBody>
      </p:sp>
    </p:spTree>
    <p:extLst>
      <p:ext uri="{BB962C8B-B14F-4D97-AF65-F5344CB8AC3E}">
        <p14:creationId xmlns:p14="http://schemas.microsoft.com/office/powerpoint/2010/main" val="26312912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0924AB2-6389-F0C5-171D-013203B8439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PHÂN BỐ DÂN CƯ VN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2E8277A-5EB5-5062-94A1-5DC8E15AB7B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06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B55195C-E018-7C65-97C9-D23B3EC56E43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Đặc Điểm Phân Bố Dân Cư Trên Sáu Vùng Kinh Tế - Xã Hội Việt Nam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2073563D-E70E-C5EF-DD80-A5DAD187B5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88F7B7EF-7DF9-E3BC-D5ED-CEDCEBA5B017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6ABB92-6EC7-3EFC-DB53-5FA42C88B7D5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48C066-47A7-090F-D94D-2B8F07D81802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DFD9CF9-CEB1-59BC-9491-85962107403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4FBCFA-2831-0EB4-C101-B3B46BD9E19A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1236236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Đồng Bằng Sông Hồng (&gt;1,000 người/km²)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Vùng có mật độ dân số cao nhất cả nước, gấp 3.5 lần mức trung bình toàn quốc, áp lực nhà ở và môi trường cực lớn.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10BC038B-75A6-4274-49FF-933954F16210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03093AE-C5F4-D90F-7A06-47F80CD8C127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9AA0D8-7E37-2DA2-BFF3-746C7332755B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A61DB69-6F2D-6B7B-C5C9-C12C0F279DD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1C8917-D989-AC26-5E31-526860451F28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Đông Nam Bộ (&gt;750 người/km²)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Vùng kinh tế năng động nhất, hút dòng di cư lao động khổng lồ, tạo nên siêu vùng đô thị TP.HCM - Bình Dương - Đồng Nai.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AA2E18A6-EEE6-71D7-F642-75C0FCC1527F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0D31388-B142-1521-07C7-34CD2076DEF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56002A9-BEC9-EC20-5888-E730DDFCA3A2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312CE89-8D88-8084-B47F-551E263AC7A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53C52F8-0035-7DCF-926A-96BC480E84FD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Tây Bắc &amp; Tây Nguyên (&lt;150 người/km²)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Địa bàn chiến lược về quốc phòng và sinh thái nhưng mật độ dân cư thưa thớt, khó khăn trong tổ chức mạng lưới dịch vụ công.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9DF5C379-D9CE-0337-66A1-82723B40F76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Niên giám Thống kê Việt Nam</a:t>
            </a:r>
          </a:p>
        </p:txBody>
      </p:sp>
    </p:spTree>
    <p:extLst>
      <p:ext uri="{BB962C8B-B14F-4D97-AF65-F5344CB8AC3E}">
        <p14:creationId xmlns:p14="http://schemas.microsoft.com/office/powerpoint/2010/main" val="594310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98D530F-9B3A-DF60-8DF1-D922864A8FA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CHÊNH LỆCH ĐỊA BÀN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F61C6C8-4A32-CA66-BBEB-04334B98B4B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07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ABC7B53-4A9E-593E-9A25-891A48F7BA35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Sự Chênh Lệch Phân Bố Giữa Nông Thôn - Thành Thị Và Đồng Bằng - Miền Núi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BB72C9A2-8242-1A58-A976-B6860AB914AC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4F2D37F-3CD7-3FD9-F7B0-00CF29D5E213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088B28C-E9D8-42B7-BE32-B10D244C89A6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3127AB5-5BEF-6E0D-CCD1-D1FA96F57646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25E81C9-673B-A733-616B-ECA524FE620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59FF94-4C2D-1229-AFD9-9314CDDA910F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Khu Vực Nông Thôn (58%)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Lực lượng lao động già hóa do thanh niên di cư ra thành phố; kinh tế nông nghiệp đòi hỏi cơ giới hóa để giải quyết thiếu lao động.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FF6ADC6D-B8E2-FFC5-E591-7EF75D8CE8D8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82DABEE-30F4-DF48-DEC1-41375DCBE487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4095B4E-3F9A-AE50-A351-F122ED756FCE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6111F20-B35B-640A-1299-D26E2C71BDAA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9859159-40C9-8EE3-CB57-4D9E283717E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FEEC1D-D0F6-BAD2-78A7-944B5D60C880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Khu Vực Đô Thị (42%)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Tập trung lực lượng lao động trẻ, đóng góp hơn 70% GDP cả nước nhưng đối mặt bài toán ách tắc giao thông và ô nhiễm không khí.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8C9B0E42-B556-E28E-36FB-BC0A389A257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Báo cáo Tổng điều tra dân số và nhà ở</a:t>
            </a:r>
          </a:p>
        </p:txBody>
      </p:sp>
    </p:spTree>
    <p:extLst>
      <p:ext uri="{BB962C8B-B14F-4D97-AF65-F5344CB8AC3E}">
        <p14:creationId xmlns:p14="http://schemas.microsoft.com/office/powerpoint/2010/main" val="3019392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B86A70A-70A4-6E9B-FFB1-25B25380E1A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KHÁI NIỆM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172478B-8E5A-F422-38FB-D55DEBC72C0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08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C3FFC6F-2EAE-22B3-3BE6-BA34E17B62F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 Di Dân (Migration) Và Các Tiêu Chí Xác Định Dòng Cư Trú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0C02F74A-51D5-27F6-29CE-35BCFBAAA005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643F456-A9FD-AE4A-C2C7-D0B98D6612A4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AE5E1F6-B7C0-31E3-5CE7-8F9778345E9D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A2D5E0-2DB7-9B1F-4517-C4CDB980C651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0996CEA-EF94-81C2-633A-B6B6B24E56D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8BEF7F-7AF5-4E8A-4AC4-49C6AA33D562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Ba Thành Tố Cơ Bản Của Di Dân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Nơi xuất phát (Nơi đi), Nơi tiếp nhận (Nơi đến), và Khoảng cách ranh giới hành chính vượt qua (xã, huyện, tỉnh hoặc quốc gia).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A50E887-2E1E-1BE9-36B8-E1B184E66691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A8DBC0F-11E4-1335-9522-7EF3EF9196B7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83A64D2-7C82-3BD3-5961-D9416DD0849A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EC50DD1-3B8F-36C9-7416-71B97DE4FACD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15E5E29-34F4-9FF5-F92E-00610C35BDB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59BDEA-D4F9-6F79-C62F-9D5B4A1BDB99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Tiêu Chí Thời Gian Cư Trú (6 Tháng)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Quy ước thống kê chuẩn mực: thời gian cư trú thực tế tại nơi đến từ 6 tháng trở lên mới được tính là di dân thường trú.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57EBBAF6-7F87-27B9-E0E2-7508E1F4C34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65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EFBB22A-ACA8-D548-E0F6-81AA08AD28C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PHÂN LOẠI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010E888-EA2F-6649-F2B0-AD30A1EDB65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09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C879ABB-62C9-5248-AD54-9155BB623AD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Phân Loại Di Dân Theo Không Gian Lãnh Thổ, Tính Chất Và Mục Đích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947FE717-77A9-21BC-3501-4BDFCF2ED68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30CC4A3-606E-7D1F-05FE-BC045BF6F47B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1AC0EE-3A18-3D7D-E72A-1E6A8D5189BB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4024BF5-BD38-08E3-D619-11DFBD100BD8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6DA70A2-CDFD-D2A1-47EE-F1F7060744C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3F1991-7FBF-9665-B645-678C49D7D118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Di Dân Nội Địa vs Quốc Tế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Di cư giữa các vùng, các tỉnh trong nước (nội địa) đối lập với di cư vượt qua biên giới quốc gia (xuất cư, nhập cư quốc tế).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1E159996-848E-6717-E8BD-E70262A92D4D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FDAB21F-3C2D-9F18-9FED-5E953B690079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C1D144-A681-8732-C6CA-8749C3BD6C2F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331479B-B328-B59D-CC36-B0DBDAA33FB0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2645821-81E1-1FF4-B40A-5C2866CACBE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ED1B8C-E4A9-376B-ED01-B2413A728B2F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Di Dân Có Tổ Chức vs Tự Do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Di dân theo kế hoạch khai hoang, xây dựng vùng kinh tế mới của nhà nước đối lập với dòng di dân tự do theo quy luật thị trường.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119551C3-17D6-1DF3-0360-0DDE707E92F5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C6195BE-A719-C619-9A5D-AA1EA6EC5FE8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9A2A72-498C-8CCB-6252-A98CD35E107C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E51182B-5920-C045-2457-C1879042EEC8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5615B23-BFA7-7CD5-62D2-D221F1208A5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9D4981-2876-31E0-40F4-392B0188D636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FFFFFF"/>
                  </a:solidFill>
                  <a:latin typeface="Segoe UI" panose="020B0502040204020203" pitchFamily="34" charset="0"/>
                </a:rPr>
                <a:t>Di Dân Lao Động vs Cưỡng Bức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Di cư tự nguyện tìm kiếm việc làm, học tập đối lập với tị nạn do thiên tai, biến đổi khí hậu hoặc xung đột vũ trang.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25D2978A-6CDD-F36C-BDED-F89F889A40E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Sổ tay nghiên cứu di cư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399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82DFE9A-BF76-B292-B898-A34E2F981BC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THƯỚC ĐO DI DÂN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30B79E4-E215-1FA6-5366-591A964B57A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10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2A23E19-58EC-9E7D-1D7E-74146668388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Hệ Thống Các Thước Đo Đo Lường Cường Độ Di Dân: IR, OR, NMR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5A05FC72-80E7-09F0-32F8-AAC5EEA3EEB0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237307-0E1A-575F-3DCB-181C248C71B4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789E598-38EB-E194-754F-4A1525B79C0B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D6BF57-C0DD-2C52-CF79-3B23823E396C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NMR = [(I - O) / P_tb] * 1,000  |  MER = [(I - O) / (I + O)] * 100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177B5411-6FC4-4EC1-835B-DEC6F841864D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461DC9A-FB56-BD17-F0A1-7D11DA7CEDA4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FC2FB8-A5FB-2955-95ED-0B1599100EC1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14139AD-88F2-15BC-AA88-9DE5575E3A3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039121-6F2A-C9F1-F180-ABDDC4A0B68F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Suất Nhập Cư (In-Migration: IR)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IR = (I / P_tb) * 1,000 (‰). Đo lường sức hút lao động của các vùng công nghiệp như Bình Dương, Bắc Ninh.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64AD4E47-70AB-94B4-A409-99DCBBD23B96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4931BC5-D539-A9D7-858E-E9BB5A4D0C44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8B22F6A-1241-A91B-F5DC-39C5A18663B6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33BFA7D-2C9D-A036-3B18-C53EF30FBF3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0717AB-D35B-F8EE-6A03-F3D3D1D81D6D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Suất Xuất Cư (Out-Migration: OR)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OR = (O / P_tb) * 1,000 (‰). Đo lường mức độ ly hương của các vùng nông nghiệp có thu nhập thấp.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8E782F54-4E64-0E69-3260-35EAEBE06847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384D934-8C24-526A-27E8-C68E7B7ACEE0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375E995-0135-F99D-CB83-E93BB99AAC97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E6080D8-B6D8-2B5B-3C50-99685B3DB8B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88BDC46-47D4-ECD8-8426-53E9F41EC9F3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Suất Di Cư Thuần (Net: NMR)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NMR = IR - OR = ((I - O) / P_tb) * 1,000. Nếu NMR dương: vùng hút dân; nếu NMR âm: vùng xuất cư ròng.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97828079-9712-4A88-116C-7AF0B999ABD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Phương pháp thống kê di cư - Tổng cục Thống kê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15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56723C6-BA2A-E3C9-0ECE-AAE56C778F05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LÝ THUYẾT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F543AC4-84A1-7533-BCA7-419CF28AF7D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11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B18CBEF-F247-EDCC-69C4-41EAC9DBAE9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Lý Thuyết Lực Đẩy - Lực Kéo (Push-Pull Factors) Của Everett Lee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442C3413-06DB-5372-BDD7-F8D646824B96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8D14E64-D42B-26C7-D34B-E1BA6588DAFA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D62FA04-1C3E-07EA-61EB-B68D4B9FB7F7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3E6A20-015B-9991-5C32-8E84E0830A05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705093C-626C-7DB6-4A3F-70A7AA4FC4C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96C149-CAAE-FC39-B577-32EF8CD6CAA5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Lực Đẩy Tại Nơi Đi (Push Factors)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Thiếu đất canh tác, việc làm bấp bênh, thu nhập thấp, thiên tai hạn hán bão lũ và thiếu hụt dịch vụ vui chơi giải trí.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3C500957-D378-B146-E3EE-F418ACCB245E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D1F7726-EC41-5988-C84E-667FF0134793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B073098-8544-896E-753A-6525B34103BC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643F198-2452-5379-A29D-D7E95B564F18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DBC65F8-5F86-FCB6-CAEC-825E4ADF60B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71C996-7BBA-69A0-2CCE-39E2594C9F39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Lực Kéo Tại Nơi Đến (Pull Factors)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Cơ hội việc làm lương cao, hệ thống giáo dục đại học tiên tiến, mạng lưới bệnh viện hiện đại và môi trường sống sôi động.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76691870-51F6-1BE2-7139-A0FD67446E3C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D0DC6C4-06B5-5EB3-8F8B-4EB5AA955B45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76DCB85-60A6-0DF7-A3E6-37DD09DD2FC2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105809B-B689-5EDB-695D-11CA741B0F28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6C1E748-47F9-7E55-9D44-114D1BECB2A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0A4FAB-E443-6C21-85C5-0361567C7187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1236236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Rào Cản Trung Gian &amp; Yếu Tố Cá Nhân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Khoảng cách địa lý, chi phí dịch chuyển, rào cản đăng ký cư trú hộ khẩu và tính cách sẵn sàng chấp nhận rủi ro.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6E2975FF-3223-AEE3-0CDF-46DCEEFF557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Lý thuyết di cư Everett Lee (A Theory of Migration)</a:t>
            </a:r>
          </a:p>
        </p:txBody>
      </p:sp>
    </p:spTree>
    <p:extLst>
      <p:ext uri="{BB962C8B-B14F-4D97-AF65-F5344CB8AC3E}">
        <p14:creationId xmlns:p14="http://schemas.microsoft.com/office/powerpoint/2010/main" val="2552471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0AD060A-D8F0-A6D7-8DD8-8B098D32287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LUỒNG DI DÂN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B0885B4-A4F8-A10B-EF4E-09C89C1CFC84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12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3CF9201-6080-2F86-6E17-4DB37F65401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Bốn Luồng Di Dân Nội Địa Chủ Yếu Định Hình Bản Đồ Lao Động Việt Nam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6C27FBD8-365A-BCB8-B312-2AEB11F2FC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641C9584-4C6C-213F-CA58-E795268A8C4B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7E7776E-FBC3-040F-0FF5-DD2900E6264B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94752F-5FF6-FA20-A969-0E4EC6B128F3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2331BAE-5F77-EF44-46B8-ECB413BC3EB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0FDF50-B0C7-8A10-FE5A-537091D2C01C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Nông Thôn - Đô Thị (Chiếm Ưu Thế)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Luồng di cư lớn nhất: thanh niên nông thôn đổ về các đại đô thị tìm việc làm trong ngành may mặc, xây dựng và dịch vụ.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D0BB1E31-8287-553E-76A4-65AC656F0B53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C0E5C6E-E44E-C6BD-84BD-A8361782BF98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C5E1D0-D4ED-45DD-72B2-AF0D44AF0766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48B67E8-EA25-5748-82AC-A75FB2EBB72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EF1470-9200-97CE-1EA2-67ADEFD56955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Nông Thôn - Nông Thôn (Kinh Tế Mới)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Dòng di dân lịch sử từ đồng bằng lên Tây Nguyên, Tây Bắc phát triển cây công nghiệp (cà phê, cao su, hồ tiêu).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97FB5A30-5D05-AF9E-13B6-2B25BA87127A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349331E-80DD-DA1B-297D-356F9B01E876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13EE502-3BA6-07B8-8D2D-DCE2F79A52A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B931C07A-5224-2131-16B1-9D3E91AFEF6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646DC9-2888-46D4-CB5E-854E5E502482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Đô Thị - Đô Thị (Chuyển Dịch Bậc Cao)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Dịch chuyển của lao động có chuyên môn kỹ thuật cao giữa các thành phố lớn hoặc từ đô thị nhỏ sang siêu đô thị.</a:t>
              </a: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249B3576-ECCE-F2EB-B8A2-9B0A54E2445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1000">
                <a:solidFill>
                  <a:srgbClr val="CBD5E1"/>
                </a:solidFill>
                <a:latin typeface="Segoe UI" panose="020B0502040204020203" pitchFamily="34" charset="0"/>
              </a:rPr>
              <a:t>Điều tra Di cư nội địa Việt Nam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451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5BE2E4B-A406-0491-E1A7-57B0F6E5A0F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DI DÂN ĐÔ THỊ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E36435F-631F-B445-A3CB-C87195EC458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13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552DF1F-E19B-3E06-7FD4-0ADE01EF35FE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Luồng Di Dân Nông Thôn - Đô Thị: Động Lực Tăng Trưởng Và Sức Ép Hạ Tầng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4943D975-6191-CDC9-B143-80780E96231F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A33BD48-0CCF-EF88-5DE8-740E4B46F4D7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2BCC062-AB73-CD18-D5FE-96718DBEDBE5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F57E8E-EB32-C587-7263-EACDB129705D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51BAE67-48CF-9DAF-A90F-3189FBA188F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26D514-7B16-D852-FEE1-C3990E180016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Di cư đóng góp to lớn vào năng suất quốc gia nhưng tạo áp lực gay gắt về nhà ở, trường học và bảo hiểm xã hội.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C8CF2BD-F963-66BE-BAAF-8346311346C3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46BA6A0-12DB-B411-D7E6-8ED3BC8F269D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7BF9DF-8A6F-9788-1F3D-09149162D27A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92B306D-C15D-A4EE-5CA1-23C9ECF8C75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101B97-D83B-2E62-9398-9643A8B3AF0C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Lợi Ích Kinh Tế Đột Phá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Cung cấp nguồn lao động dồi dào, giá hợp lý cho các khu chế xuất; chuyển kiều hối nội địa về xây dựng nông thôn mới.</a:t>
              </a: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778BB429-6FC7-A894-CDA7-F4D29147F429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42537D5-41BF-D0E6-9409-ECA7024A2741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66C7683-C793-63D5-24E1-64A219FDAD07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9615546E-0590-1C38-1D4A-8B16A121E64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0970288-9918-FEBC-7E76-FDEB504A5AA8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Thách Thức Tích Hợp Xã Hội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Người di cư đối mặt điều kiện nhà trọ chật chội, khó khăn trong tiếp cận trường học công lập cho con em và bảo hiểm y tế.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6278C4E9-8F83-0A34-A2A9-90DC5CEC41E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Viện Nghiên cứu Quản lý Kinh tế Trung ương (CIEM)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949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2A8F49E-B50B-DCB0-EB71-32DF2F08C66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DI DÂN QUỐC TẾ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466CA3B-E248-6AAC-5DDE-EF2D97E98D1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14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C8E6BA1-EEC9-50DC-C0E2-E3A7222B8C4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Di Dân Lao Động Quốc Tế Và Dòng Kiều Hối Đóng Góp Phát Triển Quốc Gia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9BBE24E6-DDAC-BB91-1E73-2333CAD142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7FBD2923-801E-9F76-7DD3-2333E7764E21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24B569F-4B52-76DC-5EF9-49C1CD89F886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533C8CE-9843-033D-0A30-A266CA536BEB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DCA77B1-C590-3994-209A-F8B5842E74D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AB9A99-B854-2FCC-10BC-89EFE08FA93C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1236236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Xuất Khẩu Lao Động (&gt;150,000 người/năm)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Thị trường chủ yếu: Nhật Bản, Đài Loan, Hàn Quốc. Giúp thanh niên học hỏi tác phong công nghiệp và ngoại ngữ.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88B3FF9C-C4DC-5894-CC79-D9728B687A37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4EAF56F-E30C-037C-8DBE-3C610D03F39D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CA1502-659E-DA51-08A1-86EBA433E5F1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0CE927F-3BA3-C1CE-CEF9-E66C343A646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65DA98-7F02-43A1-BAE7-623385483A4E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Nguồn Kiều Hối Dồi Dào (&gt;18 Tỷ USD)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Việt Nam nằm trong top 10 quốc gia nhận kiều hối lớn nhất thế giới, củng cố nguồn dự trữ ngoại hối và đầu tư tư nhân.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E0D2FFC9-D0E1-8581-7FE9-E7E6314C77B9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AA2E52B-26E8-24BA-7F58-DD1ABE8F4B42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B3783DC-CBAE-7A15-3D0E-AFE7695771A8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98BF79A-47A4-6562-8D15-65591AD423B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CCB280-59C7-FFEA-8166-A0FBE5D6A820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Thách Thức Chảy Máu Chất Xám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Tình trạng nhiều chuyên gia, du học sinh giỏi không quay về nước, đòi hỏi chính sách đãi ngộ nhân tài hấp dẫn hơn.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B1161BDA-0FE7-5123-4822-DF41370E7664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Ngân hàng Thế giới (World Bank Migration and Development Brief)</a:t>
            </a:r>
          </a:p>
        </p:txBody>
      </p:sp>
    </p:spTree>
    <p:extLst>
      <p:ext uri="{BB962C8B-B14F-4D97-AF65-F5344CB8AC3E}">
        <p14:creationId xmlns:p14="http://schemas.microsoft.com/office/powerpoint/2010/main" val="1201611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E809BA5-A0E2-305D-722A-ADC8D3F4CFB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TÁC ĐỘNG DI DÂN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4F5B05E-BC82-85B9-B098-F61351B0527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15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D5476CD-FDA1-A2A4-B1A5-BBF7F04F86E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Tác Động Hai Mặt Của Di Dân Đến Sự Phát Triển Của Vùng Đi Và Vùng Đến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DB6B99E6-D281-596E-97A4-58B1462100AD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EF93C5-B96B-58FA-F8BB-C6CB7184FC85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3E5871E-1652-23F4-76FD-B40AA9EDA409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BF1649B-C136-3C83-997A-EE5DE7066415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BFCEFE0-08EB-2DD4-AE5D-42954D459DB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1B4A9A-B70A-EDF5-092D-1021E9239110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Di dân là con dao hai lưỡi: giải tỏa áp lực đất đai cho vùng đi và cấp lao động cho vùng đến, nhưng làm xáo trộn cấu trúc xã hội.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BF000439-DDC9-4F91-90A5-D9724E6B7709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64E5F81-DEC0-757B-5219-82C162478478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2A3812-B2FE-58A7-2527-CE83C9CA4517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8857B6F-1035-F32C-E6FB-B96911EFA0B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61B39C-2BEE-41F2-26E3-1AE3549C2AC3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Tác Động Đến Nơi Đi (Xuất Cư)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Giảm áp lực thiếu đất, nhận nguồn kiều hối nhưng mất đi lực lượng lao động trẻ khỏe, phụ nữ và người già phải gánh việc đồng áng.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0B696C8B-7BA1-FA51-B88C-FF03E7A97223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8FFD6CB-95BD-CAAC-7C99-775409DE9169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FA28A0E-8983-9B77-E769-1D1C095F7615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CC33314A-BDF7-CE5B-6866-954606A12A7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A39864F-4D39-1091-BF2D-E8728E630C54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Tác Động Đến Nơi Đến (Nhập Cư)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Bổ sung lao động năng động, kích thích tiêu dùng nhưng gây áp lực lên bệnh viện, trường học, nước sạch và an ninh trật tự.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EA6C5F9B-61E9-2715-992F-99071111A2AE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98F6ED1-8064-0E54-F0A6-6D157F5D8221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FC93A0-72F1-2553-EDBE-F0CD3A3D3AE4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342B2377-348E-086A-C90E-03988834AE7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5ED8B8-1345-13C9-109F-27B2C67691A1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Giải Pháp Điều Hòa Lợi Ích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Phát triển công nghiệp vệ tinh và dịch vụ tại các tỉnh xuất cư để người lao động 'ly nông bất ly hương'.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4B673D27-6665-A569-29D5-125C48FBA02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Giáo trình Kinh tế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339865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582299F-0FE9-2F89-E2EB-F906EE2A12C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ĐÔ THỊ HÓA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87F09B9-E978-97B4-3BE3-77B7C4CAC6F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16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459AAF0-1911-B59B-A081-E4915684A91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 Đô Thị Hóa Và Các Tiêu Chí Định Danh Khu Vực Đô Thị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903763C9-B8A9-8A42-E5A3-97F687BE5188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451E490-DC5B-CA97-02FE-15DB53BD5ED0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F21E800-EA05-B819-90AD-4EF529BE24AB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2FBDAA-1047-BAA6-D0E2-85922AC35BDC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1999A33-6509-B23B-2ADE-335D18812B9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C891F0-3D33-B720-B2AC-72AD1E8D1589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Phương Diện Nhân Khẩu &amp; Lãnh Thổ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Sự tập trung dân cư với mật độ cao, mở rộng diện tích đất phi nông nghiệp và hình thành hệ thống hạ tầng đồng bộ.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9D51C5E4-AF28-C36E-6131-527850539061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7D25B91-5745-BCA7-2C1B-28D9D0748961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1DEEB9E-AB68-D678-DBAF-0DFDA4E0A840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1C954F0-D136-2821-319F-6E817D1DDF47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ED75375-2B69-A3E1-F112-93B55F67757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14AB55-A73B-8BB4-799B-5D870E131BF2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Phương Diện Văn Hóa &amp; Lối Sống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Chuyển biến cơ cấu nghề nghiệp sang công nghiệp - dịch vụ, thay đổi lối sống từ cộng đồng khép kín sang năng động, chuyên nghiệp.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91F673B4-9387-7B7B-07A3-CCFFE8BD994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Luật Quy hoạch Đô thị Việt Nam</a:t>
            </a:r>
          </a:p>
        </p:txBody>
      </p:sp>
    </p:spTree>
    <p:extLst>
      <p:ext uri="{BB962C8B-B14F-4D97-AF65-F5344CB8AC3E}">
        <p14:creationId xmlns:p14="http://schemas.microsoft.com/office/powerpoint/2010/main" val="2726615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729FD96-30DD-D330-D43A-C23243CC9EB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THƯỚC ĐO ĐÔ THỊ HÓA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2A9EA48-96F3-CE3D-A18D-09F0CCBD637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17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8974B64-BA69-2364-9522-AC46C1AB4283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Các Chỉ Số Đo Lường Đô Thị Hóa: Tỷ Lệ Đô Thị Hóa (PU) Và Tốc Độ Tăng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5EE75878-C54A-2D27-FC3A-B988B4F8C05B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827488F-A81A-4E17-5023-536E8B784BE4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6CD08A1-BFFB-4A70-5CAE-5CA52FAB35AA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65C1A3-02A4-88B2-B0D7-1510DC8F64CB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fr-FR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PU(%) = (P_u / P_total) * 100  |  UR = [(P_u,t - P_u,0) / t] * 100</a:t>
              </a:r>
              <a:endParaRPr lang="en-US" sz="24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B2642879-92D2-D8C2-30B3-504B83BEA9E1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AF5A3C8-E223-A88C-BF0B-867BCE681AE2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E666494-3AE1-B53A-80D7-86455F55F3B8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17946E7-BE1D-DB9E-CA02-F03FE4D120E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00DC6E-2967-60E3-9112-6E3C00630578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Lệ Đô Thị Hóa (PU)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PU = (Dân số đô thị / Tổng dân số) * 100 (%). Việt Nam tăng từ 30.5% (2009) lên 38.1% (2019) và đạt ~42% vào năm 2024.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74CCB9C9-538F-96ED-BF28-266A6602D36E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390DB46-0335-A805-C8C6-25405BA449CA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B2F66B3-5F77-AD34-9898-F97DA32E1756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AF66EF39-CEAC-9DC8-79A6-8F0E6E81F41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BDB9BB7-2010-A3E7-C478-7011B159F420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Tốc Độ Đô Thị Hóa (UR)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Đo lường tốc độ tăng trưởng của tỷ lệ đô thị hóa qua các năm, phản ánh nhịp độ chuyển dịch cơ cấu kinh tế.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09BA5F8B-1B6E-0359-CC48-7DF0266BF8D6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81C4F23-30D6-C2D8-61EE-EA4E044548C7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591A9A2-8B36-7CD4-5824-BB9F45749ACF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76454D5-1C6C-B8AC-40D3-AD6D1F5C653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F2AC55-4EFF-72CE-4907-99138540A5CB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Tỷ Lệ Lao Động Phi Nông Nghiệp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Tỷ trọng lao động làm việc trong khu vực công nghiệp và dịch vụ, thường đạt trên 75% tại các đô thị tiêu chuẩn.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12428583-4553-F51B-2C2F-3C9E5EA6EFC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Nghị quyết 06-NQ/TW của Bộ Chính trị về phát triển đô thị</a:t>
            </a:r>
          </a:p>
        </p:txBody>
      </p:sp>
    </p:spTree>
    <p:extLst>
      <p:ext uri="{BB962C8B-B14F-4D97-AF65-F5344CB8AC3E}">
        <p14:creationId xmlns:p14="http://schemas.microsoft.com/office/powerpoint/2010/main" val="3599483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34D4573-1277-9DB1-EE94-7506D94B3C6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ĐÔ THỊ HÓA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E609D4E-14DE-091F-3AE9-464C205DC94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18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F62BA1F-F161-B60C-B657-2DCB048FD062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Tiến Trình Đô Thị Hóa Tại Việt Nam: Động Lực Chủ Lực Của Tăng Trưởng GDP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7C00840B-1390-963E-BDD4-A640B1C823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918EB728-EF1A-93F9-A482-A4B2F3BD474B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EF6A34-E823-02C6-AEAC-98635244C974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3E939F-0AEC-37DE-1992-43B25C4F96D0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B5D530B-5F87-8791-D102-DB50FCF9759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29124E-2224-86B8-02AD-A1CC88FBEE3F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Mạng Lưới Đô Thị Phát Triển Rộng Khắp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Cả nước có gần 900 đô thị các loại từ đô thị đặc biệt, loại I đến loại V, tạo thành bộ khung kết nối vùng vững chắc.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2CF01435-565C-882D-7818-69D5ABDAB80F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33D8B9B-904D-266F-70A7-942008185AE3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E1A7F4-18BC-E311-8A3C-712D34907D57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EC679ED-D535-0BED-84B6-BAD18BEFED7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AD3786-99BC-1959-B531-80838745D19D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Đầu Tàu Tăng Trưởng Kinh Tế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Năng suất lao động tại đô thị cao gấp gần 2 lần so với mức bình quân nông thôn nhờ tập trung vốn và công nghệ cao.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73640FF1-6F81-76C1-63D1-0E16B13202BC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243F656-187D-FC0E-BA86-70554490F81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38F548F-A46D-D226-8EB4-457B34D41AE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F91AA72-F2CA-FF7A-FD17-D4324241C36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CDB0C2-25C6-1C38-DD17-D82C475283B5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Chất Lượng Đô Thị Chưa Đồng Đều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Đô thị hóa nhanh về mặt diện tích và dân số nhưng hạ tầng kỹ thuật và hạ tầng xã hội chưa theo kịp tương xứng.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96627AA0-DD37-C7F9-7D59-80525E8DD3C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Bộ Xây dựng - Báo cáo Phát triển Đô thị Việt Nam</a:t>
            </a:r>
          </a:p>
        </p:txBody>
      </p:sp>
    </p:spTree>
    <p:extLst>
      <p:ext uri="{BB962C8B-B14F-4D97-AF65-F5344CB8AC3E}">
        <p14:creationId xmlns:p14="http://schemas.microsoft.com/office/powerpoint/2010/main" val="3688892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DF0E75C-3945-DEDA-8B92-58D0F97661E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SIÊU ĐÔ THỊ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52160F1-A7DF-163E-49C4-94BB168E432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19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A6912C3-AFD4-4F6F-E7F4-1BE8E3B445A4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Sự Phát Triển Của Hai Siêu Đô Thị: Hà Nội Và Thành Phố Hồ Chí Minh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70269E54-699F-AF6A-4A4F-2FA3645CC443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3E84FD-D57E-285E-816A-23319B66288D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62FFDA4-1E30-C722-AD2F-1EC272E06BBF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380436-ED16-D603-1C75-0C80CF06073A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E49213E-D461-E55B-F4BB-466E8861FF1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77DA63-8BD7-C9CD-1DCD-C60EAEB21C57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Hai đại đô thị đặc biệt là cực tăng trưởng kinh tế quốc gia nhưng đang đối mặt thách thức nghiêm trọng của hiện tượng siêu tập trung.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C8A2272-F70E-B2FE-B062-A85D759CEC76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82F96DE-F094-ADFF-DF0D-8810F0B3120C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713066D-0D33-0FD0-FA40-635EF6295E7E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C74E8E9-32B1-555B-131F-CFB01B67B16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1A21E0-7C0C-8442-8091-C43C5757B697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774571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Quy Mô Dân Số Cực Lớn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Dân số thực tế (tính cả người cư trú tạm thời) tại Hà Nội và TP.HCM đều vượt ngưỡng 9-10 triệu người.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B4CBF86E-BA28-167E-BF33-B66F0E73A141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63FD9F2-FB01-51E6-4506-EBB512C51360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99DE9D-7ED6-1954-3341-33FEFF0C2186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B6A30C1-BB21-05B8-F90A-F08190602C8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EFF99D-5272-8AB1-DE82-1C01DEEAF051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Đóng Góp Ngân Sách Vượt Trội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Hai thành phố đóng góp gần 45% tổng thu ngân sách quốc gia và là trung tâm tài chính, thương mại, đại học hàng đầu.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F1A97DDA-2084-494D-8BA4-F022EDE267EE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98EA905-210F-2890-FE4C-689D5C5D426C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9A23628-4018-0252-3010-A8E4AB64F8C4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EB1D61E-05A1-D884-2D44-F890CED6223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E21873-0A00-336D-A107-C0E3C721540D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Ách Tắc Và Ngập Úng Đô Thị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Kẹt xe, ngập úng mùa mưa, ô nhiễm bụi mịn PM2.5 và thiếu hụt không gian cây xanh công cộng làm suy giảm chất lượng sống.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707E21D4-0CCE-8A98-F347-BC0C64D77FB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Quy hoạch Tổng thể Phát triển Hà Nội và TP.HCM</a:t>
            </a:r>
          </a:p>
        </p:txBody>
      </p:sp>
    </p:spTree>
    <p:extLst>
      <p:ext uri="{BB962C8B-B14F-4D97-AF65-F5344CB8AC3E}">
        <p14:creationId xmlns:p14="http://schemas.microsoft.com/office/powerpoint/2010/main" val="3731918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B337D4E-0580-B5C2-0B0A-1B76FFF3E78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THÁCH THỨC ĐÔ THỊ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F4FC2CE-3394-E88E-FC68-390541FA6FA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20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1AD5C22-39BB-4E0F-935B-5FB2847EEB4A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Các Thách Thức Đô Thị Hóa: Áp Lực Nhà Ở, Giao Thông Và Môi Trường Sống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19FC125D-DCDA-BF13-D7B7-999380DDD540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074A9EC-0209-7891-A68B-0E10691CED8D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8F9103-89EC-EAF8-19F0-2444A9DCC3C0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5000AE7-CC47-B9BC-BE23-93D809A79DE1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5F3F3F9-0579-9802-2EA6-74E05C58401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FD7FCC-FE36-A8CD-440A-79DF5BC044F9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Thiếu Hụt Nhà Ở Xã Hội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Giá nhà ở thương mại vượt xa thu nhập thực tế của người lao động di cư; khan hiếm phân khúc nhà ở xã hội giá rẻ.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CD927E0-9C51-8866-2586-EC4E65D0F627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C5D8973-C9D9-3B01-B9E5-9D255773CCD8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78D607-6D31-688B-4EC9-089A5CD137A9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C5EDC06-EAB7-2B3F-776E-8963B9ECC40A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7C1472F-6C3F-6AE2-5937-D51365B19C9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DBEDE6-866C-41C3-1F9D-59C6EA9D08A9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FFFFFF"/>
                  </a:solidFill>
                  <a:latin typeface="Segoe UI" panose="020B0502040204020203" pitchFamily="34" charset="0"/>
                </a:rPr>
                <a:t>Quá Tải Mạng Lưới Giao Thông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Phương tiện cá nhân tăng nhanh chóng mặt trong khi tỷ lệ đất dành cho giao thông chỉ đạt dưới 15% (chuẩn là 20-25%).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CA3FA788-377C-99E7-71CE-1B3717885FB8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E539068-F009-4966-CD41-2432B453A6C5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838DD0-2F2E-7C98-553F-0C8759710C31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FFBC3C-68B6-4B17-09DC-4E474EEC4A31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9A9BEA0-391F-72FF-0EB1-4D745ED5853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37F678-97C2-AFDC-2D1B-7874851FC416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FFFFFF"/>
                  </a:solidFill>
                  <a:latin typeface="Segoe UI" panose="020B0502040204020203" pitchFamily="34" charset="0"/>
                </a:rPr>
                <a:t>Ô Nhiễm Nước &amp; Rác Thải Sinh Hoạt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Hàng chục nghìn tấn rác thải mỗi ngày gây áp lực lên các bãi chôn lấp; nước thải sinh hoạt chưa qua xử lý làm ô nhiễm kênh rạch.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E6852C4D-6FC7-25B6-53AE-E267E9CA78F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Báo cáo Môi trường Quốc gia - Bộ Tài nguyên và Môi trường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387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BA591AB-506F-F529-A64E-707ECB4452A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HOẠCH ĐÔ THỊ VỆ TINH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482FBD9-5274-0A82-6B6E-8BE6025060E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21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FAD58D6-6DFE-05C5-52EC-64AC1D3EC3A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Định Hướng Phát Triển Hệ Thống Đô Thị Xanh, Thông Minh Và Vệ Tinh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B9833254-71FF-429C-48DF-C7C1A16B60DE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4EDA998-537E-6BD8-8DE6-F4F292AECC53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5EEB01-357C-9AA2-47AF-23E70E010022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082EF0D0-3759-F94B-BB5F-C76F771E9DA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11F814-E5D4-6E58-6A0E-7A2F75CB9A4E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308324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1. Mô Hình Phát Triển TOD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Phát triển đô thị định hướng giao thông công cộng (Transit-Oriented Development) quanh các nhà ga đường sắt đô thị.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32D23E8C-A5AF-1F1C-D64A-E28B05EA413D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F4AC9C5-83E0-484A-5A4A-7BBA1A7A4A72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6F6888-D8E4-D5B8-1872-6137A70CFD91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54EE869-F309-E54B-BAE9-5078FF3A234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AE917E-D609-2D7F-35F7-A9F6FDC44689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2. Chuỗi Đô Thị Vệ Tinh Sinh Thái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Phát triển các chùm đô thị vệ tinh như Hòa Lạc, Sơn Tây (Hà Nội), Thủ Đức, Cần Giờ (TP.HCM) với môi trường xanh.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59658B98-C80B-E065-7D61-C95E94F2B7BE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624DD85-902C-2A62-348A-25E1907C5659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2AC3EB-5F9C-14E3-0248-212FB55FC20E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74A878B-70B8-E6C0-A43B-066F00B6EC4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E154D9-EDE5-CFEE-E77E-302D10348AA1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3. Chuyển Đổi Số Đô Thị Thông Minh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Ứng dụng trí tuệ nhân tạo và IoT trong quản lý giao thông thông minh, điều hành chiếu sáng và quan trắc môi trường số.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EFEFB6FF-7A6E-A950-3186-E5677B80BF2C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C905FF8-1C0F-A239-D51B-8FE0B9A9C2F1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122A815-3A16-91B4-3351-7FD647AA4B0B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1E3234F-4625-B942-E21F-4B90451B9B3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3A8D8D-59D4-5831-536B-6CC342EE592E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4. Phát Triển Nhà Ở Xã Hội Đạt Chuẩn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Thực hiện đề án 1 triệu căn hộ nhà ở xã hội nhằm an cư lạc nghiệp cho công nhân khu công nghiệp và người có thu nhập thấp.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228D00DB-C20F-EE08-66B2-FDC60309C16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Chiến lược Phát triển Đô thị Quốc gia đến 2030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98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4E80DDD-EB89-0E28-2799-B23181E5BEC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722C456-BD6E-9ED0-671A-D47D1B45D63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22 / 22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1F3EFEA-C65F-5E3E-0111-090AA426A2D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Tổng Kết Chuyên Đề Và Câu Hỏi Thảo Luận Quy Hoạch Không Gian Dân Cư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5437F756-B6EA-EADB-B16A-6F12DA29F49E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A752EED-936B-CE21-BD60-5956C992D1E1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61369E-B740-3D72-F339-EA556F0662DF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FDDAA47-0CE2-A78F-8E95-D9CD0C58912E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4A7C01B-5476-5E5C-2734-4C6722D3626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6501BD-D145-EBAB-9325-AAFBB8364805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FFFFFF"/>
                  </a:solidFill>
                  <a:latin typeface="Segoe UI" panose="020B0502040204020203" pitchFamily="34" charset="0"/>
                </a:rPr>
                <a:t>Câu Hỏi 1: Đo Lường Phân Bố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Phân tích ý nghĩa của đường cong Lorenz trong đánh giá bất bình đẳng phân bố dân cư giữa các vùng kinh tế.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77DC06D9-6464-DAFF-82D7-4889EB945F4D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501C9DA-6C4C-CC68-7826-FCE7BF7BF624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9234F0-BB73-4682-8516-1B228026A24D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8AA1953-A2DD-0945-D982-73B1ED28C1A2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9ECAE3F-C292-F88D-C58C-1C41CE20876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2EC7C5-6070-ACFB-83AE-AC0EA43C3EB2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Câu Hỏi 2: Lực Đẩy - Lực Kéo
</a:t>
              </a:r>
              <a:r>
                <a:rPr lang="en-US" sz="1500">
                  <a:solidFill>
                    <a:srgbClr val="CBD5E1"/>
                  </a:solidFill>
                  <a:latin typeface="Segoe UI" panose="020B0502040204020203" pitchFamily="34" charset="0"/>
                </a:rPr>
                <a:t>Vận dụng lý thuyết lực đẩy - lực kéo của Everett Lee để giải thích làn sóng di dân lao động vào vùng Đông Nam Bộ.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FBC8F5A6-45A0-1DE4-D371-D438039CE4C8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518D730-4748-E458-9CD5-A6C745B76F63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B824EEE-836E-F980-3152-6D06C388B73A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23814B-A6A2-BD6C-D339-92D09C5E42CE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E130AFC-21FC-835D-3130-2261F2FB498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593EEC-E5CB-2092-E97A-26C40A4FC050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Tình Huống 3: Quy Hoạch Đô Thị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Để giải quyết ách tắc giao thông tại Hà Nội hoặc TP.HCM, anh/chị ưu tiên mở rộng đường xá hay phát triển đô thị vệ tinh? Vì sao?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C4CF0116-2861-13D0-7EB3-D6225735F1F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2038784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3347</Words>
  <Application>Microsoft Office PowerPoint</Application>
  <PresentationFormat>Custom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2026-09-18T09:16:37Z</dcterms:created>
  <dcterms:modified xsi:type="dcterms:W3CDTF">2026-09-18T09:16:37Z</dcterms:modified>
</cp:coreProperties>
</file>