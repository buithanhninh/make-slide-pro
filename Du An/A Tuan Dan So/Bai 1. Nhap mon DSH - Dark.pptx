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E445-97EF-3345-84D3-3F0937AAC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45C82-A735-FFFB-673F-A908376AA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09CB4-0199-D728-53F2-0510F594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A097A-32CD-E3FD-55C9-27D5B355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0E52E-844B-C609-02D2-46750705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6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25D5-ED5F-378E-198C-9E2A9E8C2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B2972-8718-C6AE-AA98-1E639D304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DA875-7B05-1844-DB38-CC1FB175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A1EDC-838E-97E4-6EE9-EBFF8FB7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F3297-8178-B415-5B4B-97DC8EEC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0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ECA8-978D-AC7F-CE22-9400CEC3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2557-8BE5-AB30-C37C-4F905291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249F6-EB53-58E4-DFB1-F59328A8E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A64BA-E4CB-B30F-F9FC-C314CB6A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D7A47-EE5A-841C-D605-5C182DC3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1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3FE5-BE38-ADD6-0AAB-1280541F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A0A8-014E-DC2C-E516-AB7BB7394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938C4-2D3A-0D28-477C-5459975BA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68D07-B721-5B45-2693-A834F848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6F690-B04B-F28C-0BA1-8B705539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5B483-3318-73D8-0B70-E22488E0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5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FA6E7-2C78-0BAF-8461-522808DD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4EC31-4529-790B-030B-3BFC347D8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77985-938E-BEF1-E4D1-7198F03BD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6D7C4-A558-F57C-853B-87FD952FB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0DDCE-5107-83FD-AC06-6FDFE1C94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FE138-6F9F-5A26-9565-F26E715B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E9812A-E3A5-756D-7506-EA52C91C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12545C-3AFF-70D7-1A73-3D8EF646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1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DBA8-D9DC-E348-651A-DBEEA8DE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7E03F-CB2F-C4B3-7F8F-30F8C0D3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EB1F1-4C44-922B-B4AC-49E973D6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91703-4B4D-14CE-4C84-71FD8412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7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0EE8B-D1A3-5909-123D-BA2C433C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9A363-619F-A9B8-B7C9-CD5C48CF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5FBAA-AE40-B074-453F-CA71E59D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77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DD12F-A36F-5825-A5A1-2577DAE7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2D210-8708-F0D3-564C-AD524842B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2F412-3FD6-713D-4D84-7BC9135FF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95CD2-98BF-BCF1-9063-0F1918591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C329D-F8B9-C709-D60C-A8A873B9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D93AA-AC9D-7267-8704-BF2D4211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2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C5D5-C30A-E6EF-0247-84993EF7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6CAC17-9631-C3EC-7FF1-6CF41E10A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C44D3-EFF7-25EA-7E52-BB3CD6E26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FA65B-F5AC-0AAC-EDC4-B86A2662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24C04-120F-C47F-B385-3AD035A8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992D1-329D-1F89-2348-010D37A5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7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F106-3E4B-5908-BD65-7072B210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6E71E-53AA-D021-D19B-8C7CD1168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7A9C-F4E5-395F-0031-DD8C23AA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1332-160E-8F30-1B21-9BE8C7E3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93A1B-1DF4-08C2-18AF-90FC821D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20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3C902-0476-3A60-A0F9-483C3B77C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AD10E-950C-7DDC-ABF6-C993977EA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881CD-E5AC-F411-1F3B-9F6371AE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0D751-4416-E3FB-97CD-175F069C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C5F37-59AC-D2F0-09C6-9505E377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3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2F453-5CFD-1CA5-D12E-9471F69A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25984-3614-9BF1-6935-B47BCD478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3F8DE-B1C5-EAF2-9208-7AEF9BDD7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C7C51-C225-4F64-B129-A32568A1BC6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3B5CB-BD51-FF03-A868-CEE275480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BBDB4-D0AA-F1EA-23B2-CE6D510F5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BE06-3EE3-4E84-9233-6DAA6BBC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2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6205D3-0CDD-0E76-48E4-05C4313E3F73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05FED-D4BB-C3D4-7297-17A2F66542C7}"/>
              </a:ext>
            </a:extLst>
          </p:cNvPr>
          <p:cNvSpPr txBox="1"/>
          <p:nvPr/>
        </p:nvSpPr>
        <p:spPr>
          <a:xfrm>
            <a:off x="609600" y="1041400"/>
            <a:ext cx="5266944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10B981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A93DB3-D141-A65E-4EC8-88E5868CC5B6}"/>
              </a:ext>
            </a:extLst>
          </p:cNvPr>
          <p:cNvSpPr txBox="1"/>
          <p:nvPr/>
        </p:nvSpPr>
        <p:spPr>
          <a:xfrm>
            <a:off x="609600" y="1447800"/>
            <a:ext cx="5266944" cy="113877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Segoe UI" panose="020B0502040204020203" pitchFamily="34" charset="0"/>
              </a:rPr>
              <a:t>BÀI 1: NHẬP MÔN DÂN SỐ HỌC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5FE84-55A0-446F-7BE0-7597ECE11609}"/>
              </a:ext>
            </a:extLst>
          </p:cNvPr>
          <p:cNvSpPr txBox="1"/>
          <p:nvPr/>
        </p:nvSpPr>
        <p:spPr>
          <a:xfrm>
            <a:off x="609600" y="3187700"/>
            <a:ext cx="5266944" cy="584775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CBD5E1"/>
                </a:solidFill>
                <a:latin typeface="Segoe UI" panose="020B0502040204020203" pitchFamily="34" charset="0"/>
              </a:rPr>
              <a:t>Khung lý thuyết nền tảng về quy mô, cơ cấu, chất lượng và phương pháp luận nghiên cứu Dân số học hiện đại.</a:t>
            </a:r>
            <a:endParaRPr lang="en-US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072CA-ACF3-82A1-5CA4-246030D701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333500"/>
            <a:ext cx="5401056" cy="3014980"/>
          </a:xfrm>
          <a:prstGeom prst="roundRect">
            <a:avLst/>
          </a:prstGeom>
          <a:ln w="19050">
            <a:solidFill>
              <a:srgbClr val="0284C7"/>
            </a:solidFill>
          </a:ln>
        </p:spPr>
      </p:pic>
    </p:spTree>
    <p:extLst>
      <p:ext uri="{BB962C8B-B14F-4D97-AF65-F5344CB8AC3E}">
        <p14:creationId xmlns:p14="http://schemas.microsoft.com/office/powerpoint/2010/main" val="261230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D7CBADB-65CC-8244-A2BF-C40565AAD3F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E46DC6B-008C-5FDC-805C-B1F92789424B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02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42AFB37-ECC9-78CA-AED1-BBD17AC9DB07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Nắm Vững Khái Niệm Cốt Lõi Và Phương Pháp Luận Nghiên Cứu Dân Số Học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CF8F02FF-2D05-598A-C63A-0045B40CB095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D1F9DB2-43CB-5588-3D55-C84C61FAF623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9ADD227-CB44-873B-5321-03D0467DA049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D521001-0E23-0B9D-8D66-AE863ED0F210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EACBF15-0B3B-D92D-A207-59045979EDB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35FA7E-B764-A884-D50A-96C3B89E99DB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en-US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Hệ Thống Khái Niệm Cốt Lõi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Làm chủ các khái niệm dân số, dân cư, tái sản xuất dân số và các trạng thái động - tĩnh nhân khẩu học.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C6477F0-BA4E-6FDF-A892-978FC54D7C8D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8795ADF-BCBE-3390-BE2E-63C688B0AB95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9E37A78-EF28-EF5C-02AA-7AD1A9105AB7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97BFFFC-CACE-05A9-0E80-CAA670308B32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E0ABDCA-36F1-4602-2BD0-35D67694000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D09CB3-4E0E-A0E0-62BC-0438CE19F4EE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Phương Pháp Luận Nghiên Cứu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Nắm vững kỹ thuật thu thập dữ liệu tổng điều tra, thống kê hộ tịch và các mô hình toán học dự báo dân số.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196113C2-190E-DBF2-7B29-60379213F778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9E2DB41-CC41-6109-E0D9-7A5075CE8E66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D068802-F5C3-9C80-0AA1-4451152DC080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EE55874-BBF7-00A0-2FC3-A53150159D6F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A33C2DBD-EDC2-7ACB-7E3E-AD9951388D5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A5BEFC-68BE-776E-17A0-AAC38F546260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Ứng Dụng Thực Tiễn Hoạch Định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Phân tích mối quan hệ hữu cơ giữa dân số với tăng trưởng kinh tế, an sinh xã hội và tài nguyên môi trường.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72899359-547E-E4ED-8878-3D6DC024F2B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Khung chuẩn đầu ra chuyên đề</a:t>
            </a:r>
          </a:p>
        </p:txBody>
      </p:sp>
    </p:spTree>
    <p:extLst>
      <p:ext uri="{BB962C8B-B14F-4D97-AF65-F5344CB8AC3E}">
        <p14:creationId xmlns:p14="http://schemas.microsoft.com/office/powerpoint/2010/main" val="3224025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8DE0E62-BCFC-5617-1C3A-F79B99EDB8E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BẢN CHẤT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5456B3F-5B33-B653-84C5-F4BB9018887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03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3A5ED28-C16D-F117-6CA5-9773AA0D0A1B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Bản Chất Kép Của Dân Số: Sự Thống Nhất Giữa Thuộc Tính Sinh Học Và Xã Hội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C94845F1-8D47-F5F6-AFB3-7DCD36526581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7E7BE6-83CB-DD85-C53D-C25B6131F6F4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2C1DC26-2C8D-FD68-E3DE-36776C65672A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EBC39A7-82C8-BCA5-FD76-025ACF394B3A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94551EF-07AC-7D88-63E3-B4729CF7DF9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58B265-7674-4319-44DD-5D479808D8DC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en-US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Dân số vừa mang bản chất sinh học tự nhiên vừa chịu sự chi phối quyết định của các quy luật phát triển xã hội.</a:t>
              </a: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0DB430F1-2064-F9A8-0931-712B4F985AC5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EF98010-04FC-AD3D-4578-A89E3F4D623D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36DF37F-E538-F730-99E3-E4141234F54D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B935459-B670-516B-CD7F-2438A5F27FC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1FCC8C-43B5-031C-90BC-22651DDBC1DD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Thuộc Tính Tự Nhiên Sinh Học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Biểu hiện qua các quy luật sinh học như sinh đẻ, lão hóa, giới tính và tử vong tự nhiên của cơ thể con người.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E997D892-6D7D-DC3B-A1D1-3F730E639CBD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DB672E5-74D1-E3BB-8496-E16F6E232AD3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1B4A329-20AA-624B-661B-28BFBB70614C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B1BB57B6-9BEB-79CA-B6BE-0B19B1139CB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EE78AC3-6A99-7A72-8018-F012A1A7EDAB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Thuộc Tính Kinh Tế Xã Hội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Chịu sự quy định trực tiếp bởi trình độ phát triển kinh tế, phong tục tập quán, y tế, giáo dục và chính sách an sinh.</a:t>
              </a: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1A050692-A61F-49D4-8084-BE931DE3CC3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774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0DE7CF9-29D7-0551-D06F-B7035E759E0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CẶP KHÁI NIỆM KINH ĐIỂN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7443EF8A-DFB4-A038-32BB-0DA596AEF06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04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6432A1C-BCEA-C949-C1DA-51CAE83DA75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Phân Biệt Bản Chất Giữa Hai Khái Niệm Dân Cư Và Dân Số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5" name="!!Stage_Hero_Container">
            <a:extLst>
              <a:ext uri="{FF2B5EF4-FFF2-40B4-BE49-F238E27FC236}">
                <a16:creationId xmlns:a16="http://schemas.microsoft.com/office/drawing/2014/main" id="{C24687B3-DFAB-7E00-09FC-BE8934C63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205255"/>
              </p:ext>
            </p:extLst>
          </p:nvPr>
        </p:nvGraphicFramePr>
        <p:xfrm>
          <a:off x="609600" y="16764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1268012212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3792968612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3648157333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348863360"/>
                    </a:ext>
                  </a:extLst>
                </a:gridCol>
              </a:tblGrid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TIÊU CHÍ SO SÁNH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DÂN CƯ (GEOGRAPHY)</a:t>
                      </a:r>
                      <a:endParaRPr lang="en-US" sz="13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DÂN SỐ (DEMOGRAPHY)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Ý NGHĨA QUẢN TRỊ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6625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Bản Chất Khái Niệm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Tập hợp người sinh sống trên một lãnh thổ địa lý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Tập hợp người gắn liền tái sản xuất, sinh tử và cơ cấu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Xác định rõ đối tượng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101136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Góc Độ Tiếp Cận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Không gian địa lý, phân bố cư trú và cảnh quan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Quy luật sinh học, kinh tế và biến động nhân khẩu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Đo lường tỷ suất chuẩn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769618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Thuộc Tính Thống Kê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Phản ánh dung lượng cư trú và mật độ lãnh thổ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Phân rã chi tiết theo tuổi, giới tính, học vấn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Cơ sở phân bổ ngân sách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759177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Phạm Vi Ứng Dụng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Địa lý kinh tế, quy hoạch giao thông, tài nguyên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Chính sách dân số, an sinh xã hội và thị trường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Hoạch định chiến lược dài hạn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43915"/>
                  </a:ext>
                </a:extLst>
              </a:tr>
            </a:tbl>
          </a:graphicData>
        </a:graphic>
      </p:graphicFrame>
      <p:sp>
        <p:nvSpPr>
          <p:cNvPr id="6" name="!!Anchor_Source_Footer">
            <a:extLst>
              <a:ext uri="{FF2B5EF4-FFF2-40B4-BE49-F238E27FC236}">
                <a16:creationId xmlns:a16="http://schemas.microsoft.com/office/drawing/2014/main" id="{4AF532CD-E7EF-408A-C18C-DA524FF83AE4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Hội đồng Thẩm định Học thuật Dân số học</a:t>
            </a:r>
          </a:p>
        </p:txBody>
      </p:sp>
    </p:spTree>
    <p:extLst>
      <p:ext uri="{BB962C8B-B14F-4D97-AF65-F5344CB8AC3E}">
        <p14:creationId xmlns:p14="http://schemas.microsoft.com/office/powerpoint/2010/main" val="971816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0F9A4A3-0EF2-85DE-3A07-8B9D80612B5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TRẠNG THÁI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9FA3ADF-DFDF-58E7-CD92-948F1781D53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05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B360971-1270-4257-C216-90EF237DDB66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Hai Trạng Thái Tồn Tại Của Dân Số: Trạng Thái Tĩnh Và Trạng Thái Động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5A5E81D3-AF5F-98F8-AC03-CAE7E96953A5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8837EFF-08A7-43BE-29A4-D24AEE3A939B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EA98B7-F853-CB43-ACD9-7905A057865D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FB749D7-7D32-A76A-EF4F-6827C6E223D0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C2F59E5-6466-ABA8-B275-A18A07D632B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F97CC4-293B-8886-CFD7-53DABF8750C5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Trạng Thái Tĩnh (Static Demography)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Phản ánh quy mô tổng thể và cơ cấu dân số theo độ tuổi, giới tính tại một thời điểm cố định như thời điểm tổng điều tra.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E05E69D1-3C82-72BC-7ADF-198B663D8CFD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9C5A599-3C28-42E5-880E-5A28F5F2181F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D264962-651C-7FAB-2090-08166F6A88D0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2DCB43E-CD0D-4DC3-6F21-64513E3FA938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7E27FCF-3136-33ED-4E86-86116955958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FE2F7F-07A6-2AAF-C141-244D1D4DC680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Trạng Thái Động (Dynamic Demography)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Sự vận động liên tục của dân số theo thời gian thông qua hai kênh: biến động tự nhiên (sinh, chết) và biến động cơ học (di cư).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A85399AB-9341-0DE9-31FC-D803E0FCFD3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961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5F33682-6252-8EDD-3514-ECBBDF1B6B1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QUÁ TRÌNH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665D9AC-DA59-A585-1543-D1E35C1891AC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06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8B459411-B03D-86FA-150A-DF2E5F5327B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Ba Quá Trình Dân Số Cơ Bản Quyết Định Quy Mô Và Cấu Trúc Nhân Khẩu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69DA7F9F-958E-41E2-002D-595750066F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3C3BDE71-17A8-8E60-C1AD-08A17D1B5C11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DA97619-EF12-CECB-A623-1AB42D332D62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143D518-6FDE-5DD3-4B75-D4602BF7ED98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2996DEC2-40A7-E9FB-44FD-94118DEC632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C2C46D-93C8-9308-8347-1D4A22F60721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Mức Sinh (Fertility)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Biến số bù đắp số lượng, chịu sự chi phối của độ tuổi kết hôn, chi phí nuôi dạy con và chính sách kế hoạch hóa gia đình.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83D0ABD5-C594-EF4F-569A-43060C42FBFE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D4ED15C-1E15-AA84-C8E5-5D39AC7B4F6A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97066A-9A8C-9676-4034-54D7921FF23E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DCB583B-2133-A664-3FAB-7E2739FFB57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28B216-3190-54C1-0411-34E008C039A4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Mức Chết (Mortality)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Biến số suy giảm tự nhiên, phản ánh điều kiện vệ sinh phòng bệnh, mức sống và chất lượng mạng lưới y tế điều trị.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803F21C1-64F4-A6CF-2656-9F9648F57C7C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646FF73-2ED4-088B-5949-B88B892211CB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061ADA0-0C01-55F7-3D41-22CA1ADB7ABB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FF2E4DA-6C64-4F1A-866B-B70565F584D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F5B43D-B811-E505-F206-B71147AE0F56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Di Cư (Migration)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Biến số phân bổ lại không gian, tạo ra sự chuyển dịch lao động và tái cấu trúc mạng lưới đô thị - nông thôn.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6B1952D4-3C3D-4D67-3A3B-1E3D37E2D4E9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1772710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9F8E8849-B01B-C23D-86D2-373EF7E03E1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TÁI SẢN XUẤT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271A955-64E9-412D-85D8-9463FDD7096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07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4D011A7D-87DA-D1FA-4A52-B1AB3087859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Quá Trình Tái Sản Xuất Dân Số Xét Theo Nghĩa Hẹp Và Nghĩa Rộng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308CBF44-EA58-4ADA-AEC3-907448F72CCC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E509C67-DAA5-A299-2B2E-D38882F43809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05EBA25-1B96-0A9B-F411-E6D65A2CF425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C01DE4B-2655-6DFD-3BAC-09C46C810C2C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D5B0F35-8ED5-978A-16A4-06AF4236708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D1F113-237F-EBFF-1192-5904609C617D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Tái Sản Xuất Nghĩa Hẹp (Natural Replacement)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Quá trình thay thế liên tục các thế hệ thông qua quan hệ sinh - chết, duy trì sự tồn tại sinh học liên tục của quần thể người.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B102ABDB-532D-5077-B178-6CDC92AE7017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9CF2CAF-6862-1F21-0DC5-ACCA5414BD07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7A2FAF9-CEF9-C3D4-C98D-BE1C69EE9535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D89A985-5A1C-5343-7B58-D16906FC48AA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EC8A100-A29F-54E2-B081-60CDD890A48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A0B07A-98D8-2FB9-F159-1014BCBEA3A1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Tái Sản Xuất Nghĩa Rộng (Social Reproduction)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Bao gồm việc tái tạo sức lao động, nâng cao trình độ văn hóa, chuyên môn nghề nghiệp và chuyển dịch cơ cấu vị thế xã hội.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7F63E126-3BB7-364B-48B2-88EB94E80734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62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5A910031-5433-E388-0A14-92A592C8AF4F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PHẠM VI NGHIÊN CỨU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2B2CEE7-053F-C45B-18A4-4B608FC4967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08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5D2A176-A114-F961-07DA-4943107240F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Phạm Vi Nghiên Cứu Đa Chiều Và Tính Liên Ngành Của Dân Số Học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3AEBD5C4-19AC-43C2-5759-3AE6BC235FD9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94FE6A4-0D5F-A115-128A-73872F4B0586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2726303-3D26-7E5E-42A3-D6F279089212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9E3F4C3-F065-2EF0-FF43-C83537C8B377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F87BFAE-C60D-FDFB-3011-9F4F960D69E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28C54F-2633-5CA7-3C3C-1599399B8867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en-US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Dân số học nằm ở giao lộ của nhiều ngành khoa học từ toán học thống kê, y học xã hội đến kinh tế học và xã hội học.</a:t>
              </a: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D1187574-D5A9-6096-A5F4-741044C407E0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2D8BBFD-FB75-A2D2-64EE-715E53470E22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BB47DE5-4477-B48A-A8A6-129A29866745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99617CB-0559-E71B-9BCC-D05CB2DFE22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0F991F-E0ED-0BB7-A011-636A0E9C29BA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Dân Số Học Hình Thức (Formal Demography)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Nghiên cứu định lượng thuần túy về quy mô, cấu trúc và các mô hình toán học biểu diễn biến động nhân khẩu.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1E1E4C57-C7CC-F219-4DC5-65527BCE75E0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56CEDD-51D4-879C-ABBD-0B5A2A187A38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31E253C-7BD2-24F8-FF76-54EEA4301640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6861E03-6AF7-FEE7-B387-CE33BE7769A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358C7E-F629-0835-FBAE-94755018719E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774571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Kinh Tế Học Dân Số (Economic Demography)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Phân tích tác động của cơ cấu tuổi đến tích lũy vốn, quỹ lương, thị trường lao động và tăng trưởng GDP.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47B4F4C6-0399-F880-A068-85CA8671A229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BCC6D17-75AD-1A2B-DBB0-610DC6CE709A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5C2DE9A-73C1-CB15-1426-DDDF2A0CD68C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45FD858D-E84D-1A9A-0593-98D9D998A3F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297548-2055-FC25-0606-917A13FC693D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Xã Hội Học Dân Số (Social Demography)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Nghiên cứu mối quan hệ giữa biến động dân số với gia đình, tôn giáo, bất bình đẳng xã hội và đô thị hóa.</a:t>
              </a: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50344055-4ACF-86FB-8EF1-9ACA39BF672E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Khung chương trình đào tạo Dân số học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011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33E134B-7A68-4D73-8687-482111D4DD3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PHƯƠNG PHÁP NGHIÊN CỨU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F8FF394-7937-E517-0B3D-B415E918CDE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09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357B952-D570-28C7-06E8-B4288DD6F4D0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Bốn Bước Phương Pháp Luận Chuẩn Mực Trong Nghiên Cứu Dân Số Học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B83FD4F3-EC44-B95F-EBF0-8F96011B9E66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F8A9124-86A1-2C2F-B5C5-256DEE6974AB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8FFF13-BBFA-1F93-C0EF-CC3E8E9B797C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BCC2D29-E5D2-34A8-1C1A-CF42FEA2A2C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79A46C-3214-2823-0214-4323B86ACC67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1. Thu Thập Dữ Liệu Nguồn
</a:t>
              </a:r>
              <a:r>
                <a:rPr lang="en-US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Tiến hành Tổng điều tra dân số định kỳ 10 năm, điều tra biến động dân số hàng năm và thu thập số liệu đăng ký hộ tịch.</a:t>
              </a: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0B724B7D-79C4-E669-E69C-285146E2B6FB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221DE67-2160-438A-91DA-B04402EBA8C4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6FCE89-2C13-E8FA-CA10-209731F6368B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7B94E54-2A52-5443-ED4E-BA37C1456D2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1B4E06-D684-211D-9893-12D30B0CAECB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2. Đo Lường Thống Kê Chuẩn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Tính toán các tỷ suất thô, tỷ suất đặc trưng theo tuổi, tỷ số phụ thuộc và xây dựng tháp tuổi - giới tính.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8041F8D7-DE87-5642-5E69-41B160FE2B05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84C1343-CD73-92D0-A4CC-072DE8DDD820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D2F4FB5-14C2-62A7-C1CD-0EE6D1866DBB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AD0A3FD-80EF-0262-28E0-CF27627E92D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C96F7C-276B-9892-3441-81D0971AAE5E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3. Phân Tích Cơ Chế Nhân Quả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Khảo sát các yếu tố kinh tế, văn hóa, chính sách y tế chi phối đến hành vi sinh sản, tử vong và di cư.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4264D4C0-C872-8B56-5FE3-8F7BE75679D1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9D00AC68-A448-9094-3A3A-7F7913C82221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654C6E-0858-C2CA-AC05-31E2E58214AD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FA79E984-81F7-E3F3-BD74-25FA404678C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DCB299B-5661-FF3C-2686-D303BD3D4A45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4. Mô Hình Hóa &amp; Dự Báo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Ứng dụng phương pháp thành phần nhân khẩu (Cohort Component) để xây dựng các kịch bản dự báo dân số tương lai.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7BCB4947-0C29-D1A7-4101-EEC41E50B58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Giáo trình Phương pháp nghiên cứu Dân số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88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301DB878-2D59-0EB4-11F5-19DC992A31F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Ý NGHĨA HOẠCH ĐỊNH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0A69204-A1A4-81DB-C658-129BA8CB1D6B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10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D54D293-8CA8-7723-80C0-9418C39F81D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Mối Quan Hệ Biện Chứng Giữa Dân Số Và Chiến Lược Phát Triển Đất Nước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AF25D6CD-C1E7-98E9-C079-6936877E158E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2E1819E-9027-0E51-7008-3CE90B97AA93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1D3C117-D6B7-F33F-4538-63B42A844E6A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963733B-EDD6-36CA-2F06-251CA2B5C587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EFF5558-F393-5852-281C-2478D6ECA3F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EE2225-7A74-C31D-4A90-4892B587FC9E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Dân số vừa là mục tiêu tối thượng vừa là nguồn lực quyết định tốc độ và chất lượng phát triển bền vững quốc gia.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0905D46E-47F6-1C62-0C14-ECE3A527FD6A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9CC9D40-F9BA-425E-9106-DEAF86A6697B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C568814-6903-4A38-D5ED-CA18E7C78090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E68429D-03E1-8F0D-6CC8-4029403C2EA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793468-0CF0-C74A-C4DC-00D3A12D76D6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Dân Số Là Nguồn Lực Lao Động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Quy mô và chất lượng nguồn nhân lực quyết định trực tiếp tiềm năng tăng trưởng kinh tế và năng lực hấp thụ vốn đầu tư FDI.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17F29D05-F93A-55CB-44C2-18C0BAA37C8A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0A238B5-BFFC-49B7-311E-50D43B1F0CBD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F7AAEBB-58CD-A1A3-0E6D-743A6FDA0BA4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52B400B-63FC-D32C-4B9A-F245EF1FA33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5BD954-B9A6-4EC3-CC51-D6C7A098533D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Cơ Sở Hoạch Định Dịch Vụ Công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Cơ cấu lứa tuổi định hình chính xác nhu cầu xây dựng trường học, mạng lưới bệnh viện và hệ thống bảo hiểm hưu trí.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CF68E6E7-35FF-4083-E398-52B20A9B069A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B4D5888-877E-B8AB-67D9-A5B285D228E8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50866C3-FA08-06F6-5AE9-9839D0AD57AD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75E34F2-7740-3C40-9D51-AF70D2D3D6A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6401DA-12FD-0003-55B1-CE5E12EB0F23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Dân Số Là Mục Tiêu Phục Vụ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Mọi thành quả phát triển kinh tế cuối cùng đều hướng tới mục tiêu nâng cao chất lượng cuộc sống và tuổi thọ người dân.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4B0B325F-1C9A-5266-F4A1-A24ABFEFCC79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Nghị quyết 21-NQ/TW về công tác dân số</a:t>
            </a:r>
          </a:p>
        </p:txBody>
      </p:sp>
    </p:spTree>
    <p:extLst>
      <p:ext uri="{BB962C8B-B14F-4D97-AF65-F5344CB8AC3E}">
        <p14:creationId xmlns:p14="http://schemas.microsoft.com/office/powerpoint/2010/main" val="43789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91F2AE77-EA60-C41D-22FB-33A9AADD050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BỐI CẢNH VIỆT NAM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5B11692-D487-1F5A-96BC-DF76463326A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11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4FB0288-907A-0D57-8890-57731AEAACD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Bối Cảnh Dân Số Việt Nam: Cột Mốc 100 Triệu Dân Và Thời Kỳ Dân Số Vàng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C026FC73-F3D2-A6A3-EC9D-9A325A8A22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A76E7387-7CDA-CF4D-B6E6-1C3900C66D95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BD2C659-1D03-D069-CA02-F13293C62EAD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45D6ED-A75E-59BF-6429-E11A2FFF5BB8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BFC983C3-D2F2-2D76-2DEF-A1A8B865D01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5B3C5E-743A-B405-F4EF-B2FAC9835E68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100.3 Triệu Người (2024)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Việt Nam xếp thứ 3 khu vực Đông Nam Á và đứng thứ 15 trên thế giới về quy mô dân số, tạo thị trường tiêu dùng nội địa rộng lớn.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38C6C56C-EF7C-0232-6075-B78B472C3622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0B3EECD-307A-C378-2681-04D6B7BAA146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EE75A9-AE2A-CEA8-57B8-A7E4149E8255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85A4C0A3-33B8-8E90-E14B-5DFAEB8C2E0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B37D23-D922-B5E4-FE62-7FCDF872114D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68.0% Độ Tuổi Lao Động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Thời kỳ cơ cấu dân số vàng với tỷ số phụ thuộc chung dưới 50%, mang lại lợi thế cạnh tranh lớn về lực lượng lao động dồi dào.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CB1EB40F-E4D8-DD9C-A6C8-8B8678DAC04D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F5705D8-F7C7-0DD6-748E-FD31989840A0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473CC1F-427F-BFEE-7171-42712DBFB465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B045CA08-8D67-E2B9-1E18-395C9B6F694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631765C-EECC-AD1B-2119-B5111560E441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Thách Thức Năng Suất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Tỷ lệ lao động qua đào tạo có chứng chỉ mới đạt khoảng 28%, đòi hỏi cấp thiết phải nâng cao chất lượng kỹ năng nghề.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8CCED1BE-3039-10FD-8F0E-A9ACC66B030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Tổng cục Thống kê - Kết quả Tổng điều tra dân số</a:t>
            </a:r>
          </a:p>
        </p:txBody>
      </p:sp>
    </p:spTree>
    <p:extLst>
      <p:ext uri="{BB962C8B-B14F-4D97-AF65-F5344CB8AC3E}">
        <p14:creationId xmlns:p14="http://schemas.microsoft.com/office/powerpoint/2010/main" val="2292117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B2CA7BF-42C5-CE60-A40D-AD378DAAB39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THÁCH THỨC CẤP BÁCH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FB0270A-8D37-DEA5-990B-748864457054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12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E13E75F-3659-E914-C985-96A5C97CBDA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Ba Thách Thức Nhân Khẩu Học Cấp Bách Cần Giải Pháp Căn Cơ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6AF447A4-AF65-F25F-959C-23032F9A8367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DD694B3-F84F-167D-F30E-3808571E78F7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E6E05E0-5783-33AC-9C4E-F15B9F773DC7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C2E2F2F-E69C-489E-9084-31B9D1A41604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26B0643-219E-CE86-1D0D-895D5C4DEF0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D5F244-6307-70F3-F2A3-6FD35217F724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Mức sinh giảm thấp, già hóa dân số với tốc độ nhanh và mất cân bằng giới tính khi sinh đang đe dọa cơ cấu bền vững tương lai.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C5B5A42D-E5CF-A916-1AEF-DE91DA3F9B98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6686C26-2FCE-ACB8-B133-99755AC17D67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8062CF7-86DF-C88F-5C35-0E8F95ACB083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15D57F-974D-F94A-3A8B-39B6BEFC132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A1EA0-BB95-F9B8-1B5A-CA398747553F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Mức Sinh Giảm Sâu Đô Thị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Tổng tỷ suất sinh tại TP.HCM và vùng Đông Nam Bộ xuống dưới 1.5 con/phụ nữ, đối mặt nguy cơ suy giảm dân số dài hạn.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2FA276B1-B5C3-6BC8-6108-663B5414A286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DC1B8EE-D3C3-DDFF-4378-F6F07A89E4EF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CBC66B-CB65-A451-C20F-41F58212A533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EBDBCA3-9A4D-80CF-AA2B-E3DA0D1C8C4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F544BE7-D1AB-8663-BC94-CCC917FEB19F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it-IT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Già Hóa Trước Khi Giàu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Thời gian chuyển từ già hóa (7%) sang dân số già (14%) chưa đầy 20 năm, tạo sức ép khổng lồ lên quỹ bảo hiểm và hệ thống y tế.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0544CCD2-486C-2A50-14F7-67B24283C422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E06D093-64FB-BEC1-0E0D-628339AE9FF9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6946A57-2053-2B06-BE8F-4264D705BEAB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ACB8EF20-4FC3-1912-6B76-BF7E9163175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59FF42-B0D8-8BC2-A8FA-96FA96CAC48E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Mất Cân Bằng Giới Tính (SRB)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Tỷ số giới tính khi sinh duy trì mức cao 112 bé trai / 100 bé gái, tiềm ẩn nguy cơ dư thừa 1.5 triệu nam giới vào năm 2034.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7AC25977-2C5A-359B-639C-ACC02E43B8B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Báo cáo thực trạng dân số Việt Nam 2024</a:t>
            </a:r>
          </a:p>
        </p:txBody>
      </p:sp>
    </p:spTree>
    <p:extLst>
      <p:ext uri="{BB962C8B-B14F-4D97-AF65-F5344CB8AC3E}">
        <p14:creationId xmlns:p14="http://schemas.microsoft.com/office/powerpoint/2010/main" val="4191519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01F517D-EB1B-D81F-9115-FF748BC0D6CB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LỘ TRÌNH HÀNH ĐỘNG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F960031-AE67-32CA-7633-690E440643B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13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96BEF7D-8D6C-6EFE-2FD9-49EDC1C4753A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Khung Lộ Trình Hành Động Chiến Lược Cho Nhà Hoạch Định Đến Năm 2045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5" name="!!Stage_Hero_Container">
            <a:extLst>
              <a:ext uri="{FF2B5EF4-FFF2-40B4-BE49-F238E27FC236}">
                <a16:creationId xmlns:a16="http://schemas.microsoft.com/office/drawing/2014/main" id="{4CC6F74D-F9B2-29C6-52DE-6EC0EDD93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233022"/>
              </p:ext>
            </p:extLst>
          </p:nvPr>
        </p:nvGraphicFramePr>
        <p:xfrm>
          <a:off x="609600" y="16764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296">
                  <a:extLst>
                    <a:ext uri="{9D8B030D-6E8A-4147-A177-3AD203B41FA5}">
                      <a16:colId xmlns:a16="http://schemas.microsoft.com/office/drawing/2014/main" val="2591755397"/>
                    </a:ext>
                  </a:extLst>
                </a:gridCol>
                <a:gridCol w="7461504">
                  <a:extLst>
                    <a:ext uri="{9D8B030D-6E8A-4147-A177-3AD203B41FA5}">
                      <a16:colId xmlns:a16="http://schemas.microsoft.com/office/drawing/2014/main" val="74969649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CHỈ TIÊU / YẾU TỐ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NỘI DUNG PHÂN TÍCH &amp; MINH CHỨNG THỰC TIỄN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022943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vi-VN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2024 - 2030: Bứt Phá Cơ Cấu Vàng</a:t>
                      </a:r>
                      <a:endParaRPr lang="en-US" sz="12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Tối đa hóa việc làm chất lượng cao, đào tạo kỹ năng số cho 70% lao động, nâng cao năng suất trước khi già hóa dân số ập đến.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581053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2030 - 2040: Thích Ứng Già Hóa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Cải cách bảo hiểm xã hội đa tầng, hoàn thiện mạng lưới y tế lão khoa và phát triển thị trường kinh tế bạc (Silver Economy).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81284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Tầm Nhìn 2045: Nâng Tầm Vóc Việt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Đưa chỉ số phát triển con người HDI vào nhóm rất cao (&gt;0.800), bảo đảm an sinh bền vững cho mọi thế hệ công dân.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31338"/>
                  </a:ext>
                </a:extLst>
              </a:tr>
            </a:tbl>
          </a:graphicData>
        </a:graphic>
      </p:graphicFrame>
      <p:sp>
        <p:nvSpPr>
          <p:cNvPr id="6" name="!!Anchor_Source_Footer">
            <a:extLst>
              <a:ext uri="{FF2B5EF4-FFF2-40B4-BE49-F238E27FC236}">
                <a16:creationId xmlns:a16="http://schemas.microsoft.com/office/drawing/2014/main" id="{C9396C4E-80C9-14B1-FD07-20A9F660994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Chiến lược Dân số Việt Nam đến năm 2030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884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66A4C2E-F94B-724F-5509-FA569A9BBAD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TỔNG KẾT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2109DE5-C22B-837F-54F8-461613950859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14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A78A723-4190-F03F-7FF2-C7264A5CE44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Tổng Kết Kiến Thức Trọng Tâm Chuyên Đề Nhập Môn Dân Số Học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A1B9844D-DBB1-B0EC-99CE-E91C3E50B31E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79A135F-A3B9-C3BE-8F77-4D3E1E0101CD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3046D6-E2B1-5154-F0F8-A0CA70F640C1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16CEB83-EE17-1A73-3883-82483758B406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A8E0A4D-E21E-A0CF-4F3F-52CCAC4C9F3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41BA362-A937-ECD1-DF8F-76097E07ADC5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Câu Hỏi Lý Thuyết 1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Phân tích sự khác biệt bản chất giữa hai khái niệm Dân cư và Dân số. Lấy ví dụ minh chứng trong thực tế quản lý nhà nước.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AA7E5031-F07C-07C5-B580-DA981755D472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19725C6-CDC2-25D9-C7B3-10C6D342AF7C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88AD5D-9A1E-8104-1DAE-878C34259252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CF8628A-C99F-7EB1-0230-C95E9B9CFEC8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621A86E-9F06-F3D6-57AD-2A730CD5F63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141ECB-2E5E-4D92-7441-4DAB839A8F87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Câu Hỏi Phân Tích 2
</a:t>
              </a:r>
              <a:r>
                <a:rPr lang="en-US" sz="1500">
                  <a:solidFill>
                    <a:srgbClr val="CBD5E1"/>
                  </a:solidFill>
                  <a:latin typeface="Segoe UI" panose="020B0502040204020203" pitchFamily="34" charset="0"/>
                </a:rPr>
                <a:t>Tại sao nói dân số vừa mang thuộc tính sinh học vừa mang thuộc tính xã hội? Mặt nào đóng vai trò quyết định và vì sao?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968D2C4B-6385-1893-A9C0-FF951A240F8A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518C7CE-3B64-5345-96EB-F2D110E00CBF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B80A96-6FD3-580C-9D13-8E63B11BBA5F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676118-D7BC-4282-55B0-E46421760C9A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F216FBB-3675-F19A-7A31-6A45231A5F4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29DEE25-0F70-8396-9C32-2159F5E03F63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Tình Huống Thực Tiễn 3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Đánh giá các cơ hội và thách thức của thời kỳ dân số vàng với 68% lao động tại địa phương công tác. Đề xuất giải pháp phát huy.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41C47CF9-0C25-EE95-BCC8-2553DC9B972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2320765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2063</Words>
  <Application>Microsoft Office PowerPoint</Application>
  <PresentationFormat>Custom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2026-09-18T09:13:02Z</dcterms:created>
  <dcterms:modified xsi:type="dcterms:W3CDTF">2026-09-18T09:13:02Z</dcterms:modified>
</cp:coreProperties>
</file>