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59765-D049-AAEB-5B99-D51065C4CD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E8D2EB-E5A7-4009-9021-35115616AB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D96EC-75CA-2978-70EB-8CAF92AE0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CA90C-2A8A-4E77-AEF2-3409CEBA498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8ADD7-6896-A33B-40C3-C63125541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77DCE-8CDF-E60A-21A3-F487DC23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79BCE-F32B-4D3E-952F-A91B4895C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48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2C109-8585-F96B-BC1D-ED1FCDE7D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26625-4824-D7A7-08BB-176145827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078A6-BE51-9523-2B07-BCF1CDC05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CA90C-2A8A-4E77-AEF2-3409CEBA498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8DA87-5549-1567-C82D-C9FC9CFB7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5D35E-3BA0-B9B0-1CD7-14EFF9CA0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79BCE-F32B-4D3E-952F-A91B4895C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107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D81CD-25A0-CCC4-2010-7D3DCF61C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DBFA5-FC3E-FCE3-8642-7A65BFDC8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05BED-C084-C1EB-CBD9-1B9D64AA7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CA90C-2A8A-4E77-AEF2-3409CEBA498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523A9-40CD-F1FB-6D76-4595AAAA7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55914-92C5-F601-61DF-316938BA4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79BCE-F32B-4D3E-952F-A91B4895C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544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9A4BF-249A-70E6-CF43-F98528412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D7579-F561-FCC3-2075-27395ACC5E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A7CAF9-210A-BBB8-0669-9BA0333CE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08CAC9-5E42-E0B3-B42E-B90E20D53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CA90C-2A8A-4E77-AEF2-3409CEBA498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F466A5-5882-279D-CDC3-26452BA7A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457E12-AFF7-F968-4E14-E5F5E6820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79BCE-F32B-4D3E-952F-A91B4895C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685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390DE-6F0E-B406-B608-BBA4411BD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77D5C-D887-BC1B-A89E-2D87C6E5C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255DDF-3FD9-3C1D-9B12-B2E01A1AD6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9C6E4C-D30C-73B6-5A44-0C64CD445B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9D84B5-A077-99AF-E4C1-FD91DC03A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F4E58F-18A1-DA8F-6B52-E03207BBE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CA90C-2A8A-4E77-AEF2-3409CEBA498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3EC3A4-97A6-9499-4AE8-C625885A0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1A2928-6584-3BCC-C3E4-67F6ACE18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79BCE-F32B-4D3E-952F-A91B4895C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211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F440A-B80A-BB88-2102-B0FA928DF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3D09FC-04D7-E38D-D5CA-6BD68F38B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CA90C-2A8A-4E77-AEF2-3409CEBA498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12AD1C-EE55-4C24-8396-CA5192D43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B29ED8-34CD-6A5D-3826-6B31E880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79BCE-F32B-4D3E-952F-A91B4895C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087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106B35-3E59-9E87-F74E-28EBB110D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CA90C-2A8A-4E77-AEF2-3409CEBA498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41BA7E-0486-6AA3-8F73-BF83B74ED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53A44B-9707-6C92-5E9A-056D7376A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79BCE-F32B-4D3E-952F-A91B4895C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634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21BDE-8E7A-D4D7-B0AD-E923D9D52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3C746-0E59-0C8F-DADD-641E599F0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B513E9-9AAC-095D-01F5-7A7F9A29E2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5DD659-2D2B-E6A6-5B23-F572B9E69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CA90C-2A8A-4E77-AEF2-3409CEBA498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F5E250-C100-CAFE-C811-D7645D4D4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A304B-12E8-294C-929D-BD9F8033B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79BCE-F32B-4D3E-952F-A91B4895C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873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00CFC-73D9-C038-7553-C7D4314CD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BF7D2-B8EF-B0BE-E19E-E3FEACBD9E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4E95E1-5ED6-CA3D-6FE8-ABC670F2DE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9A136-F99C-3113-646A-DC15CB81A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CA90C-2A8A-4E77-AEF2-3409CEBA498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14F36A-C517-73AA-D08C-B7395D146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A5B86-66D8-586D-CE0C-E53122974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79BCE-F32B-4D3E-952F-A91B4895C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79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6BFD3-6C81-37A6-EB51-D88AD1678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E1C861-3A19-F3B8-AFB9-35243A183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81B22-C22B-7389-D219-BF106A177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CA90C-2A8A-4E77-AEF2-3409CEBA498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5A5E3-5B20-7400-9E25-98E254E7F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7E2B5-159D-8E72-AE43-03B694F74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79BCE-F32B-4D3E-952F-A91B4895C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895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C1027B-23CD-3045-4BDD-29FF5CF824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FF9027-953F-5DB5-1F67-2861174288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E3D68-CB76-96CA-883F-3C997BD52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CA90C-2A8A-4E77-AEF2-3409CEBA498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BA973-FA40-0EF7-8ABB-68E5CDB3C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950C5-43B1-0374-61CB-3511E2444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79BCE-F32B-4D3E-952F-A91B4895C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136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EB7806-4427-D021-C014-67577F131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8AFBE-381C-8F1A-DC87-547D9CD2F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29C51-7054-7848-144C-A3941443C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FCA90C-2A8A-4E77-AEF2-3409CEBA498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A3F89-82CD-B0C8-4324-7D3AAB6271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24816-9437-4839-8464-258FF7CF76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79BCE-F32B-4D3E-952F-A91B4895C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405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36A54F-6691-282E-3235-A861EE7E2433}"/>
              </a:ext>
            </a:extLst>
          </p:cNvPr>
          <p:cNvSpPr/>
          <p:nvPr/>
        </p:nvSpPr>
        <p:spPr>
          <a:xfrm>
            <a:off x="609600" y="838200"/>
            <a:ext cx="609600" cy="635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76651C-D177-80CF-5DE2-851052C77011}"/>
              </a:ext>
            </a:extLst>
          </p:cNvPr>
          <p:cNvSpPr txBox="1"/>
          <p:nvPr/>
        </p:nvSpPr>
        <p:spPr>
          <a:xfrm>
            <a:off x="609600" y="1041400"/>
            <a:ext cx="5486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D9488"/>
                </a:solidFill>
                <a:latin typeface="Segoe UI" panose="020B0502040204020203" pitchFamily="34" charset="0"/>
              </a:rPr>
              <a:t>CHƯƠNG TRÌNH ĐÀO TẠO DÂN SỐ HỌC  •  TỔNG QUAN CHUYÊN ĐỀ</a:t>
            </a:r>
            <a:endParaRPr lang="en-US" sz="12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06E7A4-2CE1-9072-42BA-BF9A60B93430}"/>
              </a:ext>
            </a:extLst>
          </p:cNvPr>
          <p:cNvSpPr txBox="1"/>
          <p:nvPr/>
        </p:nvSpPr>
        <p:spPr>
          <a:xfrm>
            <a:off x="609600" y="1447800"/>
            <a:ext cx="5486400" cy="1138773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r>
              <a:rPr lang="vi-VN" sz="3400" b="1">
                <a:solidFill>
                  <a:srgbClr val="FFFFFF"/>
                </a:solidFill>
                <a:latin typeface="Segoe UI" panose="020B0502040204020203" pitchFamily="34" charset="0"/>
              </a:rPr>
              <a:t>BÀI 2: QUY MÔ, CƠ CẤU VÀ CHẤT LƯỢNG DÂN SỐ</a:t>
            </a:r>
            <a:endParaRPr lang="en-US" sz="3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EED747-626A-63F1-21BF-58C6F507E87F}"/>
              </a:ext>
            </a:extLst>
          </p:cNvPr>
          <p:cNvSpPr txBox="1"/>
          <p:nvPr/>
        </p:nvSpPr>
        <p:spPr>
          <a:xfrm>
            <a:off x="609600" y="3187700"/>
            <a:ext cx="5486400" cy="830997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r>
              <a:rPr lang="vi-VN" sz="1600">
                <a:solidFill>
                  <a:srgbClr val="E2E8F0"/>
                </a:solidFill>
                <a:latin typeface="Segoe UI" panose="020B0502040204020203" pitchFamily="34" charset="0"/>
              </a:rPr>
              <a:t>Hệ thống chỉ báo đo lường động lực học dân số, các mô hình tháp tuổi - giới tính và bài toán già hóa dân số tại Việt Nam.</a:t>
            </a:r>
            <a:endParaRPr lang="en-US" sz="160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8DDFF14-7DE6-FCE1-30B7-48A781F1E1BA}"/>
              </a:ext>
            </a:extLst>
          </p:cNvPr>
          <p:cNvGrpSpPr/>
          <p:nvPr/>
        </p:nvGrpSpPr>
        <p:grpSpPr>
          <a:xfrm>
            <a:off x="6400800" y="952500"/>
            <a:ext cx="5181600" cy="4572000"/>
            <a:chOff x="6400800" y="952500"/>
            <a:chExt cx="5181600" cy="45720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59CDF8C-3D4C-A388-1A5A-73DA19A412DE}"/>
                </a:ext>
              </a:extLst>
            </p:cNvPr>
            <p:cNvSpPr/>
            <p:nvPr/>
          </p:nvSpPr>
          <p:spPr>
            <a:xfrm>
              <a:off x="6400800" y="952500"/>
              <a:ext cx="5181600" cy="4572000"/>
            </a:xfrm>
            <a:prstGeom prst="roundRect">
              <a:avLst/>
            </a:prstGeom>
            <a:solidFill>
              <a:srgbClr val="0B1E38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9AB2CA8-6580-3F6B-EDBE-02160835BD1C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7000" y="1028700"/>
              <a:ext cx="5029200" cy="4419600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4DDC331-B421-B0F2-E200-1BE88BE8FD09}"/>
              </a:ext>
            </a:extLst>
          </p:cNvPr>
          <p:cNvSpPr txBox="1"/>
          <p:nvPr/>
        </p:nvSpPr>
        <p:spPr>
          <a:xfrm>
            <a:off x="609600" y="61976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Segoe UI" panose="020B0502040204020203" pitchFamily="34" charset="0"/>
              </a:rPr>
              <a:t>Hệ Thống Bài Giảng Dân Số Học Chuẩn Hóa • Make Slide Pro V6.2 Certified</a:t>
            </a:r>
          </a:p>
        </p:txBody>
      </p:sp>
    </p:spTree>
    <p:extLst>
      <p:ext uri="{BB962C8B-B14F-4D97-AF65-F5344CB8AC3E}">
        <p14:creationId xmlns:p14="http://schemas.microsoft.com/office/powerpoint/2010/main" val="31474415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20D932F2-1332-99F0-2FFE-5DFD64A7F466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MỤC TIÊU BÀI HỌC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88236D81-BB83-3983-56DF-B5825D2DFE91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475569"/>
                </a:solidFill>
                <a:latin typeface="Bahnschrift" panose="020B0502040204020203" pitchFamily="34" charset="0"/>
              </a:rPr>
              <a:t>02 / 07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626D604D-4159-1C11-6984-A1477B52051C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Năng Lực Tính Toán Chỉ Số Đo Lường Và Đánh Giá Cơ Cấu Dân Số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4759161C-D63E-79C5-3526-452068375CCA}"/>
              </a:ext>
            </a:extLst>
          </p:cNvPr>
          <p:cNvGrpSpPr/>
          <p:nvPr/>
        </p:nvGrpSpPr>
        <p:grpSpPr>
          <a:xfrm>
            <a:off x="609600" y="1676400"/>
            <a:ext cx="6035040" cy="4521200"/>
            <a:chOff x="609600" y="1676400"/>
            <a:chExt cx="603504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C0E7C88-6BCD-FA7B-D5BC-98AF2E2AE07D}"/>
                </a:ext>
              </a:extLst>
            </p:cNvPr>
            <p:cNvSpPr/>
            <p:nvPr/>
          </p:nvSpPr>
          <p:spPr>
            <a:xfrm>
              <a:off x="609600" y="1676400"/>
              <a:ext cx="6035040" cy="452120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9C07431-DA33-1C8D-CC44-23033CF1A7AC}"/>
                </a:ext>
              </a:extLst>
            </p:cNvPr>
            <p:cNvSpPr/>
            <p:nvPr/>
          </p:nvSpPr>
          <p:spPr>
            <a:xfrm>
              <a:off x="863600" y="1905000"/>
              <a:ext cx="1524000" cy="2794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>
                  <a:solidFill>
                    <a:srgbClr val="0284C7"/>
                  </a:solidFill>
                  <a:latin typeface="Segoe UI" panose="020B0502040204020203" pitchFamily="34" charset="0"/>
                </a:rPr>
                <a:t>TRỌNG TÂM CỐT LÕI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9BBE89C-1F14-C8C3-F8F9-1A705C0FEAB3}"/>
                </a:ext>
              </a:extLst>
            </p:cNvPr>
            <p:cNvSpPr/>
            <p:nvPr/>
          </p:nvSpPr>
          <p:spPr>
            <a:xfrm>
              <a:off x="863600" y="2286000"/>
              <a:ext cx="482600" cy="4826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8D40894C-1F23-C602-CFC5-420927EF5D7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62200"/>
              <a:ext cx="330200" cy="3302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426F4C1-E457-C9B7-7210-ADF4126E4356}"/>
                </a:ext>
              </a:extLst>
            </p:cNvPr>
            <p:cNvSpPr txBox="1"/>
            <p:nvPr/>
          </p:nvSpPr>
          <p:spPr>
            <a:xfrm>
              <a:off x="863600" y="2870200"/>
              <a:ext cx="5527040" cy="1489447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000"/>
                </a:spcAft>
              </a:pPr>
              <a:r>
                <a:rPr lang="vi-VN" sz="2000" b="1">
                  <a:solidFill>
                    <a:srgbClr val="0F172A"/>
                  </a:solidFill>
                  <a:latin typeface="Segoe UI" panose="020B0502040204020203" pitchFamily="34" charset="0"/>
                </a:rPr>
                <a:t>Mục Tiêu Năng Lực Đo Lường
</a:t>
              </a:r>
              <a:r>
                <a:rPr lang="vi-VN" sz="1500" b="1">
                  <a:solidFill>
                    <a:srgbClr val="475569"/>
                  </a:solidFill>
                  <a:latin typeface="Segoe UI" panose="020B0502040204020203" pitchFamily="34" charset="0"/>
                </a:rPr>
                <a:t>Làm chủ phương trình cân bằng dân số, các công thức tính toán dân số trung bình, tỷ số giới tính, tỷ số phụ thuộc và phân tích tháp tuổi - giới tính Việt Nam.</a:t>
              </a:r>
              <a:endParaRPr lang="en-US" sz="1500" b="1">
                <a:solidFill>
                  <a:srgbClr val="475569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BE23BBB3-F47A-5024-B88A-C5567778E4EB}"/>
              </a:ext>
            </a:extLst>
          </p:cNvPr>
          <p:cNvGrpSpPr/>
          <p:nvPr/>
        </p:nvGrpSpPr>
        <p:grpSpPr>
          <a:xfrm>
            <a:off x="6873240" y="1676400"/>
            <a:ext cx="4709160" cy="2171700"/>
            <a:chOff x="6873240" y="1676400"/>
            <a:chExt cx="4709160" cy="21717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6D693A2-2979-6E31-BFDE-E49B14C5F30B}"/>
                </a:ext>
              </a:extLst>
            </p:cNvPr>
            <p:cNvSpPr/>
            <p:nvPr/>
          </p:nvSpPr>
          <p:spPr>
            <a:xfrm>
              <a:off x="6873240" y="1676400"/>
              <a:ext cx="4709160" cy="21717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438FBCB-2584-D56D-D24F-76EC3BF8D101}"/>
                </a:ext>
              </a:extLst>
            </p:cNvPr>
            <p:cNvSpPr/>
            <p:nvPr/>
          </p:nvSpPr>
          <p:spPr>
            <a:xfrm>
              <a:off x="7076440" y="1854200"/>
              <a:ext cx="1079500" cy="2540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MỤC TIÊU 01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6DDFEE5-1E39-7FEE-C9F9-28D0F41DE007}"/>
                </a:ext>
              </a:extLst>
            </p:cNvPr>
            <p:cNvSpPr/>
            <p:nvPr/>
          </p:nvSpPr>
          <p:spPr>
            <a:xfrm>
              <a:off x="7076440" y="21844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1BF3031D-ECDF-26EC-0C20-22A7C0BA0EF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39940" y="22479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3E6A4F9-4D95-8E72-3841-89C3878940DF}"/>
                </a:ext>
              </a:extLst>
            </p:cNvPr>
            <p:cNvSpPr txBox="1"/>
            <p:nvPr/>
          </p:nvSpPr>
          <p:spPr>
            <a:xfrm>
              <a:off x="7609840" y="2108200"/>
              <a:ext cx="3820160" cy="1205458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1. Nhận Diện Dân Số Vàng
</a:t>
              </a:r>
              <a:r>
                <a:rPr lang="vi-VN" sz="1400" b="1">
                  <a:solidFill>
                    <a:srgbClr val="475569"/>
                  </a:solidFill>
                  <a:latin typeface="Segoe UI" panose="020B0502040204020203" pitchFamily="34" charset="0"/>
                </a:rPr>
                <a:t>Đánh giá cơ hội lịch sử từ thời kỳ cơ cấu dân số vàng khi tỷ số phụ thuộc DPR &lt; 50, tạo lợi tức lao động lớn cho tăng trưởng GDP.</a:t>
              </a:r>
              <a:endParaRPr lang="en-US" sz="1400" b="1">
                <a:solidFill>
                  <a:srgbClr val="475569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B2388560-DCD1-743A-9653-2BFEDF693E8D}"/>
              </a:ext>
            </a:extLst>
          </p:cNvPr>
          <p:cNvGrpSpPr/>
          <p:nvPr/>
        </p:nvGrpSpPr>
        <p:grpSpPr>
          <a:xfrm>
            <a:off x="6873240" y="4025900"/>
            <a:ext cx="4709160" cy="2171700"/>
            <a:chOff x="6873240" y="4025900"/>
            <a:chExt cx="4709160" cy="21717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DFA1E9A-C008-7DC1-8D45-9590C9D8F557}"/>
                </a:ext>
              </a:extLst>
            </p:cNvPr>
            <p:cNvSpPr/>
            <p:nvPr/>
          </p:nvSpPr>
          <p:spPr>
            <a:xfrm>
              <a:off x="6873240" y="4025900"/>
              <a:ext cx="4709160" cy="21717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7C3B0311-E368-2D42-37CB-5A34F0348953}"/>
                </a:ext>
              </a:extLst>
            </p:cNvPr>
            <p:cNvSpPr/>
            <p:nvPr/>
          </p:nvSpPr>
          <p:spPr>
            <a:xfrm>
              <a:off x="7076440" y="4203700"/>
              <a:ext cx="1079500" cy="2540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MỤC TIÊU 02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39AB5CA-F671-F9C0-6EE6-49435D86FE98}"/>
                </a:ext>
              </a:extLst>
            </p:cNvPr>
            <p:cNvSpPr/>
            <p:nvPr/>
          </p:nvSpPr>
          <p:spPr>
            <a:xfrm>
              <a:off x="7076440" y="45339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ADD69913-F7E5-2468-E020-E2086DB9FE2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39940" y="45974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5B3BF83-6DB6-10D8-5B15-9A65621E0D78}"/>
                </a:ext>
              </a:extLst>
            </p:cNvPr>
            <p:cNvSpPr txBox="1"/>
            <p:nvPr/>
          </p:nvSpPr>
          <p:spPr>
            <a:xfrm>
              <a:off x="7609840" y="4457700"/>
              <a:ext cx="3820160" cy="1205458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2. Thích Ứng Già Hóa Nhanh
</a:t>
              </a:r>
              <a:r>
                <a:rPr lang="vi-VN" sz="1400" b="1">
                  <a:solidFill>
                    <a:srgbClr val="475569"/>
                  </a:solidFill>
                  <a:latin typeface="Segoe UI" panose="020B0502040204020203" pitchFamily="34" charset="0"/>
                </a:rPr>
                <a:t>Nhận diện thách thức của quá trình già hóa dân số diễn ra với tốc độ rất nhanh và nâng cao chất lượng dân số theo Pháp lệnh Dân số.</a:t>
              </a:r>
              <a:endParaRPr lang="en-US" sz="1400" b="1">
                <a:solidFill>
                  <a:srgbClr val="475569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000C20C6-2E63-AECD-61F2-83936C3ECFDA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Segoe UI" panose="020B0502040204020203" pitchFamily="34" charset="0"/>
              </a:rPr>
              <a:t>Khung chuẩn đầu ra chuyên đề  |  Make Slide Pro V6.2 Certified</a:t>
            </a:r>
          </a:p>
        </p:txBody>
      </p:sp>
    </p:spTree>
    <p:extLst>
      <p:ext uri="{BB962C8B-B14F-4D97-AF65-F5344CB8AC3E}">
        <p14:creationId xmlns:p14="http://schemas.microsoft.com/office/powerpoint/2010/main" val="9156394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8D05E789-D073-233D-C938-08CDDA3AAF23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QUY MÔ DÂN SỐ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0CEBBED3-B50B-C925-D967-9C0492E78AFD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475569"/>
                </a:solidFill>
                <a:latin typeface="Bahnschrift" panose="020B0502040204020203" pitchFamily="34" charset="0"/>
              </a:rPr>
              <a:t>03 / 07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B796B1EF-1C1F-1A84-60DB-81069C91E146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Phương Trình Cân Bằng Dân Số Xác Định Biến Động Qua Thời Gian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10" name="!!Stage_Hero_Container">
            <a:extLst>
              <a:ext uri="{FF2B5EF4-FFF2-40B4-BE49-F238E27FC236}">
                <a16:creationId xmlns:a16="http://schemas.microsoft.com/office/drawing/2014/main" id="{F377B71E-C648-BFC9-1E5D-87959C2BCB9C}"/>
              </a:ext>
            </a:extLst>
          </p:cNvPr>
          <p:cNvGrpSpPr/>
          <p:nvPr/>
        </p:nvGrpSpPr>
        <p:grpSpPr>
          <a:xfrm>
            <a:off x="609600" y="1676400"/>
            <a:ext cx="2609850" cy="4521200"/>
            <a:chOff x="609600" y="1676400"/>
            <a:chExt cx="260985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7925B22-09F2-AE27-A22B-909842C466AD}"/>
                </a:ext>
              </a:extLst>
            </p:cNvPr>
            <p:cNvSpPr/>
            <p:nvPr/>
          </p:nvSpPr>
          <p:spPr>
            <a:xfrm>
              <a:off x="609600" y="1676400"/>
              <a:ext cx="2609850" cy="45212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5ADB543-D725-31D4-48BC-BFE7B231F0FC}"/>
                </a:ext>
              </a:extLst>
            </p:cNvPr>
            <p:cNvSpPr/>
            <p:nvPr/>
          </p:nvSpPr>
          <p:spPr>
            <a:xfrm>
              <a:off x="81280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FFFFFF"/>
                  </a:solidFill>
                  <a:latin typeface="Bahnschrift" panose="020B0502040204020203" pitchFamily="34" charset="0"/>
                </a:rPr>
                <a:t>01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867E3EE5-7D21-5EDE-A38F-03D62E49E8EE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736850" y="1879600"/>
              <a:ext cx="279400" cy="2794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4EE8157-63F8-5D70-95A1-CAF6E18B5246}"/>
                </a:ext>
              </a:extLst>
            </p:cNvPr>
            <p:cNvSpPr txBox="1"/>
            <p:nvPr/>
          </p:nvSpPr>
          <p:spPr>
            <a:xfrm>
              <a:off x="812800" y="2336800"/>
              <a:ext cx="2203450" cy="1615827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700" b="1">
                  <a:solidFill>
                    <a:srgbClr val="0F172A"/>
                  </a:solidFill>
                  <a:latin typeface="Segoe UI" panose="020B0502040204020203" pitchFamily="34" charset="0"/>
                </a:rPr>
                <a:t>Dân Số Trung Bình (P_bar)
</a:t>
              </a:r>
              <a:r>
                <a:rPr lang="en-US" sz="1500" b="1">
                  <a:solidFill>
                    <a:srgbClr val="475569"/>
                  </a:solidFill>
                  <a:latin typeface="Segoe UI" panose="020B0502040204020203" pitchFamily="34" charset="0"/>
                </a:rPr>
                <a:t>P_bar = (P0 + Pt) / 2; là mẫu số chuẩn mực để tính mọi tỷ suất nhân khẩu học trong năm.</a:t>
              </a:r>
            </a:p>
          </p:txBody>
        </p:sp>
      </p:grpSp>
      <p:grpSp>
        <p:nvGrpSpPr>
          <p:cNvPr id="16" name="!!Stage_Sub_Card_1">
            <a:extLst>
              <a:ext uri="{FF2B5EF4-FFF2-40B4-BE49-F238E27FC236}">
                <a16:creationId xmlns:a16="http://schemas.microsoft.com/office/drawing/2014/main" id="{0DE9E545-7D30-6B27-7E13-8EC60EEBC215}"/>
              </a:ext>
            </a:extLst>
          </p:cNvPr>
          <p:cNvGrpSpPr/>
          <p:nvPr/>
        </p:nvGrpSpPr>
        <p:grpSpPr>
          <a:xfrm>
            <a:off x="3397250" y="1676400"/>
            <a:ext cx="2609850" cy="4521200"/>
            <a:chOff x="3397250" y="1676400"/>
            <a:chExt cx="2609850" cy="452120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1DBB54D-32CC-C18E-374E-82AB9FBF4435}"/>
                </a:ext>
              </a:extLst>
            </p:cNvPr>
            <p:cNvSpPr/>
            <p:nvPr/>
          </p:nvSpPr>
          <p:spPr>
            <a:xfrm>
              <a:off x="3397250" y="1676400"/>
              <a:ext cx="2609850" cy="45212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C3B5B78-AE56-FABE-33B8-CC52C08E1C57}"/>
                </a:ext>
              </a:extLst>
            </p:cNvPr>
            <p:cNvSpPr/>
            <p:nvPr/>
          </p:nvSpPr>
          <p:spPr>
            <a:xfrm>
              <a:off x="360045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FFFFFF"/>
                  </a:solidFill>
                  <a:latin typeface="Bahnschrift" panose="020B0502040204020203" pitchFamily="34" charset="0"/>
                </a:rPr>
                <a:t>02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BE6EA18B-1663-5CF8-7E1B-E319E272C7C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24500" y="1879600"/>
              <a:ext cx="279400" cy="2794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C6D1CFD-5113-9BF3-CF82-FBAFC1F91BF8}"/>
                </a:ext>
              </a:extLst>
            </p:cNvPr>
            <p:cNvSpPr txBox="1"/>
            <p:nvPr/>
          </p:nvSpPr>
          <p:spPr>
            <a:xfrm>
              <a:off x="3600450" y="2336800"/>
              <a:ext cx="2203450" cy="1846659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700" b="1">
                  <a:solidFill>
                    <a:srgbClr val="0F172A"/>
                  </a:solidFill>
                  <a:latin typeface="Segoe UI" panose="020B0502040204020203" pitchFamily="34" charset="0"/>
                </a:rPr>
                <a:t>Tăng Tự Nhiên (B - D)
</a:t>
              </a:r>
              <a:r>
                <a:rPr lang="vi-VN" sz="1500" b="1">
                  <a:solidFill>
                    <a:srgbClr val="475569"/>
                  </a:solidFill>
                  <a:latin typeface="Segoe UI" panose="020B0502040204020203" pitchFamily="34" charset="0"/>
                </a:rPr>
                <a:t>Chênh lệch giữa tổng số trẻ sinh ra sống (Births) và số người chết trong năm (Deaths).</a:t>
              </a:r>
              <a:endParaRPr lang="en-US" sz="1500" b="1">
                <a:solidFill>
                  <a:srgbClr val="475569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2" name="!!Stage_Sub_Card_2">
            <a:extLst>
              <a:ext uri="{FF2B5EF4-FFF2-40B4-BE49-F238E27FC236}">
                <a16:creationId xmlns:a16="http://schemas.microsoft.com/office/drawing/2014/main" id="{4EEE01EE-DDEF-AC0E-DA7E-B2FF89148636}"/>
              </a:ext>
            </a:extLst>
          </p:cNvPr>
          <p:cNvGrpSpPr/>
          <p:nvPr/>
        </p:nvGrpSpPr>
        <p:grpSpPr>
          <a:xfrm>
            <a:off x="6184900" y="1676400"/>
            <a:ext cx="2609850" cy="4521200"/>
            <a:chOff x="6184900" y="1676400"/>
            <a:chExt cx="2609850" cy="452120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90A48653-CC74-CE8D-3FB4-6399003BA813}"/>
                </a:ext>
              </a:extLst>
            </p:cNvPr>
            <p:cNvSpPr/>
            <p:nvPr/>
          </p:nvSpPr>
          <p:spPr>
            <a:xfrm>
              <a:off x="6184900" y="1676400"/>
              <a:ext cx="2609850" cy="45212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E6CE2F-AF01-BFE3-6745-A490DE76A37E}"/>
                </a:ext>
              </a:extLst>
            </p:cNvPr>
            <p:cNvSpPr/>
            <p:nvPr/>
          </p:nvSpPr>
          <p:spPr>
            <a:xfrm>
              <a:off x="638810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FFFFFF"/>
                  </a:solidFill>
                  <a:latin typeface="Bahnschrift" panose="020B0502040204020203" pitchFamily="34" charset="0"/>
                </a:rPr>
                <a:t>03</a:t>
              </a: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9F230D8D-BA91-1804-2014-3904D357A23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12150" y="1879600"/>
              <a:ext cx="279400" cy="2794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6EA965D-3538-4DF1-039F-83E700BA661C}"/>
                </a:ext>
              </a:extLst>
            </p:cNvPr>
            <p:cNvSpPr txBox="1"/>
            <p:nvPr/>
          </p:nvSpPr>
          <p:spPr>
            <a:xfrm>
              <a:off x="6388100" y="2336800"/>
              <a:ext cx="2203450" cy="1354217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vi-VN" sz="1700" b="1">
                  <a:solidFill>
                    <a:srgbClr val="0F172A"/>
                  </a:solidFill>
                  <a:latin typeface="Segoe UI" panose="020B0502040204020203" pitchFamily="34" charset="0"/>
                </a:rPr>
                <a:t>Tăng Cơ Học (I - O)
</a:t>
              </a:r>
              <a:r>
                <a:rPr lang="vi-VN" sz="1500" b="1">
                  <a:solidFill>
                    <a:srgbClr val="475569"/>
                  </a:solidFill>
                  <a:latin typeface="Segoe UI" panose="020B0502040204020203" pitchFamily="34" charset="0"/>
                </a:rPr>
                <a:t>Hiệu số giữa số người nhập cư (In-migrants) đến và số người xuất cư (Out-migrants) đi.</a:t>
              </a:r>
              <a:endParaRPr lang="en-US" sz="1500" b="1">
                <a:solidFill>
                  <a:srgbClr val="475569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8" name="!!Stage_Sub_Card_3">
            <a:extLst>
              <a:ext uri="{FF2B5EF4-FFF2-40B4-BE49-F238E27FC236}">
                <a16:creationId xmlns:a16="http://schemas.microsoft.com/office/drawing/2014/main" id="{A73420B9-58CA-ADE3-B751-9516F302235E}"/>
              </a:ext>
            </a:extLst>
          </p:cNvPr>
          <p:cNvGrpSpPr/>
          <p:nvPr/>
        </p:nvGrpSpPr>
        <p:grpSpPr>
          <a:xfrm>
            <a:off x="8972550" y="1676400"/>
            <a:ext cx="2609850" cy="4521200"/>
            <a:chOff x="8972550" y="1676400"/>
            <a:chExt cx="2609850" cy="452120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3BC64D2A-E350-86C1-CBD5-630857718DCA}"/>
                </a:ext>
              </a:extLst>
            </p:cNvPr>
            <p:cNvSpPr/>
            <p:nvPr/>
          </p:nvSpPr>
          <p:spPr>
            <a:xfrm>
              <a:off x="8972550" y="1676400"/>
              <a:ext cx="2609850" cy="45212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8D66432-CC02-0D9F-3607-F57B9BA78265}"/>
                </a:ext>
              </a:extLst>
            </p:cNvPr>
            <p:cNvSpPr/>
            <p:nvPr/>
          </p:nvSpPr>
          <p:spPr>
            <a:xfrm>
              <a:off x="917575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FFFFFF"/>
                  </a:solidFill>
                  <a:latin typeface="Bahnschrift" panose="020B0502040204020203" pitchFamily="34" charset="0"/>
                </a:rPr>
                <a:t>04</a:t>
              </a:r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AB13AF9F-7C76-F8A7-B43A-BE4FAF68F689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099800" y="1879600"/>
              <a:ext cx="279400" cy="2794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65E9C1B-4C46-FC04-534D-4ACB79C7608E}"/>
                </a:ext>
              </a:extLst>
            </p:cNvPr>
            <p:cNvSpPr txBox="1"/>
            <p:nvPr/>
          </p:nvSpPr>
          <p:spPr>
            <a:xfrm>
              <a:off x="9175750" y="2336800"/>
              <a:ext cx="2203450" cy="1846659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700" b="1">
                  <a:solidFill>
                    <a:srgbClr val="0F172A"/>
                  </a:solidFill>
                  <a:latin typeface="Segoe UI" panose="020B0502040204020203" pitchFamily="34" charset="0"/>
                </a:rPr>
                <a:t>Thời Gian Nhân Đôi (T2)
</a:t>
              </a:r>
              <a:r>
                <a:rPr lang="vi-VN" sz="1500" b="1">
                  <a:solidFill>
                    <a:srgbClr val="475569"/>
                  </a:solidFill>
                  <a:latin typeface="Segoe UI" panose="020B0502040204020203" pitchFamily="34" charset="0"/>
                </a:rPr>
                <a:t>Ước lượng thời gian dân số tăng gấp đôi theo quy tắc 70: T2 ≈ 70 / r(%), với r là tốc độ tăng.</a:t>
              </a:r>
              <a:endParaRPr lang="en-US" sz="1500" b="1">
                <a:solidFill>
                  <a:srgbClr val="475569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9" name="!!Anchor_Source_Footer">
            <a:extLst>
              <a:ext uri="{FF2B5EF4-FFF2-40B4-BE49-F238E27FC236}">
                <a16:creationId xmlns:a16="http://schemas.microsoft.com/office/drawing/2014/main" id="{969BC1C1-5B90-94CC-E7E8-AD7F8441A82A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475569"/>
                </a:solidFill>
                <a:latin typeface="Segoe UI" panose="020B0502040204020203" pitchFamily="34" charset="0"/>
              </a:rPr>
              <a:t>Giáo trình Dân số học đại cương  |  Make Slide Pro V6.2 Certified</a:t>
            </a:r>
            <a:endParaRPr lang="en-US" sz="1000">
              <a:solidFill>
                <a:srgbClr val="475569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5697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FA14991C-6BD8-6A24-38B6-E520F992B8AD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CƠ CẤU DÂN SỐ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2222A165-B67D-2DAC-48A7-272442DE6429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475569"/>
                </a:solidFill>
                <a:latin typeface="Bahnschrift" panose="020B0502040204020203" pitchFamily="34" charset="0"/>
              </a:rPr>
              <a:t>04 / 07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5071DEA4-FDE2-01A8-D9BD-76C341E46F36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Tỷ Số Giới Tính Và Tỷ Số Phụ Thuộc Quyết Định Cấu Trúc Xã Hội</a:t>
            </a:r>
          </a:p>
        </p:txBody>
      </p:sp>
      <p:grpSp>
        <p:nvGrpSpPr>
          <p:cNvPr id="8" name="!!Stage_Hero_Container">
            <a:extLst>
              <a:ext uri="{FF2B5EF4-FFF2-40B4-BE49-F238E27FC236}">
                <a16:creationId xmlns:a16="http://schemas.microsoft.com/office/drawing/2014/main" id="{27CE3A6B-9954-C48A-EC53-4B8F4B610748}"/>
              </a:ext>
            </a:extLst>
          </p:cNvPr>
          <p:cNvGrpSpPr/>
          <p:nvPr/>
        </p:nvGrpSpPr>
        <p:grpSpPr>
          <a:xfrm>
            <a:off x="609600" y="1676400"/>
            <a:ext cx="5376672" cy="4521200"/>
            <a:chOff x="609600" y="1676400"/>
            <a:chExt cx="5376672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DCFE97D-5C9A-B9DE-626C-8F4FD7E1F7EB}"/>
                </a:ext>
              </a:extLst>
            </p:cNvPr>
            <p:cNvSpPr/>
            <p:nvPr/>
          </p:nvSpPr>
          <p:spPr>
            <a:xfrm>
              <a:off x="609600" y="1676400"/>
              <a:ext cx="5376672" cy="45212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A80E2B4-27CF-D86D-99D5-5F010B846C8E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200" y="1778000"/>
              <a:ext cx="5173472" cy="4318000"/>
            </a:xfrm>
            <a:prstGeom prst="rect">
              <a:avLst/>
            </a:prstGeom>
          </p:spPr>
        </p:pic>
      </p:grpSp>
      <p:grpSp>
        <p:nvGrpSpPr>
          <p:cNvPr id="14" name="!!Stage_Sub_Card_1">
            <a:extLst>
              <a:ext uri="{FF2B5EF4-FFF2-40B4-BE49-F238E27FC236}">
                <a16:creationId xmlns:a16="http://schemas.microsoft.com/office/drawing/2014/main" id="{61F7287A-7A45-3FFE-F394-1486DE495968}"/>
              </a:ext>
            </a:extLst>
          </p:cNvPr>
          <p:cNvGrpSpPr/>
          <p:nvPr/>
        </p:nvGrpSpPr>
        <p:grpSpPr>
          <a:xfrm>
            <a:off x="6214872" y="1676400"/>
            <a:ext cx="5367528" cy="1405467"/>
            <a:chOff x="6214872" y="1676400"/>
            <a:chExt cx="5367528" cy="1405467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4560E64-B1CA-CDE6-126A-1D788A996193}"/>
                </a:ext>
              </a:extLst>
            </p:cNvPr>
            <p:cNvSpPr/>
            <p:nvPr/>
          </p:nvSpPr>
          <p:spPr>
            <a:xfrm>
              <a:off x="6214872" y="1676400"/>
              <a:ext cx="5367528" cy="14054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6000532-D94F-18EC-C894-849E85671D50}"/>
                </a:ext>
              </a:extLst>
            </p:cNvPr>
            <p:cNvSpPr/>
            <p:nvPr/>
          </p:nvSpPr>
          <p:spPr>
            <a:xfrm>
              <a:off x="6392672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D7DC0F9F-3837-0A45-BACF-2532F1DE1374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56172" y="1917700"/>
              <a:ext cx="254000" cy="2540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FF315FC-7DF6-4B40-202B-B99349A972EB}"/>
                </a:ext>
              </a:extLst>
            </p:cNvPr>
            <p:cNvSpPr txBox="1"/>
            <p:nvPr/>
          </p:nvSpPr>
          <p:spPr>
            <a:xfrm>
              <a:off x="6875272" y="18034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pt-BR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Tỷ Số Giới Tính (SR &amp; SRB)
</a:t>
              </a:r>
              <a:r>
                <a:rPr lang="pt-BR" sz="1400" b="1">
                  <a:solidFill>
                    <a:srgbClr val="475569"/>
                  </a:solidFill>
                  <a:latin typeface="Segoe UI" panose="020B0502040204020203" pitchFamily="34" charset="0"/>
                </a:rPr>
                <a:t>SR = (Nam / Nữ) * 100. Tỷ số giới tính khi sinh (SRB) chuẩn sinh học là 104-106 bé trai / 100 bé gái. Tại VN, SRB tăng cao phản ánh định kiến giới.</a:t>
              </a:r>
              <a:endParaRPr lang="en-US" sz="1400" b="1">
                <a:solidFill>
                  <a:srgbClr val="475569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0" name="!!Stage_Sub_Card_2">
            <a:extLst>
              <a:ext uri="{FF2B5EF4-FFF2-40B4-BE49-F238E27FC236}">
                <a16:creationId xmlns:a16="http://schemas.microsoft.com/office/drawing/2014/main" id="{C7AEBF1E-42E4-0E5D-485D-5B9FF2DA76F9}"/>
              </a:ext>
            </a:extLst>
          </p:cNvPr>
          <p:cNvGrpSpPr/>
          <p:nvPr/>
        </p:nvGrpSpPr>
        <p:grpSpPr>
          <a:xfrm>
            <a:off x="6214872" y="3234267"/>
            <a:ext cx="5367528" cy="1405466"/>
            <a:chOff x="6214872" y="3234267"/>
            <a:chExt cx="5367528" cy="1405466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C86755A-26EE-6B84-174C-754FDDFF3ADF}"/>
                </a:ext>
              </a:extLst>
            </p:cNvPr>
            <p:cNvSpPr/>
            <p:nvPr/>
          </p:nvSpPr>
          <p:spPr>
            <a:xfrm>
              <a:off x="6214872" y="3234267"/>
              <a:ext cx="5367528" cy="140546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7A9C47E-9F99-927C-2EF1-D71D7EC59CBD}"/>
                </a:ext>
              </a:extLst>
            </p:cNvPr>
            <p:cNvSpPr/>
            <p:nvPr/>
          </p:nvSpPr>
          <p:spPr>
            <a:xfrm>
              <a:off x="6392672" y="3412067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9E82129E-5E55-5BC4-E745-D6B9D22E8B1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6172" y="3475567"/>
              <a:ext cx="254000" cy="2540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D90E338-DB20-A29C-18BC-C6E948552D14}"/>
                </a:ext>
              </a:extLst>
            </p:cNvPr>
            <p:cNvSpPr txBox="1"/>
            <p:nvPr/>
          </p:nvSpPr>
          <p:spPr>
            <a:xfrm>
              <a:off x="6875272" y="3361267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Tỷ Số Phụ Thuộc (DPR)
</a:t>
              </a:r>
              <a:r>
                <a:rPr lang="vi-VN" sz="1400" b="1">
                  <a:solidFill>
                    <a:srgbClr val="475569"/>
                  </a:solidFill>
                  <a:latin typeface="Segoe UI" panose="020B0502040204020203" pitchFamily="34" charset="0"/>
                </a:rPr>
                <a:t>DPR = (P[0-14] + P[65+]) / P[15-64] * 100. Khi DPR &lt; 50, quốc gia chính thức bước vào Thời kỳ cơ cấu dân số vàng với lợi thế lao động tối đa.</a:t>
              </a:r>
              <a:endParaRPr lang="en-US" sz="1400" b="1">
                <a:solidFill>
                  <a:srgbClr val="475569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6" name="!!Stage_Sub_Card_3">
            <a:extLst>
              <a:ext uri="{FF2B5EF4-FFF2-40B4-BE49-F238E27FC236}">
                <a16:creationId xmlns:a16="http://schemas.microsoft.com/office/drawing/2014/main" id="{360D988B-0E42-7FAF-A844-8D05CA058497}"/>
              </a:ext>
            </a:extLst>
          </p:cNvPr>
          <p:cNvGrpSpPr/>
          <p:nvPr/>
        </p:nvGrpSpPr>
        <p:grpSpPr>
          <a:xfrm>
            <a:off x="6214872" y="4792133"/>
            <a:ext cx="5367528" cy="1405467"/>
            <a:chOff x="6214872" y="4792133"/>
            <a:chExt cx="5367528" cy="1405467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B0DF0254-369F-4E23-580A-85E9FC2F0F4B}"/>
                </a:ext>
              </a:extLst>
            </p:cNvPr>
            <p:cNvSpPr/>
            <p:nvPr/>
          </p:nvSpPr>
          <p:spPr>
            <a:xfrm>
              <a:off x="6214872" y="4792133"/>
              <a:ext cx="5367528" cy="140546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74F7FE8-D67D-FFC8-22E2-50F379BA75D1}"/>
                </a:ext>
              </a:extLst>
            </p:cNvPr>
            <p:cNvSpPr/>
            <p:nvPr/>
          </p:nvSpPr>
          <p:spPr>
            <a:xfrm>
              <a:off x="6392672" y="4969933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E71CD4D6-C8EC-0697-FF6D-5F11CB31B0C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56172" y="5033433"/>
              <a:ext cx="254000" cy="2540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A4DEC8B-91D5-56C7-1A69-1E21CB1B027D}"/>
                </a:ext>
              </a:extLst>
            </p:cNvPr>
            <p:cNvSpPr txBox="1"/>
            <p:nvPr/>
          </p:nvSpPr>
          <p:spPr>
            <a:xfrm>
              <a:off x="6875272" y="4919133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Chất Lượng Dân Số
</a:t>
              </a:r>
              <a:r>
                <a:rPr lang="vi-VN" sz="1400" b="1">
                  <a:solidFill>
                    <a:srgbClr val="475569"/>
                  </a:solidFill>
                  <a:latin typeface="Segoe UI" panose="020B0502040204020203" pitchFamily="34" charset="0"/>
                </a:rPr>
                <a:t>Pháp lệnh Dân số 2003 xác định nâng cao toàn diện thể chất, trí tuệ và tinh thần của người dân là mục tiêu tối thượng.</a:t>
              </a:r>
              <a:endParaRPr lang="en-US" sz="1400" b="1">
                <a:solidFill>
                  <a:srgbClr val="475569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7" name="!!Anchor_Source_Footer">
            <a:extLst>
              <a:ext uri="{FF2B5EF4-FFF2-40B4-BE49-F238E27FC236}">
                <a16:creationId xmlns:a16="http://schemas.microsoft.com/office/drawing/2014/main" id="{12F1BC07-004A-3D77-D123-FB6A13D73AA6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Segoe UI" panose="020B0502040204020203" pitchFamily="34" charset="0"/>
              </a:rPr>
              <a:t>Liên Hợp Quốc &amp; Tổng cục Thống kê  |  Make Slide Pro V6.2 Certified</a:t>
            </a:r>
          </a:p>
        </p:txBody>
      </p:sp>
    </p:spTree>
    <p:extLst>
      <p:ext uri="{BB962C8B-B14F-4D97-AF65-F5344CB8AC3E}">
        <p14:creationId xmlns:p14="http://schemas.microsoft.com/office/powerpoint/2010/main" val="42187126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BAD5B000-8672-F936-6403-5BA4267E6990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THÁP DÂN SỐ VIỆT NAM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59F1212F-2D27-4BBC-EE7B-E0437B1A193D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475569"/>
                </a:solidFill>
                <a:latin typeface="Bahnschrift" panose="020B0502040204020203" pitchFamily="34" charset="0"/>
              </a:rPr>
              <a:t>05 / 07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868EC638-150E-5FCB-0D3A-836F06FF2EC0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Việt Nam Đang Ở Đỉnh Dân Số Vàng Và Chuyển Dịch Sang Già Hóa</a:t>
            </a:r>
          </a:p>
        </p:txBody>
      </p:sp>
      <p:grpSp>
        <p:nvGrpSpPr>
          <p:cNvPr id="8" name="!!Stage_Hero_Container">
            <a:extLst>
              <a:ext uri="{FF2B5EF4-FFF2-40B4-BE49-F238E27FC236}">
                <a16:creationId xmlns:a16="http://schemas.microsoft.com/office/drawing/2014/main" id="{F0B7D7A7-CEF0-F314-8E00-DF9B9E747F03}"/>
              </a:ext>
            </a:extLst>
          </p:cNvPr>
          <p:cNvGrpSpPr/>
          <p:nvPr/>
        </p:nvGrpSpPr>
        <p:grpSpPr>
          <a:xfrm>
            <a:off x="609600" y="1676400"/>
            <a:ext cx="5705856" cy="4521200"/>
            <a:chOff x="609600" y="1676400"/>
            <a:chExt cx="5705856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17EFC57-54C2-433D-A506-08E653D50A51}"/>
                </a:ext>
              </a:extLst>
            </p:cNvPr>
            <p:cNvSpPr/>
            <p:nvPr/>
          </p:nvSpPr>
          <p:spPr>
            <a:xfrm>
              <a:off x="609600" y="1676400"/>
              <a:ext cx="5705856" cy="45212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EA789A3-85B1-F9D8-6962-D3C9C65F7D2A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200" y="1778000"/>
              <a:ext cx="5502656" cy="4318000"/>
            </a:xfrm>
            <a:prstGeom prst="rect">
              <a:avLst/>
            </a:prstGeom>
          </p:spPr>
        </p:pic>
      </p:grpSp>
      <p:grpSp>
        <p:nvGrpSpPr>
          <p:cNvPr id="14" name="!!Stage_Sub_Card_1">
            <a:extLst>
              <a:ext uri="{FF2B5EF4-FFF2-40B4-BE49-F238E27FC236}">
                <a16:creationId xmlns:a16="http://schemas.microsoft.com/office/drawing/2014/main" id="{83FCFFB0-8F04-C937-D38D-7A4F68B2032F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49B2A35-A608-756F-EB80-DC8F6470E2AC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6AA8416-0FC7-3694-8580-3B42B73C7D23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A93290A6-EFDE-14DC-AB67-3C7F8734C169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F9522F2-118A-81AB-F624-6F0DC50C534B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Đỉnh Điểm Dân Số Vàng
</a:t>
              </a:r>
              <a:r>
                <a:rPr lang="vi-VN" sz="1400" b="1">
                  <a:solidFill>
                    <a:srgbClr val="475569"/>
                  </a:solidFill>
                  <a:latin typeface="Segoe UI" panose="020B0502040204020203" pitchFamily="34" charset="0"/>
                </a:rPr>
                <a:t>Gần 70% dân số nằm trong độ tuổi lao động (15-64 tuổi), tạo ra lợi tức dân số khổng lồ cho tăng trưởng kinh tế.</a:t>
              </a:r>
              <a:endParaRPr lang="en-US" sz="1400" b="1">
                <a:solidFill>
                  <a:srgbClr val="475569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0" name="!!Stage_Sub_Card_2">
            <a:extLst>
              <a:ext uri="{FF2B5EF4-FFF2-40B4-BE49-F238E27FC236}">
                <a16:creationId xmlns:a16="http://schemas.microsoft.com/office/drawing/2014/main" id="{A560970E-4CE9-75E0-C8E6-CA587453E565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8F3AE4A-1985-6836-6EA4-8D31639A3E66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11ECDE3-0099-6DBD-C2B2-A00B0E5244FA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560A5D61-38DA-0096-F65D-021A31C55C1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500FB03-21B0-74EC-65FC-B6846131BEB7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Tốc Độ Già Hóa Nhanh
</a:t>
              </a:r>
              <a:r>
                <a:rPr lang="vi-VN" sz="1400" b="1">
                  <a:solidFill>
                    <a:srgbClr val="475569"/>
                  </a:solidFill>
                  <a:latin typeface="Segoe UI" panose="020B0502040204020203" pitchFamily="34" charset="0"/>
                </a:rPr>
                <a:t>Nhóm người cao tuổi (65+) tăng nhanh; dự báo chỉ mất khoảng 20 năm để chuyển hẳn sang cơ cấu 'dân số già'.</a:t>
              </a:r>
              <a:endParaRPr lang="en-US" sz="1400" b="1">
                <a:solidFill>
                  <a:srgbClr val="475569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6" name="!!Stage_Sub_Card_3">
            <a:extLst>
              <a:ext uri="{FF2B5EF4-FFF2-40B4-BE49-F238E27FC236}">
                <a16:creationId xmlns:a16="http://schemas.microsoft.com/office/drawing/2014/main" id="{A03769B3-BFD1-496D-728E-6F253999075B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29C45DB4-68E3-4F2B-7330-245F0C0CD4A6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575A362-795B-A4FF-98B1-0F1AAFBF05C4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C285AC3B-F4E4-0B72-57F2-673DED43085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5494060-6E20-8F90-6A20-1E455EB8E426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Chất Lượng Dân Số
</a:t>
              </a:r>
              <a:r>
                <a:rPr lang="vi-VN" sz="1400" b="1">
                  <a:solidFill>
                    <a:srgbClr val="475569"/>
                  </a:solidFill>
                  <a:latin typeface="Segoe UI" panose="020B0502040204020203" pitchFamily="34" charset="0"/>
                </a:rPr>
                <a:t>Pháp lệnh Dân số 2003 nhấn mạnh nâng cao toàn diện thể chất, trí tuệ và tinh thần để thoát bẫy thu nhập trung bình.</a:t>
              </a:r>
              <a:endParaRPr lang="en-US" sz="1400" b="1">
                <a:solidFill>
                  <a:srgbClr val="475569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7" name="!!Anchor_Source_Footer">
            <a:extLst>
              <a:ext uri="{FF2B5EF4-FFF2-40B4-BE49-F238E27FC236}">
                <a16:creationId xmlns:a16="http://schemas.microsoft.com/office/drawing/2014/main" id="{4B90E45B-641F-483D-5209-ADF7BA616171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Segoe UI" panose="020B0502040204020203" pitchFamily="34" charset="0"/>
              </a:rPr>
              <a:t>Tổng điều tra Dân số và Nhà ở 2019 &amp; GSO  |  Make Slide Pro V6.2 Certified</a:t>
            </a:r>
          </a:p>
        </p:txBody>
      </p:sp>
    </p:spTree>
    <p:extLst>
      <p:ext uri="{BB962C8B-B14F-4D97-AF65-F5344CB8AC3E}">
        <p14:creationId xmlns:p14="http://schemas.microsoft.com/office/powerpoint/2010/main" val="39820328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156043CB-4C63-82D5-8E6D-3AA2FF3B5375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THỰC TIỄN VIỆT NAM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F0389380-8649-8B46-B45B-1DF39B579B1A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475569"/>
                </a:solidFill>
                <a:latin typeface="Bahnschrift" panose="020B0502040204020203" pitchFamily="34" charset="0"/>
              </a:rPr>
              <a:t>06 / 07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64D259A4-2F3F-2584-01EE-71D16CFB9A26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Việt Nam Đối Mặt Cơ Hội Dân Số Vàng Đan Xen Thách Thức Già Hóa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F3FD4035-2D89-6EA1-6E97-E7469455F8AE}"/>
              </a:ext>
            </a:extLst>
          </p:cNvPr>
          <p:cNvGrpSpPr/>
          <p:nvPr/>
        </p:nvGrpSpPr>
        <p:grpSpPr>
          <a:xfrm>
            <a:off x="609600" y="1676400"/>
            <a:ext cx="3522133" cy="4521200"/>
            <a:chOff x="609600" y="1676400"/>
            <a:chExt cx="3522133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128C113-1D23-04C8-68D6-01AF6CD942AC}"/>
                </a:ext>
              </a:extLst>
            </p:cNvPr>
            <p:cNvSpPr/>
            <p:nvPr/>
          </p:nvSpPr>
          <p:spPr>
            <a:xfrm>
              <a:off x="609600" y="1676400"/>
              <a:ext cx="3522133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C3DA61B-AF80-B1D6-E7EB-96C9E17AE394}"/>
                </a:ext>
              </a:extLst>
            </p:cNvPr>
            <p:cNvSpPr/>
            <p:nvPr/>
          </p:nvSpPr>
          <p:spPr>
            <a:xfrm>
              <a:off x="812800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7E14825-C9A4-A706-9251-1D63EDBAF9D3}"/>
                </a:ext>
              </a:extLst>
            </p:cNvPr>
            <p:cNvSpPr/>
            <p:nvPr/>
          </p:nvSpPr>
          <p:spPr>
            <a:xfrm>
              <a:off x="812800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6A4FDD5E-201D-31F9-ABAB-C44863DC5982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2070100"/>
              <a:ext cx="279400" cy="279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E273C4B-A165-0882-85B9-88F6010332EA}"/>
                </a:ext>
              </a:extLst>
            </p:cNvPr>
            <p:cNvSpPr txBox="1"/>
            <p:nvPr/>
          </p:nvSpPr>
          <p:spPr>
            <a:xfrm>
              <a:off x="812800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vi-VN" b="1">
                  <a:solidFill>
                    <a:srgbClr val="0F172A"/>
                  </a:solidFill>
                  <a:latin typeface="Segoe UI" panose="020B0502040204020203" pitchFamily="34" charset="0"/>
                </a:rPr>
                <a:t>1. Quy Mô Vượt 100 Triệu Dân
</a:t>
              </a:r>
              <a:r>
                <a:rPr lang="vi-VN" sz="1500">
                  <a:solidFill>
                    <a:srgbClr val="475569"/>
                  </a:solidFill>
                  <a:latin typeface="Segoe UI" panose="020B0502040204020203" pitchFamily="34" charset="0"/>
                </a:rPr>
                <a:t>Việt Nam là quốc gia đông dân thứ 15 trên thế giới và thứ 3 tại Đông Nam Á, tạo ra thị trường nội địa và nguồn nhân lực rộng lớn.</a:t>
              </a:r>
              <a:endParaRPr lang="en-US" sz="1500">
                <a:solidFill>
                  <a:srgbClr val="475569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08ECB5FD-5253-D722-693C-7F355A7B321D}"/>
              </a:ext>
            </a:extLst>
          </p:cNvPr>
          <p:cNvGrpSpPr/>
          <p:nvPr/>
        </p:nvGrpSpPr>
        <p:grpSpPr>
          <a:xfrm>
            <a:off x="4334933" y="1676400"/>
            <a:ext cx="3522134" cy="4521200"/>
            <a:chOff x="4334933" y="1676400"/>
            <a:chExt cx="3522134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4305C9E-DA1A-4EE8-9784-5D403C5F0259}"/>
                </a:ext>
              </a:extLst>
            </p:cNvPr>
            <p:cNvSpPr/>
            <p:nvPr/>
          </p:nvSpPr>
          <p:spPr>
            <a:xfrm>
              <a:off x="4334933" y="1676400"/>
              <a:ext cx="3522134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A2082B9-832D-E20A-36A9-3EF60DDC9F5E}"/>
                </a:ext>
              </a:extLst>
            </p:cNvPr>
            <p:cNvSpPr/>
            <p:nvPr/>
          </p:nvSpPr>
          <p:spPr>
            <a:xfrm>
              <a:off x="4538133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F50C65B-FE0B-52E4-C5CD-60B468BD2178}"/>
                </a:ext>
              </a:extLst>
            </p:cNvPr>
            <p:cNvSpPr/>
            <p:nvPr/>
          </p:nvSpPr>
          <p:spPr>
            <a:xfrm>
              <a:off x="4538133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9FD6119-FBB2-FCE8-13D1-E9F8A0F6934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20701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53E541E-B1ED-7C22-A5D7-5B25AAFD7889}"/>
                </a:ext>
              </a:extLst>
            </p:cNvPr>
            <p:cNvSpPr txBox="1"/>
            <p:nvPr/>
          </p:nvSpPr>
          <p:spPr>
            <a:xfrm>
              <a:off x="4538133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0F172A"/>
                  </a:solidFill>
                  <a:latin typeface="Segoe UI" panose="020B0502040204020203" pitchFamily="34" charset="0"/>
                </a:rPr>
                <a:t>2. Nâng Cao Kỹ Năng Lao Động
</a:t>
              </a:r>
              <a:r>
                <a:rPr lang="vi-VN" sz="1500">
                  <a:solidFill>
                    <a:srgbClr val="475569"/>
                  </a:solidFill>
                  <a:latin typeface="Segoe UI" panose="020B0502040204020203" pitchFamily="34" charset="0"/>
                </a:rPr>
                <a:t>Yêu cầu cấp bách là đào tạo nghề và tăng năng suất lao động để tận dụng trọn vẹn những năm tháng cuối của cơ cấu vàng.</a:t>
              </a:r>
              <a:endParaRPr lang="en-US" sz="1500">
                <a:solidFill>
                  <a:srgbClr val="475569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BED94B68-B5B5-ADBA-2096-4B29EF706097}"/>
              </a:ext>
            </a:extLst>
          </p:cNvPr>
          <p:cNvGrpSpPr/>
          <p:nvPr/>
        </p:nvGrpSpPr>
        <p:grpSpPr>
          <a:xfrm>
            <a:off x="8060267" y="1676400"/>
            <a:ext cx="3522133" cy="4521200"/>
            <a:chOff x="8060267" y="1676400"/>
            <a:chExt cx="3522133" cy="45212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3288B2B-7996-1E43-DCFA-BEA554F41538}"/>
                </a:ext>
              </a:extLst>
            </p:cNvPr>
            <p:cNvSpPr/>
            <p:nvPr/>
          </p:nvSpPr>
          <p:spPr>
            <a:xfrm>
              <a:off x="8060267" y="1676400"/>
              <a:ext cx="3522133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623F070-DADA-8FF4-5C96-12080C2AFDE9}"/>
                </a:ext>
              </a:extLst>
            </p:cNvPr>
            <p:cNvSpPr/>
            <p:nvPr/>
          </p:nvSpPr>
          <p:spPr>
            <a:xfrm>
              <a:off x="8263467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6E99629-9CE8-9A92-1B3A-16FE3CEB5085}"/>
                </a:ext>
              </a:extLst>
            </p:cNvPr>
            <p:cNvSpPr/>
            <p:nvPr/>
          </p:nvSpPr>
          <p:spPr>
            <a:xfrm>
              <a:off x="8263467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2AB7D01D-AFFB-916B-E9A5-14FE9EBF7632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20701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4217E90-2727-765F-0D43-1C4724FE6327}"/>
                </a:ext>
              </a:extLst>
            </p:cNvPr>
            <p:cNvSpPr txBox="1"/>
            <p:nvPr/>
          </p:nvSpPr>
          <p:spPr>
            <a:xfrm>
              <a:off x="8263467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0F172A"/>
                  </a:solidFill>
                  <a:latin typeface="Segoe UI" panose="020B0502040204020203" pitchFamily="34" charset="0"/>
                </a:rPr>
                <a:t>3. Áp Lực Quỹ An Sinh &amp; Y Tế
</a:t>
              </a:r>
              <a:r>
                <a:rPr lang="vi-VN" sz="1500">
                  <a:solidFill>
                    <a:srgbClr val="475569"/>
                  </a:solidFill>
                  <a:latin typeface="Segoe UI" panose="020B0502040204020203" pitchFamily="34" charset="0"/>
                </a:rPr>
                <a:t>Già hóa dân số nhanh đòi hỏi mở rộng diện bao phủ bảo hiểm xã hội và phát triển mạng lưới chăm sóc người cao tuổi.</a:t>
              </a:r>
              <a:endParaRPr lang="en-US" sz="1500">
                <a:solidFill>
                  <a:srgbClr val="475569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E4798787-45CB-231B-D505-1B190CA25013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Segoe UI" panose="020B0502040204020203" pitchFamily="34" charset="0"/>
              </a:rPr>
              <a:t>Tổng điều tra Dân số và Nhà ở 2019 &amp; WB  |  Make Slide Pro V6.2 Certified</a:t>
            </a:r>
          </a:p>
        </p:txBody>
      </p:sp>
    </p:spTree>
    <p:extLst>
      <p:ext uri="{BB962C8B-B14F-4D97-AF65-F5344CB8AC3E}">
        <p14:creationId xmlns:p14="http://schemas.microsoft.com/office/powerpoint/2010/main" val="7404069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_Accent_1">
            <a:extLst>
              <a:ext uri="{FF2B5EF4-FFF2-40B4-BE49-F238E27FC236}">
                <a16:creationId xmlns:a16="http://schemas.microsoft.com/office/drawing/2014/main" id="{A0280824-1F64-F978-2455-9B2EF80E66C5}"/>
              </a:ext>
            </a:extLst>
          </p:cNvPr>
          <p:cNvSpPr/>
          <p:nvPr/>
        </p:nvSpPr>
        <p:spPr>
          <a:xfrm>
            <a:off x="8534400" y="304800"/>
            <a:ext cx="3048000" cy="3048000"/>
          </a:xfrm>
          <a:prstGeom prst="ellipse">
            <a:avLst/>
          </a:prstGeom>
          <a:solidFill>
            <a:srgbClr val="0A2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eco_Accent_2">
            <a:extLst>
              <a:ext uri="{FF2B5EF4-FFF2-40B4-BE49-F238E27FC236}">
                <a16:creationId xmlns:a16="http://schemas.microsoft.com/office/drawing/2014/main" id="{46C1191E-9898-D744-0FAE-ABBC717D7838}"/>
              </a:ext>
            </a:extLst>
          </p:cNvPr>
          <p:cNvSpPr/>
          <p:nvPr/>
        </p:nvSpPr>
        <p:spPr>
          <a:xfrm>
            <a:off x="9296400" y="4165600"/>
            <a:ext cx="2286000" cy="2286000"/>
          </a:xfrm>
          <a:prstGeom prst="rect">
            <a:avLst/>
          </a:prstGeom>
          <a:solidFill>
            <a:srgbClr val="061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6A4A80-AF1B-5FF7-3BAD-9E3FFA6C5745}"/>
              </a:ext>
            </a:extLst>
          </p:cNvPr>
          <p:cNvSpPr/>
          <p:nvPr/>
        </p:nvSpPr>
        <p:spPr>
          <a:xfrm>
            <a:off x="609600" y="965200"/>
            <a:ext cx="609600" cy="635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D9991F-152A-5F6C-A669-31C1BDDC6C9B}"/>
              </a:ext>
            </a:extLst>
          </p:cNvPr>
          <p:cNvSpPr txBox="1"/>
          <p:nvPr/>
        </p:nvSpPr>
        <p:spPr>
          <a:xfrm>
            <a:off x="609600" y="1168400"/>
            <a:ext cx="10972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D9488"/>
                </a:solidFill>
                <a:latin typeface="Segoe UI" panose="020B0502040204020203" pitchFamily="34" charset="0"/>
              </a:rPr>
              <a:t>CHƯƠNG TRÌNH ĐÀO TẠO DÂN SỐ HỌC  •  TỔNG KẾT BÀI HỌC</a:t>
            </a:r>
            <a:endParaRPr lang="en-US" sz="12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917DC8-5836-26FB-CA7E-1AF34A1ADB95}"/>
              </a:ext>
            </a:extLst>
          </p:cNvPr>
          <p:cNvSpPr txBox="1"/>
          <p:nvPr/>
        </p:nvSpPr>
        <p:spPr>
          <a:xfrm>
            <a:off x="609600" y="1600200"/>
            <a:ext cx="987552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600" b="1">
                <a:solidFill>
                  <a:srgbClr val="FFFFFF"/>
                </a:solidFill>
                <a:latin typeface="Segoe UI" panose="020B0502040204020203" pitchFamily="34" charset="0"/>
              </a:rPr>
              <a:t>Tận Dụng Dân Số Vàng Và Thích Ứng Chủ Động Với Già Hóa Dân Số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5C8E8F-40E4-DC79-325D-3705D4BB7BBF}"/>
              </a:ext>
            </a:extLst>
          </p:cNvPr>
          <p:cNvSpPr txBox="1"/>
          <p:nvPr/>
        </p:nvSpPr>
        <p:spPr>
          <a:xfrm>
            <a:off x="609600" y="3378200"/>
            <a:ext cx="932688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>
                <a:solidFill>
                  <a:srgbClr val="E2E8F0"/>
                </a:solidFill>
                <a:latin typeface="Segoe UI" panose="020B0502040204020203" pitchFamily="34" charset="0"/>
              </a:rPr>
              <a:t>Chính sách dân số hiện đại chuyển trọng tâm từ KHHGĐ sang Dân số và Phát triển; nâng cao chất lượng dân số theo Pháp lệnh Dân số và Chiến lược dân số Việt Nam.</a:t>
            </a:r>
            <a:endParaRPr lang="en-US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9E8CDE-55E6-96F4-108F-6CD31EAAD182}"/>
              </a:ext>
            </a:extLst>
          </p:cNvPr>
          <p:cNvSpPr txBox="1"/>
          <p:nvPr/>
        </p:nvSpPr>
        <p:spPr>
          <a:xfrm>
            <a:off x="609600" y="61976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Segoe UI" panose="020B0502040204020203" pitchFamily="34" charset="0"/>
              </a:rPr>
              <a:t>Hệ Thống Bài Giảng Dân Số Học Chuẩn Hóa • Make Slide Pro V6.2 Certified</a:t>
            </a:r>
          </a:p>
        </p:txBody>
      </p:sp>
    </p:spTree>
    <p:extLst>
      <p:ext uri="{BB962C8B-B14F-4D97-AF65-F5344CB8AC3E}">
        <p14:creationId xmlns:p14="http://schemas.microsoft.com/office/powerpoint/2010/main" val="3256316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977</Words>
  <Application>Microsoft Office PowerPoint</Application>
  <PresentationFormat>Custom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Bahnschrift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Thanh Ninh Bui</dc:creator>
  <cp:lastModifiedBy>Thanh Ninh Bui</cp:lastModifiedBy>
  <cp:revision>1</cp:revision>
  <dcterms:created xsi:type="dcterms:W3CDTF">2026-09-18T04:39:38Z</dcterms:created>
  <dcterms:modified xsi:type="dcterms:W3CDTF">2026-09-18T04:39:38Z</dcterms:modified>
</cp:coreProperties>
</file>