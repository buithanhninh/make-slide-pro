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4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E7D0F-0A6E-7299-9D46-250F15982F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39F483-7960-1C02-3056-5CEA870EB3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FD6978-FC30-2EBB-7CF3-8415AF6E050B}"/>
              </a:ext>
            </a:extLst>
          </p:cNvPr>
          <p:cNvSpPr>
            <a:spLocks noGrp="1"/>
          </p:cNvSpPr>
          <p:nvPr>
            <p:ph type="dt" sz="half" idx="10"/>
          </p:nvPr>
        </p:nvSpPr>
        <p:spPr/>
        <p:txBody>
          <a:bodyPr/>
          <a:lstStyle/>
          <a:p>
            <a:fld id="{E5C914FC-7D62-454B-ACB2-3C75B060C550}" type="datetimeFigureOut">
              <a:rPr lang="en-US" smtClean="0"/>
              <a:t>9/18/2026</a:t>
            </a:fld>
            <a:endParaRPr lang="en-US"/>
          </a:p>
        </p:txBody>
      </p:sp>
      <p:sp>
        <p:nvSpPr>
          <p:cNvPr id="5" name="Footer Placeholder 4">
            <a:extLst>
              <a:ext uri="{FF2B5EF4-FFF2-40B4-BE49-F238E27FC236}">
                <a16:creationId xmlns:a16="http://schemas.microsoft.com/office/drawing/2014/main" id="{1C43A12F-AC57-0F76-1AD4-921377FAA6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00262C-639F-6947-2C0B-2459F8E6B7E8}"/>
              </a:ext>
            </a:extLst>
          </p:cNvPr>
          <p:cNvSpPr>
            <a:spLocks noGrp="1"/>
          </p:cNvSpPr>
          <p:nvPr>
            <p:ph type="sldNum" sz="quarter" idx="12"/>
          </p:nvPr>
        </p:nvSpPr>
        <p:spPr/>
        <p:txBody>
          <a:bodyPr/>
          <a:lstStyle/>
          <a:p>
            <a:fld id="{B4E7D797-283B-48E9-8742-839C1B9EC833}" type="slidenum">
              <a:rPr lang="en-US" smtClean="0"/>
              <a:t>‹#›</a:t>
            </a:fld>
            <a:endParaRPr lang="en-US"/>
          </a:p>
        </p:txBody>
      </p:sp>
    </p:spTree>
    <p:extLst>
      <p:ext uri="{BB962C8B-B14F-4D97-AF65-F5344CB8AC3E}">
        <p14:creationId xmlns:p14="http://schemas.microsoft.com/office/powerpoint/2010/main" val="257491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3DB32-3318-29C9-7F65-94FDB4398B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CE6CC4-D9A8-4E01-BB2A-B22D46CBB2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0FF3C3-0406-BCA0-22A6-2DC09C9EFCCA}"/>
              </a:ext>
            </a:extLst>
          </p:cNvPr>
          <p:cNvSpPr>
            <a:spLocks noGrp="1"/>
          </p:cNvSpPr>
          <p:nvPr>
            <p:ph type="dt" sz="half" idx="10"/>
          </p:nvPr>
        </p:nvSpPr>
        <p:spPr/>
        <p:txBody>
          <a:bodyPr/>
          <a:lstStyle/>
          <a:p>
            <a:fld id="{E5C914FC-7D62-454B-ACB2-3C75B060C550}" type="datetimeFigureOut">
              <a:rPr lang="en-US" smtClean="0"/>
              <a:t>9/18/2026</a:t>
            </a:fld>
            <a:endParaRPr lang="en-US"/>
          </a:p>
        </p:txBody>
      </p:sp>
      <p:sp>
        <p:nvSpPr>
          <p:cNvPr id="5" name="Footer Placeholder 4">
            <a:extLst>
              <a:ext uri="{FF2B5EF4-FFF2-40B4-BE49-F238E27FC236}">
                <a16:creationId xmlns:a16="http://schemas.microsoft.com/office/drawing/2014/main" id="{FF350E8B-E13C-864B-1D08-EBE0789CC3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D748D5-F8E4-C1FE-C5F6-62177DFAABFB}"/>
              </a:ext>
            </a:extLst>
          </p:cNvPr>
          <p:cNvSpPr>
            <a:spLocks noGrp="1"/>
          </p:cNvSpPr>
          <p:nvPr>
            <p:ph type="sldNum" sz="quarter" idx="12"/>
          </p:nvPr>
        </p:nvSpPr>
        <p:spPr/>
        <p:txBody>
          <a:bodyPr/>
          <a:lstStyle/>
          <a:p>
            <a:fld id="{B4E7D797-283B-48E9-8742-839C1B9EC833}" type="slidenum">
              <a:rPr lang="en-US" smtClean="0"/>
              <a:t>‹#›</a:t>
            </a:fld>
            <a:endParaRPr lang="en-US"/>
          </a:p>
        </p:txBody>
      </p:sp>
    </p:spTree>
    <p:extLst>
      <p:ext uri="{BB962C8B-B14F-4D97-AF65-F5344CB8AC3E}">
        <p14:creationId xmlns:p14="http://schemas.microsoft.com/office/powerpoint/2010/main" val="174389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8BBF4-F108-C85B-7421-13BE5D0481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1001F4-8719-03A3-203F-31E3860CF2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A94C88-D3E1-5348-DE2B-7D47F1EAC837}"/>
              </a:ext>
            </a:extLst>
          </p:cNvPr>
          <p:cNvSpPr>
            <a:spLocks noGrp="1"/>
          </p:cNvSpPr>
          <p:nvPr>
            <p:ph type="dt" sz="half" idx="10"/>
          </p:nvPr>
        </p:nvSpPr>
        <p:spPr/>
        <p:txBody>
          <a:bodyPr/>
          <a:lstStyle/>
          <a:p>
            <a:fld id="{E5C914FC-7D62-454B-ACB2-3C75B060C550}" type="datetimeFigureOut">
              <a:rPr lang="en-US" smtClean="0"/>
              <a:t>9/18/2026</a:t>
            </a:fld>
            <a:endParaRPr lang="en-US"/>
          </a:p>
        </p:txBody>
      </p:sp>
      <p:sp>
        <p:nvSpPr>
          <p:cNvPr id="5" name="Footer Placeholder 4">
            <a:extLst>
              <a:ext uri="{FF2B5EF4-FFF2-40B4-BE49-F238E27FC236}">
                <a16:creationId xmlns:a16="http://schemas.microsoft.com/office/drawing/2014/main" id="{C6B7CCA2-C094-8025-550A-27DF192793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60BAD4-B1E8-85CC-F628-EEC118200D74}"/>
              </a:ext>
            </a:extLst>
          </p:cNvPr>
          <p:cNvSpPr>
            <a:spLocks noGrp="1"/>
          </p:cNvSpPr>
          <p:nvPr>
            <p:ph type="sldNum" sz="quarter" idx="12"/>
          </p:nvPr>
        </p:nvSpPr>
        <p:spPr/>
        <p:txBody>
          <a:bodyPr/>
          <a:lstStyle/>
          <a:p>
            <a:fld id="{B4E7D797-283B-48E9-8742-839C1B9EC833}" type="slidenum">
              <a:rPr lang="en-US" smtClean="0"/>
              <a:t>‹#›</a:t>
            </a:fld>
            <a:endParaRPr lang="en-US"/>
          </a:p>
        </p:txBody>
      </p:sp>
    </p:spTree>
    <p:extLst>
      <p:ext uri="{BB962C8B-B14F-4D97-AF65-F5344CB8AC3E}">
        <p14:creationId xmlns:p14="http://schemas.microsoft.com/office/powerpoint/2010/main" val="3121562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B2DDD-7E8F-B610-0D59-43FF9FBACC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161170-1C45-E003-16BB-9FC2317921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F5687D-13EA-D03A-C687-2767921C0F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90C05B-291A-8F50-5CB1-F36A3631A356}"/>
              </a:ext>
            </a:extLst>
          </p:cNvPr>
          <p:cNvSpPr>
            <a:spLocks noGrp="1"/>
          </p:cNvSpPr>
          <p:nvPr>
            <p:ph type="dt" sz="half" idx="10"/>
          </p:nvPr>
        </p:nvSpPr>
        <p:spPr/>
        <p:txBody>
          <a:bodyPr/>
          <a:lstStyle/>
          <a:p>
            <a:fld id="{E5C914FC-7D62-454B-ACB2-3C75B060C550}" type="datetimeFigureOut">
              <a:rPr lang="en-US" smtClean="0"/>
              <a:t>9/18/2026</a:t>
            </a:fld>
            <a:endParaRPr lang="en-US"/>
          </a:p>
        </p:txBody>
      </p:sp>
      <p:sp>
        <p:nvSpPr>
          <p:cNvPr id="6" name="Footer Placeholder 5">
            <a:extLst>
              <a:ext uri="{FF2B5EF4-FFF2-40B4-BE49-F238E27FC236}">
                <a16:creationId xmlns:a16="http://schemas.microsoft.com/office/drawing/2014/main" id="{FAFEC6EB-D661-1B94-C977-33986C021E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D09DC8-AC69-2043-94F7-8CDE3D48ECA5}"/>
              </a:ext>
            </a:extLst>
          </p:cNvPr>
          <p:cNvSpPr>
            <a:spLocks noGrp="1"/>
          </p:cNvSpPr>
          <p:nvPr>
            <p:ph type="sldNum" sz="quarter" idx="12"/>
          </p:nvPr>
        </p:nvSpPr>
        <p:spPr/>
        <p:txBody>
          <a:bodyPr/>
          <a:lstStyle/>
          <a:p>
            <a:fld id="{B4E7D797-283B-48E9-8742-839C1B9EC833}" type="slidenum">
              <a:rPr lang="en-US" smtClean="0"/>
              <a:t>‹#›</a:t>
            </a:fld>
            <a:endParaRPr lang="en-US"/>
          </a:p>
        </p:txBody>
      </p:sp>
    </p:spTree>
    <p:extLst>
      <p:ext uri="{BB962C8B-B14F-4D97-AF65-F5344CB8AC3E}">
        <p14:creationId xmlns:p14="http://schemas.microsoft.com/office/powerpoint/2010/main" val="1402152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04F3C-9F5B-B5EC-621A-2BB57FD67B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65A548-8F6F-1939-1C40-4AEE491FB4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5A8D47-D34E-7ACD-9659-7D152C90C1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9DE95E-1620-C482-11F2-BD885B6FA9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A1DA96-6494-C825-3850-2BF19ECECA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124597-B8B6-AB2E-AD03-3053A10F5EB7}"/>
              </a:ext>
            </a:extLst>
          </p:cNvPr>
          <p:cNvSpPr>
            <a:spLocks noGrp="1"/>
          </p:cNvSpPr>
          <p:nvPr>
            <p:ph type="dt" sz="half" idx="10"/>
          </p:nvPr>
        </p:nvSpPr>
        <p:spPr/>
        <p:txBody>
          <a:bodyPr/>
          <a:lstStyle/>
          <a:p>
            <a:fld id="{E5C914FC-7D62-454B-ACB2-3C75B060C550}" type="datetimeFigureOut">
              <a:rPr lang="en-US" smtClean="0"/>
              <a:t>9/18/2026</a:t>
            </a:fld>
            <a:endParaRPr lang="en-US"/>
          </a:p>
        </p:txBody>
      </p:sp>
      <p:sp>
        <p:nvSpPr>
          <p:cNvPr id="8" name="Footer Placeholder 7">
            <a:extLst>
              <a:ext uri="{FF2B5EF4-FFF2-40B4-BE49-F238E27FC236}">
                <a16:creationId xmlns:a16="http://schemas.microsoft.com/office/drawing/2014/main" id="{29E6F84E-BB57-EC6D-3D0B-8BF2CB9AD1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12F638-2B4E-BF54-7F17-04B95EE26D59}"/>
              </a:ext>
            </a:extLst>
          </p:cNvPr>
          <p:cNvSpPr>
            <a:spLocks noGrp="1"/>
          </p:cNvSpPr>
          <p:nvPr>
            <p:ph type="sldNum" sz="quarter" idx="12"/>
          </p:nvPr>
        </p:nvSpPr>
        <p:spPr/>
        <p:txBody>
          <a:bodyPr/>
          <a:lstStyle/>
          <a:p>
            <a:fld id="{B4E7D797-283B-48E9-8742-839C1B9EC833}" type="slidenum">
              <a:rPr lang="en-US" smtClean="0"/>
              <a:t>‹#›</a:t>
            </a:fld>
            <a:endParaRPr lang="en-US"/>
          </a:p>
        </p:txBody>
      </p:sp>
    </p:spTree>
    <p:extLst>
      <p:ext uri="{BB962C8B-B14F-4D97-AF65-F5344CB8AC3E}">
        <p14:creationId xmlns:p14="http://schemas.microsoft.com/office/powerpoint/2010/main" val="3447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71C0E-49CA-CE22-5904-BD4DD1ABD6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1F1C32-BFD4-67B2-DABE-BFB74863CFDB}"/>
              </a:ext>
            </a:extLst>
          </p:cNvPr>
          <p:cNvSpPr>
            <a:spLocks noGrp="1"/>
          </p:cNvSpPr>
          <p:nvPr>
            <p:ph type="dt" sz="half" idx="10"/>
          </p:nvPr>
        </p:nvSpPr>
        <p:spPr/>
        <p:txBody>
          <a:bodyPr/>
          <a:lstStyle/>
          <a:p>
            <a:fld id="{E5C914FC-7D62-454B-ACB2-3C75B060C550}" type="datetimeFigureOut">
              <a:rPr lang="en-US" smtClean="0"/>
              <a:t>9/18/2026</a:t>
            </a:fld>
            <a:endParaRPr lang="en-US"/>
          </a:p>
        </p:txBody>
      </p:sp>
      <p:sp>
        <p:nvSpPr>
          <p:cNvPr id="4" name="Footer Placeholder 3">
            <a:extLst>
              <a:ext uri="{FF2B5EF4-FFF2-40B4-BE49-F238E27FC236}">
                <a16:creationId xmlns:a16="http://schemas.microsoft.com/office/drawing/2014/main" id="{899D15AF-762F-213E-8BC9-13960DA9869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858414-5D86-B68D-83E5-947792B65231}"/>
              </a:ext>
            </a:extLst>
          </p:cNvPr>
          <p:cNvSpPr>
            <a:spLocks noGrp="1"/>
          </p:cNvSpPr>
          <p:nvPr>
            <p:ph type="sldNum" sz="quarter" idx="12"/>
          </p:nvPr>
        </p:nvSpPr>
        <p:spPr/>
        <p:txBody>
          <a:bodyPr/>
          <a:lstStyle/>
          <a:p>
            <a:fld id="{B4E7D797-283B-48E9-8742-839C1B9EC833}" type="slidenum">
              <a:rPr lang="en-US" smtClean="0"/>
              <a:t>‹#›</a:t>
            </a:fld>
            <a:endParaRPr lang="en-US"/>
          </a:p>
        </p:txBody>
      </p:sp>
    </p:spTree>
    <p:extLst>
      <p:ext uri="{BB962C8B-B14F-4D97-AF65-F5344CB8AC3E}">
        <p14:creationId xmlns:p14="http://schemas.microsoft.com/office/powerpoint/2010/main" val="3089778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A55C83-305E-6E57-D502-73E5B5F8A279}"/>
              </a:ext>
            </a:extLst>
          </p:cNvPr>
          <p:cNvSpPr>
            <a:spLocks noGrp="1"/>
          </p:cNvSpPr>
          <p:nvPr>
            <p:ph type="dt" sz="half" idx="10"/>
          </p:nvPr>
        </p:nvSpPr>
        <p:spPr/>
        <p:txBody>
          <a:bodyPr/>
          <a:lstStyle/>
          <a:p>
            <a:fld id="{E5C914FC-7D62-454B-ACB2-3C75B060C550}" type="datetimeFigureOut">
              <a:rPr lang="en-US" smtClean="0"/>
              <a:t>9/18/2026</a:t>
            </a:fld>
            <a:endParaRPr lang="en-US"/>
          </a:p>
        </p:txBody>
      </p:sp>
      <p:sp>
        <p:nvSpPr>
          <p:cNvPr id="3" name="Footer Placeholder 2">
            <a:extLst>
              <a:ext uri="{FF2B5EF4-FFF2-40B4-BE49-F238E27FC236}">
                <a16:creationId xmlns:a16="http://schemas.microsoft.com/office/drawing/2014/main" id="{08899C3C-506F-98D4-FB34-29AF4C6D29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8014B6-3664-EC15-EF74-9822F2C5A07E}"/>
              </a:ext>
            </a:extLst>
          </p:cNvPr>
          <p:cNvSpPr>
            <a:spLocks noGrp="1"/>
          </p:cNvSpPr>
          <p:nvPr>
            <p:ph type="sldNum" sz="quarter" idx="12"/>
          </p:nvPr>
        </p:nvSpPr>
        <p:spPr/>
        <p:txBody>
          <a:bodyPr/>
          <a:lstStyle/>
          <a:p>
            <a:fld id="{B4E7D797-283B-48E9-8742-839C1B9EC833}" type="slidenum">
              <a:rPr lang="en-US" smtClean="0"/>
              <a:t>‹#›</a:t>
            </a:fld>
            <a:endParaRPr lang="en-US"/>
          </a:p>
        </p:txBody>
      </p:sp>
    </p:spTree>
    <p:extLst>
      <p:ext uri="{BB962C8B-B14F-4D97-AF65-F5344CB8AC3E}">
        <p14:creationId xmlns:p14="http://schemas.microsoft.com/office/powerpoint/2010/main" val="2812698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13378-605A-F859-B803-9DFCE553D4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A21A64-731D-5A4C-833B-9BE6568E2B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F38B43-0C70-9F3E-E9B3-6C5A5F6C87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009887-57F2-5807-5884-1C587FAA1CCB}"/>
              </a:ext>
            </a:extLst>
          </p:cNvPr>
          <p:cNvSpPr>
            <a:spLocks noGrp="1"/>
          </p:cNvSpPr>
          <p:nvPr>
            <p:ph type="dt" sz="half" idx="10"/>
          </p:nvPr>
        </p:nvSpPr>
        <p:spPr/>
        <p:txBody>
          <a:bodyPr/>
          <a:lstStyle/>
          <a:p>
            <a:fld id="{E5C914FC-7D62-454B-ACB2-3C75B060C550}" type="datetimeFigureOut">
              <a:rPr lang="en-US" smtClean="0"/>
              <a:t>9/18/2026</a:t>
            </a:fld>
            <a:endParaRPr lang="en-US"/>
          </a:p>
        </p:txBody>
      </p:sp>
      <p:sp>
        <p:nvSpPr>
          <p:cNvPr id="6" name="Footer Placeholder 5">
            <a:extLst>
              <a:ext uri="{FF2B5EF4-FFF2-40B4-BE49-F238E27FC236}">
                <a16:creationId xmlns:a16="http://schemas.microsoft.com/office/drawing/2014/main" id="{2C89D3DA-43A1-6CFB-A367-2790E997AD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8EED94-0AD8-3B83-E63F-13F5EF758940}"/>
              </a:ext>
            </a:extLst>
          </p:cNvPr>
          <p:cNvSpPr>
            <a:spLocks noGrp="1"/>
          </p:cNvSpPr>
          <p:nvPr>
            <p:ph type="sldNum" sz="quarter" idx="12"/>
          </p:nvPr>
        </p:nvSpPr>
        <p:spPr/>
        <p:txBody>
          <a:bodyPr/>
          <a:lstStyle/>
          <a:p>
            <a:fld id="{B4E7D797-283B-48E9-8742-839C1B9EC833}" type="slidenum">
              <a:rPr lang="en-US" smtClean="0"/>
              <a:t>‹#›</a:t>
            </a:fld>
            <a:endParaRPr lang="en-US"/>
          </a:p>
        </p:txBody>
      </p:sp>
    </p:spTree>
    <p:extLst>
      <p:ext uri="{BB962C8B-B14F-4D97-AF65-F5344CB8AC3E}">
        <p14:creationId xmlns:p14="http://schemas.microsoft.com/office/powerpoint/2010/main" val="2140708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B0AA7-66D1-2179-B389-B5491021E1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BE1DC5-9C3A-61B0-F114-B4D5C21BD9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2F9A71-0779-28F5-A85C-6E8A1E4994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7593AA-070F-670F-E691-9450428370AD}"/>
              </a:ext>
            </a:extLst>
          </p:cNvPr>
          <p:cNvSpPr>
            <a:spLocks noGrp="1"/>
          </p:cNvSpPr>
          <p:nvPr>
            <p:ph type="dt" sz="half" idx="10"/>
          </p:nvPr>
        </p:nvSpPr>
        <p:spPr/>
        <p:txBody>
          <a:bodyPr/>
          <a:lstStyle/>
          <a:p>
            <a:fld id="{E5C914FC-7D62-454B-ACB2-3C75B060C550}" type="datetimeFigureOut">
              <a:rPr lang="en-US" smtClean="0"/>
              <a:t>9/18/2026</a:t>
            </a:fld>
            <a:endParaRPr lang="en-US"/>
          </a:p>
        </p:txBody>
      </p:sp>
      <p:sp>
        <p:nvSpPr>
          <p:cNvPr id="6" name="Footer Placeholder 5">
            <a:extLst>
              <a:ext uri="{FF2B5EF4-FFF2-40B4-BE49-F238E27FC236}">
                <a16:creationId xmlns:a16="http://schemas.microsoft.com/office/drawing/2014/main" id="{363B6A34-B3AD-7C05-1B27-5B23D7F858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504E38-203F-896D-4CCD-B048C73990F4}"/>
              </a:ext>
            </a:extLst>
          </p:cNvPr>
          <p:cNvSpPr>
            <a:spLocks noGrp="1"/>
          </p:cNvSpPr>
          <p:nvPr>
            <p:ph type="sldNum" sz="quarter" idx="12"/>
          </p:nvPr>
        </p:nvSpPr>
        <p:spPr/>
        <p:txBody>
          <a:bodyPr/>
          <a:lstStyle/>
          <a:p>
            <a:fld id="{B4E7D797-283B-48E9-8742-839C1B9EC833}" type="slidenum">
              <a:rPr lang="en-US" smtClean="0"/>
              <a:t>‹#›</a:t>
            </a:fld>
            <a:endParaRPr lang="en-US"/>
          </a:p>
        </p:txBody>
      </p:sp>
    </p:spTree>
    <p:extLst>
      <p:ext uri="{BB962C8B-B14F-4D97-AF65-F5344CB8AC3E}">
        <p14:creationId xmlns:p14="http://schemas.microsoft.com/office/powerpoint/2010/main" val="329220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33B97-2FB2-E5B8-19EE-B181606FC6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7B615E-E37E-3B24-7669-1282877CDF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18A7BB-41D9-B565-FA21-C6205BA08B84}"/>
              </a:ext>
            </a:extLst>
          </p:cNvPr>
          <p:cNvSpPr>
            <a:spLocks noGrp="1"/>
          </p:cNvSpPr>
          <p:nvPr>
            <p:ph type="dt" sz="half" idx="10"/>
          </p:nvPr>
        </p:nvSpPr>
        <p:spPr/>
        <p:txBody>
          <a:bodyPr/>
          <a:lstStyle/>
          <a:p>
            <a:fld id="{E5C914FC-7D62-454B-ACB2-3C75B060C550}" type="datetimeFigureOut">
              <a:rPr lang="en-US" smtClean="0"/>
              <a:t>9/18/2026</a:t>
            </a:fld>
            <a:endParaRPr lang="en-US"/>
          </a:p>
        </p:txBody>
      </p:sp>
      <p:sp>
        <p:nvSpPr>
          <p:cNvPr id="5" name="Footer Placeholder 4">
            <a:extLst>
              <a:ext uri="{FF2B5EF4-FFF2-40B4-BE49-F238E27FC236}">
                <a16:creationId xmlns:a16="http://schemas.microsoft.com/office/drawing/2014/main" id="{89FA2106-ADB2-73C1-3A9C-FE4A48647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E37F89-2833-478B-489C-B187C51C20EA}"/>
              </a:ext>
            </a:extLst>
          </p:cNvPr>
          <p:cNvSpPr>
            <a:spLocks noGrp="1"/>
          </p:cNvSpPr>
          <p:nvPr>
            <p:ph type="sldNum" sz="quarter" idx="12"/>
          </p:nvPr>
        </p:nvSpPr>
        <p:spPr/>
        <p:txBody>
          <a:bodyPr/>
          <a:lstStyle/>
          <a:p>
            <a:fld id="{B4E7D797-283B-48E9-8742-839C1B9EC833}" type="slidenum">
              <a:rPr lang="en-US" smtClean="0"/>
              <a:t>‹#›</a:t>
            </a:fld>
            <a:endParaRPr lang="en-US"/>
          </a:p>
        </p:txBody>
      </p:sp>
    </p:spTree>
    <p:extLst>
      <p:ext uri="{BB962C8B-B14F-4D97-AF65-F5344CB8AC3E}">
        <p14:creationId xmlns:p14="http://schemas.microsoft.com/office/powerpoint/2010/main" val="196790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5959A9-9FB3-112D-20A8-E8D84985709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DBF54A-6C5E-32FA-A84F-582AFCF264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679AF7-85D5-8D7E-AF03-973BD733611A}"/>
              </a:ext>
            </a:extLst>
          </p:cNvPr>
          <p:cNvSpPr>
            <a:spLocks noGrp="1"/>
          </p:cNvSpPr>
          <p:nvPr>
            <p:ph type="dt" sz="half" idx="10"/>
          </p:nvPr>
        </p:nvSpPr>
        <p:spPr/>
        <p:txBody>
          <a:bodyPr/>
          <a:lstStyle/>
          <a:p>
            <a:fld id="{E5C914FC-7D62-454B-ACB2-3C75B060C550}" type="datetimeFigureOut">
              <a:rPr lang="en-US" smtClean="0"/>
              <a:t>9/18/2026</a:t>
            </a:fld>
            <a:endParaRPr lang="en-US"/>
          </a:p>
        </p:txBody>
      </p:sp>
      <p:sp>
        <p:nvSpPr>
          <p:cNvPr id="5" name="Footer Placeholder 4">
            <a:extLst>
              <a:ext uri="{FF2B5EF4-FFF2-40B4-BE49-F238E27FC236}">
                <a16:creationId xmlns:a16="http://schemas.microsoft.com/office/drawing/2014/main" id="{4115A34F-207C-5B7E-D6D9-00DD309F46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D9FF59-BD47-4668-69A8-221D4415A427}"/>
              </a:ext>
            </a:extLst>
          </p:cNvPr>
          <p:cNvSpPr>
            <a:spLocks noGrp="1"/>
          </p:cNvSpPr>
          <p:nvPr>
            <p:ph type="sldNum" sz="quarter" idx="12"/>
          </p:nvPr>
        </p:nvSpPr>
        <p:spPr/>
        <p:txBody>
          <a:bodyPr/>
          <a:lstStyle/>
          <a:p>
            <a:fld id="{B4E7D797-283B-48E9-8742-839C1B9EC833}" type="slidenum">
              <a:rPr lang="en-US" smtClean="0"/>
              <a:t>‹#›</a:t>
            </a:fld>
            <a:endParaRPr lang="en-US"/>
          </a:p>
        </p:txBody>
      </p:sp>
    </p:spTree>
    <p:extLst>
      <p:ext uri="{BB962C8B-B14F-4D97-AF65-F5344CB8AC3E}">
        <p14:creationId xmlns:p14="http://schemas.microsoft.com/office/powerpoint/2010/main" val="3807756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B6E00-E888-49DE-A79A-53529A481E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1EDAAE-CE03-B4B4-9923-2B08F9D172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94263C-5AF8-6653-34D7-EB28EF3542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C914FC-7D62-454B-ACB2-3C75B060C550}" type="datetimeFigureOut">
              <a:rPr lang="en-US" smtClean="0"/>
              <a:t>9/18/2026</a:t>
            </a:fld>
            <a:endParaRPr lang="en-US"/>
          </a:p>
        </p:txBody>
      </p:sp>
      <p:sp>
        <p:nvSpPr>
          <p:cNvPr id="5" name="Footer Placeholder 4">
            <a:extLst>
              <a:ext uri="{FF2B5EF4-FFF2-40B4-BE49-F238E27FC236}">
                <a16:creationId xmlns:a16="http://schemas.microsoft.com/office/drawing/2014/main" id="{084B9985-88C1-FEB5-C3CD-D3C2ACC24D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1B25CF8-F860-E54F-276A-45D3A3AD75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E7D797-283B-48E9-8742-839C1B9EC833}" type="slidenum">
              <a:rPr lang="en-US" smtClean="0"/>
              <a:t>‹#›</a:t>
            </a:fld>
            <a:endParaRPr lang="en-US"/>
          </a:p>
        </p:txBody>
      </p:sp>
    </p:spTree>
    <p:extLst>
      <p:ext uri="{BB962C8B-B14F-4D97-AF65-F5344CB8AC3E}">
        <p14:creationId xmlns:p14="http://schemas.microsoft.com/office/powerpoint/2010/main" val="3059278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99D6C83-68DC-2426-3211-2C23AC2CA3EC}"/>
              </a:ext>
            </a:extLst>
          </p:cNvPr>
          <p:cNvSpPr/>
          <p:nvPr/>
        </p:nvSpPr>
        <p:spPr>
          <a:xfrm>
            <a:off x="609600" y="635000"/>
            <a:ext cx="2667000" cy="3302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050" b="1">
                <a:solidFill>
                  <a:srgbClr val="38BDF8"/>
                </a:solidFill>
                <a:latin typeface="Segoe UI" panose="020B0502040204020203" pitchFamily="34" charset="0"/>
              </a:rPr>
              <a:t>01 // CHUYÊN ĐỀ DÂN SỐ HỌC</a:t>
            </a:r>
          </a:p>
        </p:txBody>
      </p:sp>
      <p:sp>
        <p:nvSpPr>
          <p:cNvPr id="3" name="TextBox 2">
            <a:extLst>
              <a:ext uri="{FF2B5EF4-FFF2-40B4-BE49-F238E27FC236}">
                <a16:creationId xmlns:a16="http://schemas.microsoft.com/office/drawing/2014/main" id="{52F75FDA-FE3B-9114-68DB-AF0E161FDA10}"/>
              </a:ext>
            </a:extLst>
          </p:cNvPr>
          <p:cNvSpPr txBox="1"/>
          <p:nvPr/>
        </p:nvSpPr>
        <p:spPr>
          <a:xfrm>
            <a:off x="609600" y="1117600"/>
            <a:ext cx="4953000" cy="1102866"/>
          </a:xfrm>
          <a:prstGeom prst="rect">
            <a:avLst/>
          </a:prstGeom>
          <a:noFill/>
        </p:spPr>
        <p:txBody>
          <a:bodyPr vert="horz" wrap="square" lIns="0" tIns="0" rIns="0" bIns="0" rtlCol="0">
            <a:spAutoFit/>
          </a:bodyPr>
          <a:lstStyle/>
          <a:p>
            <a:pPr>
              <a:lnSpc>
                <a:spcPts val="4320"/>
              </a:lnSpc>
            </a:pPr>
            <a:r>
              <a:rPr lang="en-US" sz="3600" b="1">
                <a:solidFill>
                  <a:srgbClr val="FFFFFF"/>
                </a:solidFill>
                <a:latin typeface="Segoe UI" panose="020B0502040204020203" pitchFamily="34" charset="0"/>
              </a:rPr>
              <a:t>KHOA HỌC DÂN SỐ
VÀ PHÁT TRIỂN</a:t>
            </a:r>
          </a:p>
        </p:txBody>
      </p:sp>
      <p:sp>
        <p:nvSpPr>
          <p:cNvPr id="4" name="TextBox 3">
            <a:extLst>
              <a:ext uri="{FF2B5EF4-FFF2-40B4-BE49-F238E27FC236}">
                <a16:creationId xmlns:a16="http://schemas.microsoft.com/office/drawing/2014/main" id="{2FDA1655-FC4E-C38A-D48A-ACAD672A20AA}"/>
              </a:ext>
            </a:extLst>
          </p:cNvPr>
          <p:cNvSpPr txBox="1"/>
          <p:nvPr/>
        </p:nvSpPr>
        <p:spPr>
          <a:xfrm>
            <a:off x="609600" y="2603500"/>
            <a:ext cx="4826000" cy="410369"/>
          </a:xfrm>
          <a:prstGeom prst="rect">
            <a:avLst/>
          </a:prstGeom>
          <a:noFill/>
        </p:spPr>
        <p:txBody>
          <a:bodyPr vert="horz" wrap="square" lIns="0" tIns="0" rIns="0" bIns="0" rtlCol="0">
            <a:spAutoFit/>
          </a:bodyPr>
          <a:lstStyle/>
          <a:p>
            <a:pPr>
              <a:lnSpc>
                <a:spcPts val="1620"/>
              </a:lnSpc>
            </a:pPr>
            <a:r>
              <a:rPr lang="vi-VN" sz="1350">
                <a:solidFill>
                  <a:srgbClr val="94A3B8"/>
                </a:solidFill>
                <a:latin typeface="Segoe UI" panose="020B0502040204020203" pitchFamily="34" charset="0"/>
              </a:rPr>
              <a:t>Hệ thống hóa quy luật biến động, cấu trúc nhân khẩu học và các chiến lược định hình tương lai quốc gia.</a:t>
            </a:r>
            <a:endParaRPr lang="en-US" sz="1350">
              <a:solidFill>
                <a:srgbClr val="94A3B8"/>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967CDF04-99A3-FB0D-B864-F66D12BF1C2D}"/>
              </a:ext>
            </a:extLst>
          </p:cNvPr>
          <p:cNvSpPr/>
          <p:nvPr/>
        </p:nvSpPr>
        <p:spPr>
          <a:xfrm>
            <a:off x="609600" y="3492500"/>
            <a:ext cx="2349500" cy="15240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3F03B68-07D5-6822-C43A-B351592400F3}"/>
              </a:ext>
            </a:extLst>
          </p:cNvPr>
          <p:cNvSpPr txBox="1"/>
          <p:nvPr/>
        </p:nvSpPr>
        <p:spPr>
          <a:xfrm>
            <a:off x="812800" y="3683000"/>
            <a:ext cx="1905000" cy="502125"/>
          </a:xfrm>
          <a:prstGeom prst="rect">
            <a:avLst/>
          </a:prstGeom>
          <a:noFill/>
        </p:spPr>
        <p:txBody>
          <a:bodyPr vert="horz" wrap="square" lIns="0" tIns="0" rIns="0" bIns="0" rtlCol="0">
            <a:spAutoFit/>
          </a:bodyPr>
          <a:lstStyle/>
          <a:p>
            <a:pPr>
              <a:lnSpc>
                <a:spcPts val="4080"/>
              </a:lnSpc>
            </a:pPr>
            <a:r>
              <a:rPr lang="en-US" sz="3400" b="1">
                <a:solidFill>
                  <a:srgbClr val="38BDF8"/>
                </a:solidFill>
                <a:latin typeface="Bahnschrift" panose="020B0502040204020203" pitchFamily="34" charset="0"/>
              </a:rPr>
              <a:t>8.1 TỶ</a:t>
            </a:r>
          </a:p>
        </p:txBody>
      </p:sp>
      <p:sp>
        <p:nvSpPr>
          <p:cNvPr id="7" name="TextBox 6">
            <a:extLst>
              <a:ext uri="{FF2B5EF4-FFF2-40B4-BE49-F238E27FC236}">
                <a16:creationId xmlns:a16="http://schemas.microsoft.com/office/drawing/2014/main" id="{5954311F-BE4E-F74E-7CDE-C2F060EAE086}"/>
              </a:ext>
            </a:extLst>
          </p:cNvPr>
          <p:cNvSpPr txBox="1"/>
          <p:nvPr/>
        </p:nvSpPr>
        <p:spPr>
          <a:xfrm>
            <a:off x="812800" y="4318000"/>
            <a:ext cx="1905000" cy="333425"/>
          </a:xfrm>
          <a:prstGeom prst="rect">
            <a:avLst/>
          </a:prstGeom>
          <a:noFill/>
        </p:spPr>
        <p:txBody>
          <a:bodyPr vert="horz" wrap="square" lIns="0" tIns="0" rIns="0" bIns="0" rtlCol="0">
            <a:spAutoFit/>
          </a:bodyPr>
          <a:lstStyle/>
          <a:p>
            <a:pPr>
              <a:lnSpc>
                <a:spcPts val="1320"/>
              </a:lnSpc>
            </a:pPr>
            <a:r>
              <a:rPr lang="en-US" sz="1100">
                <a:solidFill>
                  <a:srgbClr val="94A3B8"/>
                </a:solidFill>
                <a:latin typeface="Segoe UI" panose="020B0502040204020203" pitchFamily="34" charset="0"/>
              </a:rPr>
              <a:t>Dân số toàn cầu (2024)
Quy mô lịch sử</a:t>
            </a:r>
          </a:p>
        </p:txBody>
      </p:sp>
      <p:sp>
        <p:nvSpPr>
          <p:cNvPr id="8" name="Rectangle: Rounded Corners 7">
            <a:extLst>
              <a:ext uri="{FF2B5EF4-FFF2-40B4-BE49-F238E27FC236}">
                <a16:creationId xmlns:a16="http://schemas.microsoft.com/office/drawing/2014/main" id="{69FD4E0B-75BF-8475-17E5-FF02EED51465}"/>
              </a:ext>
            </a:extLst>
          </p:cNvPr>
          <p:cNvSpPr/>
          <p:nvPr/>
        </p:nvSpPr>
        <p:spPr>
          <a:xfrm>
            <a:off x="3149600" y="3492500"/>
            <a:ext cx="2349500" cy="15240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A04EC77-82FA-9299-43BF-D58DC07BFE44}"/>
              </a:ext>
            </a:extLst>
          </p:cNvPr>
          <p:cNvSpPr txBox="1"/>
          <p:nvPr/>
        </p:nvSpPr>
        <p:spPr>
          <a:xfrm>
            <a:off x="3352800" y="3683000"/>
            <a:ext cx="1905000" cy="502125"/>
          </a:xfrm>
          <a:prstGeom prst="rect">
            <a:avLst/>
          </a:prstGeom>
          <a:noFill/>
        </p:spPr>
        <p:txBody>
          <a:bodyPr vert="horz" wrap="square" lIns="0" tIns="0" rIns="0" bIns="0" rtlCol="0">
            <a:spAutoFit/>
          </a:bodyPr>
          <a:lstStyle/>
          <a:p>
            <a:pPr>
              <a:lnSpc>
                <a:spcPts val="4080"/>
              </a:lnSpc>
            </a:pPr>
            <a:r>
              <a:rPr lang="en-US" sz="3400" b="1">
                <a:solidFill>
                  <a:srgbClr val="34D399"/>
                </a:solidFill>
                <a:latin typeface="Bahnschrift" panose="020B0502040204020203" pitchFamily="34" charset="0"/>
              </a:rPr>
              <a:t>100.3 TR</a:t>
            </a:r>
          </a:p>
        </p:txBody>
      </p:sp>
      <p:sp>
        <p:nvSpPr>
          <p:cNvPr id="10" name="TextBox 9">
            <a:extLst>
              <a:ext uri="{FF2B5EF4-FFF2-40B4-BE49-F238E27FC236}">
                <a16:creationId xmlns:a16="http://schemas.microsoft.com/office/drawing/2014/main" id="{E7BB3C63-DA91-12D1-F9B9-83AA11E4732E}"/>
              </a:ext>
            </a:extLst>
          </p:cNvPr>
          <p:cNvSpPr txBox="1"/>
          <p:nvPr/>
        </p:nvSpPr>
        <p:spPr>
          <a:xfrm>
            <a:off x="3352800" y="4318000"/>
            <a:ext cx="1905000" cy="333425"/>
          </a:xfrm>
          <a:prstGeom prst="rect">
            <a:avLst/>
          </a:prstGeom>
          <a:noFill/>
        </p:spPr>
        <p:txBody>
          <a:bodyPr vert="horz" wrap="square" lIns="0" tIns="0" rIns="0" bIns="0" rtlCol="0">
            <a:spAutoFit/>
          </a:bodyPr>
          <a:lstStyle/>
          <a:p>
            <a:pPr>
              <a:lnSpc>
                <a:spcPts val="1320"/>
              </a:lnSpc>
            </a:pPr>
            <a:r>
              <a:rPr lang="en-US" sz="1100">
                <a:solidFill>
                  <a:srgbClr val="94A3B8"/>
                </a:solidFill>
                <a:latin typeface="Segoe UI" panose="020B0502040204020203" pitchFamily="34" charset="0"/>
              </a:rPr>
              <a:t>Dân số Việt Nam
Hạng 15 toàn cầu</a:t>
            </a:r>
          </a:p>
        </p:txBody>
      </p:sp>
      <p:pic>
        <p:nvPicPr>
          <p:cNvPr id="12" name="!!Stage_Hero_Container">
            <a:extLst>
              <a:ext uri="{FF2B5EF4-FFF2-40B4-BE49-F238E27FC236}">
                <a16:creationId xmlns:a16="http://schemas.microsoft.com/office/drawing/2014/main" id="{210D71D0-C61B-5544-28F6-778A6CAE503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842000" y="635000"/>
            <a:ext cx="5740400" cy="5588000"/>
          </a:xfrm>
          <a:prstGeom prst="rect">
            <a:avLst/>
          </a:prstGeom>
        </p:spPr>
      </p:pic>
    </p:spTree>
    <p:extLst>
      <p:ext uri="{BB962C8B-B14F-4D97-AF65-F5344CB8AC3E}">
        <p14:creationId xmlns:p14="http://schemas.microsoft.com/office/powerpoint/2010/main" val="2741365520"/>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FC36FCD-EA47-0BFE-267C-2E03C658C8D8}"/>
              </a:ext>
            </a:extLst>
          </p:cNvPr>
          <p:cNvSpPr/>
          <p:nvPr/>
        </p:nvSpPr>
        <p:spPr>
          <a:xfrm>
            <a:off x="609600" y="508000"/>
            <a:ext cx="3048000" cy="3048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vi-VN" sz="1000" b="1">
                <a:solidFill>
                  <a:srgbClr val="38BDF8"/>
                </a:solidFill>
                <a:latin typeface="Segoe UI" panose="020B0502040204020203" pitchFamily="34" charset="0"/>
              </a:rPr>
              <a:t>KHÁI NIỆM &amp; ĐỐI TƯỢNG NGHIÊN CỨU</a:t>
            </a:r>
            <a:endParaRPr lang="en-US" sz="1000" b="1">
              <a:solidFill>
                <a:srgbClr val="38BDF8"/>
              </a:solidFill>
              <a:latin typeface="Segoe UI" panose="020B0502040204020203" pitchFamily="34" charset="0"/>
            </a:endParaRPr>
          </a:p>
        </p:txBody>
      </p:sp>
      <p:sp>
        <p:nvSpPr>
          <p:cNvPr id="3" name="TextBox 2">
            <a:extLst>
              <a:ext uri="{FF2B5EF4-FFF2-40B4-BE49-F238E27FC236}">
                <a16:creationId xmlns:a16="http://schemas.microsoft.com/office/drawing/2014/main" id="{D8FC3102-58D5-2EDF-8D91-AB2A4924E8B1}"/>
              </a:ext>
            </a:extLst>
          </p:cNvPr>
          <p:cNvSpPr txBox="1"/>
          <p:nvPr/>
        </p:nvSpPr>
        <p:spPr>
          <a:xfrm>
            <a:off x="609600" y="889000"/>
            <a:ext cx="7620000" cy="397545"/>
          </a:xfrm>
          <a:prstGeom prst="rect">
            <a:avLst/>
          </a:prstGeom>
          <a:noFill/>
        </p:spPr>
        <p:txBody>
          <a:bodyPr vert="horz" wrap="square" lIns="0" tIns="0" rIns="0" bIns="0" rtlCol="0">
            <a:spAutoFit/>
          </a:bodyPr>
          <a:lstStyle/>
          <a:p>
            <a:pPr>
              <a:lnSpc>
                <a:spcPts val="3120"/>
              </a:lnSpc>
            </a:pPr>
            <a:r>
              <a:rPr lang="en-US" sz="2600" b="1">
                <a:solidFill>
                  <a:srgbClr val="FFFFFF"/>
                </a:solidFill>
                <a:latin typeface="Segoe UI" panose="020B0502040204020203" pitchFamily="34" charset="0"/>
              </a:rPr>
              <a:t>Bản Chất Cốt Lõi Của Dân Số Học</a:t>
            </a:r>
          </a:p>
        </p:txBody>
      </p:sp>
      <p:pic>
        <p:nvPicPr>
          <p:cNvPr id="5" name="!!Stage_Hero_Container">
            <a:extLst>
              <a:ext uri="{FF2B5EF4-FFF2-40B4-BE49-F238E27FC236}">
                <a16:creationId xmlns:a16="http://schemas.microsoft.com/office/drawing/2014/main" id="{7B83581F-5F98-F941-FFF6-EFBE184A96A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09600" y="1460500"/>
            <a:ext cx="4191000" cy="4889500"/>
          </a:xfrm>
          <a:prstGeom prst="rect">
            <a:avLst/>
          </a:prstGeom>
        </p:spPr>
      </p:pic>
      <p:grpSp>
        <p:nvGrpSpPr>
          <p:cNvPr id="13" name="!!Stage_Sub_Card_1">
            <a:extLst>
              <a:ext uri="{FF2B5EF4-FFF2-40B4-BE49-F238E27FC236}">
                <a16:creationId xmlns:a16="http://schemas.microsoft.com/office/drawing/2014/main" id="{FAE446AC-CD9D-0DDB-3DA3-6C353749F626}"/>
              </a:ext>
            </a:extLst>
          </p:cNvPr>
          <p:cNvGrpSpPr/>
          <p:nvPr/>
        </p:nvGrpSpPr>
        <p:grpSpPr>
          <a:xfrm>
            <a:off x="5143500" y="1460500"/>
            <a:ext cx="6438900" cy="2286000"/>
            <a:chOff x="5143500" y="1460500"/>
            <a:chExt cx="6438900" cy="2286000"/>
          </a:xfrm>
        </p:grpSpPr>
        <p:sp>
          <p:nvSpPr>
            <p:cNvPr id="6" name="Rectangle: Rounded Corners 5">
              <a:extLst>
                <a:ext uri="{FF2B5EF4-FFF2-40B4-BE49-F238E27FC236}">
                  <a16:creationId xmlns:a16="http://schemas.microsoft.com/office/drawing/2014/main" id="{6447EFBA-62B5-FFD7-E26A-3795FE4B3FAB}"/>
                </a:ext>
              </a:extLst>
            </p:cNvPr>
            <p:cNvSpPr/>
            <p:nvPr/>
          </p:nvSpPr>
          <p:spPr>
            <a:xfrm>
              <a:off x="5143500" y="1460500"/>
              <a:ext cx="6438900" cy="22860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BDC7D4B6-8315-A50F-7666-FB39500946A0}"/>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397500" y="1714500"/>
              <a:ext cx="330200" cy="330200"/>
            </a:xfrm>
            <a:prstGeom prst="rect">
              <a:avLst/>
            </a:prstGeom>
          </p:spPr>
        </p:pic>
        <p:sp>
          <p:nvSpPr>
            <p:cNvPr id="9" name="TextBox 8">
              <a:extLst>
                <a:ext uri="{FF2B5EF4-FFF2-40B4-BE49-F238E27FC236}">
                  <a16:creationId xmlns:a16="http://schemas.microsoft.com/office/drawing/2014/main" id="{08CC8D35-3D39-3511-2171-2572EF036E4B}"/>
                </a:ext>
              </a:extLst>
            </p:cNvPr>
            <p:cNvSpPr txBox="1"/>
            <p:nvPr/>
          </p:nvSpPr>
          <p:spPr>
            <a:xfrm>
              <a:off x="5842000" y="1689100"/>
              <a:ext cx="5461000" cy="166712"/>
            </a:xfrm>
            <a:prstGeom prst="rect">
              <a:avLst/>
            </a:prstGeom>
            <a:noFill/>
          </p:spPr>
          <p:txBody>
            <a:bodyPr vert="horz" wrap="square" lIns="0" tIns="0" rIns="0" bIns="0" rtlCol="0">
              <a:spAutoFit/>
            </a:bodyPr>
            <a:lstStyle/>
            <a:p>
              <a:pPr>
                <a:lnSpc>
                  <a:spcPts val="1320"/>
                </a:lnSpc>
              </a:pPr>
              <a:r>
                <a:rPr lang="vi-VN" sz="1100" b="1">
                  <a:solidFill>
                    <a:srgbClr val="38BDF8"/>
                  </a:solidFill>
                  <a:latin typeface="Segoe UI" panose="020B0502040204020203" pitchFamily="34" charset="0"/>
                </a:rPr>
                <a:t>01 / ĐỐI TƯỢNG NGHIÊN CỨU ĐA CHIỀU</a:t>
              </a:r>
              <a:endParaRPr lang="en-US" sz="1100" b="1">
                <a:solidFill>
                  <a:srgbClr val="38BDF8"/>
                </a:solidFill>
                <a:latin typeface="Segoe UI" panose="020B0502040204020203" pitchFamily="34" charset="0"/>
              </a:endParaRPr>
            </a:p>
          </p:txBody>
        </p:sp>
        <p:sp>
          <p:nvSpPr>
            <p:cNvPr id="10" name="TextBox 9">
              <a:extLst>
                <a:ext uri="{FF2B5EF4-FFF2-40B4-BE49-F238E27FC236}">
                  <a16:creationId xmlns:a16="http://schemas.microsoft.com/office/drawing/2014/main" id="{F3D0883D-8505-4A46-15B6-A21EC86525F6}"/>
                </a:ext>
              </a:extLst>
            </p:cNvPr>
            <p:cNvSpPr txBox="1"/>
            <p:nvPr/>
          </p:nvSpPr>
          <p:spPr>
            <a:xfrm>
              <a:off x="5397500" y="2095500"/>
              <a:ext cx="5905500" cy="256480"/>
            </a:xfrm>
            <a:prstGeom prst="rect">
              <a:avLst/>
            </a:prstGeom>
            <a:noFill/>
          </p:spPr>
          <p:txBody>
            <a:bodyPr vert="horz" wrap="square" lIns="0" tIns="0" rIns="0" bIns="0" rtlCol="0">
              <a:spAutoFit/>
            </a:bodyPr>
            <a:lstStyle/>
            <a:p>
              <a:pPr>
                <a:lnSpc>
                  <a:spcPts val="2040"/>
                </a:lnSpc>
              </a:pPr>
              <a:r>
                <a:rPr lang="en-US" sz="1700" b="1">
                  <a:solidFill>
                    <a:srgbClr val="FFFFFF"/>
                  </a:solidFill>
                  <a:latin typeface="Segoe UI" panose="020B0502040204020203" pitchFamily="34" charset="0"/>
                </a:rPr>
                <a:t>Quy luật biến động và phân bố nhân khẩu</a:t>
              </a:r>
            </a:p>
          </p:txBody>
        </p:sp>
        <p:sp>
          <p:nvSpPr>
            <p:cNvPr id="11" name="TextBox 10">
              <a:extLst>
                <a:ext uri="{FF2B5EF4-FFF2-40B4-BE49-F238E27FC236}">
                  <a16:creationId xmlns:a16="http://schemas.microsoft.com/office/drawing/2014/main" id="{5C6D9148-BEE0-5FA7-297A-13CF6FDAC0E3}"/>
                </a:ext>
              </a:extLst>
            </p:cNvPr>
            <p:cNvSpPr txBox="1"/>
            <p:nvPr/>
          </p:nvSpPr>
          <p:spPr>
            <a:xfrm>
              <a:off x="5397500" y="2514600"/>
              <a:ext cx="5905500" cy="602024"/>
            </a:xfrm>
            <a:prstGeom prst="rect">
              <a:avLst/>
            </a:prstGeom>
            <a:noFill/>
          </p:spPr>
          <p:txBody>
            <a:bodyPr vert="horz" wrap="square" lIns="0" tIns="0" rIns="0" bIns="0" rtlCol="0">
              <a:spAutoFit/>
            </a:bodyPr>
            <a:lstStyle/>
            <a:p>
              <a:pPr>
                <a:lnSpc>
                  <a:spcPts val="1560"/>
                </a:lnSpc>
              </a:pPr>
              <a:r>
                <a:rPr lang="vi-VN" sz="1300">
                  <a:solidFill>
                    <a:srgbClr val="CBD5E1"/>
                  </a:solidFill>
                  <a:latin typeface="Segoe UI" panose="020B0502040204020203" pitchFamily="34" charset="0"/>
                </a:rPr>
                <a:t>Dân số học là khoa học nghiên cứu quy mô, cơ cấu lứa tuổi, tỷ lệ giới tính, phân bố không gian và các động thái biến động tự nhiên (sinh, chết) cùng biến động cơ học (di cư).</a:t>
              </a:r>
              <a:endParaRPr lang="en-US" sz="1300">
                <a:solidFill>
                  <a:srgbClr val="CBD5E1"/>
                </a:solidFill>
                <a:latin typeface="Segoe UI" panose="020B0502040204020203" pitchFamily="34" charset="0"/>
              </a:endParaRPr>
            </a:p>
          </p:txBody>
        </p:sp>
        <p:sp>
          <p:nvSpPr>
            <p:cNvPr id="12" name="Rectangle: Rounded Corners 11">
              <a:extLst>
                <a:ext uri="{FF2B5EF4-FFF2-40B4-BE49-F238E27FC236}">
                  <a16:creationId xmlns:a16="http://schemas.microsoft.com/office/drawing/2014/main" id="{7860F62A-16D6-1165-01DE-76F4795DB370}"/>
                </a:ext>
              </a:extLst>
            </p:cNvPr>
            <p:cNvSpPr/>
            <p:nvPr/>
          </p:nvSpPr>
          <p:spPr>
            <a:xfrm>
              <a:off x="5397500" y="3276600"/>
              <a:ext cx="2159000" cy="3048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950" b="1">
                  <a:solidFill>
                    <a:srgbClr val="38BDF8"/>
                  </a:solidFill>
                  <a:latin typeface="Segoe UI" panose="020B0502040204020203" pitchFamily="34" charset="0"/>
                </a:rPr>
                <a:t>4 Chiều Kích Phân Tích</a:t>
              </a:r>
            </a:p>
          </p:txBody>
        </p:sp>
      </p:grpSp>
      <p:grpSp>
        <p:nvGrpSpPr>
          <p:cNvPr id="19" name="!!Stage_Sub_Card_2">
            <a:extLst>
              <a:ext uri="{FF2B5EF4-FFF2-40B4-BE49-F238E27FC236}">
                <a16:creationId xmlns:a16="http://schemas.microsoft.com/office/drawing/2014/main" id="{EDBF007F-B532-DA4B-11C4-907FE92012FD}"/>
              </a:ext>
            </a:extLst>
          </p:cNvPr>
          <p:cNvGrpSpPr/>
          <p:nvPr/>
        </p:nvGrpSpPr>
        <p:grpSpPr>
          <a:xfrm>
            <a:off x="5143500" y="4000500"/>
            <a:ext cx="6438900" cy="2349500"/>
            <a:chOff x="5143500" y="4000500"/>
            <a:chExt cx="6438900" cy="2349500"/>
          </a:xfrm>
        </p:grpSpPr>
        <p:sp>
          <p:nvSpPr>
            <p:cNvPr id="14" name="Rectangle: Rounded Corners 13">
              <a:extLst>
                <a:ext uri="{FF2B5EF4-FFF2-40B4-BE49-F238E27FC236}">
                  <a16:creationId xmlns:a16="http://schemas.microsoft.com/office/drawing/2014/main" id="{4CF3E870-B674-D1F6-7FCA-0C8C9D25B029}"/>
                </a:ext>
              </a:extLst>
            </p:cNvPr>
            <p:cNvSpPr/>
            <p:nvPr/>
          </p:nvSpPr>
          <p:spPr>
            <a:xfrm>
              <a:off x="5143500" y="4000500"/>
              <a:ext cx="6438900" cy="23495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12D2E27-DF56-820B-13C4-87D2823AE979}"/>
                </a:ext>
              </a:extLst>
            </p:cNvPr>
            <p:cNvSpPr txBox="1"/>
            <p:nvPr/>
          </p:nvSpPr>
          <p:spPr>
            <a:xfrm>
              <a:off x="5842000" y="4229100"/>
              <a:ext cx="5461000" cy="166712"/>
            </a:xfrm>
            <a:prstGeom prst="rect">
              <a:avLst/>
            </a:prstGeom>
            <a:noFill/>
          </p:spPr>
          <p:txBody>
            <a:bodyPr vert="horz" wrap="square" lIns="0" tIns="0" rIns="0" bIns="0" rtlCol="0">
              <a:spAutoFit/>
            </a:bodyPr>
            <a:lstStyle/>
            <a:p>
              <a:pPr>
                <a:lnSpc>
                  <a:spcPts val="1320"/>
                </a:lnSpc>
              </a:pPr>
              <a:r>
                <a:rPr lang="en-US" sz="1100" b="1">
                  <a:solidFill>
                    <a:srgbClr val="34D399"/>
                  </a:solidFill>
                  <a:latin typeface="Segoe UI" panose="020B0502040204020203" pitchFamily="34" charset="0"/>
                </a:rPr>
                <a:t>02 / SỨ MỆNH &amp; GIÁ TRỊ THỰC TIỄN</a:t>
              </a:r>
            </a:p>
          </p:txBody>
        </p:sp>
        <p:sp>
          <p:nvSpPr>
            <p:cNvPr id="16" name="TextBox 15">
              <a:extLst>
                <a:ext uri="{FF2B5EF4-FFF2-40B4-BE49-F238E27FC236}">
                  <a16:creationId xmlns:a16="http://schemas.microsoft.com/office/drawing/2014/main" id="{DECDB624-5C1B-D1BB-4D4D-D8EFB96B466D}"/>
                </a:ext>
              </a:extLst>
            </p:cNvPr>
            <p:cNvSpPr txBox="1"/>
            <p:nvPr/>
          </p:nvSpPr>
          <p:spPr>
            <a:xfrm>
              <a:off x="5397500" y="4635500"/>
              <a:ext cx="5905500" cy="256480"/>
            </a:xfrm>
            <a:prstGeom prst="rect">
              <a:avLst/>
            </a:prstGeom>
            <a:noFill/>
          </p:spPr>
          <p:txBody>
            <a:bodyPr vert="horz" wrap="square" lIns="0" tIns="0" rIns="0" bIns="0" rtlCol="0">
              <a:spAutoFit/>
            </a:bodyPr>
            <a:lstStyle/>
            <a:p>
              <a:pPr>
                <a:lnSpc>
                  <a:spcPts val="2040"/>
                </a:lnSpc>
              </a:pPr>
              <a:r>
                <a:rPr lang="en-US" sz="1700" b="1">
                  <a:solidFill>
                    <a:srgbClr val="FFFFFF"/>
                  </a:solidFill>
                  <a:latin typeface="Segoe UI" panose="020B0502040204020203" pitchFamily="34" charset="0"/>
                </a:rPr>
                <a:t>La bàn khoa học cho phát triển bền vững</a:t>
              </a:r>
            </a:p>
          </p:txBody>
        </p:sp>
        <p:sp>
          <p:nvSpPr>
            <p:cNvPr id="17" name="TextBox 16">
              <a:extLst>
                <a:ext uri="{FF2B5EF4-FFF2-40B4-BE49-F238E27FC236}">
                  <a16:creationId xmlns:a16="http://schemas.microsoft.com/office/drawing/2014/main" id="{467C2C8E-51F5-176E-9AB0-C31B6D3F46FB}"/>
                </a:ext>
              </a:extLst>
            </p:cNvPr>
            <p:cNvSpPr txBox="1"/>
            <p:nvPr/>
          </p:nvSpPr>
          <p:spPr>
            <a:xfrm>
              <a:off x="5397500" y="5054600"/>
              <a:ext cx="5905500" cy="602024"/>
            </a:xfrm>
            <a:prstGeom prst="rect">
              <a:avLst/>
            </a:prstGeom>
            <a:noFill/>
          </p:spPr>
          <p:txBody>
            <a:bodyPr vert="horz" wrap="square" lIns="0" tIns="0" rIns="0" bIns="0" rtlCol="0">
              <a:spAutoFit/>
            </a:bodyPr>
            <a:lstStyle/>
            <a:p>
              <a:pPr>
                <a:lnSpc>
                  <a:spcPts val="1560"/>
                </a:lnSpc>
              </a:pPr>
              <a:r>
                <a:rPr lang="vi-VN" sz="1300">
                  <a:solidFill>
                    <a:srgbClr val="CBD5E1"/>
                  </a:solidFill>
                  <a:latin typeface="Segoe UI" panose="020B0502040204020203" pitchFamily="34" charset="0"/>
                </a:rPr>
                <a:t>Cung cấp luận cứ thực chứng và hệ thống dự báo nhân khẩu học chính xác, làm nền tảng cốt lõi để xây dựng chiến lược phát triển kinh tế, an sinh xã hội, y tế và giáo dục quốc gia.</a:t>
              </a:r>
              <a:endParaRPr lang="en-US" sz="1300">
                <a:solidFill>
                  <a:srgbClr val="CBD5E1"/>
                </a:solidFill>
                <a:latin typeface="Segoe UI" panose="020B0502040204020203" pitchFamily="34" charset="0"/>
              </a:endParaRPr>
            </a:p>
          </p:txBody>
        </p:sp>
        <p:sp>
          <p:nvSpPr>
            <p:cNvPr id="18" name="Rectangle: Rounded Corners 17">
              <a:extLst>
                <a:ext uri="{FF2B5EF4-FFF2-40B4-BE49-F238E27FC236}">
                  <a16:creationId xmlns:a16="http://schemas.microsoft.com/office/drawing/2014/main" id="{8E2D08F6-BA98-9E95-7BE7-D0F32BF2EFC3}"/>
                </a:ext>
              </a:extLst>
            </p:cNvPr>
            <p:cNvSpPr/>
            <p:nvPr/>
          </p:nvSpPr>
          <p:spPr>
            <a:xfrm>
              <a:off x="5397500" y="5816600"/>
              <a:ext cx="2794000" cy="304800"/>
            </a:xfrm>
            <a:prstGeom prst="roundRect">
              <a:avLst/>
            </a:prstGeom>
            <a:solidFill>
              <a:srgbClr val="064E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vi-VN" sz="950" b="1">
                  <a:solidFill>
                    <a:srgbClr val="34D399"/>
                  </a:solidFill>
                  <a:latin typeface="Segoe UI" panose="020B0502040204020203" pitchFamily="34" charset="0"/>
                </a:rPr>
                <a:t>Nền Tảng Hoạch Định Chiến Lược</a:t>
              </a:r>
              <a:endParaRPr lang="en-US" sz="950" b="1">
                <a:solidFill>
                  <a:srgbClr val="34D399"/>
                </a:solidFill>
                <a:latin typeface="Segoe UI" panose="020B0502040204020203" pitchFamily="34" charset="0"/>
              </a:endParaRPr>
            </a:p>
          </p:txBody>
        </p:sp>
      </p:grpSp>
    </p:spTree>
    <p:extLst>
      <p:ext uri="{BB962C8B-B14F-4D97-AF65-F5344CB8AC3E}">
        <p14:creationId xmlns:p14="http://schemas.microsoft.com/office/powerpoint/2010/main" val="3616976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450" fill="hold"/>
                                        <p:tgtEl>
                                          <p:spTgt spid="13"/>
                                        </p:tgtEl>
                                        <p:attrNameLst>
                                          <p:attrName>ppt_x</p:attrName>
                                        </p:attrNameLst>
                                      </p:cBhvr>
                                      <p:tavLst>
                                        <p:tav tm="0">
                                          <p:val>
                                            <p:strVal val="#ppt_x"/>
                                          </p:val>
                                        </p:tav>
                                        <p:tav tm="100000">
                                          <p:val>
                                            <p:strVal val="#ppt_x"/>
                                          </p:val>
                                        </p:tav>
                                      </p:tavLst>
                                    </p:anim>
                                    <p:anim calcmode="lin" valueType="num">
                                      <p:cBhvr additive="base">
                                        <p:cTn id="8" dur="45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450" fill="hold"/>
                                        <p:tgtEl>
                                          <p:spTgt spid="19"/>
                                        </p:tgtEl>
                                        <p:attrNameLst>
                                          <p:attrName>ppt_x</p:attrName>
                                        </p:attrNameLst>
                                      </p:cBhvr>
                                      <p:tavLst>
                                        <p:tav tm="0">
                                          <p:val>
                                            <p:strVal val="#ppt_x"/>
                                          </p:val>
                                        </p:tav>
                                        <p:tav tm="100000">
                                          <p:val>
                                            <p:strVal val="#ppt_x"/>
                                          </p:val>
                                        </p:tav>
                                      </p:tavLst>
                                    </p:anim>
                                    <p:anim calcmode="lin" valueType="num">
                                      <p:cBhvr additive="base">
                                        <p:cTn id="14" dur="45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80C3CDF-126E-22AE-9FCA-8419225DCF0D}"/>
              </a:ext>
            </a:extLst>
          </p:cNvPr>
          <p:cNvSpPr/>
          <p:nvPr/>
        </p:nvSpPr>
        <p:spPr>
          <a:xfrm>
            <a:off x="609600" y="508000"/>
            <a:ext cx="2921000" cy="3048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000" b="1">
                <a:solidFill>
                  <a:srgbClr val="38BDF8"/>
                </a:solidFill>
                <a:latin typeface="Segoe UI" panose="020B0502040204020203" pitchFamily="34" charset="0"/>
              </a:rPr>
              <a:t>TAM GIÁC ĐỘNG THÁI DÂN SỐ</a:t>
            </a:r>
          </a:p>
        </p:txBody>
      </p:sp>
      <p:sp>
        <p:nvSpPr>
          <p:cNvPr id="3" name="TextBox 2">
            <a:extLst>
              <a:ext uri="{FF2B5EF4-FFF2-40B4-BE49-F238E27FC236}">
                <a16:creationId xmlns:a16="http://schemas.microsoft.com/office/drawing/2014/main" id="{8C22E2C4-DB21-3C3C-71BC-C016027DA79C}"/>
              </a:ext>
            </a:extLst>
          </p:cNvPr>
          <p:cNvSpPr txBox="1"/>
          <p:nvPr/>
        </p:nvSpPr>
        <p:spPr>
          <a:xfrm>
            <a:off x="609600" y="889000"/>
            <a:ext cx="8890000" cy="397545"/>
          </a:xfrm>
          <a:prstGeom prst="rect">
            <a:avLst/>
          </a:prstGeom>
          <a:noFill/>
        </p:spPr>
        <p:txBody>
          <a:bodyPr vert="horz" wrap="square" lIns="0" tIns="0" rIns="0" bIns="0" rtlCol="0">
            <a:spAutoFit/>
          </a:bodyPr>
          <a:lstStyle/>
          <a:p>
            <a:pPr>
              <a:lnSpc>
                <a:spcPts val="3120"/>
              </a:lnSpc>
            </a:pPr>
            <a:r>
              <a:rPr lang="en-US" sz="2600" b="1">
                <a:solidFill>
                  <a:srgbClr val="FFFFFF"/>
                </a:solidFill>
                <a:latin typeface="Segoe UI" panose="020B0502040204020203" pitchFamily="34" charset="0"/>
              </a:rPr>
              <a:t>Ba Trụ Cột Quyết Định Cấu Trúc Dân Số</a:t>
            </a:r>
          </a:p>
        </p:txBody>
      </p:sp>
      <p:sp>
        <p:nvSpPr>
          <p:cNvPr id="4" name="!!Stage_Hero_Container">
            <a:extLst>
              <a:ext uri="{FF2B5EF4-FFF2-40B4-BE49-F238E27FC236}">
                <a16:creationId xmlns:a16="http://schemas.microsoft.com/office/drawing/2014/main" id="{FBD61EC5-8164-5214-E2E6-CE5D522429C4}"/>
              </a:ext>
            </a:extLst>
          </p:cNvPr>
          <p:cNvSpPr/>
          <p:nvPr/>
        </p:nvSpPr>
        <p:spPr>
          <a:xfrm>
            <a:off x="609600" y="1460500"/>
            <a:ext cx="3403600" cy="4889500"/>
          </a:xfrm>
          <a:prstGeom prst="roundRect">
            <a:avLst/>
          </a:prstGeom>
          <a:solidFill>
            <a:srgbClr val="0B132B"/>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9E2B4A46-7B77-AB61-7449-3652C14E3A12}"/>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63600" y="1714500"/>
            <a:ext cx="355600" cy="355600"/>
          </a:xfrm>
          <a:prstGeom prst="rect">
            <a:avLst/>
          </a:prstGeom>
        </p:spPr>
      </p:pic>
      <p:sp>
        <p:nvSpPr>
          <p:cNvPr id="7" name="TextBox 6">
            <a:extLst>
              <a:ext uri="{FF2B5EF4-FFF2-40B4-BE49-F238E27FC236}">
                <a16:creationId xmlns:a16="http://schemas.microsoft.com/office/drawing/2014/main" id="{3AE929C5-9600-D826-F3F9-945A6458A97D}"/>
              </a:ext>
            </a:extLst>
          </p:cNvPr>
          <p:cNvSpPr txBox="1"/>
          <p:nvPr/>
        </p:nvSpPr>
        <p:spPr>
          <a:xfrm>
            <a:off x="863600" y="2184400"/>
            <a:ext cx="2895600" cy="263855"/>
          </a:xfrm>
          <a:prstGeom prst="rect">
            <a:avLst/>
          </a:prstGeom>
          <a:noFill/>
        </p:spPr>
        <p:txBody>
          <a:bodyPr vert="horz" wrap="square" lIns="0" tIns="0" rIns="0" bIns="0" rtlCol="0">
            <a:spAutoFit/>
          </a:bodyPr>
          <a:lstStyle/>
          <a:p>
            <a:pPr>
              <a:lnSpc>
                <a:spcPts val="2160"/>
              </a:lnSpc>
            </a:pPr>
            <a:r>
              <a:rPr lang="en-US" b="1">
                <a:solidFill>
                  <a:srgbClr val="FFFFFF"/>
                </a:solidFill>
                <a:latin typeface="Segoe UI" panose="020B0502040204020203" pitchFamily="34" charset="0"/>
              </a:rPr>
              <a:t>Mức Sinh (Fertility)</a:t>
            </a:r>
          </a:p>
        </p:txBody>
      </p:sp>
      <p:sp>
        <p:nvSpPr>
          <p:cNvPr id="8" name="TextBox 7">
            <a:extLst>
              <a:ext uri="{FF2B5EF4-FFF2-40B4-BE49-F238E27FC236}">
                <a16:creationId xmlns:a16="http://schemas.microsoft.com/office/drawing/2014/main" id="{720E6A19-C4DF-2960-4D2B-3FB3C0F628A8}"/>
              </a:ext>
            </a:extLst>
          </p:cNvPr>
          <p:cNvSpPr txBox="1"/>
          <p:nvPr/>
        </p:nvSpPr>
        <p:spPr>
          <a:xfrm>
            <a:off x="863600" y="2603500"/>
            <a:ext cx="2895600" cy="551433"/>
          </a:xfrm>
          <a:prstGeom prst="rect">
            <a:avLst/>
          </a:prstGeom>
          <a:noFill/>
        </p:spPr>
        <p:txBody>
          <a:bodyPr vert="horz" wrap="square" lIns="0" tIns="0" rIns="0" bIns="0" rtlCol="0">
            <a:spAutoFit/>
          </a:bodyPr>
          <a:lstStyle/>
          <a:p>
            <a:pPr>
              <a:lnSpc>
                <a:spcPts val="4320"/>
              </a:lnSpc>
            </a:pPr>
            <a:r>
              <a:rPr lang="en-US" sz="3600" b="1">
                <a:solidFill>
                  <a:srgbClr val="38BDF8"/>
                </a:solidFill>
                <a:latin typeface="Bahnschrift" panose="020B0502040204020203" pitchFamily="34" charset="0"/>
              </a:rPr>
              <a:t>1.96</a:t>
            </a:r>
          </a:p>
        </p:txBody>
      </p:sp>
      <p:sp>
        <p:nvSpPr>
          <p:cNvPr id="9" name="TextBox 8">
            <a:extLst>
              <a:ext uri="{FF2B5EF4-FFF2-40B4-BE49-F238E27FC236}">
                <a16:creationId xmlns:a16="http://schemas.microsoft.com/office/drawing/2014/main" id="{B6C55E12-E92A-BC84-D676-99C9444BF21B}"/>
              </a:ext>
            </a:extLst>
          </p:cNvPr>
          <p:cNvSpPr txBox="1"/>
          <p:nvPr/>
        </p:nvSpPr>
        <p:spPr>
          <a:xfrm>
            <a:off x="863600" y="3200400"/>
            <a:ext cx="2895600" cy="333425"/>
          </a:xfrm>
          <a:prstGeom prst="rect">
            <a:avLst/>
          </a:prstGeom>
          <a:noFill/>
        </p:spPr>
        <p:txBody>
          <a:bodyPr vert="horz" wrap="square" lIns="0" tIns="0" rIns="0" bIns="0" rtlCol="0">
            <a:spAutoFit/>
          </a:bodyPr>
          <a:lstStyle/>
          <a:p>
            <a:pPr>
              <a:lnSpc>
                <a:spcPts val="1320"/>
              </a:lnSpc>
            </a:pPr>
            <a:r>
              <a:rPr lang="vi-VN" sz="1100">
                <a:solidFill>
                  <a:srgbClr val="94A3B8"/>
                </a:solidFill>
                <a:latin typeface="Segoe UI" panose="020B0502040204020203" pitchFamily="34" charset="0"/>
              </a:rPr>
              <a:t>Tổng tỷ suất sinh (TFR VN 2023)
Ngưỡng thay thế chuẩn: 2.1</a:t>
            </a:r>
            <a:endParaRPr lang="en-US" sz="1100">
              <a:solidFill>
                <a:srgbClr val="94A3B8"/>
              </a:solidFill>
              <a:latin typeface="Segoe UI" panose="020B0502040204020203" pitchFamily="34" charset="0"/>
            </a:endParaRPr>
          </a:p>
        </p:txBody>
      </p:sp>
      <p:sp>
        <p:nvSpPr>
          <p:cNvPr id="10" name="TextBox 9">
            <a:extLst>
              <a:ext uri="{FF2B5EF4-FFF2-40B4-BE49-F238E27FC236}">
                <a16:creationId xmlns:a16="http://schemas.microsoft.com/office/drawing/2014/main" id="{4CB61409-9510-233A-A033-2884C0CCE4BB}"/>
              </a:ext>
            </a:extLst>
          </p:cNvPr>
          <p:cNvSpPr txBox="1"/>
          <p:nvPr/>
        </p:nvSpPr>
        <p:spPr>
          <a:xfrm>
            <a:off x="863600" y="3746500"/>
            <a:ext cx="2895600" cy="853823"/>
          </a:xfrm>
          <a:prstGeom prst="rect">
            <a:avLst/>
          </a:prstGeom>
          <a:noFill/>
        </p:spPr>
        <p:txBody>
          <a:bodyPr vert="horz" wrap="square" lIns="0" tIns="0" rIns="0" bIns="0" rtlCol="0">
            <a:spAutoFit/>
          </a:bodyPr>
          <a:lstStyle/>
          <a:p>
            <a:pPr>
              <a:lnSpc>
                <a:spcPts val="1688"/>
              </a:lnSpc>
            </a:pPr>
            <a:r>
              <a:rPr lang="vi-VN" sz="1250">
                <a:solidFill>
                  <a:srgbClr val="CBD5E1"/>
                </a:solidFill>
                <a:latin typeface="Segoe UI" panose="020B0502040204020203" pitchFamily="34" charset="0"/>
              </a:rPr>
              <a:t>• Xu hướng giảm sâu tại các đô thị lớn
• Phụ nữ kết hôn muộn và giảm sinh
• Tác động trực tiếp quy mô lao động tương lai</a:t>
            </a:r>
            <a:endParaRPr lang="en-US" sz="1250">
              <a:solidFill>
                <a:srgbClr val="CBD5E1"/>
              </a:solidFill>
              <a:latin typeface="Segoe UI" panose="020B0502040204020203" pitchFamily="34" charset="0"/>
            </a:endParaRPr>
          </a:p>
        </p:txBody>
      </p:sp>
      <p:grpSp>
        <p:nvGrpSpPr>
          <p:cNvPr id="18" name="!!Pillar_Card_2">
            <a:extLst>
              <a:ext uri="{FF2B5EF4-FFF2-40B4-BE49-F238E27FC236}">
                <a16:creationId xmlns:a16="http://schemas.microsoft.com/office/drawing/2014/main" id="{26CF87CF-D773-A5FF-9CA8-24217E586E5B}"/>
              </a:ext>
            </a:extLst>
          </p:cNvPr>
          <p:cNvGrpSpPr/>
          <p:nvPr/>
        </p:nvGrpSpPr>
        <p:grpSpPr>
          <a:xfrm>
            <a:off x="4394200" y="1460500"/>
            <a:ext cx="3403600" cy="4889500"/>
            <a:chOff x="4394200" y="1460500"/>
            <a:chExt cx="3403600" cy="4889500"/>
          </a:xfrm>
        </p:grpSpPr>
        <p:sp>
          <p:nvSpPr>
            <p:cNvPr id="11" name="Rectangle: Rounded Corners 10">
              <a:extLst>
                <a:ext uri="{FF2B5EF4-FFF2-40B4-BE49-F238E27FC236}">
                  <a16:creationId xmlns:a16="http://schemas.microsoft.com/office/drawing/2014/main" id="{3B95E7C2-2C1B-6E0A-1EF0-303D7B52BAD4}"/>
                </a:ext>
              </a:extLst>
            </p:cNvPr>
            <p:cNvSpPr/>
            <p:nvPr/>
          </p:nvSpPr>
          <p:spPr>
            <a:xfrm>
              <a:off x="4394200" y="1460500"/>
              <a:ext cx="3403600" cy="4889500"/>
            </a:xfrm>
            <a:prstGeom prst="roundRect">
              <a:avLst/>
            </a:prstGeom>
            <a:solidFill>
              <a:srgbClr val="0B132B"/>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A84F2BD0-7B20-9DC3-F549-993D88DBC513}"/>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48200" y="1714500"/>
              <a:ext cx="355600" cy="355600"/>
            </a:xfrm>
            <a:prstGeom prst="rect">
              <a:avLst/>
            </a:prstGeom>
          </p:spPr>
        </p:pic>
        <p:sp>
          <p:nvSpPr>
            <p:cNvPr id="14" name="TextBox 13">
              <a:extLst>
                <a:ext uri="{FF2B5EF4-FFF2-40B4-BE49-F238E27FC236}">
                  <a16:creationId xmlns:a16="http://schemas.microsoft.com/office/drawing/2014/main" id="{55B4CE31-9B00-8FB7-543E-E906BFD09852}"/>
                </a:ext>
              </a:extLst>
            </p:cNvPr>
            <p:cNvSpPr txBox="1"/>
            <p:nvPr/>
          </p:nvSpPr>
          <p:spPr>
            <a:xfrm>
              <a:off x="4648200" y="2184400"/>
              <a:ext cx="2895600" cy="263855"/>
            </a:xfrm>
            <a:prstGeom prst="rect">
              <a:avLst/>
            </a:prstGeom>
            <a:noFill/>
          </p:spPr>
          <p:txBody>
            <a:bodyPr vert="horz" wrap="square" lIns="0" tIns="0" rIns="0" bIns="0" rtlCol="0">
              <a:spAutoFit/>
            </a:bodyPr>
            <a:lstStyle/>
            <a:p>
              <a:pPr>
                <a:lnSpc>
                  <a:spcPts val="2160"/>
                </a:lnSpc>
              </a:pPr>
              <a:r>
                <a:rPr lang="en-US" b="1">
                  <a:solidFill>
                    <a:srgbClr val="FFFFFF"/>
                  </a:solidFill>
                  <a:latin typeface="Segoe UI" panose="020B0502040204020203" pitchFamily="34" charset="0"/>
                </a:rPr>
                <a:t>Mức Chết (Mortality)</a:t>
              </a:r>
            </a:p>
          </p:txBody>
        </p:sp>
        <p:sp>
          <p:nvSpPr>
            <p:cNvPr id="15" name="TextBox 14">
              <a:extLst>
                <a:ext uri="{FF2B5EF4-FFF2-40B4-BE49-F238E27FC236}">
                  <a16:creationId xmlns:a16="http://schemas.microsoft.com/office/drawing/2014/main" id="{1422AE69-A171-0CE1-B5A7-5737100D3B44}"/>
                </a:ext>
              </a:extLst>
            </p:cNvPr>
            <p:cNvSpPr txBox="1"/>
            <p:nvPr/>
          </p:nvSpPr>
          <p:spPr>
            <a:xfrm>
              <a:off x="4648200" y="2603500"/>
              <a:ext cx="2895600" cy="551433"/>
            </a:xfrm>
            <a:prstGeom prst="rect">
              <a:avLst/>
            </a:prstGeom>
            <a:noFill/>
          </p:spPr>
          <p:txBody>
            <a:bodyPr vert="horz" wrap="square" lIns="0" tIns="0" rIns="0" bIns="0" rtlCol="0">
              <a:spAutoFit/>
            </a:bodyPr>
            <a:lstStyle/>
            <a:p>
              <a:pPr>
                <a:lnSpc>
                  <a:spcPts val="4320"/>
                </a:lnSpc>
              </a:pPr>
              <a:r>
                <a:rPr lang="en-US" sz="3600" b="1">
                  <a:solidFill>
                    <a:srgbClr val="34D399"/>
                  </a:solidFill>
                  <a:latin typeface="Bahnschrift" panose="020B0502040204020203" pitchFamily="34" charset="0"/>
                </a:rPr>
                <a:t>73.7 Tuổi</a:t>
              </a:r>
            </a:p>
          </p:txBody>
        </p:sp>
        <p:sp>
          <p:nvSpPr>
            <p:cNvPr id="16" name="TextBox 15">
              <a:extLst>
                <a:ext uri="{FF2B5EF4-FFF2-40B4-BE49-F238E27FC236}">
                  <a16:creationId xmlns:a16="http://schemas.microsoft.com/office/drawing/2014/main" id="{D0636DF4-60E6-CA9F-2764-7DB68003CBC4}"/>
                </a:ext>
              </a:extLst>
            </p:cNvPr>
            <p:cNvSpPr txBox="1"/>
            <p:nvPr/>
          </p:nvSpPr>
          <p:spPr>
            <a:xfrm>
              <a:off x="4648200" y="3200400"/>
              <a:ext cx="2895600" cy="333425"/>
            </a:xfrm>
            <a:prstGeom prst="rect">
              <a:avLst/>
            </a:prstGeom>
            <a:noFill/>
          </p:spPr>
          <p:txBody>
            <a:bodyPr vert="horz" wrap="square" lIns="0" tIns="0" rIns="0" bIns="0" rtlCol="0">
              <a:spAutoFit/>
            </a:bodyPr>
            <a:lstStyle/>
            <a:p>
              <a:pPr>
                <a:lnSpc>
                  <a:spcPts val="1320"/>
                </a:lnSpc>
              </a:pPr>
              <a:r>
                <a:rPr lang="vi-VN" sz="1100">
                  <a:solidFill>
                    <a:srgbClr val="94A3B8"/>
                  </a:solidFill>
                  <a:latin typeface="Segoe UI" panose="020B0502040204020203" pitchFamily="34" charset="0"/>
                </a:rPr>
                <a:t>Tuổi thọ bình quân cả nước
Tăng ấn tượng qua 3 thập kỷ</a:t>
              </a:r>
              <a:endParaRPr lang="en-US" sz="1100">
                <a:solidFill>
                  <a:srgbClr val="94A3B8"/>
                </a:solidFill>
                <a:latin typeface="Segoe UI" panose="020B0502040204020203" pitchFamily="34" charset="0"/>
              </a:endParaRPr>
            </a:p>
          </p:txBody>
        </p:sp>
        <p:sp>
          <p:nvSpPr>
            <p:cNvPr id="17" name="TextBox 16">
              <a:extLst>
                <a:ext uri="{FF2B5EF4-FFF2-40B4-BE49-F238E27FC236}">
                  <a16:creationId xmlns:a16="http://schemas.microsoft.com/office/drawing/2014/main" id="{80F32BFC-0F05-A3DE-7AAA-B935402899DF}"/>
                </a:ext>
              </a:extLst>
            </p:cNvPr>
            <p:cNvSpPr txBox="1"/>
            <p:nvPr/>
          </p:nvSpPr>
          <p:spPr>
            <a:xfrm>
              <a:off x="4648200" y="3746500"/>
              <a:ext cx="2895600" cy="1071832"/>
            </a:xfrm>
            <a:prstGeom prst="rect">
              <a:avLst/>
            </a:prstGeom>
            <a:noFill/>
          </p:spPr>
          <p:txBody>
            <a:bodyPr vert="horz" wrap="square" lIns="0" tIns="0" rIns="0" bIns="0" rtlCol="0">
              <a:spAutoFit/>
            </a:bodyPr>
            <a:lstStyle/>
            <a:p>
              <a:pPr>
                <a:lnSpc>
                  <a:spcPts val="1688"/>
                </a:lnSpc>
              </a:pPr>
              <a:r>
                <a:rPr lang="vi-VN" sz="1250">
                  <a:solidFill>
                    <a:srgbClr val="CBD5E1"/>
                  </a:solidFill>
                  <a:latin typeface="Segoe UI" panose="020B0502040204020203" pitchFamily="34" charset="0"/>
                </a:rPr>
                <a:t>• Giảm mạnh tỷ lệ tử vong sơ sinh
• Mô hình bệnh tật kép (bệnh không lây nhiễm)
• Đòi hỏi chuyển dịch mạng lưới y tế lão khoa</a:t>
              </a:r>
              <a:endParaRPr lang="en-US" sz="1250">
                <a:solidFill>
                  <a:srgbClr val="CBD5E1"/>
                </a:solidFill>
                <a:latin typeface="Segoe UI" panose="020B0502040204020203" pitchFamily="34" charset="0"/>
              </a:endParaRPr>
            </a:p>
          </p:txBody>
        </p:sp>
      </p:grpSp>
      <p:grpSp>
        <p:nvGrpSpPr>
          <p:cNvPr id="26" name="!!Pillar_Card_3">
            <a:extLst>
              <a:ext uri="{FF2B5EF4-FFF2-40B4-BE49-F238E27FC236}">
                <a16:creationId xmlns:a16="http://schemas.microsoft.com/office/drawing/2014/main" id="{558CF4E7-FF52-14AF-133C-7E52DC5F43FD}"/>
              </a:ext>
            </a:extLst>
          </p:cNvPr>
          <p:cNvGrpSpPr/>
          <p:nvPr/>
        </p:nvGrpSpPr>
        <p:grpSpPr>
          <a:xfrm>
            <a:off x="8178800" y="1460500"/>
            <a:ext cx="3403600" cy="4889500"/>
            <a:chOff x="8178800" y="1460500"/>
            <a:chExt cx="3403600" cy="4889500"/>
          </a:xfrm>
        </p:grpSpPr>
        <p:sp>
          <p:nvSpPr>
            <p:cNvPr id="19" name="Rectangle: Rounded Corners 18">
              <a:extLst>
                <a:ext uri="{FF2B5EF4-FFF2-40B4-BE49-F238E27FC236}">
                  <a16:creationId xmlns:a16="http://schemas.microsoft.com/office/drawing/2014/main" id="{868F97CA-3595-5C9E-5F99-3FA482235311}"/>
                </a:ext>
              </a:extLst>
            </p:cNvPr>
            <p:cNvSpPr/>
            <p:nvPr/>
          </p:nvSpPr>
          <p:spPr>
            <a:xfrm>
              <a:off x="8178800" y="1460500"/>
              <a:ext cx="3403600" cy="4889500"/>
            </a:xfrm>
            <a:prstGeom prst="roundRect">
              <a:avLst/>
            </a:prstGeom>
            <a:solidFill>
              <a:srgbClr val="0B132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a:extLst>
                <a:ext uri="{FF2B5EF4-FFF2-40B4-BE49-F238E27FC236}">
                  <a16:creationId xmlns:a16="http://schemas.microsoft.com/office/drawing/2014/main" id="{7B94E932-29BC-561D-5DF0-C0A10C4D4CF0}"/>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432800" y="1714500"/>
              <a:ext cx="355600" cy="355600"/>
            </a:xfrm>
            <a:prstGeom prst="rect">
              <a:avLst/>
            </a:prstGeom>
          </p:spPr>
        </p:pic>
        <p:sp>
          <p:nvSpPr>
            <p:cNvPr id="22" name="TextBox 21">
              <a:extLst>
                <a:ext uri="{FF2B5EF4-FFF2-40B4-BE49-F238E27FC236}">
                  <a16:creationId xmlns:a16="http://schemas.microsoft.com/office/drawing/2014/main" id="{2BCB42C1-2A8F-76C5-4001-FD64BE1556E4}"/>
                </a:ext>
              </a:extLst>
            </p:cNvPr>
            <p:cNvSpPr txBox="1"/>
            <p:nvPr/>
          </p:nvSpPr>
          <p:spPr>
            <a:xfrm>
              <a:off x="8432800" y="2184400"/>
              <a:ext cx="2895600" cy="263855"/>
            </a:xfrm>
            <a:prstGeom prst="rect">
              <a:avLst/>
            </a:prstGeom>
            <a:noFill/>
          </p:spPr>
          <p:txBody>
            <a:bodyPr vert="horz" wrap="square" lIns="0" tIns="0" rIns="0" bIns="0" rtlCol="0">
              <a:spAutoFit/>
            </a:bodyPr>
            <a:lstStyle/>
            <a:p>
              <a:pPr>
                <a:lnSpc>
                  <a:spcPts val="2160"/>
                </a:lnSpc>
              </a:pPr>
              <a:r>
                <a:rPr lang="vi-VN" b="1">
                  <a:solidFill>
                    <a:srgbClr val="FFFFFF"/>
                  </a:solidFill>
                  <a:latin typeface="Segoe UI" panose="020B0502040204020203" pitchFamily="34" charset="0"/>
                </a:rPr>
                <a:t>Di Cư (Migration)</a:t>
              </a:r>
              <a:endParaRPr lang="en-US" b="1">
                <a:solidFill>
                  <a:srgbClr val="FFFFFF"/>
                </a:solidFill>
                <a:latin typeface="Segoe UI" panose="020B0502040204020203" pitchFamily="34" charset="0"/>
              </a:endParaRPr>
            </a:p>
          </p:txBody>
        </p:sp>
        <p:sp>
          <p:nvSpPr>
            <p:cNvPr id="23" name="TextBox 22">
              <a:extLst>
                <a:ext uri="{FF2B5EF4-FFF2-40B4-BE49-F238E27FC236}">
                  <a16:creationId xmlns:a16="http://schemas.microsoft.com/office/drawing/2014/main" id="{7389A654-FF7B-DA92-2280-634720C9B136}"/>
                </a:ext>
              </a:extLst>
            </p:cNvPr>
            <p:cNvSpPr txBox="1"/>
            <p:nvPr/>
          </p:nvSpPr>
          <p:spPr>
            <a:xfrm>
              <a:off x="8432800" y="2603500"/>
              <a:ext cx="2895600" cy="551433"/>
            </a:xfrm>
            <a:prstGeom prst="rect">
              <a:avLst/>
            </a:prstGeom>
            <a:noFill/>
          </p:spPr>
          <p:txBody>
            <a:bodyPr vert="horz" wrap="square" lIns="0" tIns="0" rIns="0" bIns="0" rtlCol="0">
              <a:spAutoFit/>
            </a:bodyPr>
            <a:lstStyle/>
            <a:p>
              <a:pPr>
                <a:lnSpc>
                  <a:spcPts val="4320"/>
                </a:lnSpc>
              </a:pPr>
              <a:r>
                <a:rPr lang="en-US" sz="3600" b="1">
                  <a:solidFill>
                    <a:srgbClr val="FBBF24"/>
                  </a:solidFill>
                  <a:latin typeface="Bahnschrift" panose="020B0502040204020203" pitchFamily="34" charset="0"/>
                </a:rPr>
                <a:t>38.1%</a:t>
              </a:r>
            </a:p>
          </p:txBody>
        </p:sp>
        <p:sp>
          <p:nvSpPr>
            <p:cNvPr id="24" name="TextBox 23">
              <a:extLst>
                <a:ext uri="{FF2B5EF4-FFF2-40B4-BE49-F238E27FC236}">
                  <a16:creationId xmlns:a16="http://schemas.microsoft.com/office/drawing/2014/main" id="{B8C53C33-611D-1CA7-E91B-BE546B323D8E}"/>
                </a:ext>
              </a:extLst>
            </p:cNvPr>
            <p:cNvSpPr txBox="1"/>
            <p:nvPr/>
          </p:nvSpPr>
          <p:spPr>
            <a:xfrm>
              <a:off x="8432800" y="3200400"/>
              <a:ext cx="2895600" cy="333425"/>
            </a:xfrm>
            <a:prstGeom prst="rect">
              <a:avLst/>
            </a:prstGeom>
            <a:noFill/>
          </p:spPr>
          <p:txBody>
            <a:bodyPr vert="horz" wrap="square" lIns="0" tIns="0" rIns="0" bIns="0" rtlCol="0">
              <a:spAutoFit/>
            </a:bodyPr>
            <a:lstStyle/>
            <a:p>
              <a:pPr>
                <a:lnSpc>
                  <a:spcPts val="1320"/>
                </a:lnSpc>
              </a:pPr>
              <a:r>
                <a:rPr lang="en-US" sz="1100">
                  <a:solidFill>
                    <a:srgbClr val="94A3B8"/>
                  </a:solidFill>
                  <a:latin typeface="Segoe UI" panose="020B0502040204020203" pitchFamily="34" charset="0"/>
                </a:rPr>
                <a:t>Tỷ lệ đô thị hóa quốc gia
Động lực kinh tế không gian</a:t>
              </a:r>
            </a:p>
          </p:txBody>
        </p:sp>
        <p:sp>
          <p:nvSpPr>
            <p:cNvPr id="25" name="TextBox 24">
              <a:extLst>
                <a:ext uri="{FF2B5EF4-FFF2-40B4-BE49-F238E27FC236}">
                  <a16:creationId xmlns:a16="http://schemas.microsoft.com/office/drawing/2014/main" id="{25FF8C04-CB3E-AB69-1A0E-12FA51BF61EA}"/>
                </a:ext>
              </a:extLst>
            </p:cNvPr>
            <p:cNvSpPr txBox="1"/>
            <p:nvPr/>
          </p:nvSpPr>
          <p:spPr>
            <a:xfrm>
              <a:off x="8432800" y="3746500"/>
              <a:ext cx="2895600" cy="853823"/>
            </a:xfrm>
            <a:prstGeom prst="rect">
              <a:avLst/>
            </a:prstGeom>
            <a:noFill/>
          </p:spPr>
          <p:txBody>
            <a:bodyPr vert="horz" wrap="square" lIns="0" tIns="0" rIns="0" bIns="0" rtlCol="0">
              <a:spAutoFit/>
            </a:bodyPr>
            <a:lstStyle/>
            <a:p>
              <a:pPr>
                <a:lnSpc>
                  <a:spcPts val="1688"/>
                </a:lnSpc>
              </a:pPr>
              <a:r>
                <a:rPr lang="vi-VN" sz="1250">
                  <a:solidFill>
                    <a:srgbClr val="CBD5E1"/>
                  </a:solidFill>
                  <a:latin typeface="Segoe UI" panose="020B0502040204020203" pitchFamily="34" charset="0"/>
                </a:rPr>
                <a:t>• Di cư nông thôn - đô thị chiếm ưu thế
• Dòng dịch chuyển lao động liên vùng mạnh
• Áp lực lớn lên hạ tầng dịch vụ công</a:t>
              </a:r>
              <a:endParaRPr lang="en-US" sz="1250">
                <a:solidFill>
                  <a:srgbClr val="CBD5E1"/>
                </a:solidFill>
                <a:latin typeface="Segoe UI" panose="020B0502040204020203" pitchFamily="34" charset="0"/>
              </a:endParaRPr>
            </a:p>
          </p:txBody>
        </p:sp>
      </p:grpSp>
    </p:spTree>
    <p:extLst>
      <p:ext uri="{BB962C8B-B14F-4D97-AF65-F5344CB8AC3E}">
        <p14:creationId xmlns:p14="http://schemas.microsoft.com/office/powerpoint/2010/main" val="13165443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450" fill="hold"/>
                                        <p:tgtEl>
                                          <p:spTgt spid="18"/>
                                        </p:tgtEl>
                                        <p:attrNameLst>
                                          <p:attrName>ppt_x</p:attrName>
                                        </p:attrNameLst>
                                      </p:cBhvr>
                                      <p:tavLst>
                                        <p:tav tm="0">
                                          <p:val>
                                            <p:strVal val="#ppt_x"/>
                                          </p:val>
                                        </p:tav>
                                        <p:tav tm="100000">
                                          <p:val>
                                            <p:strVal val="#ppt_x"/>
                                          </p:val>
                                        </p:tav>
                                      </p:tavLst>
                                    </p:anim>
                                    <p:anim calcmode="lin" valueType="num">
                                      <p:cBhvr additive="base">
                                        <p:cTn id="8" dur="45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450" fill="hold"/>
                                        <p:tgtEl>
                                          <p:spTgt spid="26"/>
                                        </p:tgtEl>
                                        <p:attrNameLst>
                                          <p:attrName>ppt_x</p:attrName>
                                        </p:attrNameLst>
                                      </p:cBhvr>
                                      <p:tavLst>
                                        <p:tav tm="0">
                                          <p:val>
                                            <p:strVal val="#ppt_x"/>
                                          </p:val>
                                        </p:tav>
                                        <p:tav tm="100000">
                                          <p:val>
                                            <p:strVal val="#ppt_x"/>
                                          </p:val>
                                        </p:tav>
                                      </p:tavLst>
                                    </p:anim>
                                    <p:anim calcmode="lin" valueType="num">
                                      <p:cBhvr additive="base">
                                        <p:cTn id="14"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1882D79-1205-F497-663F-DBCB3D1B6AD7}"/>
              </a:ext>
            </a:extLst>
          </p:cNvPr>
          <p:cNvSpPr/>
          <p:nvPr/>
        </p:nvSpPr>
        <p:spPr>
          <a:xfrm>
            <a:off x="609600" y="508000"/>
            <a:ext cx="2921000" cy="3048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vi-VN" sz="1000" b="1">
                <a:solidFill>
                  <a:srgbClr val="38BDF8"/>
                </a:solidFill>
                <a:latin typeface="Segoe UI" panose="020B0502040204020203" pitchFamily="34" charset="0"/>
              </a:rPr>
              <a:t>CƠ CẤU NHÂN KHẨU HỌC</a:t>
            </a:r>
            <a:endParaRPr lang="en-US" sz="1000" b="1">
              <a:solidFill>
                <a:srgbClr val="38BDF8"/>
              </a:solidFill>
              <a:latin typeface="Segoe UI" panose="020B0502040204020203" pitchFamily="34" charset="0"/>
            </a:endParaRPr>
          </a:p>
        </p:txBody>
      </p:sp>
      <p:sp>
        <p:nvSpPr>
          <p:cNvPr id="3" name="TextBox 2">
            <a:extLst>
              <a:ext uri="{FF2B5EF4-FFF2-40B4-BE49-F238E27FC236}">
                <a16:creationId xmlns:a16="http://schemas.microsoft.com/office/drawing/2014/main" id="{EFD56E1F-4FE4-DA6D-6037-00DDB730AA19}"/>
              </a:ext>
            </a:extLst>
          </p:cNvPr>
          <p:cNvSpPr txBox="1"/>
          <p:nvPr/>
        </p:nvSpPr>
        <p:spPr>
          <a:xfrm>
            <a:off x="609600" y="889000"/>
            <a:ext cx="8890000" cy="397545"/>
          </a:xfrm>
          <a:prstGeom prst="rect">
            <a:avLst/>
          </a:prstGeom>
          <a:noFill/>
        </p:spPr>
        <p:txBody>
          <a:bodyPr vert="horz" wrap="square" lIns="0" tIns="0" rIns="0" bIns="0" rtlCol="0">
            <a:spAutoFit/>
          </a:bodyPr>
          <a:lstStyle/>
          <a:p>
            <a:pPr>
              <a:lnSpc>
                <a:spcPts val="3120"/>
              </a:lnSpc>
            </a:pPr>
            <a:r>
              <a:rPr lang="en-US" sz="2600" b="1">
                <a:solidFill>
                  <a:srgbClr val="FFFFFF"/>
                </a:solidFill>
                <a:latin typeface="Segoe UI" panose="020B0502040204020203" pitchFamily="34" charset="0"/>
              </a:rPr>
              <a:t>Cửa Sổ Dân Số Vàng &amp; Thách Thức Già Hóa</a:t>
            </a:r>
          </a:p>
        </p:txBody>
      </p:sp>
      <p:grpSp>
        <p:nvGrpSpPr>
          <p:cNvPr id="10" name="!!Card_Gold_Pop">
            <a:extLst>
              <a:ext uri="{FF2B5EF4-FFF2-40B4-BE49-F238E27FC236}">
                <a16:creationId xmlns:a16="http://schemas.microsoft.com/office/drawing/2014/main" id="{14FAB6FD-11C7-B134-B30F-F14F664A80BA}"/>
              </a:ext>
            </a:extLst>
          </p:cNvPr>
          <p:cNvGrpSpPr/>
          <p:nvPr/>
        </p:nvGrpSpPr>
        <p:grpSpPr>
          <a:xfrm>
            <a:off x="609600" y="1460500"/>
            <a:ext cx="5740400" cy="2286000"/>
            <a:chOff x="609600" y="1460500"/>
            <a:chExt cx="5740400" cy="2286000"/>
          </a:xfrm>
        </p:grpSpPr>
        <p:sp>
          <p:nvSpPr>
            <p:cNvPr id="4" name="Rectangle: Rounded Corners 3">
              <a:extLst>
                <a:ext uri="{FF2B5EF4-FFF2-40B4-BE49-F238E27FC236}">
                  <a16:creationId xmlns:a16="http://schemas.microsoft.com/office/drawing/2014/main" id="{9D3F2155-5F01-F4FD-7926-818FCA5F4123}"/>
                </a:ext>
              </a:extLst>
            </p:cNvPr>
            <p:cNvSpPr/>
            <p:nvPr/>
          </p:nvSpPr>
          <p:spPr>
            <a:xfrm>
              <a:off x="609600" y="1460500"/>
              <a:ext cx="5740400" cy="22860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8B1DC52D-A324-BA6C-0035-0D5A5E121231}"/>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63600" y="1714500"/>
              <a:ext cx="330200" cy="330200"/>
            </a:xfrm>
            <a:prstGeom prst="rect">
              <a:avLst/>
            </a:prstGeom>
          </p:spPr>
        </p:pic>
        <p:sp>
          <p:nvSpPr>
            <p:cNvPr id="7" name="TextBox 6">
              <a:extLst>
                <a:ext uri="{FF2B5EF4-FFF2-40B4-BE49-F238E27FC236}">
                  <a16:creationId xmlns:a16="http://schemas.microsoft.com/office/drawing/2014/main" id="{5E5820A9-EA55-5B04-67FE-3B7941E09753}"/>
                </a:ext>
              </a:extLst>
            </p:cNvPr>
            <p:cNvSpPr txBox="1"/>
            <p:nvPr/>
          </p:nvSpPr>
          <p:spPr>
            <a:xfrm>
              <a:off x="1333500" y="1625600"/>
              <a:ext cx="1905000" cy="551433"/>
            </a:xfrm>
            <a:prstGeom prst="rect">
              <a:avLst/>
            </a:prstGeom>
            <a:noFill/>
          </p:spPr>
          <p:txBody>
            <a:bodyPr vert="horz" wrap="square" lIns="0" tIns="0" rIns="0" bIns="0" rtlCol="0">
              <a:spAutoFit/>
            </a:bodyPr>
            <a:lstStyle/>
            <a:p>
              <a:pPr>
                <a:lnSpc>
                  <a:spcPts val="4320"/>
                </a:lnSpc>
              </a:pPr>
              <a:r>
                <a:rPr lang="en-US" sz="3600" b="1">
                  <a:solidFill>
                    <a:srgbClr val="38BDF8"/>
                  </a:solidFill>
                  <a:latin typeface="Bahnschrift" panose="020B0502040204020203" pitchFamily="34" charset="0"/>
                </a:rPr>
                <a:t>68.0%</a:t>
              </a:r>
            </a:p>
          </p:txBody>
        </p:sp>
        <p:sp>
          <p:nvSpPr>
            <p:cNvPr id="8" name="TextBox 7">
              <a:extLst>
                <a:ext uri="{FF2B5EF4-FFF2-40B4-BE49-F238E27FC236}">
                  <a16:creationId xmlns:a16="http://schemas.microsoft.com/office/drawing/2014/main" id="{1EBC74DB-9CCA-2C9C-ABA9-FB594AE27646}"/>
                </a:ext>
              </a:extLst>
            </p:cNvPr>
            <p:cNvSpPr txBox="1"/>
            <p:nvPr/>
          </p:nvSpPr>
          <p:spPr>
            <a:xfrm>
              <a:off x="863600" y="2222500"/>
              <a:ext cx="5232400" cy="230832"/>
            </a:xfrm>
            <a:prstGeom prst="rect">
              <a:avLst/>
            </a:prstGeom>
            <a:noFill/>
          </p:spPr>
          <p:txBody>
            <a:bodyPr vert="horz" wrap="square" lIns="0" tIns="0" rIns="0" bIns="0" rtlCol="0">
              <a:spAutoFit/>
            </a:bodyPr>
            <a:lstStyle/>
            <a:p>
              <a:pPr>
                <a:lnSpc>
                  <a:spcPts val="1800"/>
                </a:lnSpc>
              </a:pPr>
              <a:r>
                <a:rPr lang="en-US" sz="1500" b="1">
                  <a:solidFill>
                    <a:srgbClr val="FFFFFF"/>
                  </a:solidFill>
                  <a:latin typeface="Segoe UI" panose="020B0502040204020203" pitchFamily="34" charset="0"/>
                </a:rPr>
                <a:t>Dân Số Trong Độ Tuổi Lao Động (15-64)</a:t>
              </a:r>
            </a:p>
          </p:txBody>
        </p:sp>
        <p:sp>
          <p:nvSpPr>
            <p:cNvPr id="9" name="TextBox 8">
              <a:extLst>
                <a:ext uri="{FF2B5EF4-FFF2-40B4-BE49-F238E27FC236}">
                  <a16:creationId xmlns:a16="http://schemas.microsoft.com/office/drawing/2014/main" id="{2C151AED-9E9C-484F-6AFC-2C0C49EA8284}"/>
                </a:ext>
              </a:extLst>
            </p:cNvPr>
            <p:cNvSpPr txBox="1"/>
            <p:nvPr/>
          </p:nvSpPr>
          <p:spPr>
            <a:xfrm>
              <a:off x="863600" y="2603500"/>
              <a:ext cx="5232400" cy="600549"/>
            </a:xfrm>
            <a:prstGeom prst="rect">
              <a:avLst/>
            </a:prstGeom>
            <a:noFill/>
          </p:spPr>
          <p:txBody>
            <a:bodyPr vert="horz" wrap="square" lIns="0" tIns="0" rIns="0" bIns="0" rtlCol="0">
              <a:spAutoFit/>
            </a:bodyPr>
            <a:lstStyle/>
            <a:p>
              <a:pPr>
                <a:lnSpc>
                  <a:spcPts val="1625"/>
                </a:lnSpc>
              </a:pPr>
              <a:r>
                <a:rPr lang="vi-VN" sz="1250">
                  <a:solidFill>
                    <a:srgbClr val="CBD5E1"/>
                  </a:solidFill>
                  <a:latin typeface="Segoe UI" panose="020B0502040204020203" pitchFamily="34" charset="0"/>
                </a:rPr>
                <a:t>Việt Nam đang trong thời kỳ "Dân số vàng" với tỷ lệ người phụ thuộc dưới 50%. Đây là dư địa vàng thúc đẩy năng suất và tích lũy của cải trước khi bước sang giai đoạn già hóa.</a:t>
              </a:r>
              <a:endParaRPr lang="en-US" sz="1250">
                <a:solidFill>
                  <a:srgbClr val="CBD5E1"/>
                </a:solidFill>
                <a:latin typeface="Segoe UI" panose="020B0502040204020203" pitchFamily="34" charset="0"/>
              </a:endParaRPr>
            </a:p>
          </p:txBody>
        </p:sp>
      </p:grpSp>
      <p:grpSp>
        <p:nvGrpSpPr>
          <p:cNvPr id="17" name="!!Card_Aging_Pop">
            <a:extLst>
              <a:ext uri="{FF2B5EF4-FFF2-40B4-BE49-F238E27FC236}">
                <a16:creationId xmlns:a16="http://schemas.microsoft.com/office/drawing/2014/main" id="{5099F852-94E5-9F8D-B5EA-892CFAAE868B}"/>
              </a:ext>
            </a:extLst>
          </p:cNvPr>
          <p:cNvGrpSpPr/>
          <p:nvPr/>
        </p:nvGrpSpPr>
        <p:grpSpPr>
          <a:xfrm>
            <a:off x="609600" y="4000500"/>
            <a:ext cx="5740400" cy="2349500"/>
            <a:chOff x="609600" y="4000500"/>
            <a:chExt cx="5740400" cy="2349500"/>
          </a:xfrm>
        </p:grpSpPr>
        <p:sp>
          <p:nvSpPr>
            <p:cNvPr id="11" name="Rectangle: Rounded Corners 10">
              <a:extLst>
                <a:ext uri="{FF2B5EF4-FFF2-40B4-BE49-F238E27FC236}">
                  <a16:creationId xmlns:a16="http://schemas.microsoft.com/office/drawing/2014/main" id="{211B67B3-F270-B29D-8BEC-B1829222CAE8}"/>
                </a:ext>
              </a:extLst>
            </p:cNvPr>
            <p:cNvSpPr/>
            <p:nvPr/>
          </p:nvSpPr>
          <p:spPr>
            <a:xfrm>
              <a:off x="609600" y="4000500"/>
              <a:ext cx="5740400" cy="2349500"/>
            </a:xfrm>
            <a:prstGeom prst="roundRect">
              <a:avLst/>
            </a:prstGeom>
            <a:solidFill>
              <a:srgbClr val="0B132B"/>
            </a:solidFill>
            <a:ln w="12700">
              <a:solidFill>
                <a:srgbClr val="1E29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8B0F4A25-1FAA-9090-A29E-803FA89E2C20}"/>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63600" y="4254500"/>
              <a:ext cx="330200" cy="330200"/>
            </a:xfrm>
            <a:prstGeom prst="rect">
              <a:avLst/>
            </a:prstGeom>
          </p:spPr>
        </p:pic>
        <p:sp>
          <p:nvSpPr>
            <p:cNvPr id="14" name="TextBox 13">
              <a:extLst>
                <a:ext uri="{FF2B5EF4-FFF2-40B4-BE49-F238E27FC236}">
                  <a16:creationId xmlns:a16="http://schemas.microsoft.com/office/drawing/2014/main" id="{E8948573-17A3-F9A3-54F4-F86B06EA1F2B}"/>
                </a:ext>
              </a:extLst>
            </p:cNvPr>
            <p:cNvSpPr txBox="1"/>
            <p:nvPr/>
          </p:nvSpPr>
          <p:spPr>
            <a:xfrm>
              <a:off x="1333500" y="4165600"/>
              <a:ext cx="1905000" cy="551433"/>
            </a:xfrm>
            <a:prstGeom prst="rect">
              <a:avLst/>
            </a:prstGeom>
            <a:noFill/>
          </p:spPr>
          <p:txBody>
            <a:bodyPr vert="horz" wrap="square" lIns="0" tIns="0" rIns="0" bIns="0" rtlCol="0">
              <a:spAutoFit/>
            </a:bodyPr>
            <a:lstStyle/>
            <a:p>
              <a:pPr>
                <a:lnSpc>
                  <a:spcPts val="4320"/>
                </a:lnSpc>
              </a:pPr>
              <a:r>
                <a:rPr lang="en-US" sz="3600" b="1">
                  <a:solidFill>
                    <a:srgbClr val="FBBF24"/>
                  </a:solidFill>
                  <a:latin typeface="Bahnschrift" panose="020B0502040204020203" pitchFamily="34" charset="0"/>
                </a:rPr>
                <a:t>&lt; 20 Năm</a:t>
              </a:r>
            </a:p>
          </p:txBody>
        </p:sp>
        <p:sp>
          <p:nvSpPr>
            <p:cNvPr id="15" name="TextBox 14">
              <a:extLst>
                <a:ext uri="{FF2B5EF4-FFF2-40B4-BE49-F238E27FC236}">
                  <a16:creationId xmlns:a16="http://schemas.microsoft.com/office/drawing/2014/main" id="{6B426A80-624C-3A66-4A78-221744D64C3D}"/>
                </a:ext>
              </a:extLst>
            </p:cNvPr>
            <p:cNvSpPr txBox="1"/>
            <p:nvPr/>
          </p:nvSpPr>
          <p:spPr>
            <a:xfrm>
              <a:off x="863600" y="4762500"/>
              <a:ext cx="5232400" cy="230832"/>
            </a:xfrm>
            <a:prstGeom prst="rect">
              <a:avLst/>
            </a:prstGeom>
            <a:noFill/>
          </p:spPr>
          <p:txBody>
            <a:bodyPr vert="horz" wrap="square" lIns="0" tIns="0" rIns="0" bIns="0" rtlCol="0">
              <a:spAutoFit/>
            </a:bodyPr>
            <a:lstStyle/>
            <a:p>
              <a:pPr>
                <a:lnSpc>
                  <a:spcPts val="1800"/>
                </a:lnSpc>
              </a:pPr>
              <a:r>
                <a:rPr lang="en-US" sz="1500" b="1">
                  <a:solidFill>
                    <a:srgbClr val="FFFFFF"/>
                  </a:solidFill>
                  <a:latin typeface="Segoe UI" panose="020B0502040204020203" pitchFamily="34" charset="0"/>
                </a:rPr>
                <a:t>Tốc Độ Già Hóa Nhanh Hàng Đầu Thế Giới</a:t>
              </a:r>
            </a:p>
          </p:txBody>
        </p:sp>
        <p:sp>
          <p:nvSpPr>
            <p:cNvPr id="16" name="TextBox 15">
              <a:extLst>
                <a:ext uri="{FF2B5EF4-FFF2-40B4-BE49-F238E27FC236}">
                  <a16:creationId xmlns:a16="http://schemas.microsoft.com/office/drawing/2014/main" id="{71137979-058E-7F4C-8985-1A6EE5D099ED}"/>
                </a:ext>
              </a:extLst>
            </p:cNvPr>
            <p:cNvSpPr txBox="1"/>
            <p:nvPr/>
          </p:nvSpPr>
          <p:spPr>
            <a:xfrm>
              <a:off x="863600" y="5143500"/>
              <a:ext cx="5232400" cy="600549"/>
            </a:xfrm>
            <a:prstGeom prst="rect">
              <a:avLst/>
            </a:prstGeom>
            <a:noFill/>
          </p:spPr>
          <p:txBody>
            <a:bodyPr vert="horz" wrap="square" lIns="0" tIns="0" rIns="0" bIns="0" rtlCol="0">
              <a:spAutoFit/>
            </a:bodyPr>
            <a:lstStyle/>
            <a:p>
              <a:pPr>
                <a:lnSpc>
                  <a:spcPts val="1625"/>
                </a:lnSpc>
              </a:pPr>
              <a:r>
                <a:rPr lang="vi-VN" sz="1250">
                  <a:solidFill>
                    <a:srgbClr val="CBD5E1"/>
                  </a:solidFill>
                  <a:latin typeface="Segoe UI" panose="020B0502040204020203" pitchFamily="34" charset="0"/>
                </a:rPr>
                <a:t>Thời gian chuyển từ "già hóa" (7% người &gt;65t) sang "dân số già" (14%) của Việt Nam thuộc nhóm nhanh nhất thế giới. Nguy cơ "chưa giàu đã già" đòi hỏi hành động quyết liệt ngay từ bây giờ.</a:t>
              </a:r>
              <a:endParaRPr lang="en-US" sz="1250">
                <a:solidFill>
                  <a:srgbClr val="CBD5E1"/>
                </a:solidFill>
                <a:latin typeface="Segoe UI" panose="020B0502040204020203" pitchFamily="34" charset="0"/>
              </a:endParaRPr>
            </a:p>
          </p:txBody>
        </p:sp>
      </p:grpSp>
      <p:pic>
        <p:nvPicPr>
          <p:cNvPr id="19" name="!!Stage_Hero_Container">
            <a:extLst>
              <a:ext uri="{FF2B5EF4-FFF2-40B4-BE49-F238E27FC236}">
                <a16:creationId xmlns:a16="http://schemas.microsoft.com/office/drawing/2014/main" id="{70C04FBF-7BAC-EA50-7B32-A32DD276131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680200" y="1460500"/>
            <a:ext cx="4902200" cy="4889500"/>
          </a:xfrm>
          <a:prstGeom prst="rect">
            <a:avLst/>
          </a:prstGeom>
        </p:spPr>
      </p:pic>
    </p:spTree>
    <p:extLst>
      <p:ext uri="{BB962C8B-B14F-4D97-AF65-F5344CB8AC3E}">
        <p14:creationId xmlns:p14="http://schemas.microsoft.com/office/powerpoint/2010/main" val="5758350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450" fill="hold"/>
                                        <p:tgtEl>
                                          <p:spTgt spid="10"/>
                                        </p:tgtEl>
                                        <p:attrNameLst>
                                          <p:attrName>ppt_x</p:attrName>
                                        </p:attrNameLst>
                                      </p:cBhvr>
                                      <p:tavLst>
                                        <p:tav tm="0">
                                          <p:val>
                                            <p:strVal val="#ppt_x"/>
                                          </p:val>
                                        </p:tav>
                                        <p:tav tm="100000">
                                          <p:val>
                                            <p:strVal val="#ppt_x"/>
                                          </p:val>
                                        </p:tav>
                                      </p:tavLst>
                                    </p:anim>
                                    <p:anim calcmode="lin" valueType="num">
                                      <p:cBhvr additive="base">
                                        <p:cTn id="8" dur="45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450" fill="hold"/>
                                        <p:tgtEl>
                                          <p:spTgt spid="17"/>
                                        </p:tgtEl>
                                        <p:attrNameLst>
                                          <p:attrName>ppt_x</p:attrName>
                                        </p:attrNameLst>
                                      </p:cBhvr>
                                      <p:tavLst>
                                        <p:tav tm="0">
                                          <p:val>
                                            <p:strVal val="#ppt_x"/>
                                          </p:val>
                                        </p:tav>
                                        <p:tav tm="100000">
                                          <p:val>
                                            <p:strVal val="#ppt_x"/>
                                          </p:val>
                                        </p:tav>
                                      </p:tavLst>
                                    </p:anim>
                                    <p:anim calcmode="lin" valueType="num">
                                      <p:cBhvr additive="base">
                                        <p:cTn id="14" dur="45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E870D4B-1193-9FA5-56B8-4F9E27FC482C}"/>
              </a:ext>
            </a:extLst>
          </p:cNvPr>
          <p:cNvSpPr/>
          <p:nvPr/>
        </p:nvSpPr>
        <p:spPr>
          <a:xfrm>
            <a:off x="609600" y="508000"/>
            <a:ext cx="2921000" cy="3048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000" b="1">
                <a:solidFill>
                  <a:srgbClr val="38BDF8"/>
                </a:solidFill>
                <a:latin typeface="Segoe UI" panose="020B0502040204020203" pitchFamily="34" charset="0"/>
              </a:rPr>
              <a:t>HỆ SINH THÁI TÁC ĐỘNG TỔNG THỂ</a:t>
            </a:r>
          </a:p>
        </p:txBody>
      </p:sp>
      <p:sp>
        <p:nvSpPr>
          <p:cNvPr id="3" name="TextBox 2">
            <a:extLst>
              <a:ext uri="{FF2B5EF4-FFF2-40B4-BE49-F238E27FC236}">
                <a16:creationId xmlns:a16="http://schemas.microsoft.com/office/drawing/2014/main" id="{AE536937-31D6-3C53-FBD5-37FD7F0032A4}"/>
              </a:ext>
            </a:extLst>
          </p:cNvPr>
          <p:cNvSpPr txBox="1"/>
          <p:nvPr/>
        </p:nvSpPr>
        <p:spPr>
          <a:xfrm>
            <a:off x="609600" y="889000"/>
            <a:ext cx="9525000" cy="397545"/>
          </a:xfrm>
          <a:prstGeom prst="rect">
            <a:avLst/>
          </a:prstGeom>
          <a:noFill/>
        </p:spPr>
        <p:txBody>
          <a:bodyPr vert="horz" wrap="square" lIns="0" tIns="0" rIns="0" bIns="0" rtlCol="0">
            <a:spAutoFit/>
          </a:bodyPr>
          <a:lstStyle/>
          <a:p>
            <a:pPr>
              <a:lnSpc>
                <a:spcPts val="3120"/>
              </a:lnSpc>
            </a:pPr>
            <a:r>
              <a:rPr lang="en-US" sz="2600" b="1">
                <a:solidFill>
                  <a:srgbClr val="FFFFFF"/>
                </a:solidFill>
                <a:latin typeface="Segoe UI" panose="020B0502040204020203" pitchFamily="34" charset="0"/>
              </a:rPr>
              <a:t>4 Chiều Kích Tác Động Đến Phát Triển Quốc Gia</a:t>
            </a:r>
          </a:p>
        </p:txBody>
      </p:sp>
      <p:grpSp>
        <p:nvGrpSpPr>
          <p:cNvPr id="10" name="!!Quad_1">
            <a:extLst>
              <a:ext uri="{FF2B5EF4-FFF2-40B4-BE49-F238E27FC236}">
                <a16:creationId xmlns:a16="http://schemas.microsoft.com/office/drawing/2014/main" id="{F5CD871A-9439-4B1F-1ECF-C893C12F4886}"/>
              </a:ext>
            </a:extLst>
          </p:cNvPr>
          <p:cNvGrpSpPr/>
          <p:nvPr/>
        </p:nvGrpSpPr>
        <p:grpSpPr>
          <a:xfrm>
            <a:off x="609600" y="1460500"/>
            <a:ext cx="5334000" cy="2286000"/>
            <a:chOff x="609600" y="1460500"/>
            <a:chExt cx="5334000" cy="2286000"/>
          </a:xfrm>
        </p:grpSpPr>
        <p:sp>
          <p:nvSpPr>
            <p:cNvPr id="4" name="Rectangle: Rounded Corners 3">
              <a:extLst>
                <a:ext uri="{FF2B5EF4-FFF2-40B4-BE49-F238E27FC236}">
                  <a16:creationId xmlns:a16="http://schemas.microsoft.com/office/drawing/2014/main" id="{33536247-79A9-9E17-C889-E12421941275}"/>
                </a:ext>
              </a:extLst>
            </p:cNvPr>
            <p:cNvSpPr/>
            <p:nvPr/>
          </p:nvSpPr>
          <p:spPr>
            <a:xfrm>
              <a:off x="609600" y="1460500"/>
              <a:ext cx="5334000" cy="2286000"/>
            </a:xfrm>
            <a:prstGeom prst="roundRect">
              <a:avLst/>
            </a:prstGeom>
            <a:solidFill>
              <a:srgbClr val="0B132B"/>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EDAE30FA-E6E7-04A7-4F9A-37CEB44DFBAF}"/>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63600" y="1689100"/>
              <a:ext cx="304800" cy="304800"/>
            </a:xfrm>
            <a:prstGeom prst="rect">
              <a:avLst/>
            </a:prstGeom>
          </p:spPr>
        </p:pic>
        <p:sp>
          <p:nvSpPr>
            <p:cNvPr id="7" name="TextBox 6">
              <a:extLst>
                <a:ext uri="{FF2B5EF4-FFF2-40B4-BE49-F238E27FC236}">
                  <a16:creationId xmlns:a16="http://schemas.microsoft.com/office/drawing/2014/main" id="{72492C47-503B-7752-8F6D-718BE760A734}"/>
                </a:ext>
              </a:extLst>
            </p:cNvPr>
            <p:cNvSpPr txBox="1"/>
            <p:nvPr/>
          </p:nvSpPr>
          <p:spPr>
            <a:xfrm>
              <a:off x="1270000" y="1663700"/>
              <a:ext cx="4445000" cy="166712"/>
            </a:xfrm>
            <a:prstGeom prst="rect">
              <a:avLst/>
            </a:prstGeom>
            <a:noFill/>
          </p:spPr>
          <p:txBody>
            <a:bodyPr vert="horz" wrap="square" lIns="0" tIns="0" rIns="0" bIns="0" rtlCol="0">
              <a:spAutoFit/>
            </a:bodyPr>
            <a:lstStyle/>
            <a:p>
              <a:pPr>
                <a:lnSpc>
                  <a:spcPts val="1320"/>
                </a:lnSpc>
              </a:pPr>
              <a:r>
                <a:rPr lang="vi-VN" sz="1100" b="1">
                  <a:solidFill>
                    <a:srgbClr val="38BDF8"/>
                  </a:solidFill>
                  <a:latin typeface="Segoe UI" panose="020B0502040204020203" pitchFamily="34" charset="0"/>
                </a:rPr>
                <a:t>01 // KINH TẾ &amp; THỊ TRƯỜNG LAO ĐỘNG</a:t>
              </a:r>
              <a:endParaRPr lang="en-US" sz="1100" b="1">
                <a:solidFill>
                  <a:srgbClr val="38BDF8"/>
                </a:solidFill>
                <a:latin typeface="Segoe UI" panose="020B0502040204020203" pitchFamily="34" charset="0"/>
              </a:endParaRPr>
            </a:p>
          </p:txBody>
        </p:sp>
        <p:sp>
          <p:nvSpPr>
            <p:cNvPr id="8" name="TextBox 7">
              <a:extLst>
                <a:ext uri="{FF2B5EF4-FFF2-40B4-BE49-F238E27FC236}">
                  <a16:creationId xmlns:a16="http://schemas.microsoft.com/office/drawing/2014/main" id="{011BA7A8-90EB-402D-905A-1020C77CF308}"/>
                </a:ext>
              </a:extLst>
            </p:cNvPr>
            <p:cNvSpPr txBox="1"/>
            <p:nvPr/>
          </p:nvSpPr>
          <p:spPr>
            <a:xfrm>
              <a:off x="863600" y="2057400"/>
              <a:ext cx="4826000" cy="230832"/>
            </a:xfrm>
            <a:prstGeom prst="rect">
              <a:avLst/>
            </a:prstGeom>
            <a:noFill/>
          </p:spPr>
          <p:txBody>
            <a:bodyPr vert="horz" wrap="square" lIns="0" tIns="0" rIns="0" bIns="0" rtlCol="0">
              <a:spAutoFit/>
            </a:bodyPr>
            <a:lstStyle/>
            <a:p>
              <a:pPr>
                <a:lnSpc>
                  <a:spcPts val="1800"/>
                </a:lnSpc>
              </a:pPr>
              <a:r>
                <a:rPr lang="en-US" sz="1500" b="1">
                  <a:solidFill>
                    <a:srgbClr val="FFFFFF"/>
                  </a:solidFill>
                  <a:latin typeface="Segoe UI" panose="020B0502040204020203" pitchFamily="34" charset="0"/>
                </a:rPr>
                <a:t>Quy Mô &amp; Năng Suất Nguồn Nhân Lực</a:t>
              </a:r>
            </a:p>
          </p:txBody>
        </p:sp>
        <p:sp>
          <p:nvSpPr>
            <p:cNvPr id="9" name="TextBox 8">
              <a:extLst>
                <a:ext uri="{FF2B5EF4-FFF2-40B4-BE49-F238E27FC236}">
                  <a16:creationId xmlns:a16="http://schemas.microsoft.com/office/drawing/2014/main" id="{F59299A0-7AFE-041B-2B6B-A8172999A281}"/>
                </a:ext>
              </a:extLst>
            </p:cNvPr>
            <p:cNvSpPr txBox="1"/>
            <p:nvPr/>
          </p:nvSpPr>
          <p:spPr>
            <a:xfrm>
              <a:off x="863600" y="2438400"/>
              <a:ext cx="4826000" cy="600549"/>
            </a:xfrm>
            <a:prstGeom prst="rect">
              <a:avLst/>
            </a:prstGeom>
            <a:noFill/>
          </p:spPr>
          <p:txBody>
            <a:bodyPr vert="horz" wrap="square" lIns="0" tIns="0" rIns="0" bIns="0" rtlCol="0">
              <a:spAutoFit/>
            </a:bodyPr>
            <a:lstStyle/>
            <a:p>
              <a:pPr>
                <a:lnSpc>
                  <a:spcPts val="1625"/>
                </a:lnSpc>
              </a:pPr>
              <a:r>
                <a:rPr lang="vi-VN" sz="1250">
                  <a:solidFill>
                    <a:srgbClr val="CBD5E1"/>
                  </a:solidFill>
                  <a:latin typeface="Segoe UI" panose="020B0502040204020203" pitchFamily="34" charset="0"/>
                </a:rPr>
                <a:t>Quy mô nguồn nhân lực quyết định trực tiếp tiềm năng tăng trưởng GDP, năng suất lao động và năng lực hấp thụ các dòng vốn đầu tư trực tiếp nước ngoài (FDI).</a:t>
              </a:r>
              <a:endParaRPr lang="en-US" sz="1250">
                <a:solidFill>
                  <a:srgbClr val="CBD5E1"/>
                </a:solidFill>
                <a:latin typeface="Segoe UI" panose="020B0502040204020203" pitchFamily="34" charset="0"/>
              </a:endParaRPr>
            </a:p>
          </p:txBody>
        </p:sp>
      </p:grpSp>
      <p:grpSp>
        <p:nvGrpSpPr>
          <p:cNvPr id="17" name="!!Quad_2">
            <a:extLst>
              <a:ext uri="{FF2B5EF4-FFF2-40B4-BE49-F238E27FC236}">
                <a16:creationId xmlns:a16="http://schemas.microsoft.com/office/drawing/2014/main" id="{8540F0E5-6888-66ED-99AC-EBA843A05C62}"/>
              </a:ext>
            </a:extLst>
          </p:cNvPr>
          <p:cNvGrpSpPr/>
          <p:nvPr/>
        </p:nvGrpSpPr>
        <p:grpSpPr>
          <a:xfrm>
            <a:off x="6248400" y="1460500"/>
            <a:ext cx="5334000" cy="2286000"/>
            <a:chOff x="6248400" y="1460500"/>
            <a:chExt cx="5334000" cy="2286000"/>
          </a:xfrm>
        </p:grpSpPr>
        <p:sp>
          <p:nvSpPr>
            <p:cNvPr id="11" name="Rectangle: Rounded Corners 10">
              <a:extLst>
                <a:ext uri="{FF2B5EF4-FFF2-40B4-BE49-F238E27FC236}">
                  <a16:creationId xmlns:a16="http://schemas.microsoft.com/office/drawing/2014/main" id="{CA958F6C-AAF8-F928-EE0E-8B282532CAD8}"/>
                </a:ext>
              </a:extLst>
            </p:cNvPr>
            <p:cNvSpPr/>
            <p:nvPr/>
          </p:nvSpPr>
          <p:spPr>
            <a:xfrm>
              <a:off x="6248400" y="1460500"/>
              <a:ext cx="5334000" cy="2286000"/>
            </a:xfrm>
            <a:prstGeom prst="roundRect">
              <a:avLst/>
            </a:prstGeom>
            <a:solidFill>
              <a:srgbClr val="0B132B"/>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4A03E349-1F28-2A3C-41D5-62B760A2934A}"/>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502400" y="1689100"/>
              <a:ext cx="304800" cy="304800"/>
            </a:xfrm>
            <a:prstGeom prst="rect">
              <a:avLst/>
            </a:prstGeom>
          </p:spPr>
        </p:pic>
        <p:sp>
          <p:nvSpPr>
            <p:cNvPr id="14" name="TextBox 13">
              <a:extLst>
                <a:ext uri="{FF2B5EF4-FFF2-40B4-BE49-F238E27FC236}">
                  <a16:creationId xmlns:a16="http://schemas.microsoft.com/office/drawing/2014/main" id="{3D1B23A3-3B84-9293-4A40-A24E97E4EBFB}"/>
                </a:ext>
              </a:extLst>
            </p:cNvPr>
            <p:cNvSpPr txBox="1"/>
            <p:nvPr/>
          </p:nvSpPr>
          <p:spPr>
            <a:xfrm>
              <a:off x="6908800" y="1663700"/>
              <a:ext cx="4445000" cy="166712"/>
            </a:xfrm>
            <a:prstGeom prst="rect">
              <a:avLst/>
            </a:prstGeom>
            <a:noFill/>
          </p:spPr>
          <p:txBody>
            <a:bodyPr vert="horz" wrap="square" lIns="0" tIns="0" rIns="0" bIns="0" rtlCol="0">
              <a:spAutoFit/>
            </a:bodyPr>
            <a:lstStyle/>
            <a:p>
              <a:pPr>
                <a:lnSpc>
                  <a:spcPts val="1320"/>
                </a:lnSpc>
              </a:pPr>
              <a:r>
                <a:rPr lang="en-US" sz="1100" b="1">
                  <a:solidFill>
                    <a:srgbClr val="34D399"/>
                  </a:solidFill>
                  <a:latin typeface="Segoe UI" panose="020B0502040204020203" pitchFamily="34" charset="0"/>
                </a:rPr>
                <a:t>02 // AN SINH XÃ HỘI &amp; Y TẾ LÃO KHOA</a:t>
              </a:r>
            </a:p>
          </p:txBody>
        </p:sp>
        <p:sp>
          <p:nvSpPr>
            <p:cNvPr id="15" name="TextBox 14">
              <a:extLst>
                <a:ext uri="{FF2B5EF4-FFF2-40B4-BE49-F238E27FC236}">
                  <a16:creationId xmlns:a16="http://schemas.microsoft.com/office/drawing/2014/main" id="{A345891A-452D-3750-8EF1-9B2779072F89}"/>
                </a:ext>
              </a:extLst>
            </p:cNvPr>
            <p:cNvSpPr txBox="1"/>
            <p:nvPr/>
          </p:nvSpPr>
          <p:spPr>
            <a:xfrm>
              <a:off x="6502400" y="2057400"/>
              <a:ext cx="4826000" cy="230832"/>
            </a:xfrm>
            <a:prstGeom prst="rect">
              <a:avLst/>
            </a:prstGeom>
            <a:noFill/>
          </p:spPr>
          <p:txBody>
            <a:bodyPr vert="horz" wrap="square" lIns="0" tIns="0" rIns="0" bIns="0" rtlCol="0">
              <a:spAutoFit/>
            </a:bodyPr>
            <a:lstStyle/>
            <a:p>
              <a:pPr>
                <a:lnSpc>
                  <a:spcPts val="1800"/>
                </a:lnSpc>
              </a:pPr>
              <a:r>
                <a:rPr lang="vi-VN" sz="1500" b="1">
                  <a:solidFill>
                    <a:srgbClr val="FFFFFF"/>
                  </a:solidFill>
                  <a:latin typeface="Segoe UI" panose="020B0502040204020203" pitchFamily="34" charset="0"/>
                </a:rPr>
                <a:t>Áp Lực Quỹ Hưu Trí &amp; Chăm Sóc Dài Hạn</a:t>
              </a:r>
              <a:endParaRPr lang="en-US" sz="1500" b="1">
                <a:solidFill>
                  <a:srgbClr val="FFFFFF"/>
                </a:solidFill>
                <a:latin typeface="Segoe UI" panose="020B0502040204020203" pitchFamily="34" charset="0"/>
              </a:endParaRPr>
            </a:p>
          </p:txBody>
        </p:sp>
        <p:sp>
          <p:nvSpPr>
            <p:cNvPr id="16" name="TextBox 15">
              <a:extLst>
                <a:ext uri="{FF2B5EF4-FFF2-40B4-BE49-F238E27FC236}">
                  <a16:creationId xmlns:a16="http://schemas.microsoft.com/office/drawing/2014/main" id="{570D1990-8799-DE6A-B743-431184307A71}"/>
                </a:ext>
              </a:extLst>
            </p:cNvPr>
            <p:cNvSpPr txBox="1"/>
            <p:nvPr/>
          </p:nvSpPr>
          <p:spPr>
            <a:xfrm>
              <a:off x="6502400" y="2438400"/>
              <a:ext cx="4826000" cy="600549"/>
            </a:xfrm>
            <a:prstGeom prst="rect">
              <a:avLst/>
            </a:prstGeom>
            <a:noFill/>
          </p:spPr>
          <p:txBody>
            <a:bodyPr vert="horz" wrap="square" lIns="0" tIns="0" rIns="0" bIns="0" rtlCol="0">
              <a:spAutoFit/>
            </a:bodyPr>
            <a:lstStyle/>
            <a:p>
              <a:pPr>
                <a:lnSpc>
                  <a:spcPts val="1625"/>
                </a:lnSpc>
              </a:pPr>
              <a:r>
                <a:rPr lang="vi-VN" sz="1250">
                  <a:solidFill>
                    <a:srgbClr val="CBD5E1"/>
                  </a:solidFill>
                  <a:latin typeface="Segoe UI" panose="020B0502040204020203" pitchFamily="34" charset="0"/>
                </a:rPr>
                <a:t>Cân đối quỹ bảo hiểm xã hội, phát triển bảo hiểm y tế toàn dân và xây dựng mạng lưới viện dưỡng lão thích ứng với cộng đồng người cao tuổi.</a:t>
              </a:r>
              <a:endParaRPr lang="en-US" sz="1250">
                <a:solidFill>
                  <a:srgbClr val="CBD5E1"/>
                </a:solidFill>
                <a:latin typeface="Segoe UI" panose="020B0502040204020203" pitchFamily="34" charset="0"/>
              </a:endParaRPr>
            </a:p>
          </p:txBody>
        </p:sp>
      </p:grpSp>
      <p:grpSp>
        <p:nvGrpSpPr>
          <p:cNvPr id="24" name="!!Quad_3">
            <a:extLst>
              <a:ext uri="{FF2B5EF4-FFF2-40B4-BE49-F238E27FC236}">
                <a16:creationId xmlns:a16="http://schemas.microsoft.com/office/drawing/2014/main" id="{34F045A3-7D50-7545-6D92-C1B8C7A3166B}"/>
              </a:ext>
            </a:extLst>
          </p:cNvPr>
          <p:cNvGrpSpPr/>
          <p:nvPr/>
        </p:nvGrpSpPr>
        <p:grpSpPr>
          <a:xfrm>
            <a:off x="609600" y="4000500"/>
            <a:ext cx="5334000" cy="2349500"/>
            <a:chOff x="609600" y="4000500"/>
            <a:chExt cx="5334000" cy="2349500"/>
          </a:xfrm>
        </p:grpSpPr>
        <p:sp>
          <p:nvSpPr>
            <p:cNvPr id="18" name="Rectangle: Rounded Corners 17">
              <a:extLst>
                <a:ext uri="{FF2B5EF4-FFF2-40B4-BE49-F238E27FC236}">
                  <a16:creationId xmlns:a16="http://schemas.microsoft.com/office/drawing/2014/main" id="{EBE43322-41A3-14D5-84ED-2D9DC5CD1D44}"/>
                </a:ext>
              </a:extLst>
            </p:cNvPr>
            <p:cNvSpPr/>
            <p:nvPr/>
          </p:nvSpPr>
          <p:spPr>
            <a:xfrm>
              <a:off x="609600" y="4000500"/>
              <a:ext cx="5334000" cy="2349500"/>
            </a:xfrm>
            <a:prstGeom prst="roundRect">
              <a:avLst/>
            </a:prstGeom>
            <a:solidFill>
              <a:srgbClr val="0B132B"/>
            </a:solidFill>
            <a:ln w="1905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a:extLst>
                <a:ext uri="{FF2B5EF4-FFF2-40B4-BE49-F238E27FC236}">
                  <a16:creationId xmlns:a16="http://schemas.microsoft.com/office/drawing/2014/main" id="{571E7395-2F1A-598F-D048-54593666AF3B}"/>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63600" y="4229100"/>
              <a:ext cx="304800" cy="304800"/>
            </a:xfrm>
            <a:prstGeom prst="rect">
              <a:avLst/>
            </a:prstGeom>
          </p:spPr>
        </p:pic>
        <p:sp>
          <p:nvSpPr>
            <p:cNvPr id="21" name="TextBox 20">
              <a:extLst>
                <a:ext uri="{FF2B5EF4-FFF2-40B4-BE49-F238E27FC236}">
                  <a16:creationId xmlns:a16="http://schemas.microsoft.com/office/drawing/2014/main" id="{3A5C8419-A2BD-C242-05E5-47E64D65A6E3}"/>
                </a:ext>
              </a:extLst>
            </p:cNvPr>
            <p:cNvSpPr txBox="1"/>
            <p:nvPr/>
          </p:nvSpPr>
          <p:spPr>
            <a:xfrm>
              <a:off x="1270000" y="4203700"/>
              <a:ext cx="4445000" cy="166712"/>
            </a:xfrm>
            <a:prstGeom prst="rect">
              <a:avLst/>
            </a:prstGeom>
            <a:noFill/>
          </p:spPr>
          <p:txBody>
            <a:bodyPr vert="horz" wrap="square" lIns="0" tIns="0" rIns="0" bIns="0" rtlCol="0">
              <a:spAutoFit/>
            </a:bodyPr>
            <a:lstStyle/>
            <a:p>
              <a:pPr>
                <a:lnSpc>
                  <a:spcPts val="1320"/>
                </a:lnSpc>
              </a:pPr>
              <a:r>
                <a:rPr lang="vi-VN" sz="1100" b="1">
                  <a:solidFill>
                    <a:srgbClr val="A78BFA"/>
                  </a:solidFill>
                  <a:latin typeface="Segoe UI" panose="020B0502040204020203" pitchFamily="34" charset="0"/>
                </a:rPr>
                <a:t>03 // GIÁO DỤC &amp; NÂNG CAO VỐN NGƯỜI</a:t>
              </a:r>
              <a:endParaRPr lang="en-US" sz="1100" b="1">
                <a:solidFill>
                  <a:srgbClr val="A78BFA"/>
                </a:solidFill>
                <a:latin typeface="Segoe UI" panose="020B0502040204020203" pitchFamily="34" charset="0"/>
              </a:endParaRPr>
            </a:p>
          </p:txBody>
        </p:sp>
        <p:sp>
          <p:nvSpPr>
            <p:cNvPr id="22" name="TextBox 21">
              <a:extLst>
                <a:ext uri="{FF2B5EF4-FFF2-40B4-BE49-F238E27FC236}">
                  <a16:creationId xmlns:a16="http://schemas.microsoft.com/office/drawing/2014/main" id="{1C0CE0F1-D762-A546-5419-04CBC14FF467}"/>
                </a:ext>
              </a:extLst>
            </p:cNvPr>
            <p:cNvSpPr txBox="1"/>
            <p:nvPr/>
          </p:nvSpPr>
          <p:spPr>
            <a:xfrm>
              <a:off x="863600" y="4597400"/>
              <a:ext cx="4826000" cy="230832"/>
            </a:xfrm>
            <a:prstGeom prst="rect">
              <a:avLst/>
            </a:prstGeom>
            <a:noFill/>
          </p:spPr>
          <p:txBody>
            <a:bodyPr vert="horz" wrap="square" lIns="0" tIns="0" rIns="0" bIns="0" rtlCol="0">
              <a:spAutoFit/>
            </a:bodyPr>
            <a:lstStyle/>
            <a:p>
              <a:pPr>
                <a:lnSpc>
                  <a:spcPts val="1800"/>
                </a:lnSpc>
              </a:pPr>
              <a:r>
                <a:rPr lang="vi-VN" sz="1500" b="1">
                  <a:solidFill>
                    <a:srgbClr val="FFFFFF"/>
                  </a:solidFill>
                  <a:latin typeface="Segoe UI" panose="020B0502040204020203" pitchFamily="34" charset="0"/>
                </a:rPr>
                <a:t>Chuyển Trọng Tâm Sang Chất Lượng</a:t>
              </a:r>
              <a:endParaRPr lang="en-US" sz="1500" b="1">
                <a:solidFill>
                  <a:srgbClr val="FFFFFF"/>
                </a:solidFill>
                <a:latin typeface="Segoe UI" panose="020B0502040204020203" pitchFamily="34" charset="0"/>
              </a:endParaRPr>
            </a:p>
          </p:txBody>
        </p:sp>
        <p:sp>
          <p:nvSpPr>
            <p:cNvPr id="23" name="TextBox 22">
              <a:extLst>
                <a:ext uri="{FF2B5EF4-FFF2-40B4-BE49-F238E27FC236}">
                  <a16:creationId xmlns:a16="http://schemas.microsoft.com/office/drawing/2014/main" id="{ACE680CA-82F4-D2FA-59B5-42AF61DC655C}"/>
                </a:ext>
              </a:extLst>
            </p:cNvPr>
            <p:cNvSpPr txBox="1"/>
            <p:nvPr/>
          </p:nvSpPr>
          <p:spPr>
            <a:xfrm>
              <a:off x="863600" y="4978400"/>
              <a:ext cx="4826000" cy="600549"/>
            </a:xfrm>
            <a:prstGeom prst="rect">
              <a:avLst/>
            </a:prstGeom>
            <a:noFill/>
          </p:spPr>
          <p:txBody>
            <a:bodyPr vert="horz" wrap="square" lIns="0" tIns="0" rIns="0" bIns="0" rtlCol="0">
              <a:spAutoFit/>
            </a:bodyPr>
            <a:lstStyle/>
            <a:p>
              <a:pPr>
                <a:lnSpc>
                  <a:spcPts val="1625"/>
                </a:lnSpc>
              </a:pPr>
              <a:r>
                <a:rPr lang="en-US" sz="1250">
                  <a:solidFill>
                    <a:srgbClr val="CBD5E1"/>
                  </a:solidFill>
                  <a:latin typeface="Segoe UI" panose="020B0502040204020203" pitchFamily="34" charset="0"/>
                </a:rPr>
                <a:t>Chuyển trọng tâm từ khai thác lao động giá rẻ sang đào tạo kỹ năng số, chuyên môn cao và đổi mới sáng tạo, bứt phá khỏi bẫy thu nhập trung bình.</a:t>
              </a:r>
            </a:p>
          </p:txBody>
        </p:sp>
      </p:grpSp>
      <p:grpSp>
        <p:nvGrpSpPr>
          <p:cNvPr id="31" name="!!Quad_4">
            <a:extLst>
              <a:ext uri="{FF2B5EF4-FFF2-40B4-BE49-F238E27FC236}">
                <a16:creationId xmlns:a16="http://schemas.microsoft.com/office/drawing/2014/main" id="{FF59EF27-2CD0-6252-4661-4A883169E5CF}"/>
              </a:ext>
            </a:extLst>
          </p:cNvPr>
          <p:cNvGrpSpPr/>
          <p:nvPr/>
        </p:nvGrpSpPr>
        <p:grpSpPr>
          <a:xfrm>
            <a:off x="6248400" y="4000500"/>
            <a:ext cx="5334000" cy="2349500"/>
            <a:chOff x="6248400" y="4000500"/>
            <a:chExt cx="5334000" cy="2349500"/>
          </a:xfrm>
        </p:grpSpPr>
        <p:sp>
          <p:nvSpPr>
            <p:cNvPr id="25" name="Rectangle: Rounded Corners 24">
              <a:extLst>
                <a:ext uri="{FF2B5EF4-FFF2-40B4-BE49-F238E27FC236}">
                  <a16:creationId xmlns:a16="http://schemas.microsoft.com/office/drawing/2014/main" id="{21581747-D9C6-C59D-A418-7E148513DD23}"/>
                </a:ext>
              </a:extLst>
            </p:cNvPr>
            <p:cNvSpPr/>
            <p:nvPr/>
          </p:nvSpPr>
          <p:spPr>
            <a:xfrm>
              <a:off x="6248400" y="4000500"/>
              <a:ext cx="5334000" cy="2349500"/>
            </a:xfrm>
            <a:prstGeom prst="roundRect">
              <a:avLst/>
            </a:prstGeom>
            <a:solidFill>
              <a:srgbClr val="0B132B"/>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Graphic 26">
              <a:extLst>
                <a:ext uri="{FF2B5EF4-FFF2-40B4-BE49-F238E27FC236}">
                  <a16:creationId xmlns:a16="http://schemas.microsoft.com/office/drawing/2014/main" id="{862E51C6-C337-FF4C-1729-9C79DC7D2425}"/>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502400" y="4229100"/>
              <a:ext cx="304800" cy="304800"/>
            </a:xfrm>
            <a:prstGeom prst="rect">
              <a:avLst/>
            </a:prstGeom>
          </p:spPr>
        </p:pic>
        <p:sp>
          <p:nvSpPr>
            <p:cNvPr id="28" name="TextBox 27">
              <a:extLst>
                <a:ext uri="{FF2B5EF4-FFF2-40B4-BE49-F238E27FC236}">
                  <a16:creationId xmlns:a16="http://schemas.microsoft.com/office/drawing/2014/main" id="{1E3E4E57-2EC0-3C03-7A92-A607DF9D150C}"/>
                </a:ext>
              </a:extLst>
            </p:cNvPr>
            <p:cNvSpPr txBox="1"/>
            <p:nvPr/>
          </p:nvSpPr>
          <p:spPr>
            <a:xfrm>
              <a:off x="6908800" y="4203700"/>
              <a:ext cx="4445000" cy="166712"/>
            </a:xfrm>
            <a:prstGeom prst="rect">
              <a:avLst/>
            </a:prstGeom>
            <a:noFill/>
          </p:spPr>
          <p:txBody>
            <a:bodyPr vert="horz" wrap="square" lIns="0" tIns="0" rIns="0" bIns="0" rtlCol="0">
              <a:spAutoFit/>
            </a:bodyPr>
            <a:lstStyle/>
            <a:p>
              <a:pPr>
                <a:lnSpc>
                  <a:spcPts val="1320"/>
                </a:lnSpc>
              </a:pPr>
              <a:r>
                <a:rPr lang="en-US" sz="1100" b="1">
                  <a:solidFill>
                    <a:srgbClr val="FBBF24"/>
                  </a:solidFill>
                  <a:latin typeface="Segoe UI" panose="020B0502040204020203" pitchFamily="34" charset="0"/>
                </a:rPr>
                <a:t>04 // QUY HOẠCH ĐÔ THỊ &amp; TÀI NGUYÊN</a:t>
              </a:r>
            </a:p>
          </p:txBody>
        </p:sp>
        <p:sp>
          <p:nvSpPr>
            <p:cNvPr id="29" name="TextBox 28">
              <a:extLst>
                <a:ext uri="{FF2B5EF4-FFF2-40B4-BE49-F238E27FC236}">
                  <a16:creationId xmlns:a16="http://schemas.microsoft.com/office/drawing/2014/main" id="{12E03EC7-0893-01E1-5A59-B8E48FC33588}"/>
                </a:ext>
              </a:extLst>
            </p:cNvPr>
            <p:cNvSpPr txBox="1"/>
            <p:nvPr/>
          </p:nvSpPr>
          <p:spPr>
            <a:xfrm>
              <a:off x="6502400" y="4597400"/>
              <a:ext cx="4826000" cy="230832"/>
            </a:xfrm>
            <a:prstGeom prst="rect">
              <a:avLst/>
            </a:prstGeom>
            <a:noFill/>
          </p:spPr>
          <p:txBody>
            <a:bodyPr vert="horz" wrap="square" lIns="0" tIns="0" rIns="0" bIns="0" rtlCol="0">
              <a:spAutoFit/>
            </a:bodyPr>
            <a:lstStyle/>
            <a:p>
              <a:pPr>
                <a:lnSpc>
                  <a:spcPts val="1800"/>
                </a:lnSpc>
              </a:pPr>
              <a:r>
                <a:rPr lang="vi-VN" sz="1500" b="1">
                  <a:solidFill>
                    <a:srgbClr val="FFFFFF"/>
                  </a:solidFill>
                  <a:latin typeface="Segoe UI" panose="020B0502040204020203" pitchFamily="34" charset="0"/>
                </a:rPr>
                <a:t>Phân Bổ Cư Dân &amp; Giảm Tải Hạ Tầng</a:t>
              </a:r>
              <a:endParaRPr lang="en-US" sz="1500" b="1">
                <a:solidFill>
                  <a:srgbClr val="FFFFFF"/>
                </a:solidFill>
                <a:latin typeface="Segoe UI" panose="020B0502040204020203" pitchFamily="34" charset="0"/>
              </a:endParaRPr>
            </a:p>
          </p:txBody>
        </p:sp>
        <p:sp>
          <p:nvSpPr>
            <p:cNvPr id="30" name="TextBox 29">
              <a:extLst>
                <a:ext uri="{FF2B5EF4-FFF2-40B4-BE49-F238E27FC236}">
                  <a16:creationId xmlns:a16="http://schemas.microsoft.com/office/drawing/2014/main" id="{E5A2F081-FB6B-91E6-91D4-D902BDFEA25E}"/>
                </a:ext>
              </a:extLst>
            </p:cNvPr>
            <p:cNvSpPr txBox="1"/>
            <p:nvPr/>
          </p:nvSpPr>
          <p:spPr>
            <a:xfrm>
              <a:off x="6502400" y="4978400"/>
              <a:ext cx="4826000" cy="600549"/>
            </a:xfrm>
            <a:prstGeom prst="rect">
              <a:avLst/>
            </a:prstGeom>
            <a:noFill/>
          </p:spPr>
          <p:txBody>
            <a:bodyPr vert="horz" wrap="square" lIns="0" tIns="0" rIns="0" bIns="0" rtlCol="0">
              <a:spAutoFit/>
            </a:bodyPr>
            <a:lstStyle/>
            <a:p>
              <a:pPr>
                <a:lnSpc>
                  <a:spcPts val="1625"/>
                </a:lnSpc>
              </a:pPr>
              <a:r>
                <a:rPr lang="vi-VN" sz="1250">
                  <a:solidFill>
                    <a:srgbClr val="CBD5E1"/>
                  </a:solidFill>
                  <a:latin typeface="Segoe UI" panose="020B0502040204020203" pitchFamily="34" charset="0"/>
                </a:rPr>
                <a:t>Quy hoạch phân bổ dân cư hợp lý, giải tỏa quá tải siêu đô thị và phát triển chuỗi đô thị vệ tinh sinh thái, thích ứng với biến đổi khí hậu.</a:t>
              </a:r>
              <a:endParaRPr lang="en-US" sz="1250">
                <a:solidFill>
                  <a:srgbClr val="CBD5E1"/>
                </a:solidFill>
                <a:latin typeface="Segoe UI" panose="020B0502040204020203" pitchFamily="34" charset="0"/>
              </a:endParaRPr>
            </a:p>
          </p:txBody>
        </p:sp>
      </p:grpSp>
    </p:spTree>
    <p:extLst>
      <p:ext uri="{BB962C8B-B14F-4D97-AF65-F5344CB8AC3E}">
        <p14:creationId xmlns:p14="http://schemas.microsoft.com/office/powerpoint/2010/main" val="7512312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450" fill="hold"/>
                                        <p:tgtEl>
                                          <p:spTgt spid="10"/>
                                        </p:tgtEl>
                                        <p:attrNameLst>
                                          <p:attrName>ppt_x</p:attrName>
                                        </p:attrNameLst>
                                      </p:cBhvr>
                                      <p:tavLst>
                                        <p:tav tm="0">
                                          <p:val>
                                            <p:strVal val="#ppt_x"/>
                                          </p:val>
                                        </p:tav>
                                        <p:tav tm="100000">
                                          <p:val>
                                            <p:strVal val="#ppt_x"/>
                                          </p:val>
                                        </p:tav>
                                      </p:tavLst>
                                    </p:anim>
                                    <p:anim calcmode="lin" valueType="num">
                                      <p:cBhvr additive="base">
                                        <p:cTn id="8" dur="45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450" fill="hold"/>
                                        <p:tgtEl>
                                          <p:spTgt spid="17"/>
                                        </p:tgtEl>
                                        <p:attrNameLst>
                                          <p:attrName>ppt_x</p:attrName>
                                        </p:attrNameLst>
                                      </p:cBhvr>
                                      <p:tavLst>
                                        <p:tav tm="0">
                                          <p:val>
                                            <p:strVal val="#ppt_x"/>
                                          </p:val>
                                        </p:tav>
                                        <p:tav tm="100000">
                                          <p:val>
                                            <p:strVal val="#ppt_x"/>
                                          </p:val>
                                        </p:tav>
                                      </p:tavLst>
                                    </p:anim>
                                    <p:anim calcmode="lin" valueType="num">
                                      <p:cBhvr additive="base">
                                        <p:cTn id="14" dur="45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450" fill="hold"/>
                                        <p:tgtEl>
                                          <p:spTgt spid="24"/>
                                        </p:tgtEl>
                                        <p:attrNameLst>
                                          <p:attrName>ppt_x</p:attrName>
                                        </p:attrNameLst>
                                      </p:cBhvr>
                                      <p:tavLst>
                                        <p:tav tm="0">
                                          <p:val>
                                            <p:strVal val="#ppt_x"/>
                                          </p:val>
                                        </p:tav>
                                        <p:tav tm="100000">
                                          <p:val>
                                            <p:strVal val="#ppt_x"/>
                                          </p:val>
                                        </p:tav>
                                      </p:tavLst>
                                    </p:anim>
                                    <p:anim calcmode="lin" valueType="num">
                                      <p:cBhvr additive="base">
                                        <p:cTn id="20" dur="45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accel="50000" decel="50000"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additive="base">
                                        <p:cTn id="25" dur="450" fill="hold"/>
                                        <p:tgtEl>
                                          <p:spTgt spid="31"/>
                                        </p:tgtEl>
                                        <p:attrNameLst>
                                          <p:attrName>ppt_x</p:attrName>
                                        </p:attrNameLst>
                                      </p:cBhvr>
                                      <p:tavLst>
                                        <p:tav tm="0">
                                          <p:val>
                                            <p:strVal val="#ppt_x"/>
                                          </p:val>
                                        </p:tav>
                                        <p:tav tm="100000">
                                          <p:val>
                                            <p:strVal val="#ppt_x"/>
                                          </p:val>
                                        </p:tav>
                                      </p:tavLst>
                                    </p:anim>
                                    <p:anim calcmode="lin" valueType="num">
                                      <p:cBhvr additive="base">
                                        <p:cTn id="26" dur="45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60B14"/>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D82DECD-4CEB-34F3-3802-AAC6DEAC3439}"/>
              </a:ext>
            </a:extLst>
          </p:cNvPr>
          <p:cNvSpPr/>
          <p:nvPr/>
        </p:nvSpPr>
        <p:spPr>
          <a:xfrm>
            <a:off x="609600" y="508000"/>
            <a:ext cx="2921000" cy="304800"/>
          </a:xfrm>
          <a:prstGeom prst="roundRect">
            <a:avLst/>
          </a:prstGeom>
          <a:solidFill>
            <a:srgbClr val="082F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25400" rIns="76200" bIns="25400" rtlCol="0" anchor="ctr"/>
          <a:lstStyle/>
          <a:p>
            <a:pPr algn="ctr"/>
            <a:r>
              <a:rPr lang="en-US" sz="1000" b="1">
                <a:solidFill>
                  <a:srgbClr val="38BDF8"/>
                </a:solidFill>
                <a:latin typeface="Segoe UI" panose="020B0502040204020203" pitchFamily="34" charset="0"/>
              </a:rPr>
              <a:t>TỔNG KẾT &amp; TẦM NHÌN HÀNH ĐỘNG</a:t>
            </a:r>
          </a:p>
        </p:txBody>
      </p:sp>
      <p:sp>
        <p:nvSpPr>
          <p:cNvPr id="3" name="TextBox 2">
            <a:extLst>
              <a:ext uri="{FF2B5EF4-FFF2-40B4-BE49-F238E27FC236}">
                <a16:creationId xmlns:a16="http://schemas.microsoft.com/office/drawing/2014/main" id="{A1C6723F-1F18-E3BC-0E5B-D4BFE151E0C7}"/>
              </a:ext>
            </a:extLst>
          </p:cNvPr>
          <p:cNvSpPr txBox="1"/>
          <p:nvPr/>
        </p:nvSpPr>
        <p:spPr>
          <a:xfrm>
            <a:off x="609600" y="889000"/>
            <a:ext cx="9525000" cy="397545"/>
          </a:xfrm>
          <a:prstGeom prst="rect">
            <a:avLst/>
          </a:prstGeom>
          <a:noFill/>
        </p:spPr>
        <p:txBody>
          <a:bodyPr vert="horz" wrap="square" lIns="0" tIns="0" rIns="0" bIns="0" rtlCol="0">
            <a:spAutoFit/>
          </a:bodyPr>
          <a:lstStyle/>
          <a:p>
            <a:pPr>
              <a:lnSpc>
                <a:spcPts val="3120"/>
              </a:lnSpc>
            </a:pPr>
            <a:r>
              <a:rPr lang="vi-VN" sz="2600" b="1">
                <a:solidFill>
                  <a:srgbClr val="FFFFFF"/>
                </a:solidFill>
                <a:latin typeface="Segoe UI" panose="020B0502040204020203" pitchFamily="34" charset="0"/>
              </a:rPr>
              <a:t>Khuyến Nghị Chiến Lược Cho Nhà Hoạch Định</a:t>
            </a:r>
            <a:endParaRPr lang="en-US" sz="2600" b="1">
              <a:solidFill>
                <a:srgbClr val="FFFFFF"/>
              </a:solidFill>
              <a:latin typeface="Segoe UI" panose="020B0502040204020203" pitchFamily="34" charset="0"/>
            </a:endParaRPr>
          </a:p>
        </p:txBody>
      </p:sp>
      <p:sp>
        <p:nvSpPr>
          <p:cNvPr id="4" name="!!Stage_Hero_Container">
            <a:extLst>
              <a:ext uri="{FF2B5EF4-FFF2-40B4-BE49-F238E27FC236}">
                <a16:creationId xmlns:a16="http://schemas.microsoft.com/office/drawing/2014/main" id="{2CA3D239-145B-197E-2153-E47C9DBEB7C6}"/>
              </a:ext>
            </a:extLst>
          </p:cNvPr>
          <p:cNvSpPr/>
          <p:nvPr/>
        </p:nvSpPr>
        <p:spPr>
          <a:xfrm>
            <a:off x="609600" y="1460500"/>
            <a:ext cx="10972800" cy="952500"/>
          </a:xfrm>
          <a:prstGeom prst="roundRect">
            <a:avLst/>
          </a:prstGeom>
          <a:solidFill>
            <a:srgbClr val="0B132B"/>
          </a:solidFill>
          <a:ln w="1905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7AA6D4B-6CE7-C99D-87B6-3393DF47ADF7}"/>
              </a:ext>
            </a:extLst>
          </p:cNvPr>
          <p:cNvSpPr txBox="1"/>
          <p:nvPr/>
        </p:nvSpPr>
        <p:spPr>
          <a:xfrm>
            <a:off x="863600" y="1714500"/>
            <a:ext cx="10464800" cy="410369"/>
          </a:xfrm>
          <a:prstGeom prst="rect">
            <a:avLst/>
          </a:prstGeom>
          <a:noFill/>
        </p:spPr>
        <p:txBody>
          <a:bodyPr vert="horz" wrap="square" lIns="0" tIns="0" rIns="0" bIns="0" rtlCol="0">
            <a:spAutoFit/>
          </a:bodyPr>
          <a:lstStyle/>
          <a:p>
            <a:pPr algn="ctr">
              <a:lnSpc>
                <a:spcPts val="1620"/>
              </a:lnSpc>
            </a:pPr>
            <a:r>
              <a:rPr lang="vi-VN" sz="1350">
                <a:solidFill>
                  <a:srgbClr val="E2E8F0"/>
                </a:solidFill>
                <a:latin typeface="Segoe UI" panose="020B0502040204020203" pitchFamily="34" charset="0"/>
              </a:rPr>
              <a:t>“Dân số là gốc rễ của mọi nguồn lực quốc gia. Chính sách kinh tế - xã hội tách rời quy luật nhân khẩu học sẽ luôn đối mặt rủi ro tụt hậu và mất cân đối cơ cấu.”</a:t>
            </a:r>
            <a:endParaRPr lang="en-US" sz="1350">
              <a:solidFill>
                <a:srgbClr val="E2E8F0"/>
              </a:solidFill>
              <a:latin typeface="Segoe UI" panose="020B0502040204020203" pitchFamily="34" charset="0"/>
            </a:endParaRPr>
          </a:p>
        </p:txBody>
      </p:sp>
      <p:grpSp>
        <p:nvGrpSpPr>
          <p:cNvPr id="12" name="!!Horizon_1">
            <a:extLst>
              <a:ext uri="{FF2B5EF4-FFF2-40B4-BE49-F238E27FC236}">
                <a16:creationId xmlns:a16="http://schemas.microsoft.com/office/drawing/2014/main" id="{25576BE3-528F-1833-3F24-33759D31A1F3}"/>
              </a:ext>
            </a:extLst>
          </p:cNvPr>
          <p:cNvGrpSpPr/>
          <p:nvPr/>
        </p:nvGrpSpPr>
        <p:grpSpPr>
          <a:xfrm>
            <a:off x="609600" y="2641600"/>
            <a:ext cx="3403600" cy="3708400"/>
            <a:chOff x="609600" y="2641600"/>
            <a:chExt cx="3403600" cy="3708400"/>
          </a:xfrm>
        </p:grpSpPr>
        <p:sp>
          <p:nvSpPr>
            <p:cNvPr id="6" name="Rectangle: Rounded Corners 5">
              <a:extLst>
                <a:ext uri="{FF2B5EF4-FFF2-40B4-BE49-F238E27FC236}">
                  <a16:creationId xmlns:a16="http://schemas.microsoft.com/office/drawing/2014/main" id="{6C1CACE5-23DF-47CE-A12C-885041DB345F}"/>
                </a:ext>
              </a:extLst>
            </p:cNvPr>
            <p:cNvSpPr/>
            <p:nvPr/>
          </p:nvSpPr>
          <p:spPr>
            <a:xfrm>
              <a:off x="609600" y="2641600"/>
              <a:ext cx="3403600" cy="3708400"/>
            </a:xfrm>
            <a:prstGeom prst="roundRect">
              <a:avLst/>
            </a:prstGeom>
            <a:solidFill>
              <a:srgbClr val="0B132B"/>
            </a:solidFill>
            <a:ln w="19050">
              <a:solidFill>
                <a:srgbClr val="06B6D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8EE60560-A66F-0117-E42C-68687BE6C6F3}"/>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863600" y="2870200"/>
              <a:ext cx="330200" cy="330200"/>
            </a:xfrm>
            <a:prstGeom prst="rect">
              <a:avLst/>
            </a:prstGeom>
          </p:spPr>
        </p:pic>
        <p:sp>
          <p:nvSpPr>
            <p:cNvPr id="9" name="TextBox 8">
              <a:extLst>
                <a:ext uri="{FF2B5EF4-FFF2-40B4-BE49-F238E27FC236}">
                  <a16:creationId xmlns:a16="http://schemas.microsoft.com/office/drawing/2014/main" id="{6C8594A9-C654-2DAE-84FB-0A54DB9162AC}"/>
                </a:ext>
              </a:extLst>
            </p:cNvPr>
            <p:cNvSpPr txBox="1"/>
            <p:nvPr/>
          </p:nvSpPr>
          <p:spPr>
            <a:xfrm>
              <a:off x="1295400" y="2844800"/>
              <a:ext cx="2540000" cy="155492"/>
            </a:xfrm>
            <a:prstGeom prst="rect">
              <a:avLst/>
            </a:prstGeom>
            <a:noFill/>
          </p:spPr>
          <p:txBody>
            <a:bodyPr vert="horz" wrap="square" lIns="0" tIns="0" rIns="0" bIns="0" rtlCol="0">
              <a:spAutoFit/>
            </a:bodyPr>
            <a:lstStyle/>
            <a:p>
              <a:pPr>
                <a:lnSpc>
                  <a:spcPts val="1260"/>
                </a:lnSpc>
              </a:pPr>
              <a:r>
                <a:rPr lang="en-US" sz="1050" b="1">
                  <a:solidFill>
                    <a:srgbClr val="38BDF8"/>
                  </a:solidFill>
                  <a:latin typeface="Segoe UI" panose="020B0502040204020203" pitchFamily="34" charset="0"/>
                </a:rPr>
                <a:t>GIAI ĐOẠN 2024 - 2030</a:t>
              </a:r>
            </a:p>
          </p:txBody>
        </p:sp>
        <p:sp>
          <p:nvSpPr>
            <p:cNvPr id="10" name="TextBox 9">
              <a:extLst>
                <a:ext uri="{FF2B5EF4-FFF2-40B4-BE49-F238E27FC236}">
                  <a16:creationId xmlns:a16="http://schemas.microsoft.com/office/drawing/2014/main" id="{3C66B6E7-D392-E51C-449F-61277835A636}"/>
                </a:ext>
              </a:extLst>
            </p:cNvPr>
            <p:cNvSpPr txBox="1"/>
            <p:nvPr/>
          </p:nvSpPr>
          <p:spPr>
            <a:xfrm>
              <a:off x="863600" y="3276600"/>
              <a:ext cx="2895600" cy="243656"/>
            </a:xfrm>
            <a:prstGeom prst="rect">
              <a:avLst/>
            </a:prstGeom>
            <a:noFill/>
          </p:spPr>
          <p:txBody>
            <a:bodyPr vert="horz" wrap="square" lIns="0" tIns="0" rIns="0" bIns="0" rtlCol="0">
              <a:spAutoFit/>
            </a:bodyPr>
            <a:lstStyle/>
            <a:p>
              <a:pPr>
                <a:lnSpc>
                  <a:spcPts val="1920"/>
                </a:lnSpc>
              </a:pPr>
              <a:r>
                <a:rPr lang="vi-VN" sz="1600" b="1">
                  <a:solidFill>
                    <a:srgbClr val="FFFFFF"/>
                  </a:solidFill>
                  <a:latin typeface="Segoe UI" panose="020B0502040204020203" pitchFamily="34" charset="0"/>
                </a:rPr>
                <a:t>Bứt Phá Cơ Cấu Vàng</a:t>
              </a:r>
              <a:endParaRPr lang="en-US" sz="1600" b="1">
                <a:solidFill>
                  <a:srgbClr val="FFFFFF"/>
                </a:solidFill>
                <a:latin typeface="Segoe UI" panose="020B0502040204020203" pitchFamily="34" charset="0"/>
              </a:endParaRPr>
            </a:p>
          </p:txBody>
        </p:sp>
        <p:sp>
          <p:nvSpPr>
            <p:cNvPr id="11" name="TextBox 10">
              <a:extLst>
                <a:ext uri="{FF2B5EF4-FFF2-40B4-BE49-F238E27FC236}">
                  <a16:creationId xmlns:a16="http://schemas.microsoft.com/office/drawing/2014/main" id="{43956F50-1797-1964-B047-716248382369}"/>
                </a:ext>
              </a:extLst>
            </p:cNvPr>
            <p:cNvSpPr txBox="1"/>
            <p:nvPr/>
          </p:nvSpPr>
          <p:spPr>
            <a:xfrm>
              <a:off x="863600" y="3708400"/>
              <a:ext cx="2895600" cy="853823"/>
            </a:xfrm>
            <a:prstGeom prst="rect">
              <a:avLst/>
            </a:prstGeom>
            <a:noFill/>
          </p:spPr>
          <p:txBody>
            <a:bodyPr vert="horz" wrap="square" lIns="0" tIns="0" rIns="0" bIns="0" rtlCol="0">
              <a:spAutoFit/>
            </a:bodyPr>
            <a:lstStyle/>
            <a:p>
              <a:pPr>
                <a:lnSpc>
                  <a:spcPts val="1688"/>
                </a:lnSpc>
              </a:pPr>
              <a:r>
                <a:rPr lang="vi-VN" sz="1250">
                  <a:solidFill>
                    <a:srgbClr val="CBD5E1"/>
                  </a:solidFill>
                  <a:latin typeface="Segoe UI" panose="020B0502040204020203" pitchFamily="34" charset="0"/>
                </a:rPr>
                <a:t>• Tối đa hóa việc làm chất lượng cao
• Đào tạo kỹ năng số cho 70% lao động
• Nâng cao năng suất trước khi già hóa
• Thúc đẩy công nghiệp bán dẫn &amp; AI</a:t>
              </a:r>
              <a:endParaRPr lang="en-US" sz="1250">
                <a:solidFill>
                  <a:srgbClr val="CBD5E1"/>
                </a:solidFill>
                <a:latin typeface="Segoe UI" panose="020B0502040204020203" pitchFamily="34" charset="0"/>
              </a:endParaRPr>
            </a:p>
          </p:txBody>
        </p:sp>
      </p:grpSp>
      <p:grpSp>
        <p:nvGrpSpPr>
          <p:cNvPr id="19" name="!!Horizon_2">
            <a:extLst>
              <a:ext uri="{FF2B5EF4-FFF2-40B4-BE49-F238E27FC236}">
                <a16:creationId xmlns:a16="http://schemas.microsoft.com/office/drawing/2014/main" id="{9ADDC676-8CAA-F1E1-28A4-05D998C0E05B}"/>
              </a:ext>
            </a:extLst>
          </p:cNvPr>
          <p:cNvGrpSpPr/>
          <p:nvPr/>
        </p:nvGrpSpPr>
        <p:grpSpPr>
          <a:xfrm>
            <a:off x="4394200" y="2641600"/>
            <a:ext cx="3403600" cy="3708400"/>
            <a:chOff x="4394200" y="2641600"/>
            <a:chExt cx="3403600" cy="3708400"/>
          </a:xfrm>
        </p:grpSpPr>
        <p:sp>
          <p:nvSpPr>
            <p:cNvPr id="13" name="Rectangle: Rounded Corners 12">
              <a:extLst>
                <a:ext uri="{FF2B5EF4-FFF2-40B4-BE49-F238E27FC236}">
                  <a16:creationId xmlns:a16="http://schemas.microsoft.com/office/drawing/2014/main" id="{8A4F20D4-570F-14CE-324A-1E1885159008}"/>
                </a:ext>
              </a:extLst>
            </p:cNvPr>
            <p:cNvSpPr/>
            <p:nvPr/>
          </p:nvSpPr>
          <p:spPr>
            <a:xfrm>
              <a:off x="4394200" y="2641600"/>
              <a:ext cx="3403600" cy="3708400"/>
            </a:xfrm>
            <a:prstGeom prst="roundRect">
              <a:avLst/>
            </a:prstGeom>
            <a:solidFill>
              <a:srgbClr val="0B132B"/>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259BE1CC-B66F-D50E-5582-411A15041307}"/>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4648200" y="2870200"/>
              <a:ext cx="330200" cy="330200"/>
            </a:xfrm>
            <a:prstGeom prst="rect">
              <a:avLst/>
            </a:prstGeom>
          </p:spPr>
        </p:pic>
        <p:sp>
          <p:nvSpPr>
            <p:cNvPr id="16" name="TextBox 15">
              <a:extLst>
                <a:ext uri="{FF2B5EF4-FFF2-40B4-BE49-F238E27FC236}">
                  <a16:creationId xmlns:a16="http://schemas.microsoft.com/office/drawing/2014/main" id="{E672D344-C716-5FD1-9213-6F439B028A7A}"/>
                </a:ext>
              </a:extLst>
            </p:cNvPr>
            <p:cNvSpPr txBox="1"/>
            <p:nvPr/>
          </p:nvSpPr>
          <p:spPr>
            <a:xfrm>
              <a:off x="5080000" y="2844800"/>
              <a:ext cx="2540000" cy="155492"/>
            </a:xfrm>
            <a:prstGeom prst="rect">
              <a:avLst/>
            </a:prstGeom>
            <a:noFill/>
          </p:spPr>
          <p:txBody>
            <a:bodyPr vert="horz" wrap="square" lIns="0" tIns="0" rIns="0" bIns="0" rtlCol="0">
              <a:spAutoFit/>
            </a:bodyPr>
            <a:lstStyle/>
            <a:p>
              <a:pPr>
                <a:lnSpc>
                  <a:spcPts val="1260"/>
                </a:lnSpc>
              </a:pPr>
              <a:r>
                <a:rPr lang="en-US" sz="1050" b="1">
                  <a:solidFill>
                    <a:srgbClr val="34D399"/>
                  </a:solidFill>
                  <a:latin typeface="Segoe UI" panose="020B0502040204020203" pitchFamily="34" charset="0"/>
                </a:rPr>
                <a:t>GIAI ĐOẠN 2030 - 2040</a:t>
              </a:r>
            </a:p>
          </p:txBody>
        </p:sp>
        <p:sp>
          <p:nvSpPr>
            <p:cNvPr id="17" name="TextBox 16">
              <a:extLst>
                <a:ext uri="{FF2B5EF4-FFF2-40B4-BE49-F238E27FC236}">
                  <a16:creationId xmlns:a16="http://schemas.microsoft.com/office/drawing/2014/main" id="{3F5C4579-82F5-F486-F7E9-2DC3ABE7FD77}"/>
                </a:ext>
              </a:extLst>
            </p:cNvPr>
            <p:cNvSpPr txBox="1"/>
            <p:nvPr/>
          </p:nvSpPr>
          <p:spPr>
            <a:xfrm>
              <a:off x="4648200" y="3276600"/>
              <a:ext cx="2895600" cy="243656"/>
            </a:xfrm>
            <a:prstGeom prst="rect">
              <a:avLst/>
            </a:prstGeom>
            <a:noFill/>
          </p:spPr>
          <p:txBody>
            <a:bodyPr vert="horz" wrap="square" lIns="0" tIns="0" rIns="0" bIns="0" rtlCol="0">
              <a:spAutoFit/>
            </a:bodyPr>
            <a:lstStyle/>
            <a:p>
              <a:pPr>
                <a:lnSpc>
                  <a:spcPts val="1920"/>
                </a:lnSpc>
              </a:pPr>
              <a:r>
                <a:rPr lang="en-US" sz="1600" b="1">
                  <a:solidFill>
                    <a:srgbClr val="FFFFFF"/>
                  </a:solidFill>
                  <a:latin typeface="Segoe UI" panose="020B0502040204020203" pitchFamily="34" charset="0"/>
                </a:rPr>
                <a:t>Chủ Động Thích Ứng Già</a:t>
              </a:r>
            </a:p>
          </p:txBody>
        </p:sp>
        <p:sp>
          <p:nvSpPr>
            <p:cNvPr id="18" name="TextBox 17">
              <a:extLst>
                <a:ext uri="{FF2B5EF4-FFF2-40B4-BE49-F238E27FC236}">
                  <a16:creationId xmlns:a16="http://schemas.microsoft.com/office/drawing/2014/main" id="{ECD8E02F-DA11-358D-3B31-047DDD207126}"/>
                </a:ext>
              </a:extLst>
            </p:cNvPr>
            <p:cNvSpPr txBox="1"/>
            <p:nvPr/>
          </p:nvSpPr>
          <p:spPr>
            <a:xfrm>
              <a:off x="4648200" y="3708400"/>
              <a:ext cx="2895600" cy="1071832"/>
            </a:xfrm>
            <a:prstGeom prst="rect">
              <a:avLst/>
            </a:prstGeom>
            <a:noFill/>
          </p:spPr>
          <p:txBody>
            <a:bodyPr vert="horz" wrap="square" lIns="0" tIns="0" rIns="0" bIns="0" rtlCol="0">
              <a:spAutoFit/>
            </a:bodyPr>
            <a:lstStyle/>
            <a:p>
              <a:pPr>
                <a:lnSpc>
                  <a:spcPts val="1688"/>
                </a:lnSpc>
              </a:pPr>
              <a:r>
                <a:rPr lang="vi-VN" sz="1250">
                  <a:solidFill>
                    <a:srgbClr val="CBD5E1"/>
                  </a:solidFill>
                  <a:latin typeface="Segoe UI" panose="020B0502040204020203" pitchFamily="34" charset="0"/>
                </a:rPr>
                <a:t>• Cải cách bảo hiểm xã hội đa tầng
• Hoàn thiện mạng lưới y tế lão khoa
• Tạo lập thị trường kinh tế bạc (Silver Economy)
• Thúc đẩy già hóa tích cực &amp; an toàn</a:t>
              </a:r>
              <a:endParaRPr lang="en-US" sz="1250">
                <a:solidFill>
                  <a:srgbClr val="CBD5E1"/>
                </a:solidFill>
                <a:latin typeface="Segoe UI" panose="020B0502040204020203" pitchFamily="34" charset="0"/>
              </a:endParaRPr>
            </a:p>
          </p:txBody>
        </p:sp>
      </p:grpSp>
      <p:grpSp>
        <p:nvGrpSpPr>
          <p:cNvPr id="26" name="!!Horizon_3">
            <a:extLst>
              <a:ext uri="{FF2B5EF4-FFF2-40B4-BE49-F238E27FC236}">
                <a16:creationId xmlns:a16="http://schemas.microsoft.com/office/drawing/2014/main" id="{08198EF6-C5D9-DB56-0331-6ADE149B58C1}"/>
              </a:ext>
            </a:extLst>
          </p:cNvPr>
          <p:cNvGrpSpPr/>
          <p:nvPr/>
        </p:nvGrpSpPr>
        <p:grpSpPr>
          <a:xfrm>
            <a:off x="8178800" y="2641600"/>
            <a:ext cx="3403600" cy="3708400"/>
            <a:chOff x="8178800" y="2641600"/>
            <a:chExt cx="3403600" cy="3708400"/>
          </a:xfrm>
        </p:grpSpPr>
        <p:sp>
          <p:nvSpPr>
            <p:cNvPr id="20" name="Rectangle: Rounded Corners 19">
              <a:extLst>
                <a:ext uri="{FF2B5EF4-FFF2-40B4-BE49-F238E27FC236}">
                  <a16:creationId xmlns:a16="http://schemas.microsoft.com/office/drawing/2014/main" id="{F3BCECB1-7A27-B39C-CAC9-36B84666E7DB}"/>
                </a:ext>
              </a:extLst>
            </p:cNvPr>
            <p:cNvSpPr/>
            <p:nvPr/>
          </p:nvSpPr>
          <p:spPr>
            <a:xfrm>
              <a:off x="8178800" y="2641600"/>
              <a:ext cx="3403600" cy="3708400"/>
            </a:xfrm>
            <a:prstGeom prst="roundRect">
              <a:avLst/>
            </a:prstGeom>
            <a:solidFill>
              <a:srgbClr val="0B132B"/>
            </a:solidFill>
            <a:ln w="1905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FC7CF0D9-ED46-4C44-3363-44A3B9465717}"/>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432800" y="2870200"/>
              <a:ext cx="330200" cy="330200"/>
            </a:xfrm>
            <a:prstGeom prst="rect">
              <a:avLst/>
            </a:prstGeom>
          </p:spPr>
        </p:pic>
        <p:sp>
          <p:nvSpPr>
            <p:cNvPr id="23" name="TextBox 22">
              <a:extLst>
                <a:ext uri="{FF2B5EF4-FFF2-40B4-BE49-F238E27FC236}">
                  <a16:creationId xmlns:a16="http://schemas.microsoft.com/office/drawing/2014/main" id="{95BBCC83-92D4-96C1-750F-4CDDEB1DC0FA}"/>
                </a:ext>
              </a:extLst>
            </p:cNvPr>
            <p:cNvSpPr txBox="1"/>
            <p:nvPr/>
          </p:nvSpPr>
          <p:spPr>
            <a:xfrm>
              <a:off x="8864600" y="2844800"/>
              <a:ext cx="2540000" cy="155492"/>
            </a:xfrm>
            <a:prstGeom prst="rect">
              <a:avLst/>
            </a:prstGeom>
            <a:noFill/>
          </p:spPr>
          <p:txBody>
            <a:bodyPr vert="horz" wrap="square" lIns="0" tIns="0" rIns="0" bIns="0" rtlCol="0">
              <a:spAutoFit/>
            </a:bodyPr>
            <a:lstStyle/>
            <a:p>
              <a:pPr>
                <a:lnSpc>
                  <a:spcPts val="1260"/>
                </a:lnSpc>
              </a:pPr>
              <a:r>
                <a:rPr lang="en-US" sz="1050" b="1">
                  <a:solidFill>
                    <a:srgbClr val="A78BFA"/>
                  </a:solidFill>
                  <a:latin typeface="Segoe UI" panose="020B0502040204020203" pitchFamily="34" charset="0"/>
                </a:rPr>
                <a:t>TẦM NHÌN 2045+</a:t>
              </a:r>
            </a:p>
          </p:txBody>
        </p:sp>
        <p:sp>
          <p:nvSpPr>
            <p:cNvPr id="24" name="TextBox 23">
              <a:extLst>
                <a:ext uri="{FF2B5EF4-FFF2-40B4-BE49-F238E27FC236}">
                  <a16:creationId xmlns:a16="http://schemas.microsoft.com/office/drawing/2014/main" id="{2CDDBABF-7933-5EF0-275B-BC7E877E2048}"/>
                </a:ext>
              </a:extLst>
            </p:cNvPr>
            <p:cNvSpPr txBox="1"/>
            <p:nvPr/>
          </p:nvSpPr>
          <p:spPr>
            <a:xfrm>
              <a:off x="8432800" y="3276600"/>
              <a:ext cx="2895600" cy="243656"/>
            </a:xfrm>
            <a:prstGeom prst="rect">
              <a:avLst/>
            </a:prstGeom>
            <a:noFill/>
          </p:spPr>
          <p:txBody>
            <a:bodyPr vert="horz" wrap="square" lIns="0" tIns="0" rIns="0" bIns="0" rtlCol="0">
              <a:spAutoFit/>
            </a:bodyPr>
            <a:lstStyle/>
            <a:p>
              <a:pPr>
                <a:lnSpc>
                  <a:spcPts val="1920"/>
                </a:lnSpc>
              </a:pPr>
              <a:r>
                <a:rPr lang="en-US" sz="1600" b="1">
                  <a:solidFill>
                    <a:srgbClr val="FFFFFF"/>
                  </a:solidFill>
                  <a:latin typeface="Segoe UI" panose="020B0502040204020203" pitchFamily="34" charset="0"/>
                </a:rPr>
                <a:t>Nâng Tầm Tầm Vóc Việt</a:t>
              </a:r>
            </a:p>
          </p:txBody>
        </p:sp>
        <p:sp>
          <p:nvSpPr>
            <p:cNvPr id="25" name="TextBox 24">
              <a:extLst>
                <a:ext uri="{FF2B5EF4-FFF2-40B4-BE49-F238E27FC236}">
                  <a16:creationId xmlns:a16="http://schemas.microsoft.com/office/drawing/2014/main" id="{53F1BAE3-EA6D-BC29-DA8C-7F13F6C0BCA1}"/>
                </a:ext>
              </a:extLst>
            </p:cNvPr>
            <p:cNvSpPr txBox="1"/>
            <p:nvPr/>
          </p:nvSpPr>
          <p:spPr>
            <a:xfrm>
              <a:off x="8432800" y="3708400"/>
              <a:ext cx="2895600" cy="1289840"/>
            </a:xfrm>
            <a:prstGeom prst="rect">
              <a:avLst/>
            </a:prstGeom>
            <a:noFill/>
          </p:spPr>
          <p:txBody>
            <a:bodyPr vert="horz" wrap="square" lIns="0" tIns="0" rIns="0" bIns="0" rtlCol="0">
              <a:spAutoFit/>
            </a:bodyPr>
            <a:lstStyle/>
            <a:p>
              <a:pPr>
                <a:lnSpc>
                  <a:spcPts val="1688"/>
                </a:lnSpc>
              </a:pPr>
              <a:r>
                <a:rPr lang="vi-VN" sz="1250">
                  <a:solidFill>
                    <a:srgbClr val="CBD5E1"/>
                  </a:solidFill>
                  <a:latin typeface="Segoe UI" panose="020B0502040204020203" pitchFamily="34" charset="0"/>
                </a:rPr>
                <a:t>• Đưa chỉ số HDI vào nhóm Rất cao (&gt;0.800)
• Hệ thống an sinh bền vững mọi thế hệ
• Chuỗi đô thị thông minh, sinh thái
• Đưa Việt Nam thành quốc gia phát triển</a:t>
              </a:r>
              <a:endParaRPr lang="en-US" sz="1250">
                <a:solidFill>
                  <a:srgbClr val="CBD5E1"/>
                </a:solidFill>
                <a:latin typeface="Segoe UI" panose="020B0502040204020203" pitchFamily="34" charset="0"/>
              </a:endParaRPr>
            </a:p>
          </p:txBody>
        </p:sp>
      </p:grpSp>
    </p:spTree>
    <p:extLst>
      <p:ext uri="{BB962C8B-B14F-4D97-AF65-F5344CB8AC3E}">
        <p14:creationId xmlns:p14="http://schemas.microsoft.com/office/powerpoint/2010/main" val="3648612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450" fill="hold"/>
                                        <p:tgtEl>
                                          <p:spTgt spid="12"/>
                                        </p:tgtEl>
                                        <p:attrNameLst>
                                          <p:attrName>ppt_x</p:attrName>
                                        </p:attrNameLst>
                                      </p:cBhvr>
                                      <p:tavLst>
                                        <p:tav tm="0">
                                          <p:val>
                                            <p:strVal val="#ppt_x"/>
                                          </p:val>
                                        </p:tav>
                                        <p:tav tm="100000">
                                          <p:val>
                                            <p:strVal val="#ppt_x"/>
                                          </p:val>
                                        </p:tav>
                                      </p:tavLst>
                                    </p:anim>
                                    <p:anim calcmode="lin" valueType="num">
                                      <p:cBhvr additive="base">
                                        <p:cTn id="8" dur="45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accel="50000" decel="5000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450" fill="hold"/>
                                        <p:tgtEl>
                                          <p:spTgt spid="19"/>
                                        </p:tgtEl>
                                        <p:attrNameLst>
                                          <p:attrName>ppt_x</p:attrName>
                                        </p:attrNameLst>
                                      </p:cBhvr>
                                      <p:tavLst>
                                        <p:tav tm="0">
                                          <p:val>
                                            <p:strVal val="#ppt_x"/>
                                          </p:val>
                                        </p:tav>
                                        <p:tav tm="100000">
                                          <p:val>
                                            <p:strVal val="#ppt_x"/>
                                          </p:val>
                                        </p:tav>
                                      </p:tavLst>
                                    </p:anim>
                                    <p:anim calcmode="lin" valueType="num">
                                      <p:cBhvr additive="base">
                                        <p:cTn id="14" dur="45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accel="50000" decel="5000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450" fill="hold"/>
                                        <p:tgtEl>
                                          <p:spTgt spid="26"/>
                                        </p:tgtEl>
                                        <p:attrNameLst>
                                          <p:attrName>ppt_x</p:attrName>
                                        </p:attrNameLst>
                                      </p:cBhvr>
                                      <p:tavLst>
                                        <p:tav tm="0">
                                          <p:val>
                                            <p:strVal val="#ppt_x"/>
                                          </p:val>
                                        </p:tav>
                                        <p:tav tm="100000">
                                          <p:val>
                                            <p:strVal val="#ppt_x"/>
                                          </p:val>
                                        </p:tav>
                                      </p:tavLst>
                                    </p:anim>
                                    <p:anim calcmode="lin" valueType="num">
                                      <p:cBhvr additive="base">
                                        <p:cTn id="20" dur="4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969</Words>
  <Application>Microsoft Office PowerPoint</Application>
  <PresentationFormat>Custom</PresentationFormat>
  <Paragraphs>65</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Bahnschrift</vt:lpstr>
      <vt:lpstr>Calibri</vt:lpstr>
      <vt:lpstr>Calibri Light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Thanh Ninh Bui</dc:creator>
  <cp:lastModifiedBy>Thanh Ninh Bui</cp:lastModifiedBy>
  <cp:revision>1</cp:revision>
  <dcterms:created xsi:type="dcterms:W3CDTF">2026-09-18T05:08:31Z</dcterms:created>
  <dcterms:modified xsi:type="dcterms:W3CDTF">2026-09-18T05:08:31Z</dcterms:modified>
</cp:coreProperties>
</file>