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1EFA5-4EF6-58FC-15FA-950E1E75E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8E49B6-EC97-0F44-C9B2-C5E06C433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3B701-EC44-14E2-939A-4F107EA62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38CF-BB73-4880-A3C5-B07BBE5778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13D51-92C1-609F-389D-B4642DDF8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82F6C-8CBB-D056-A712-40BF5C860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9A0FE-F1BE-4CEC-BF5C-519B03EE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94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B2B6B-98D0-A339-64CD-2EC0BEC6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CBB46-88EF-B2A3-B099-C49A77986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9649A-EDB4-FDA9-DA10-FFF394CAF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38CF-BB73-4880-A3C5-B07BBE5778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5C989-618C-CF72-D9A2-606161BE1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38FB2-4614-1FD9-9AE4-4DBB48099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9A0FE-F1BE-4CEC-BF5C-519B03EE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57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51953-FAA2-BC9C-D10B-0A18A0238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EC20F-2B61-E3B4-4F5B-D4F8218D3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B6356-6296-6B6A-2098-293127738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38CF-BB73-4880-A3C5-B07BBE5778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0B341-A3B0-BDAD-42E3-49F09DE31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F06FF-CD6D-0D7F-1BB6-D9AD23EBE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9A0FE-F1BE-4CEC-BF5C-519B03EE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4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CCF9C-6DBB-EF2D-8E04-CD0CE2E8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F98EC-1B7F-8058-C958-C1025B2C2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2E1007-8F24-87F3-0068-BE99E34AA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A66E5-5B1D-E6BF-3FFB-14214B61D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38CF-BB73-4880-A3C5-B07BBE5778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331B5-D177-59C8-B5EF-EE380B19E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A46B0-A85D-1E55-D51E-B27DE4425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9A0FE-F1BE-4CEC-BF5C-519B03EE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4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5646C-7F45-F57E-9BDC-114060E80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3F262-AA2B-361A-2D53-1C8B4FB17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612BA-5579-13F9-CABF-9F5388459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8D3223-3F34-9E07-77D4-FB512F7D3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2145E-5911-D868-BF7E-015AC81CE6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04254F-9F1D-C6D6-C1EB-E93606434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38CF-BB73-4880-A3C5-B07BBE5778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CF9FB2-93AD-A1EA-DD4E-1DA46C1B9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0EF9B3-3835-31A8-67CF-40C6CA705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9A0FE-F1BE-4CEC-BF5C-519B03EE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394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FFD9D-00C6-168C-02A5-7749C07CA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853B1C-88D7-C417-5E48-22CC4A0FF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38CF-BB73-4880-A3C5-B07BBE5778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0D6CFB-5C1A-33A0-2767-5FCF43901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2778BB-6E7D-AB1D-4B17-D5BA855A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9A0FE-F1BE-4CEC-BF5C-519B03EE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83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4354CC-772F-EC67-F4B0-7C443B44D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38CF-BB73-4880-A3C5-B07BBE5778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87B702-1B8A-A345-BAE4-2130D8AA9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8C7F6-0FB3-56A0-B707-DD91FCC8E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9A0FE-F1BE-4CEC-BF5C-519B03EE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51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F7655-43AC-8641-EC6E-F46B1319A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A673E-337D-94C7-FB46-5033F7BF4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778B0B-C8E0-5AD1-689A-16B4F7F21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81F3E-4D50-1E07-C535-06BCA33A4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38CF-BB73-4880-A3C5-B07BBE5778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0E2DC-BBE0-5FA4-B708-6C23C9929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A0841-4520-098A-554E-7D70BDD43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9A0FE-F1BE-4CEC-BF5C-519B03EE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858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3C670-9AAC-A797-BBBF-324BB9B23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01DFD0-2E92-DC5C-9E2F-20D721A7D5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50B01-F161-E305-4578-3E767819B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076C8-34BD-3C40-EFB8-3E85706CB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38CF-BB73-4880-A3C5-B07BBE5778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2FF83-60D9-9D7C-F0C8-F450F8D47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57BF8-7C8F-FF1C-B68D-E43A5B08D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9A0FE-F1BE-4CEC-BF5C-519B03EE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419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86002-B765-5BBE-C2E8-C9ADFBD98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ACF88C-3459-DC64-B804-24C6B01B3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32ACE-3FC8-F3AA-14D9-EE83E0646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38CF-BB73-4880-A3C5-B07BBE5778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0DCFF-C428-5216-090A-22F914FFF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E9A57-7E3E-DCA3-53A8-6BD87E529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9A0FE-F1BE-4CEC-BF5C-519B03EE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21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ED4320-4E25-0428-EB8A-17DBC092AE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20BC9-E60D-C27C-FBD2-51138F0172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4286D-33C6-4EE5-0981-2217D5854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38CF-BB73-4880-A3C5-B07BBE5778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3CC65-ED13-371C-3990-904A53C9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FAA04-0F20-1D61-F328-605878D8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9A0FE-F1BE-4CEC-BF5C-519B03EE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47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DD3AD5-4799-D3B2-467C-0E860AC96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44043-5399-EAC1-ADA2-C5013EAD2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4807F-0ED4-B28B-0E76-1A39A2214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838CF-BB73-4880-A3C5-B07BBE5778D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470C9-B2F5-6C01-54DC-5C686E474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A3098-C7D4-9325-D9A0-F10D1668FC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9A0FE-F1BE-4CEC-BF5C-519B03EE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4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svg"/><Relationship Id="rId4" Type="http://schemas.openxmlformats.org/officeDocument/2006/relationships/image" Target="../media/image1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sv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40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41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43.svg"/><Relationship Id="rId4" Type="http://schemas.openxmlformats.org/officeDocument/2006/relationships/image" Target="../media/image1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7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34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44A70B-A31F-740F-3A11-B878FAAA9D2B}"/>
              </a:ext>
            </a:extLst>
          </p:cNvPr>
          <p:cNvSpPr/>
          <p:nvPr/>
        </p:nvSpPr>
        <p:spPr>
          <a:xfrm>
            <a:off x="609600" y="838200"/>
            <a:ext cx="609600" cy="635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6B4DD9-B11A-FB7B-0EF8-920D0E994F28}"/>
              </a:ext>
            </a:extLst>
          </p:cNvPr>
          <p:cNvSpPr txBox="1"/>
          <p:nvPr/>
        </p:nvSpPr>
        <p:spPr>
          <a:xfrm>
            <a:off x="609600" y="1041400"/>
            <a:ext cx="5266944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10B981"/>
                </a:solidFill>
                <a:latin typeface="Segoe UI" panose="020B0502040204020203" pitchFamily="34" charset="0"/>
              </a:rPr>
              <a:t>CHƯƠNG TRÌNH ĐÀO TẠO DÂN SỐ HỌC  •  TỔNG QUAN CHUYÊN ĐỀ</a:t>
            </a:r>
            <a:endParaRPr lang="en-US" sz="120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0120AD-349D-C30D-954C-6F269DFC3136}"/>
              </a:ext>
            </a:extLst>
          </p:cNvPr>
          <p:cNvSpPr txBox="1"/>
          <p:nvPr/>
        </p:nvSpPr>
        <p:spPr>
          <a:xfrm>
            <a:off x="609600" y="1447800"/>
            <a:ext cx="5266944" cy="1661993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vi-VN" sz="3400" b="1">
                <a:solidFill>
                  <a:srgbClr val="FFFFFF"/>
                </a:solidFill>
                <a:latin typeface="Segoe UI" panose="020B0502040204020203" pitchFamily="34" charset="0"/>
              </a:rPr>
              <a:t>BÀI 2: QUY MÔ, CƠ CẤU VÀ CHẤT LƯỢNG DÂN SỐ</a:t>
            </a:r>
            <a:endParaRPr lang="en-US" sz="3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BFC167-C424-765E-0FD1-F2D89FFEA05C}"/>
              </a:ext>
            </a:extLst>
          </p:cNvPr>
          <p:cNvSpPr txBox="1"/>
          <p:nvPr/>
        </p:nvSpPr>
        <p:spPr>
          <a:xfrm>
            <a:off x="609600" y="3187700"/>
            <a:ext cx="5266944" cy="830997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vi-VN" sz="1600">
                <a:solidFill>
                  <a:srgbClr val="CBD5E1"/>
                </a:solidFill>
                <a:latin typeface="Segoe UI" panose="020B0502040204020203" pitchFamily="34" charset="0"/>
              </a:rPr>
              <a:t>Hệ thống chỉ báo đo lường động lực học dân số, các mô hình tháp tuổi - giới tính và nâng cao chất lượng dân số Việt Nam.</a:t>
            </a:r>
            <a:endParaRPr lang="en-US" sz="16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62630C-351B-8C4A-6D1A-3AB7352D606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344" y="1333500"/>
            <a:ext cx="5401056" cy="3014980"/>
          </a:xfrm>
          <a:prstGeom prst="roundRect">
            <a:avLst/>
          </a:prstGeom>
          <a:ln w="19050">
            <a:solidFill>
              <a:srgbClr val="0284C7"/>
            </a:solidFill>
          </a:ln>
        </p:spPr>
      </p:pic>
    </p:spTree>
    <p:extLst>
      <p:ext uri="{BB962C8B-B14F-4D97-AF65-F5344CB8AC3E}">
        <p14:creationId xmlns:p14="http://schemas.microsoft.com/office/powerpoint/2010/main" val="41179930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461DECE0-286C-4B9D-917F-5EA3FF8D3265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MỤC TIÊU BÀI HỌC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AE8A38D2-0D3F-F03B-2815-1843D04D8318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02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1BACBB2F-122E-1C08-21EB-35437B9AEEF3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Năng Lực Tính Toán Chỉ Số Đo Lường Và Đánh Giá Biến Động Sinh Tử Di Cư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3A6414B5-ECEF-40C5-6578-89B56091B4E3}"/>
              </a:ext>
            </a:extLst>
          </p:cNvPr>
          <p:cNvGrpSpPr/>
          <p:nvPr/>
        </p:nvGrpSpPr>
        <p:grpSpPr>
          <a:xfrm>
            <a:off x="609600" y="1676400"/>
            <a:ext cx="6035040" cy="4521200"/>
            <a:chOff x="609600" y="1676400"/>
            <a:chExt cx="603504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1136F9B-C54E-F9B9-A423-BD2CDE8344FE}"/>
                </a:ext>
              </a:extLst>
            </p:cNvPr>
            <p:cNvSpPr/>
            <p:nvPr/>
          </p:nvSpPr>
          <p:spPr>
            <a:xfrm>
              <a:off x="609600" y="1676400"/>
              <a:ext cx="6035040" cy="45212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6F0F400-8E07-D7F5-BA12-6CCED4F86470}"/>
                </a:ext>
              </a:extLst>
            </p:cNvPr>
            <p:cNvSpPr/>
            <p:nvPr/>
          </p:nvSpPr>
          <p:spPr>
            <a:xfrm>
              <a:off x="863600" y="1905000"/>
              <a:ext cx="1524000" cy="2794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TÂM CỐT LÕI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58F1F1-DEAF-C6BE-2490-64E4A277B402}"/>
                </a:ext>
              </a:extLst>
            </p:cNvPr>
            <p:cNvSpPr/>
            <p:nvPr/>
          </p:nvSpPr>
          <p:spPr>
            <a:xfrm>
              <a:off x="863600" y="2286000"/>
              <a:ext cx="482600" cy="482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F20CC123-BF9B-38B5-0F4B-CEE2187A462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62200"/>
              <a:ext cx="330200" cy="330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1BFDDF3-C03A-31AF-7B79-19988AEF29DE}"/>
                </a:ext>
              </a:extLst>
            </p:cNvPr>
            <p:cNvSpPr txBox="1"/>
            <p:nvPr/>
          </p:nvSpPr>
          <p:spPr>
            <a:xfrm>
              <a:off x="863600" y="2870200"/>
              <a:ext cx="5527040" cy="1189365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000"/>
                </a:spcAft>
              </a:pPr>
              <a:r>
                <a:rPr lang="vi-VN" sz="2000" b="1">
                  <a:solidFill>
                    <a:srgbClr val="FFFFFF"/>
                  </a:solidFill>
                  <a:latin typeface="Segoe UI" panose="020B0502040204020203" pitchFamily="34" charset="0"/>
                </a:rPr>
                <a:t>Năng Lực Đo Lường Định Lượng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Làm chủ phương trình cân bằng dân số, các công thức tính dân số trung bình, tỷ số giới tính và tỷ số phụ thuộc.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AD586C9D-0445-D457-842F-EC3FF3CAAD61}"/>
              </a:ext>
            </a:extLst>
          </p:cNvPr>
          <p:cNvGrpSpPr/>
          <p:nvPr/>
        </p:nvGrpSpPr>
        <p:grpSpPr>
          <a:xfrm>
            <a:off x="6873240" y="1676400"/>
            <a:ext cx="4709160" cy="2171700"/>
            <a:chOff x="6873240" y="1676400"/>
            <a:chExt cx="4709160" cy="21717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DBF0687-395F-77A1-4C71-8350A819CB5C}"/>
                </a:ext>
              </a:extLst>
            </p:cNvPr>
            <p:cNvSpPr/>
            <p:nvPr/>
          </p:nvSpPr>
          <p:spPr>
            <a:xfrm>
              <a:off x="6873240" y="1676400"/>
              <a:ext cx="4709160" cy="21717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8ACD15E-890B-3564-21BD-BD13916BCEF2}"/>
                </a:ext>
              </a:extLst>
            </p:cNvPr>
            <p:cNvSpPr/>
            <p:nvPr/>
          </p:nvSpPr>
          <p:spPr>
            <a:xfrm>
              <a:off x="7076440" y="1854200"/>
              <a:ext cx="10795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MỤC TIÊU 01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F951872-809A-5426-F028-EF78E2E8B897}"/>
                </a:ext>
              </a:extLst>
            </p:cNvPr>
            <p:cNvSpPr/>
            <p:nvPr/>
          </p:nvSpPr>
          <p:spPr>
            <a:xfrm>
              <a:off x="7076440" y="21844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808B7AE-4B4A-4A83-C60B-61B66C47DF0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9940" y="22479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B779768-884F-BC17-B9D6-099D1F12D6FF}"/>
                </a:ext>
              </a:extLst>
            </p:cNvPr>
            <p:cNvSpPr txBox="1"/>
            <p:nvPr/>
          </p:nvSpPr>
          <p:spPr>
            <a:xfrm>
              <a:off x="7609840" y="2108200"/>
              <a:ext cx="3820160" cy="1205458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Nhận Diện Dân Số Vàng &amp; Già Hóa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Đánh giá cơ hội lịch sử từ cơ cấu dân số vàng với 68% lao động và nhận diện thách thức già hóa dân số diễn ra với tốc độ rất nhanh.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B1AF91C9-A268-B4D5-ECC9-36CC80B1884A}"/>
              </a:ext>
            </a:extLst>
          </p:cNvPr>
          <p:cNvGrpSpPr/>
          <p:nvPr/>
        </p:nvGrpSpPr>
        <p:grpSpPr>
          <a:xfrm>
            <a:off x="6873240" y="4025900"/>
            <a:ext cx="4709160" cy="2171700"/>
            <a:chOff x="6873240" y="4025900"/>
            <a:chExt cx="4709160" cy="21717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3014FDC-0762-F637-E9C9-F477F69A8D28}"/>
                </a:ext>
              </a:extLst>
            </p:cNvPr>
            <p:cNvSpPr/>
            <p:nvPr/>
          </p:nvSpPr>
          <p:spPr>
            <a:xfrm>
              <a:off x="6873240" y="4025900"/>
              <a:ext cx="4709160" cy="21717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05EA606-F3D3-35CA-80D7-D631A743B76F}"/>
                </a:ext>
              </a:extLst>
            </p:cNvPr>
            <p:cNvSpPr/>
            <p:nvPr/>
          </p:nvSpPr>
          <p:spPr>
            <a:xfrm>
              <a:off x="7076440" y="4203700"/>
              <a:ext cx="10795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MỤC TIÊU 02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21778A0-D732-C7F0-5DA7-5D1604BC979B}"/>
                </a:ext>
              </a:extLst>
            </p:cNvPr>
            <p:cNvSpPr/>
            <p:nvPr/>
          </p:nvSpPr>
          <p:spPr>
            <a:xfrm>
              <a:off x="7076440" y="45339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ED37596D-2C14-F5B0-1FB5-BCAD391FC96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39940" y="45974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F08F9F3-C24A-B633-3335-23891D32A600}"/>
                </a:ext>
              </a:extLst>
            </p:cNvPr>
            <p:cNvSpPr txBox="1"/>
            <p:nvPr/>
          </p:nvSpPr>
          <p:spPr>
            <a:xfrm>
              <a:off x="7609840" y="44577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Nâng Cao Chất Lượng Toàn Diện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Nắm vững chỉ số phát triển con người HDI, các chỉ báo sức khỏe thể chất, giáo dục và chính sách nâng cao thể trạng dân số.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50218B1D-512D-546B-8EF7-FC2C86F372C2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Khung chuẩn đầu ra chuyên đề</a:t>
            </a:r>
          </a:p>
        </p:txBody>
      </p:sp>
    </p:spTree>
    <p:extLst>
      <p:ext uri="{BB962C8B-B14F-4D97-AF65-F5344CB8AC3E}">
        <p14:creationId xmlns:p14="http://schemas.microsoft.com/office/powerpoint/2010/main" val="30544705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326BAEFC-0119-A0B1-9577-206996440DC9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QUY MÔ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E3DA616B-7BDF-F1FE-2C10-5F89D2345B83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03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B4D4A083-D009-FF38-1CE7-FE1AB02BCAEA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Khái Niệm Quy Mô Dân Số Và Thời Điểm Thống Kê Xác Định</a:t>
            </a: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DAE6F9F8-02E7-9C22-BB51-D7889BC1FD91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C2129A1-A057-373B-80C6-6B82E736EB8B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1E293B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3E5D05E-B680-D38C-5FE9-DB34A19766A4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EAB2B82-6401-BE49-A3CB-378EEAB67A84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7AB7E03-1E88-4B86-A04E-DF85ECAF0E5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910719-339D-8665-29A6-F410E5373270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7280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FFFFFF"/>
                  </a:solidFill>
                  <a:latin typeface="Segoe UI" panose="020B0502040204020203" pitchFamily="34" charset="0"/>
                </a:rPr>
                <a:t>Quy mô dân số là tổng số người sống trong một lãnh thổ tại một thời điểm xác định, là chỉ báo quy mô cơ bản nhất.</a:t>
              </a:r>
              <a:endParaRPr lang="en-US" sz="1250" b="1">
                <a:solidFill>
                  <a:srgbClr val="FFFFFF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5AE53EE5-CE18-4466-9100-C7E6298736FE}"/>
              </a:ext>
            </a:extLst>
          </p:cNvPr>
          <p:cNvGrpSpPr/>
          <p:nvPr/>
        </p:nvGrpSpPr>
        <p:grpSpPr>
          <a:xfrm>
            <a:off x="6214872" y="1676400"/>
            <a:ext cx="5367528" cy="2184400"/>
            <a:chOff x="6214872" y="1676400"/>
            <a:chExt cx="5367528" cy="21844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8CCAC57-E1F0-A79C-A866-3A06F95AE2B2}"/>
                </a:ext>
              </a:extLst>
            </p:cNvPr>
            <p:cNvSpPr/>
            <p:nvPr/>
          </p:nvSpPr>
          <p:spPr>
            <a:xfrm>
              <a:off x="6214872" y="1676400"/>
              <a:ext cx="5367528" cy="218440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945598D-42E9-BBE1-D843-D11D1CFB6C52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C87918FB-71A4-87C0-A8AF-EBFCEA6B476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D820006-9ACA-99F2-95EF-B27D39441956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Khái Niệm Quy Mô Dân Số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Tổng số dân sinh sống thường trú trên một đơn vị hành chính lãnh thổ nhất định, đo lường sức chứa và tầm vóc quốc gia.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0B7E4FC0-7D15-85D7-1AF0-D873147A7AE2}"/>
              </a:ext>
            </a:extLst>
          </p:cNvPr>
          <p:cNvGrpSpPr/>
          <p:nvPr/>
        </p:nvGrpSpPr>
        <p:grpSpPr>
          <a:xfrm>
            <a:off x="6214872" y="4013200"/>
            <a:ext cx="5367528" cy="2184400"/>
            <a:chOff x="6214872" y="4013200"/>
            <a:chExt cx="5367528" cy="21844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5853142-BAF4-6F3A-E511-788CB5BEAF9B}"/>
                </a:ext>
              </a:extLst>
            </p:cNvPr>
            <p:cNvSpPr/>
            <p:nvPr/>
          </p:nvSpPr>
          <p:spPr>
            <a:xfrm>
              <a:off x="6214872" y="4013200"/>
              <a:ext cx="5367528" cy="21844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B47517D-962A-26A5-BA65-3FC3F3C33B87}"/>
                </a:ext>
              </a:extLst>
            </p:cNvPr>
            <p:cNvSpPr/>
            <p:nvPr/>
          </p:nvSpPr>
          <p:spPr>
            <a:xfrm>
              <a:off x="6392672" y="41910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3FEEA17E-CF50-2A57-9028-F409CB0ECA6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4254500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BA4D811-3E87-4B81-313F-0F875AB2EBFB}"/>
                </a:ext>
              </a:extLst>
            </p:cNvPr>
            <p:cNvSpPr txBox="1"/>
            <p:nvPr/>
          </p:nvSpPr>
          <p:spPr>
            <a:xfrm>
              <a:off x="6875272" y="41402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Thời Điểm Thống Kê (Census Time)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Quy ước thời điểm đo đạc chuẩn mực (ví dụ 0 giờ ngày 1 tháng 4 trong các kỳ Tổng điều tra dân số tại Việt Nam).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0938DA79-B96E-0F24-EB41-82F8A3E73987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Giáo trình Dân số học đại cương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8867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63BF69FC-2CD7-FC8B-1FA0-856DA416652E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ĐO LƯỜNG QUY MÔ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31EC5C06-F497-895D-3BB8-A277FC2D4C42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04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BCB9BED7-F4BE-8407-504E-EF09E14D2B87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Chỉ Số Dân Số Trung Bình Và Ứng Dụng Làm Mẫu Số Cho Mọi Tỷ Suất</a:t>
            </a: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63C136E0-2840-8F67-7235-034718269EC6}"/>
              </a:ext>
            </a:extLst>
          </p:cNvPr>
          <p:cNvGrpSpPr/>
          <p:nvPr/>
        </p:nvGrpSpPr>
        <p:grpSpPr>
          <a:xfrm>
            <a:off x="609600" y="1676400"/>
            <a:ext cx="10972800" cy="1117600"/>
            <a:chOff x="609600" y="1676400"/>
            <a:chExt cx="10972800" cy="11176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939CB54-2553-3CDB-A840-0D2E6087FD41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07BF9DA-77BD-C9AD-EB7E-FD408163319C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B4EA322-E885-DAA0-40FB-5BEB75E52BD8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pt-BR" sz="2400" b="1">
                  <a:solidFill>
                    <a:srgbClr val="10B981"/>
                  </a:solidFill>
                  <a:latin typeface="Segoe UI" panose="020B0502040204020203" pitchFamily="34" charset="0"/>
                </a:rPr>
                <a:t>P_tb = (P_0 + P_t) / 2 = [0.5*P_1 + P_2 + P_3 + 0.5*P_n] / (n - 1)</a:t>
              </a:r>
              <a:endParaRPr lang="en-US" sz="2400" b="1">
                <a:solidFill>
                  <a:srgbClr val="10B98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B212B712-A085-D117-65FE-6C82DBB44231}"/>
              </a:ext>
            </a:extLst>
          </p:cNvPr>
          <p:cNvGrpSpPr/>
          <p:nvPr/>
        </p:nvGrpSpPr>
        <p:grpSpPr>
          <a:xfrm>
            <a:off x="609600" y="2971800"/>
            <a:ext cx="3522133" cy="3225800"/>
            <a:chOff x="609600" y="2971800"/>
            <a:chExt cx="3522133" cy="3225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6546892-5E5D-45F4-F9AB-5ECF71718E35}"/>
                </a:ext>
              </a:extLst>
            </p:cNvPr>
            <p:cNvSpPr/>
            <p:nvPr/>
          </p:nvSpPr>
          <p:spPr>
            <a:xfrm>
              <a:off x="609600" y="2971800"/>
              <a:ext cx="3522133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E298BE9-6DBB-C7BE-88BB-65BEA0CF716C}"/>
                </a:ext>
              </a:extLst>
            </p:cNvPr>
            <p:cNvSpPr/>
            <p:nvPr/>
          </p:nvSpPr>
          <p:spPr>
            <a:xfrm>
              <a:off x="812800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60B1DA9-B58D-0A1D-385E-F67BA4DAB97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3238500"/>
              <a:ext cx="279400" cy="279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CB79095-88EB-5860-43CA-82FDD6385421}"/>
                </a:ext>
              </a:extLst>
            </p:cNvPr>
            <p:cNvSpPr txBox="1"/>
            <p:nvPr/>
          </p:nvSpPr>
          <p:spPr>
            <a:xfrm>
              <a:off x="812800" y="3683000"/>
              <a:ext cx="3115733" cy="1184299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Công Thức Số Học Đơn Giản
</a:t>
              </a:r>
              <a:r>
                <a:rPr lang="vi-VN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P_tb = (P_0 + P_t) / 2. Áp dụng khi quy mô dân số gia tăng đều đặn qua các tháng trong năm dương lịch.</a:t>
              </a:r>
              <a:endParaRPr lang="en-US" sz="13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F9C47B53-AA76-5BED-B276-3C4EED267B36}"/>
              </a:ext>
            </a:extLst>
          </p:cNvPr>
          <p:cNvGrpSpPr/>
          <p:nvPr/>
        </p:nvGrpSpPr>
        <p:grpSpPr>
          <a:xfrm>
            <a:off x="4334933" y="2971800"/>
            <a:ext cx="3522134" cy="3225800"/>
            <a:chOff x="4334933" y="2971800"/>
            <a:chExt cx="3522134" cy="32258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356A895-667A-BB4A-AE52-7267F6070DFB}"/>
                </a:ext>
              </a:extLst>
            </p:cNvPr>
            <p:cNvSpPr/>
            <p:nvPr/>
          </p:nvSpPr>
          <p:spPr>
            <a:xfrm>
              <a:off x="4334933" y="2971800"/>
              <a:ext cx="3522134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576EB0D-659D-895D-EACB-D409CF61897E}"/>
                </a:ext>
              </a:extLst>
            </p:cNvPr>
            <p:cNvSpPr/>
            <p:nvPr/>
          </p:nvSpPr>
          <p:spPr>
            <a:xfrm>
              <a:off x="4538133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D1707D8C-B813-6738-3DFB-1FABEC60A0E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3238500"/>
              <a:ext cx="279400" cy="279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CCB4D4E-FC7C-EF13-E5C8-6C09AE7F37D3}"/>
                </a:ext>
              </a:extLst>
            </p:cNvPr>
            <p:cNvSpPr txBox="1"/>
            <p:nvPr/>
          </p:nvSpPr>
          <p:spPr>
            <a:xfrm>
              <a:off x="4538133" y="3683000"/>
              <a:ext cx="3115733" cy="175176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Công Thức Thời Điểm Có Trọng Số
</a:t>
              </a:r>
              <a:r>
                <a:rPr lang="en-US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P_tb = [0.5*P_1 + P_2 + P_3 + 0.5*P_n] / (n - 1). Áp dụng khi có số liệu thống kê tại nhiều mốc thời điểm trong năm.</a:t>
              </a: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D8E59F83-6ABC-6021-5295-BDA6382E65F9}"/>
              </a:ext>
            </a:extLst>
          </p:cNvPr>
          <p:cNvGrpSpPr/>
          <p:nvPr/>
        </p:nvGrpSpPr>
        <p:grpSpPr>
          <a:xfrm>
            <a:off x="8060267" y="2971800"/>
            <a:ext cx="3522133" cy="3225800"/>
            <a:chOff x="8060267" y="2971800"/>
            <a:chExt cx="3522133" cy="32258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AE7669F7-680D-F201-A0E5-CB8BCFCE4A3C}"/>
                </a:ext>
              </a:extLst>
            </p:cNvPr>
            <p:cNvSpPr/>
            <p:nvPr/>
          </p:nvSpPr>
          <p:spPr>
            <a:xfrm>
              <a:off x="8060267" y="2971800"/>
              <a:ext cx="3522133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B701838-E16F-475D-6CAC-1C4F274BFB32}"/>
                </a:ext>
              </a:extLst>
            </p:cNvPr>
            <p:cNvSpPr/>
            <p:nvPr/>
          </p:nvSpPr>
          <p:spPr>
            <a:xfrm>
              <a:off x="8263467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A17038C8-CB86-F1DC-21DB-05DC19DB9BC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3238500"/>
              <a:ext cx="279400" cy="279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E98321-CEE0-1166-4349-6AF82D743D91}"/>
                </a:ext>
              </a:extLst>
            </p:cNvPr>
            <p:cNvSpPr txBox="1"/>
            <p:nvPr/>
          </p:nvSpPr>
          <p:spPr>
            <a:xfrm>
              <a:off x="8263467" y="3683000"/>
              <a:ext cx="3115733" cy="144398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Ý Nghĩa Thực Tiễn Mẫu Số
</a:t>
              </a:r>
              <a:r>
                <a:rPr lang="vi-VN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Là mẫu số bắt buộc để tính toán các tỷ suất sinh thô (CBR), tỷ suất chết thô (CDR) và thu nhập bình quân đầu người.</a:t>
              </a:r>
              <a:endParaRPr lang="en-US" sz="13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7" name="!!Anchor_Source_Footer">
            <a:extLst>
              <a:ext uri="{FF2B5EF4-FFF2-40B4-BE49-F238E27FC236}">
                <a16:creationId xmlns:a16="http://schemas.microsoft.com/office/drawing/2014/main" id="{C911F6B5-DC41-D7AE-47D4-0418F6B85FD8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Nguyên lý thống kê dân số</a:t>
            </a:r>
          </a:p>
        </p:txBody>
      </p:sp>
    </p:spTree>
    <p:extLst>
      <p:ext uri="{BB962C8B-B14F-4D97-AF65-F5344CB8AC3E}">
        <p14:creationId xmlns:p14="http://schemas.microsoft.com/office/powerpoint/2010/main" val="37001286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41119396-BEE6-740E-117D-B4B727A291C4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PHƯƠNG TRÌNH CÂN BẰNG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241EFE46-1D7C-5A79-77B3-C6BE039F458B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05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77DEE7F8-F8FC-1B38-15A5-56A355934925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Phương Trình Cân Bằng Dân Số Cơ Bản Xác Định Biến Động Qua Thời Gian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B3832E5D-3746-E8D5-45A6-E95984EF6D24}"/>
              </a:ext>
            </a:extLst>
          </p:cNvPr>
          <p:cNvGrpSpPr/>
          <p:nvPr/>
        </p:nvGrpSpPr>
        <p:grpSpPr>
          <a:xfrm>
            <a:off x="609600" y="1676400"/>
            <a:ext cx="10972800" cy="1117600"/>
            <a:chOff x="609600" y="1676400"/>
            <a:chExt cx="10972800" cy="11176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2565748-31FC-4C32-D017-E42497703335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D161039-2BA8-7FB3-1763-B2343864E91D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F23C9D9-4EFE-2744-595A-5E5246B3DD62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pt-BR" sz="2400" b="1">
                  <a:solidFill>
                    <a:srgbClr val="10B981"/>
                  </a:solidFill>
                  <a:latin typeface="Segoe UI" panose="020B0502040204020203" pitchFamily="34" charset="0"/>
                </a:rPr>
                <a:t>P_t = P_0 + (B - D) + (I - O) = P_0 + N_i + N_m</a:t>
              </a:r>
              <a:endParaRPr lang="en-US" sz="2400" b="1">
                <a:solidFill>
                  <a:srgbClr val="10B98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CDDB165A-730C-9AEE-C8BC-EB6C37DFB4A4}"/>
              </a:ext>
            </a:extLst>
          </p:cNvPr>
          <p:cNvGrpSpPr/>
          <p:nvPr/>
        </p:nvGrpSpPr>
        <p:grpSpPr>
          <a:xfrm>
            <a:off x="609600" y="2971800"/>
            <a:ext cx="5384800" cy="1536700"/>
            <a:chOff x="609600" y="2971800"/>
            <a:chExt cx="5384800" cy="15367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D58E273-D970-29BA-E939-238EC9E28725}"/>
                </a:ext>
              </a:extLst>
            </p:cNvPr>
            <p:cNvSpPr/>
            <p:nvPr/>
          </p:nvSpPr>
          <p:spPr>
            <a:xfrm>
              <a:off x="609600" y="2971800"/>
              <a:ext cx="5384800" cy="15367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12B1DF1-1E43-79CC-AE21-7161A896E7B1}"/>
                </a:ext>
              </a:extLst>
            </p:cNvPr>
            <p:cNvSpPr/>
            <p:nvPr/>
          </p:nvSpPr>
          <p:spPr>
            <a:xfrm>
              <a:off x="787400" y="3149600"/>
              <a:ext cx="355600" cy="355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CCC3439-3FD3-630A-C5C9-4460F29F2A6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38200" y="3200400"/>
              <a:ext cx="254000" cy="2540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40C21CC-9D9A-9E0E-D016-F051FC5893DF}"/>
                </a:ext>
              </a:extLst>
            </p:cNvPr>
            <p:cNvSpPr txBox="1"/>
            <p:nvPr/>
          </p:nvSpPr>
          <p:spPr>
            <a:xfrm>
              <a:off x="1244600" y="3073400"/>
              <a:ext cx="4622800" cy="801886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500" b="1">
                  <a:solidFill>
                    <a:srgbClr val="FFFFFF"/>
                  </a:solidFill>
                  <a:latin typeface="Segoe UI" panose="020B0502040204020203" pitchFamily="34" charset="0"/>
                </a:rPr>
                <a:t>Dân Số Thời Điểm Gốc (P_0)
</a:t>
              </a:r>
              <a:r>
                <a:rPr lang="vi-VN" sz="1250" b="1">
                  <a:solidFill>
                    <a:srgbClr val="CBD5E1"/>
                  </a:solidFill>
                  <a:latin typeface="Segoe UI" panose="020B0502040204020203" pitchFamily="34" charset="0"/>
                </a:rPr>
                <a:t>Quy mô dân số ban đầu tại thời điểm xuất phát điểm được kiểm kê hoặc ước lượng chính xác.</a:t>
              </a:r>
              <a:endParaRPr lang="en-US" sz="12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FD430B1A-6AC7-636E-8447-60678EDDECF0}"/>
              </a:ext>
            </a:extLst>
          </p:cNvPr>
          <p:cNvGrpSpPr/>
          <p:nvPr/>
        </p:nvGrpSpPr>
        <p:grpSpPr>
          <a:xfrm>
            <a:off x="6197600" y="2971800"/>
            <a:ext cx="5384800" cy="1536700"/>
            <a:chOff x="6197600" y="2971800"/>
            <a:chExt cx="5384800" cy="15367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7C3DCBD-AA77-8F09-C2A8-BB2E12CE928C}"/>
                </a:ext>
              </a:extLst>
            </p:cNvPr>
            <p:cNvSpPr/>
            <p:nvPr/>
          </p:nvSpPr>
          <p:spPr>
            <a:xfrm>
              <a:off x="6197600" y="2971800"/>
              <a:ext cx="5384800" cy="15367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A5A32AF-528D-C009-2810-2783CAB5CB3E}"/>
                </a:ext>
              </a:extLst>
            </p:cNvPr>
            <p:cNvSpPr/>
            <p:nvPr/>
          </p:nvSpPr>
          <p:spPr>
            <a:xfrm>
              <a:off x="6375400" y="3149600"/>
              <a:ext cx="355600" cy="355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3359054C-8C0F-54B4-13A4-1EDF52F0A10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26200" y="3200400"/>
              <a:ext cx="254000" cy="2540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6C6C294-D4C3-D04C-69E3-F7E953DFE757}"/>
                </a:ext>
              </a:extLst>
            </p:cNvPr>
            <p:cNvSpPr txBox="1"/>
            <p:nvPr/>
          </p:nvSpPr>
          <p:spPr>
            <a:xfrm>
              <a:off x="6832600" y="3073400"/>
              <a:ext cx="4622800" cy="801886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500" b="1">
                  <a:solidFill>
                    <a:srgbClr val="FFFFFF"/>
                  </a:solidFill>
                  <a:latin typeface="Segoe UI" panose="020B0502040204020203" pitchFamily="34" charset="0"/>
                </a:rPr>
                <a:t>Số Sinh Sống (Births - B)
</a:t>
              </a:r>
              <a:r>
                <a:rPr lang="en-US" sz="1250" b="1">
                  <a:solidFill>
                    <a:srgbClr val="CBD5E1"/>
                  </a:solidFill>
                  <a:latin typeface="Segoe UI" panose="020B0502040204020203" pitchFamily="34" charset="0"/>
                </a:rPr>
                <a:t>Tổng số trẻ em sinh ra còn sống trong suốt khoảng thời gian từ thời điểm 0 đến thời điểm t.</a:t>
              </a: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C6BF9349-9806-0180-7332-A9B5B2E1ABE0}"/>
              </a:ext>
            </a:extLst>
          </p:cNvPr>
          <p:cNvGrpSpPr/>
          <p:nvPr/>
        </p:nvGrpSpPr>
        <p:grpSpPr>
          <a:xfrm>
            <a:off x="609600" y="4660900"/>
            <a:ext cx="5384800" cy="1536700"/>
            <a:chOff x="609600" y="4660900"/>
            <a:chExt cx="5384800" cy="15367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2F28FC7-18F3-8FDE-CD45-DA5334C05CE4}"/>
                </a:ext>
              </a:extLst>
            </p:cNvPr>
            <p:cNvSpPr/>
            <p:nvPr/>
          </p:nvSpPr>
          <p:spPr>
            <a:xfrm>
              <a:off x="609600" y="4660900"/>
              <a:ext cx="5384800" cy="15367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9E1947F-07D0-1B47-875C-1C2E2D68C869}"/>
                </a:ext>
              </a:extLst>
            </p:cNvPr>
            <p:cNvSpPr/>
            <p:nvPr/>
          </p:nvSpPr>
          <p:spPr>
            <a:xfrm>
              <a:off x="787400" y="4838700"/>
              <a:ext cx="355600" cy="355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6E95DF6-F4E5-2BAA-B3A6-29B4063CDB3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8200" y="4889500"/>
              <a:ext cx="254000" cy="254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C97086C-5810-35F3-72E3-53B3A3E0571B}"/>
                </a:ext>
              </a:extLst>
            </p:cNvPr>
            <p:cNvSpPr txBox="1"/>
            <p:nvPr/>
          </p:nvSpPr>
          <p:spPr>
            <a:xfrm>
              <a:off x="1244600" y="4762500"/>
              <a:ext cx="4622800" cy="801886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500" b="1">
                  <a:solidFill>
                    <a:srgbClr val="FFFFFF"/>
                  </a:solidFill>
                  <a:latin typeface="Segoe UI" panose="020B0502040204020203" pitchFamily="34" charset="0"/>
                </a:rPr>
                <a:t>Số Người Tử Vong (Deaths - D)
</a:t>
              </a:r>
              <a:r>
                <a:rPr lang="en-US" sz="1250" b="1">
                  <a:solidFill>
                    <a:srgbClr val="CBD5E1"/>
                  </a:solidFill>
                  <a:latin typeface="Segoe UI" panose="020B0502040204020203" pitchFamily="34" charset="0"/>
                </a:rPr>
                <a:t>Tổng số ca tử vong xảy ra trong quần thể dân số trong khoảng thời gian nghiên cứu.</a:t>
              </a:r>
            </a:p>
          </p:txBody>
        </p:sp>
      </p:grpSp>
      <p:grpSp>
        <p:nvGrpSpPr>
          <p:cNvPr id="32" name="!!Stage_Sub_Card_4">
            <a:extLst>
              <a:ext uri="{FF2B5EF4-FFF2-40B4-BE49-F238E27FC236}">
                <a16:creationId xmlns:a16="http://schemas.microsoft.com/office/drawing/2014/main" id="{7757C3E8-1D3C-AF05-5FE2-6C9C739DB1A8}"/>
              </a:ext>
            </a:extLst>
          </p:cNvPr>
          <p:cNvGrpSpPr/>
          <p:nvPr/>
        </p:nvGrpSpPr>
        <p:grpSpPr>
          <a:xfrm>
            <a:off x="6197600" y="4660900"/>
            <a:ext cx="5384800" cy="1536700"/>
            <a:chOff x="6197600" y="4660900"/>
            <a:chExt cx="5384800" cy="153670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847440C3-5A42-8F9A-17AD-CEAA49C3C800}"/>
                </a:ext>
              </a:extLst>
            </p:cNvPr>
            <p:cNvSpPr/>
            <p:nvPr/>
          </p:nvSpPr>
          <p:spPr>
            <a:xfrm>
              <a:off x="6197600" y="4660900"/>
              <a:ext cx="5384800" cy="15367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83F1313-0F67-2899-6A29-4ABA086057A2}"/>
                </a:ext>
              </a:extLst>
            </p:cNvPr>
            <p:cNvSpPr/>
            <p:nvPr/>
          </p:nvSpPr>
          <p:spPr>
            <a:xfrm>
              <a:off x="6375400" y="4838700"/>
              <a:ext cx="355600" cy="355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2244D85D-355F-6CA3-3B68-2988148C271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26200" y="4889500"/>
              <a:ext cx="254000" cy="25400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24728F6-F319-803C-C2C3-CE18B1DC5120}"/>
                </a:ext>
              </a:extLst>
            </p:cNvPr>
            <p:cNvSpPr txBox="1"/>
            <p:nvPr/>
          </p:nvSpPr>
          <p:spPr>
            <a:xfrm>
              <a:off x="6832600" y="4762500"/>
              <a:ext cx="4622800" cy="801886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it-IT" sz="1500" b="1">
                  <a:solidFill>
                    <a:srgbClr val="FFFFFF"/>
                  </a:solidFill>
                  <a:latin typeface="Segoe UI" panose="020B0502040204020203" pitchFamily="34" charset="0"/>
                </a:rPr>
                <a:t>Di Cư Thuần (Net Migration: I - O)
</a:t>
              </a:r>
              <a:r>
                <a:rPr lang="vi-VN" sz="1250" b="1">
                  <a:solidFill>
                    <a:srgbClr val="CBD5E1"/>
                  </a:solidFill>
                  <a:latin typeface="Segoe UI" panose="020B0502040204020203" pitchFamily="34" charset="0"/>
                </a:rPr>
                <a:t>Chênh lệch giữa số người nhập cư (In-migrants) và số người xuất cư (Out-migrants) của địa phương.</a:t>
              </a:r>
              <a:endParaRPr lang="en-US" sz="12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33" name="!!Anchor_Source_Footer">
            <a:extLst>
              <a:ext uri="{FF2B5EF4-FFF2-40B4-BE49-F238E27FC236}">
                <a16:creationId xmlns:a16="http://schemas.microsoft.com/office/drawing/2014/main" id="{F46A2EC5-F5E1-06BE-8A4A-965CAB21D06F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Phương trình cân bằng dân số quốc tế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355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40456F70-C845-89EC-0A39-692B169C9C78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TĂNG TRƯỞNG DÂN SỐ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B4499CBF-E8C8-02FC-348E-BCA4AD3D26AA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06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283A2420-85A0-66B0-9521-C1F3A878B12D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Ba Thước Đo Tăng Trưởng Dân Số: Tự Nhiên, Cơ Học Và Tăng Tổng Số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2ABCF900-65F2-48E4-41C3-F4396B45CCD5}"/>
              </a:ext>
            </a:extLst>
          </p:cNvPr>
          <p:cNvGrpSpPr/>
          <p:nvPr/>
        </p:nvGrpSpPr>
        <p:grpSpPr>
          <a:xfrm>
            <a:off x="609600" y="1676400"/>
            <a:ext cx="5334000" cy="4521200"/>
            <a:chOff x="609600" y="1676400"/>
            <a:chExt cx="533400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E6B505B-3B4E-DEF8-F05F-8F2AF6AFDB54}"/>
                </a:ext>
              </a:extLst>
            </p:cNvPr>
            <p:cNvSpPr/>
            <p:nvPr/>
          </p:nvSpPr>
          <p:spPr>
            <a:xfrm>
              <a:off x="609600" y="1676400"/>
              <a:ext cx="5334000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20458B7-A8BF-51C1-8930-007AC392EF40}"/>
                </a:ext>
              </a:extLst>
            </p:cNvPr>
            <p:cNvSpPr/>
            <p:nvPr/>
          </p:nvSpPr>
          <p:spPr>
            <a:xfrm>
              <a:off x="863600" y="1905000"/>
              <a:ext cx="1397000" cy="2794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TIÊU CHÍ SO SÁNH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4D1F4C7-C2D0-A784-2E4D-1CA3B6103614}"/>
                </a:ext>
              </a:extLst>
            </p:cNvPr>
            <p:cNvSpPr/>
            <p:nvPr/>
          </p:nvSpPr>
          <p:spPr>
            <a:xfrm>
              <a:off x="863600" y="2260600"/>
              <a:ext cx="457200" cy="4572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7B61632-9300-9FD2-9F1C-A793A5E91A2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36800"/>
              <a:ext cx="304800" cy="304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BA8E63B-1341-00CB-4F51-94FC1D69E1C2}"/>
                </a:ext>
              </a:extLst>
            </p:cNvPr>
            <p:cNvSpPr txBox="1"/>
            <p:nvPr/>
          </p:nvSpPr>
          <p:spPr>
            <a:xfrm>
              <a:off x="8636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en-US" sz="2000" b="1">
                  <a:solidFill>
                    <a:srgbClr val="FFFFFF"/>
                  </a:solidFill>
                  <a:latin typeface="Segoe UI" panose="020B0502040204020203" pitchFamily="34" charset="0"/>
                </a:rPr>
                <a:t>Tỷ Lệ Tăng Tự Nhiên (r)
</a:t>
              </a:r>
              <a:r>
                <a:rPr lang="en-US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r = CBR - CDR. Tỷ lệ phần trăm chênh lệch giữa tỷ suất sinh thô và tỷ suất chết thô của dân số trong năm.</a:t>
              </a: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FFAE14A5-F71D-021C-C676-C73F5237B812}"/>
              </a:ext>
            </a:extLst>
          </p:cNvPr>
          <p:cNvGrpSpPr/>
          <p:nvPr/>
        </p:nvGrpSpPr>
        <p:grpSpPr>
          <a:xfrm>
            <a:off x="6248400" y="1676400"/>
            <a:ext cx="5334000" cy="4521200"/>
            <a:chOff x="6248400" y="1676400"/>
            <a:chExt cx="5334000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7725C78-C0DB-F54C-7EA6-06C384EA18C2}"/>
                </a:ext>
              </a:extLst>
            </p:cNvPr>
            <p:cNvSpPr/>
            <p:nvPr/>
          </p:nvSpPr>
          <p:spPr>
            <a:xfrm>
              <a:off x="6248400" y="1676400"/>
              <a:ext cx="5334000" cy="45212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AE5A07F-8D01-0B04-B7C9-903D2F867021}"/>
                </a:ext>
              </a:extLst>
            </p:cNvPr>
            <p:cNvSpPr/>
            <p:nvPr/>
          </p:nvSpPr>
          <p:spPr>
            <a:xfrm>
              <a:off x="6502400" y="1905000"/>
              <a:ext cx="1397000" cy="279400"/>
            </a:xfrm>
            <a:prstGeom prst="roundRect">
              <a:avLst/>
            </a:prstGeom>
            <a:solidFill>
              <a:srgbClr val="064E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10B981"/>
                  </a:solidFill>
                  <a:latin typeface="Segoe UI" panose="020B0502040204020203" pitchFamily="34" charset="0"/>
                </a:rPr>
                <a:t>ĐẶC TRƯNG CỐT LÕI</a:t>
              </a:r>
              <a:endParaRPr lang="en-US" sz="900" b="1">
                <a:solidFill>
                  <a:srgbClr val="10B98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B0694B2-8A2D-9677-81AC-0372A1E3775D}"/>
                </a:ext>
              </a:extLst>
            </p:cNvPr>
            <p:cNvSpPr/>
            <p:nvPr/>
          </p:nvSpPr>
          <p:spPr>
            <a:xfrm>
              <a:off x="6502400" y="2260600"/>
              <a:ext cx="457200" cy="4572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90FA680-0F93-EBD6-84CB-EE6AA27E28B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8600" y="2336800"/>
              <a:ext cx="304800" cy="304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C965D2B-65DF-D0AC-3243-5C89818A9989}"/>
                </a:ext>
              </a:extLst>
            </p:cNvPr>
            <p:cNvSpPr txBox="1"/>
            <p:nvPr/>
          </p:nvSpPr>
          <p:spPr>
            <a:xfrm>
              <a:off x="6502400" y="2819400"/>
              <a:ext cx="4826000" cy="121501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vi-VN" sz="2000" b="1">
                  <a:solidFill>
                    <a:srgbClr val="38BDF8"/>
                  </a:solidFill>
                  <a:latin typeface="Segoe UI" panose="020B0502040204020203" pitchFamily="34" charset="0"/>
                </a:rPr>
                <a:t>Tỷ Lệ Tăng Cơ Học (m)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m = IR - OR. Chênh lệch giữa tỷ suất nhập cư và xuất cư trên một nghìn dân trung bình.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73D4E244-9CFB-C14B-57C8-799A6C325D46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Hệ thống chỉ tiêu thống kê quốc gia</a:t>
            </a:r>
          </a:p>
        </p:txBody>
      </p:sp>
    </p:spTree>
    <p:extLst>
      <p:ext uri="{BB962C8B-B14F-4D97-AF65-F5344CB8AC3E}">
        <p14:creationId xmlns:p14="http://schemas.microsoft.com/office/powerpoint/2010/main" val="24861855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848662B9-A189-8A05-D93A-38CA1F402546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MÔ HÌNH HÀM MŨ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90635789-FE39-7130-4A7A-A6D9396B7EDF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07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22F77467-FBF1-4A54-5FFE-584E8F5356A0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Tốc Độ Gia Tăng Dân Số Và Mô Hình Tăng Trưởng Hàm Số Mũ Liên Tục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AE4ED41E-2103-2D91-A24F-C571522C8D7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C1086152-616F-064D-EAF1-EFFEDA7EF837}"/>
              </a:ext>
            </a:extLst>
          </p:cNvPr>
          <p:cNvGrpSpPr/>
          <p:nvPr/>
        </p:nvGrpSpPr>
        <p:grpSpPr>
          <a:xfrm>
            <a:off x="6644640" y="1676400"/>
            <a:ext cx="4937760" cy="2184400"/>
            <a:chOff x="6644640" y="1676400"/>
            <a:chExt cx="4937760" cy="2184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47C4C62-D28E-E7B1-FC4F-138230DE9DE4}"/>
                </a:ext>
              </a:extLst>
            </p:cNvPr>
            <p:cNvSpPr/>
            <p:nvPr/>
          </p:nvSpPr>
          <p:spPr>
            <a:xfrm>
              <a:off x="6644640" y="1676400"/>
              <a:ext cx="4937760" cy="218440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FFA1617-0FAF-81E2-F103-7790E6389A2A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341EDD4-78FF-F97E-091D-2205326013D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6C4CAE3-C76D-38E9-F0B9-9F78A39B99FA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Mô Hình Tăng Trưởng Hàm Mũ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P_t = P_0 * e^(r*t). Với r là tỷ lệ tăng trưởng liên tục hàng năm, e là cơ số logarit tự nhiên (xấp xỉ 2.71828).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9F70A02F-D7B4-832F-B2CD-8FF60B1B8829}"/>
              </a:ext>
            </a:extLst>
          </p:cNvPr>
          <p:cNvGrpSpPr/>
          <p:nvPr/>
        </p:nvGrpSpPr>
        <p:grpSpPr>
          <a:xfrm>
            <a:off x="6644640" y="4013200"/>
            <a:ext cx="4937760" cy="2184400"/>
            <a:chOff x="6644640" y="4013200"/>
            <a:chExt cx="4937760" cy="21844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E3E2D13-86FF-125B-D678-1843C8305D21}"/>
                </a:ext>
              </a:extLst>
            </p:cNvPr>
            <p:cNvSpPr/>
            <p:nvPr/>
          </p:nvSpPr>
          <p:spPr>
            <a:xfrm>
              <a:off x="6644640" y="4013200"/>
              <a:ext cx="4937760" cy="21844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DDAD0C4-141F-05FF-6CD1-9D14387F6535}"/>
                </a:ext>
              </a:extLst>
            </p:cNvPr>
            <p:cNvSpPr/>
            <p:nvPr/>
          </p:nvSpPr>
          <p:spPr>
            <a:xfrm>
              <a:off x="6822440" y="41910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AC16209-7782-7BD4-BBC9-BC68AC85EC9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42545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46E3A8-8E87-B1ED-341E-B9A5D480FD92}"/>
                </a:ext>
              </a:extLst>
            </p:cNvPr>
            <p:cNvSpPr txBox="1"/>
            <p:nvPr/>
          </p:nvSpPr>
          <p:spPr>
            <a:xfrm>
              <a:off x="7305040" y="41402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Xác Định Tỷ Lệ Tăng Trưởng (r)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r = [ln(P_t / P_0)] / t. Cho phép tính toán chính xác tốc độ tăng trưởng bình quân giữa hai kỳ điều tra dân số.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9F643434-BE47-BB96-2F6D-8773467C1033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Mô hình toán học dân số</a:t>
            </a:r>
          </a:p>
        </p:txBody>
      </p:sp>
    </p:spTree>
    <p:extLst>
      <p:ext uri="{BB962C8B-B14F-4D97-AF65-F5344CB8AC3E}">
        <p14:creationId xmlns:p14="http://schemas.microsoft.com/office/powerpoint/2010/main" val="32776041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1E6DD563-C1D3-398F-43AE-EEDC2E3CA201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THỜI GIAN NHÂN ĐÔI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32D59826-D1D8-C550-9CFB-039DEFAAA609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08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FF07FE29-E0E0-7609-8B25-717A1A80456A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Quy Tắc 70 Và Thời Gian Nhân Đôi Quy Mô Dân Số (Doubling Time)</a:t>
            </a: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45698880-44F6-C6A6-59D6-20767308C233}"/>
              </a:ext>
            </a:extLst>
          </p:cNvPr>
          <p:cNvGrpSpPr/>
          <p:nvPr/>
        </p:nvGrpSpPr>
        <p:grpSpPr>
          <a:xfrm>
            <a:off x="609600" y="1676400"/>
            <a:ext cx="10972800" cy="1117600"/>
            <a:chOff x="609600" y="1676400"/>
            <a:chExt cx="10972800" cy="11176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2A2338D-9BDF-4240-6384-10B2A7B5552E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E76D2EA-9B27-D189-372C-C0E5ACC7E279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2E0D9E1-8C76-E422-714D-A71BE48C47C8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10B981"/>
                  </a:solidFill>
                  <a:latin typeface="Segoe UI" panose="020B0502040204020203" pitchFamily="34" charset="0"/>
                </a:rPr>
                <a:t>T_2 = ln(2) / r ≈ 70 / r(%)  (Quy tắc 70 nhân đôi dân số)</a:t>
              </a: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56B66D28-9446-69A0-B3CA-83A71717E7BB}"/>
              </a:ext>
            </a:extLst>
          </p:cNvPr>
          <p:cNvGrpSpPr/>
          <p:nvPr/>
        </p:nvGrpSpPr>
        <p:grpSpPr>
          <a:xfrm>
            <a:off x="609600" y="2971800"/>
            <a:ext cx="3522133" cy="3225800"/>
            <a:chOff x="609600" y="2971800"/>
            <a:chExt cx="3522133" cy="3225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2D00C59-7586-18F8-DD50-A43905938F6F}"/>
                </a:ext>
              </a:extLst>
            </p:cNvPr>
            <p:cNvSpPr/>
            <p:nvPr/>
          </p:nvSpPr>
          <p:spPr>
            <a:xfrm>
              <a:off x="609600" y="2971800"/>
              <a:ext cx="3522133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CBBEFE6-1C31-94C2-58C1-70CA7D14C464}"/>
                </a:ext>
              </a:extLst>
            </p:cNvPr>
            <p:cNvSpPr/>
            <p:nvPr/>
          </p:nvSpPr>
          <p:spPr>
            <a:xfrm>
              <a:off x="812800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65C280B8-54BA-66B3-B418-7153B7479F5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3238500"/>
              <a:ext cx="279400" cy="279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228405C-D2AB-C209-5D44-378A1187E335}"/>
                </a:ext>
              </a:extLst>
            </p:cNvPr>
            <p:cNvSpPr txBox="1"/>
            <p:nvPr/>
          </p:nvSpPr>
          <p:spPr>
            <a:xfrm>
              <a:off x="812800" y="3683000"/>
              <a:ext cx="3115733" cy="149207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Công Thức Thời Gian Nhân Đôi (T_2)
</a:t>
              </a:r>
              <a:r>
                <a:rPr lang="en-US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T_2 = ln(2) / r ≈ 70 / r(%). Nếu dân số tăng 1.0%/năm thì sau đúng 70 năm quy mô dân số sẽ tăng gấp đôi.</a:t>
              </a: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4EEA2A24-555B-1563-E510-6397491137D6}"/>
              </a:ext>
            </a:extLst>
          </p:cNvPr>
          <p:cNvGrpSpPr/>
          <p:nvPr/>
        </p:nvGrpSpPr>
        <p:grpSpPr>
          <a:xfrm>
            <a:off x="4334933" y="2971800"/>
            <a:ext cx="3522134" cy="3225800"/>
            <a:chOff x="4334933" y="2971800"/>
            <a:chExt cx="3522134" cy="32258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4A55927-9819-C210-2CB7-8B3276E96ADD}"/>
                </a:ext>
              </a:extLst>
            </p:cNvPr>
            <p:cNvSpPr/>
            <p:nvPr/>
          </p:nvSpPr>
          <p:spPr>
            <a:xfrm>
              <a:off x="4334933" y="2971800"/>
              <a:ext cx="3522134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A756A10-C9C3-903B-462A-C366F01B491C}"/>
                </a:ext>
              </a:extLst>
            </p:cNvPr>
            <p:cNvSpPr/>
            <p:nvPr/>
          </p:nvSpPr>
          <p:spPr>
            <a:xfrm>
              <a:off x="4538133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082D562-DF49-D7ED-4BE3-93A2FBC269F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3238500"/>
              <a:ext cx="279400" cy="279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E521956-F338-0A05-3BBA-DDC3965A7F93}"/>
                </a:ext>
              </a:extLst>
            </p:cNvPr>
            <p:cNvSpPr txBox="1"/>
            <p:nvPr/>
          </p:nvSpPr>
          <p:spPr>
            <a:xfrm>
              <a:off x="4538133" y="3683000"/>
              <a:ext cx="3115733" cy="144398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Áp Lực Lên Hệ Thống Hạ Tầng
</a:t>
              </a:r>
              <a:r>
                <a:rPr lang="vi-VN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Thời gian nhân đôi càng ngắn đòi hỏi quốc gia phải tăng gấp đôi trường học, bệnh viện, nhà ở và năng lượng trong cùng thời gian.</a:t>
              </a:r>
              <a:endParaRPr lang="en-US" sz="13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4D602596-5B61-9F7F-83A9-59728F9C3D29}"/>
              </a:ext>
            </a:extLst>
          </p:cNvPr>
          <p:cNvGrpSpPr/>
          <p:nvPr/>
        </p:nvGrpSpPr>
        <p:grpSpPr>
          <a:xfrm>
            <a:off x="8060267" y="2971800"/>
            <a:ext cx="3522133" cy="3225800"/>
            <a:chOff x="8060267" y="2971800"/>
            <a:chExt cx="3522133" cy="32258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A714445-0133-652B-5836-1B32B17C72CB}"/>
                </a:ext>
              </a:extLst>
            </p:cNvPr>
            <p:cNvSpPr/>
            <p:nvPr/>
          </p:nvSpPr>
          <p:spPr>
            <a:xfrm>
              <a:off x="8060267" y="2971800"/>
              <a:ext cx="3522133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E73C018-5B8B-503D-659E-A6BAECE737E4}"/>
                </a:ext>
              </a:extLst>
            </p:cNvPr>
            <p:cNvSpPr/>
            <p:nvPr/>
          </p:nvSpPr>
          <p:spPr>
            <a:xfrm>
              <a:off x="8263467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729DCA77-7380-0249-6657-CEDE1C7A24D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3238500"/>
              <a:ext cx="279400" cy="279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6CDAB20-201E-A7FF-28AC-195B956FDF22}"/>
                </a:ext>
              </a:extLst>
            </p:cNvPr>
            <p:cNvSpPr txBox="1"/>
            <p:nvPr/>
          </p:nvSpPr>
          <p:spPr>
            <a:xfrm>
              <a:off x="8263467" y="3683000"/>
              <a:ext cx="3115733" cy="175176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Ứng Dụng Trong Cảnh Báo Sớm
</a:t>
              </a:r>
              <a:r>
                <a:rPr lang="en-US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Là công cụ trực quan giúp các nhà hoạch định chính sách hình dung tốc độ cạn kiệt tài nguyên nếu không kiểm soát mức sinh.</a:t>
              </a:r>
            </a:p>
          </p:txBody>
        </p:sp>
      </p:grpSp>
      <p:sp>
        <p:nvSpPr>
          <p:cNvPr id="27" name="!!Anchor_Source_Footer">
            <a:extLst>
              <a:ext uri="{FF2B5EF4-FFF2-40B4-BE49-F238E27FC236}">
                <a16:creationId xmlns:a16="http://schemas.microsoft.com/office/drawing/2014/main" id="{85F0E333-0A3C-C0A5-E10F-10D052CBAA17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Sổ tay nhân khẩu học ứng dụng</a:t>
            </a:r>
          </a:p>
        </p:txBody>
      </p:sp>
    </p:spTree>
    <p:extLst>
      <p:ext uri="{BB962C8B-B14F-4D97-AF65-F5344CB8AC3E}">
        <p14:creationId xmlns:p14="http://schemas.microsoft.com/office/powerpoint/2010/main" val="41699748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AD5809E7-6A75-FAA7-1EBF-A417A2320400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QUY MÔ DÂN SỐ VN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46C6749D-4900-1E1A-9802-3420A147FA03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09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39342599-3F47-2F02-3506-EFD65E198FEC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Tiến Trình Gia Tăng Quy Mô Dân Số Việt Nam Qua Các Kỳ Tổng Điều Tra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98C59150-B872-D176-94D4-4DBB4AE87E7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4C0C1EB1-5AC9-B2BB-4B88-D4ADBFB7ED81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7705D10-A055-FBE6-FB6A-419F8B3C98F5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0DD9E21-EF33-36C6-AA17-21396215E9DB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C885342C-25F3-299B-E3C8-7A8999D0301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A61F4FA-9449-B100-8303-64D8EFF8B6A3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1979: 52.7 Triệu Dân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Tốc độ gia tăng dân số thời kỳ sau chiến tranh rất cao, vượt ngưỡng 2.1%/năm do mức sinh còn cao.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B87DE2C1-3877-266C-88B8-7AB5738BB343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E1939F1-826B-983E-0E8B-0EF7C793E02C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3A8BA9-59CB-3C66-3E07-6945118E39CC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CE29D246-49F3-EAF8-ABB7-78891910C5C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4CE5014-20C2-0042-EAC1-A112504B5851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2019: 96.2 Triệu Dân
</a:t>
              </a:r>
              <a:r>
                <a:rPr lang="en-US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Tốc độ tăng dân số bình quân giai đoạn 2009-2019 giảm xuống còn 1.14%/năm nhờ chính sách kế hoạch hóa gia đình.</a:t>
              </a: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8B346F35-1D7F-C69E-D570-1F2F5721587A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03808EC-4F55-17DA-E4D7-BC73E07E169C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94F8004-C6FE-222C-781A-52BE74D2F81B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EE19E4A4-B7D6-D84E-4024-D155061A41D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C5CCD14-7564-C853-C3EB-0A75A71753F0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2024: Vượt 100.3 Triệu Dân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Quy mô đạt mốc lịch sử nhưng tỷ lệ gia tăng dân số hiện chỉ còn dưới 0.9%/năm và đang tiếp tục xu hướng giảm.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8ACF9DEB-F7DF-5482-4AE5-837DD9CA98BD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Tổng cục Thống kê - Dữ liệu chuỗi thời gian 1979-2024</a:t>
            </a:r>
          </a:p>
        </p:txBody>
      </p:sp>
    </p:spTree>
    <p:extLst>
      <p:ext uri="{BB962C8B-B14F-4D97-AF65-F5344CB8AC3E}">
        <p14:creationId xmlns:p14="http://schemas.microsoft.com/office/powerpoint/2010/main" val="29113610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27D97610-DF6F-4866-479F-33C28328E4E9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CƠ CẤU DÂN SỐ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F916A87C-4D74-3445-CBED-7E4E5AA15AEB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10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649C1677-585F-82FA-72FA-93BAA0CEBE3A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Khái Niệm Cơ Cấu Dân Số Và Ý Nghĩa Chi Phí Xã Hội Trong Hoạch Định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08411744-7CC7-4CA6-2A56-B30DC5C533D1}"/>
              </a:ext>
            </a:extLst>
          </p:cNvPr>
          <p:cNvGrpSpPr/>
          <p:nvPr/>
        </p:nvGrpSpPr>
        <p:grpSpPr>
          <a:xfrm>
            <a:off x="609600" y="1676400"/>
            <a:ext cx="5334000" cy="4521200"/>
            <a:chOff x="609600" y="1676400"/>
            <a:chExt cx="533400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5BE7D78-8642-CD07-639A-D79FE3FBFFF4}"/>
                </a:ext>
              </a:extLst>
            </p:cNvPr>
            <p:cNvSpPr/>
            <p:nvPr/>
          </p:nvSpPr>
          <p:spPr>
            <a:xfrm>
              <a:off x="609600" y="1676400"/>
              <a:ext cx="5334000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EA48840-703F-F532-1006-D95A6FB210EE}"/>
                </a:ext>
              </a:extLst>
            </p:cNvPr>
            <p:cNvSpPr/>
            <p:nvPr/>
          </p:nvSpPr>
          <p:spPr>
            <a:xfrm>
              <a:off x="863600" y="1905000"/>
              <a:ext cx="1397000" cy="2794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TIÊU CHÍ SO SÁNH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C18E14C-74A4-54C8-55EC-58C2F0C745D7}"/>
                </a:ext>
              </a:extLst>
            </p:cNvPr>
            <p:cNvSpPr/>
            <p:nvPr/>
          </p:nvSpPr>
          <p:spPr>
            <a:xfrm>
              <a:off x="863600" y="2260600"/>
              <a:ext cx="457200" cy="4572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97FD3DF2-86DD-DF23-4AC5-ACB59E6CFA8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36800"/>
              <a:ext cx="304800" cy="304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78D7F18-4D1B-BD74-9986-7155D54FCDF1}"/>
                </a:ext>
              </a:extLst>
            </p:cNvPr>
            <p:cNvSpPr txBox="1"/>
            <p:nvPr/>
          </p:nvSpPr>
          <p:spPr>
            <a:xfrm>
              <a:off x="8636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vi-VN" sz="2000" b="1">
                  <a:solidFill>
                    <a:srgbClr val="FFFFFF"/>
                  </a:solidFill>
                  <a:latin typeface="Segoe UI" panose="020B0502040204020203" pitchFamily="34" charset="0"/>
                </a:rPr>
                <a:t>Cơ Cấu Tự Nhiên Sinh Học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Phân chia theo độ tuổi và giới tính. Đây là cơ cấu khách quan, ít biến đổi đột ngột và mang tính quy luật sinh học cao.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201B1F1C-AFE1-C42A-B230-9E454C9F677C}"/>
              </a:ext>
            </a:extLst>
          </p:cNvPr>
          <p:cNvGrpSpPr/>
          <p:nvPr/>
        </p:nvGrpSpPr>
        <p:grpSpPr>
          <a:xfrm>
            <a:off x="6248400" y="1676400"/>
            <a:ext cx="5334000" cy="4521200"/>
            <a:chOff x="6248400" y="1676400"/>
            <a:chExt cx="5334000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E1AD717-F069-CFCD-0580-3BCFB7E05EE3}"/>
                </a:ext>
              </a:extLst>
            </p:cNvPr>
            <p:cNvSpPr/>
            <p:nvPr/>
          </p:nvSpPr>
          <p:spPr>
            <a:xfrm>
              <a:off x="6248400" y="1676400"/>
              <a:ext cx="5334000" cy="45212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C017ACB-CA4F-6F70-AA20-9260961BFC89}"/>
                </a:ext>
              </a:extLst>
            </p:cNvPr>
            <p:cNvSpPr/>
            <p:nvPr/>
          </p:nvSpPr>
          <p:spPr>
            <a:xfrm>
              <a:off x="6502400" y="1905000"/>
              <a:ext cx="1397000" cy="279400"/>
            </a:xfrm>
            <a:prstGeom prst="roundRect">
              <a:avLst/>
            </a:prstGeom>
            <a:solidFill>
              <a:srgbClr val="064E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10B981"/>
                  </a:solidFill>
                  <a:latin typeface="Segoe UI" panose="020B0502040204020203" pitchFamily="34" charset="0"/>
                </a:rPr>
                <a:t>ĐẶC TRƯNG CỐT LÕI</a:t>
              </a:r>
              <a:endParaRPr lang="en-US" sz="900" b="1">
                <a:solidFill>
                  <a:srgbClr val="10B98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2D8E2B1-26D4-3DB2-B696-61B6B43B3DD4}"/>
                </a:ext>
              </a:extLst>
            </p:cNvPr>
            <p:cNvSpPr/>
            <p:nvPr/>
          </p:nvSpPr>
          <p:spPr>
            <a:xfrm>
              <a:off x="6502400" y="2260600"/>
              <a:ext cx="457200" cy="4572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B9CBF80-2299-AEBB-BD15-B8CFA1CAE98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8600" y="2336800"/>
              <a:ext cx="304800" cy="304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3DD6DF8-822F-0235-66A3-BDE13420F2BC}"/>
                </a:ext>
              </a:extLst>
            </p:cNvPr>
            <p:cNvSpPr txBox="1"/>
            <p:nvPr/>
          </p:nvSpPr>
          <p:spPr>
            <a:xfrm>
              <a:off x="65024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vi-VN" sz="2000" b="1">
                  <a:solidFill>
                    <a:srgbClr val="38BDF8"/>
                  </a:solidFill>
                  <a:latin typeface="Segoe UI" panose="020B0502040204020203" pitchFamily="34" charset="0"/>
                </a:rPr>
                <a:t>Cơ Cấu Xã Hội - Kinh Tế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Phân chia theo học vấn, nghề nghiệp, dân tộc, tôn giáo và tình trạng hôn nhân, phản ánh trình độ tiến hóa xã hội.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7E52DB89-51C5-E477-3F84-638C05CFBB02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Giáo trình Dân số học đại cương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1345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FAA8A53D-0D05-2876-D49E-E0FC73627B9D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CƠ CẤU THEO TUỔI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98F7EADD-304C-0609-7236-AED48F7B5685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11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2C5C2ADB-8026-82E0-5A47-61A3462DF1D3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Ba Khoảng Tuổi Sinh Học Cơ Bản Trong Phân Tích Cơ Cấu Lực Lượng Lao Động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D11166EC-E6E4-C6FA-CE16-DD0F964E93A9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E3C564-9C5B-E76F-28B7-1D8288A73CBC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1E293B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1F6C41E-5A10-3283-8EE9-626189027780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18623C0-1836-38D4-3691-37BE6CB07A43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6ECC206-8B7E-7A0E-36A9-71B382E0D36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FE2535-187B-8D75-404A-12EC2A032132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95885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FFFFFF"/>
                  </a:solidFill>
                  <a:latin typeface="Segoe UI" panose="020B0502040204020203" pitchFamily="34" charset="0"/>
                </a:rPr>
                <a:t>Tương quan tỷ lệ giữa 3 nhóm tuổi định hình trực tiếp mô hình tiêu dùng, gánh nặng phụ thuộc và tiềm năng sản xuất quốc gia.</a:t>
              </a:r>
              <a:endParaRPr lang="en-US" sz="1250" b="1">
                <a:solidFill>
                  <a:srgbClr val="FFFFFF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4DA315B6-FCAB-7475-5B7B-4C15A2E8435E}"/>
              </a:ext>
            </a:extLst>
          </p:cNvPr>
          <p:cNvGrpSpPr/>
          <p:nvPr/>
        </p:nvGrpSpPr>
        <p:grpSpPr>
          <a:xfrm>
            <a:off x="6214872" y="1676400"/>
            <a:ext cx="5367528" cy="1405467"/>
            <a:chOff x="6214872" y="1676400"/>
            <a:chExt cx="5367528" cy="140546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E72704F-60B6-7771-856E-4073FDC5EB57}"/>
                </a:ext>
              </a:extLst>
            </p:cNvPr>
            <p:cNvSpPr/>
            <p:nvPr/>
          </p:nvSpPr>
          <p:spPr>
            <a:xfrm>
              <a:off x="6214872" y="1676400"/>
              <a:ext cx="5367528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A98949D-BE8D-2ACB-9437-36E3847D70B1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31DADC08-ACB5-7FDD-D3C3-0CE723AB291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A09E1CF-9D40-61CD-9993-3CA6B0A106B7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pt-BR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Nhóm Trẻ Em (0 - 14 Tuổi)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Nhóm dân số dưới độ tuổi lao động, tiêu dùng nhiều dịch vụ nhi khoa, dinh dưỡng và hệ thống giáo dục phổ thông.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3EDDE634-6AC0-F13C-A393-FF384FEECEA2}"/>
              </a:ext>
            </a:extLst>
          </p:cNvPr>
          <p:cNvGrpSpPr/>
          <p:nvPr/>
        </p:nvGrpSpPr>
        <p:grpSpPr>
          <a:xfrm>
            <a:off x="6214872" y="3234267"/>
            <a:ext cx="5367528" cy="1405466"/>
            <a:chOff x="6214872" y="3234267"/>
            <a:chExt cx="5367528" cy="140546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6C222D0-3051-5F8A-77E5-DDA9B0E967BE}"/>
                </a:ext>
              </a:extLst>
            </p:cNvPr>
            <p:cNvSpPr/>
            <p:nvPr/>
          </p:nvSpPr>
          <p:spPr>
            <a:xfrm>
              <a:off x="6214872" y="3234267"/>
              <a:ext cx="5367528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7F20C37-2423-0BCE-B138-A0762670BE91}"/>
                </a:ext>
              </a:extLst>
            </p:cNvPr>
            <p:cNvSpPr/>
            <p:nvPr/>
          </p:nvSpPr>
          <p:spPr>
            <a:xfrm>
              <a:off x="6392672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8D050CE1-E3D9-C20E-89AD-E824B86B347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3475567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8AA0284-00FF-BA64-9320-25CA09F70917}"/>
                </a:ext>
              </a:extLst>
            </p:cNvPr>
            <p:cNvSpPr txBox="1"/>
            <p:nvPr/>
          </p:nvSpPr>
          <p:spPr>
            <a:xfrm>
              <a:off x="6875272" y="3361267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Nhóm Lao Động (15 - 64 Tuổi)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Lực lượng trực tiếp tạo ra của cải vật chất, đóng góp thuế, tiết kiệm và đóng bảo hiểm xã hội nuôi sống các nhóm phụ thuộc.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0" name="!!Stage_Sub_Card_3">
            <a:extLst>
              <a:ext uri="{FF2B5EF4-FFF2-40B4-BE49-F238E27FC236}">
                <a16:creationId xmlns:a16="http://schemas.microsoft.com/office/drawing/2014/main" id="{101348E7-95D4-FB30-D988-77E1E98DE7AE}"/>
              </a:ext>
            </a:extLst>
          </p:cNvPr>
          <p:cNvGrpSpPr/>
          <p:nvPr/>
        </p:nvGrpSpPr>
        <p:grpSpPr>
          <a:xfrm>
            <a:off x="6214872" y="4792133"/>
            <a:ext cx="5367528" cy="1405467"/>
            <a:chOff x="6214872" y="4792133"/>
            <a:chExt cx="5367528" cy="140546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7D937C9-409D-325B-6729-2D6AA33F41D6}"/>
                </a:ext>
              </a:extLst>
            </p:cNvPr>
            <p:cNvSpPr/>
            <p:nvPr/>
          </p:nvSpPr>
          <p:spPr>
            <a:xfrm>
              <a:off x="6214872" y="4792133"/>
              <a:ext cx="5367528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A90ED69-6923-876B-F95B-F758B8583853}"/>
                </a:ext>
              </a:extLst>
            </p:cNvPr>
            <p:cNvSpPr/>
            <p:nvPr/>
          </p:nvSpPr>
          <p:spPr>
            <a:xfrm>
              <a:off x="6392672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2CBF7B15-978C-0328-7218-EBF35B21EA1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56172" y="5033433"/>
              <a:ext cx="254000" cy="254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ABA5B5B-79B9-CF2E-E466-FCC9DBCF81C7}"/>
                </a:ext>
              </a:extLst>
            </p:cNvPr>
            <p:cNvSpPr txBox="1"/>
            <p:nvPr/>
          </p:nvSpPr>
          <p:spPr>
            <a:xfrm>
              <a:off x="6875272" y="4919133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Nhóm Người Cao Tuổi (65+ Tuổi)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Nhóm hết tuổi lao động, có nhu cầu lớn về dịch vụ an sinh hưu trí, chăm sóc y tế lão khoa và hỗ trợ sinh hoạt dài hạn.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31" name="!!Anchor_Source_Footer">
            <a:extLst>
              <a:ext uri="{FF2B5EF4-FFF2-40B4-BE49-F238E27FC236}">
                <a16:creationId xmlns:a16="http://schemas.microsoft.com/office/drawing/2014/main" id="{57A58890-CB2B-8B69-7306-6DEB568334C2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Chuẩn phân loại Liên Hợp Quốc (UN DESA)</a:t>
            </a:r>
          </a:p>
        </p:txBody>
      </p:sp>
    </p:spTree>
    <p:extLst>
      <p:ext uri="{BB962C8B-B14F-4D97-AF65-F5344CB8AC3E}">
        <p14:creationId xmlns:p14="http://schemas.microsoft.com/office/powerpoint/2010/main" val="40996057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0C6C36B9-F2AD-8585-0674-068C285BCDF1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TỶ SỐ PHỤ THUỘC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ED3B304F-FEA0-5CB7-ED9B-25FCC43879E5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12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D885651F-BE61-7C6B-426D-D61F30B1FE2C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Hệ Thống Ba Tỷ Số Phụ Thuộc: Trẻ Em, Người Già Và Phụ Thuộc Chung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DDDA7573-39F8-8EA2-FEE0-6B8FC7E255A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FAD85BE9-3606-A03B-C45F-EB7194AF865C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61760D5-8346-9418-39D6-C2774C771D32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0F343E4-6DCB-D42D-60EF-7F5F7584ED4D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E2B2A2E-AC4E-82C5-6500-F63AA126230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6C5B732-07F5-39B7-0FE1-5F5BFF9FDE4A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774571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Tỷ Số Phụ Thuộc Trẻ Em (YDR)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YDR = (Dân số 0-14 / Dân số 15-64) * 100. Đo lường gánh nặng nuôi dạy thế hệ tương lai.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25904C6B-6047-A2DF-455D-C3F451D37E27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58D2A50-9F64-73E1-8A43-649B12407637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6F04C26-1555-1126-770E-40FCAD356860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0A45047-BFC1-8A48-2B47-FA876D7C851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E43DA2-EA2A-B673-C0AF-EECEA66F511C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Tỷ Số Phụ Thuộc Người Già (ADR)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ADR = (Dân số 65+ / Dân số 15-64) * 100. Đo lường gánh nặng an sinh và chăm sóc người cao tuổi.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56AE7ADC-1214-C102-9B54-913AE3FBA670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2B3EA6B-8E08-8C66-F766-C66EA67406E2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09C0959-AAB8-A3B7-60A2-D2CFD64D1FCE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F679564A-627C-D87A-5A6E-1E82015723C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715185A-936D-697A-FD26-0F14CE94519E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Tỷ Số Phụ Thuộc Chung (CDR)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CDR = YDR + ADR. Khi CDR &lt; 50, quốc gia chính thức bước vào thời kỳ cơ cấu dân số vàng quý giá.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046D44C3-F3AE-5E1E-9E6F-4DC9BEBD0658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Phương pháp tính toán nhân khẩu học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6824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545EE431-CADE-F7B9-3C1B-9884B49FE01F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CƠ CẤU GIỚI TÍNH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2541C9C6-0F88-A8E3-58A6-CB2BA61F3316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13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EC763F10-01F2-E65F-27EF-886B043034CA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Cơ Cấu Dân Số Theo Giới Tính Và Tỷ Số Giới Tính (Sex Ratio)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95CD1044-6978-3AAF-B933-ADEC91AF8578}"/>
              </a:ext>
            </a:extLst>
          </p:cNvPr>
          <p:cNvGrpSpPr/>
          <p:nvPr/>
        </p:nvGrpSpPr>
        <p:grpSpPr>
          <a:xfrm>
            <a:off x="609600" y="1676400"/>
            <a:ext cx="10972800" cy="1117600"/>
            <a:chOff x="609600" y="1676400"/>
            <a:chExt cx="10972800" cy="11176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363C2AB-BEE2-1B4E-F88B-665FD6A16194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94008CE-83BC-B454-78D3-4E0A3E7A10CA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0E98AD-E147-A293-5B39-AFC63ACC0738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10B981"/>
                  </a:solidFill>
                  <a:latin typeface="Segoe UI" panose="020B0502040204020203" pitchFamily="34" charset="0"/>
                </a:rPr>
                <a:t>SR = (Số Nam / Số Nữ) * 100  |  SRB = (Bé Trai / Bé Gái) * 100</a:t>
              </a: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8F785C5E-AFB9-5770-AF9A-9325A8DE7346}"/>
              </a:ext>
            </a:extLst>
          </p:cNvPr>
          <p:cNvGrpSpPr/>
          <p:nvPr/>
        </p:nvGrpSpPr>
        <p:grpSpPr>
          <a:xfrm>
            <a:off x="609600" y="2971800"/>
            <a:ext cx="5384800" cy="3225800"/>
            <a:chOff x="609600" y="2971800"/>
            <a:chExt cx="5384800" cy="3225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5CE3E92-BA1F-DD13-C94F-005E536A3EF3}"/>
                </a:ext>
              </a:extLst>
            </p:cNvPr>
            <p:cNvSpPr/>
            <p:nvPr/>
          </p:nvSpPr>
          <p:spPr>
            <a:xfrm>
              <a:off x="609600" y="2971800"/>
              <a:ext cx="5384800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539698B-7486-D99A-54FC-0787A0847E04}"/>
                </a:ext>
              </a:extLst>
            </p:cNvPr>
            <p:cNvSpPr/>
            <p:nvPr/>
          </p:nvSpPr>
          <p:spPr>
            <a:xfrm>
              <a:off x="812800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679AD9A-A68E-D084-BAEC-512E262EF73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3238500"/>
              <a:ext cx="279400" cy="279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64BCFE9-DA61-F154-1C67-4F7246A944E2}"/>
                </a:ext>
              </a:extLst>
            </p:cNvPr>
            <p:cNvSpPr txBox="1"/>
            <p:nvPr/>
          </p:nvSpPr>
          <p:spPr>
            <a:xfrm>
              <a:off x="812800" y="3683000"/>
              <a:ext cx="4978400" cy="92461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Tỷ Số Giới Tính (Sex Ratio - SR)
</a:t>
              </a:r>
              <a:r>
                <a:rPr lang="en-US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SR = (Số nam / Số nữ) * 100. Tại Việt Nam tỷ số giới tính toàn bộ dân số hiện đạt xấp xỉ 99.5 nam trên 100 nữ.</a:t>
              </a: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94068F68-59F6-61DF-29A0-44F38046D8AA}"/>
              </a:ext>
            </a:extLst>
          </p:cNvPr>
          <p:cNvGrpSpPr/>
          <p:nvPr/>
        </p:nvGrpSpPr>
        <p:grpSpPr>
          <a:xfrm>
            <a:off x="6197600" y="2971800"/>
            <a:ext cx="5384800" cy="3225800"/>
            <a:chOff x="6197600" y="2971800"/>
            <a:chExt cx="5384800" cy="32258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9A93FA3-C858-3988-CF0E-F39570EF7B9F}"/>
                </a:ext>
              </a:extLst>
            </p:cNvPr>
            <p:cNvSpPr/>
            <p:nvPr/>
          </p:nvSpPr>
          <p:spPr>
            <a:xfrm>
              <a:off x="6197600" y="2971800"/>
              <a:ext cx="5384800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D80353E-C04D-C5B7-DB7E-137A5BF0F62F}"/>
                </a:ext>
              </a:extLst>
            </p:cNvPr>
            <p:cNvSpPr/>
            <p:nvPr/>
          </p:nvSpPr>
          <p:spPr>
            <a:xfrm>
              <a:off x="6400800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58D7C423-5CB6-28D3-A659-6D52460BBF5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64300" y="3238500"/>
              <a:ext cx="279400" cy="279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49E17CC-C6F9-F0EC-E54C-FA41A33BF61C}"/>
                </a:ext>
              </a:extLst>
            </p:cNvPr>
            <p:cNvSpPr txBox="1"/>
            <p:nvPr/>
          </p:nvSpPr>
          <p:spPr>
            <a:xfrm>
              <a:off x="6400800" y="3683000"/>
              <a:ext cx="4978400" cy="1184299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Quy Luật Biến Động Theo Tuổi
</a:t>
              </a:r>
              <a:r>
                <a:rPr lang="vi-VN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Nam giới chiếm ưu thế ở nhóm tuổi trẻ (do số sinh nam cao hơn), cân bằng ở tuổi thanh niên và nữ giới vượt trội ở tuổi già.</a:t>
              </a:r>
              <a:endParaRPr lang="en-US" sz="13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1" name="!!Anchor_Source_Footer">
            <a:extLst>
              <a:ext uri="{FF2B5EF4-FFF2-40B4-BE49-F238E27FC236}">
                <a16:creationId xmlns:a16="http://schemas.microsoft.com/office/drawing/2014/main" id="{902F999D-6D5C-3693-5ED2-44EA598E3725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Giáo trình Dân số học đại cương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1154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502B2230-007A-FC89-22C4-30D717612192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MẤT CÂN BẰNG GIỚI TÍNH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8945B900-1878-33D4-A0D9-0D22CCD6138F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14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144BB6E2-7C03-0F3C-985C-38DF0D683F6C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Thực Trạng Mất Cân Bằng Tỷ Số Giới Tính Khi Sinh (SRB) Tại Việt Nam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1D9EB0A8-23A0-048F-77C2-5B1992AD0A0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7D862675-0609-8BFD-B3E3-1402162E3E25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895B44D-2F38-9741-EDC2-3D20AB4B69F5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05FAA9A-4EF3-84F8-88F4-64687F29E4A2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03527F05-B829-8BCC-1AFB-C64272C3A80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F8A2F7-232D-AC31-209C-2C16249DC1F8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Ngưỡng Sinh Học Bình Thường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Mức chuẩn tự nhiên trên thế giới là 104 - 106 bé trai / 100 bé gái sinh sống, bảo đảm bù đắp tử vong nam ở tuổi trưởng thành.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29DA0520-12F6-3113-E774-B041806FD997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FC1CCF1-2EE5-F8C4-E454-BB6117E889F8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AA36FD2-C97D-EDED-86B0-CE109189B6DB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A88EB51-15C6-8E8B-8C41-883478B4A3D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4A0FC38-E22E-A573-20DF-5CC49A562A7F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Thực Trạng Việt Nam (112 - 115)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SRB tại nhiều tỉnh Đồng bằng sông Hồng vượt ngưỡng 115 bé trai / 100 bé gái, đặc biệt nghiêm trọng ở lần sinh thứ ba trở lên.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70165E29-68B1-392C-1EE5-315ACAD23C51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9582266-E272-8797-BB25-95D8E09A4A69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DCE1255-1532-0267-42E7-2C010ED15C27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29A79372-3D17-DD2E-26C3-A8795CEB92F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A299762-832B-11C4-853C-2965B4BB6ED8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Hệ Lụy Xã Hội Nghiêm Trọng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Dự báo đến năm 2034 Việt Nam sẽ dư thừa từ 1.5 đến 2.5 triệu nam giới trong độ tuổi kết hôn, gây mất ổn định trật tự xã hội.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5EAE7B57-1D72-0C07-481C-7C8DB3CC5238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Báo cáo thực trạng mất cân bằng giới tính khi sinh - UNFPA &amp; GSO</a:t>
            </a:r>
          </a:p>
        </p:txBody>
      </p:sp>
    </p:spTree>
    <p:extLst>
      <p:ext uri="{BB962C8B-B14F-4D97-AF65-F5344CB8AC3E}">
        <p14:creationId xmlns:p14="http://schemas.microsoft.com/office/powerpoint/2010/main" val="41889191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D05C33BC-4F32-9F34-830E-5C46A4B581EC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DÂN SỐ VÀNG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D8522556-307B-8758-FBFF-AA3DA5FFB785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15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6DA0451D-77E4-E350-014F-4E9142338133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Thời Kỳ Cơ Cấu Dân Số Vàng: Cơ Hội Bứt Phá Năng Suất Lao Động Lịch Sử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EA35089D-EF48-93CA-6F90-3FAFD64205C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431C9289-0E55-06C7-3503-1AEF74AFEFD9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5484E73-F6A9-FC62-9BEF-271D7F5C3518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E031A58-D191-FE84-B861-DD62591D5366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4670F231-DC4F-B4BA-CAEE-77AF456D07E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EEF77A-F57F-CFFB-74D1-B3B98C0140AE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Cơ Hội Dân Số Vàng (2007 - 2039)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Việt Nam có hơn 2 người trong độ tuổi lao động phụ thuộc 1 người ăn theo, tạo dư địa lớn để chuyển dịch cơ cấu kinh tế.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801C305F-60D5-8723-C76B-A4E36D3FDA4D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C671659-CFFA-69EF-18E3-0165DB9E0F72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469D4B8-1740-1A89-551F-8A74121A782D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8DFCC86F-CE7C-A7B4-75BF-8F45FDA513D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77AC587-7671-D411-8941-B294CF9F98A3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Nguy Cơ Bẫy Thu Nhập Trung Bình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Nếu không kịp thời đào tạo kỹ năng số và nâng cao năng suất, thời kỳ dân số vàng sẽ trôi qua mà đất nước chưa kịp giàu.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4E11CDAC-E543-88E8-E833-5C0A1DBD4182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97BB59A-0F9A-E7CA-C149-AB0F798FE47A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0345520-70D3-79B5-6CE8-D1EF342DD861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9531BD6F-C0B0-FD4F-BDDA-4B0AC0CA69A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F334917-2CBE-5851-7DBA-D77BBB7E4128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Hành Động Khẩn Trương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Đẩy mạnh công nghiệp công nghệ cao, khuyến khích đổi mới sáng tạo và tạo việc làm thỏa đáng cho thanh niên.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8A5D1200-CF78-7C73-3385-D7A015435B66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Nghiên cứu cơ cấu dân số vàng tại Việt Nam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3428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2A0B9F98-98A6-BAB6-4996-ADCED7909865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GIÀ HÓA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C1847FDB-D870-A03B-97D8-677998EC80BA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16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18CD49A7-4923-EED1-6F4B-50906852E143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Tiến Trình Già Hóa Dân Số Và Tốc Độ Chuyển Tiếp Thuộc Hàng Nhanh Nhất Thế Giới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F7989939-1595-095B-34AD-EBCD2ABCF70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A22E20AF-3A0E-6BB2-6954-396D3D3A713F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289C846-D9D9-F782-75EE-B7ECA23B692D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A877B4C-28DA-1494-5D8A-FE6489699467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C6B2AD0-5AD7-B6AF-64EA-CA54A903ACD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70FB6B2-A000-32EC-66EA-9B3660280565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Hai Ngưỡng Già Hóa Quốc Tế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Xã hội già hóa (Aging Phase) khi tỷ lệ người 65+ đạt 7%; Xã hội già (Aged Phase) khi tỷ lệ này chạm ngưỡng 14%.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1DD1074C-7675-5888-C560-3CE5BBC7C6D2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F0D145F-910C-589D-AC09-F6703519E80F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8CD1FD7-D95B-D16E-70A5-825584AFE764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D961E90-8775-DD83-E4E0-F12725D86D5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B7966B0-D867-3BB9-C07D-28FCC5E38AB6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Tốc Độ Nhanh Kỷ Lục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Pháp mất 115 năm, Thụy Điển mất 85 năm, Nhật Bản mất 26 năm, trong khi Việt Nam chỉ mất chưa đầy 20 năm để chuyển tiếp.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F4A7E251-C75A-CBC0-CE2E-230E0BB2D3C1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53F0AE0-0A1C-2710-03F7-4890B1760028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0D3894B-F4A1-122A-1FE5-46111888D105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7945A1A6-562B-E1ED-20A5-A7C60A78144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DF1FE1A-81CF-A099-966F-6BFA9458C236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Áp Lực Kép Lên Hệ Thống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Quá tải quỹ hưu trí bảo hiểm xã hội, mô hình bệnh tật kép (bệnh mạn tính không lây) và thiếu hụt mạng lưới điều dưỡng lão khoa.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0907990D-35B2-622D-874B-9C24F6F04326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Tổng cục Dân số - Kế hoạch hóa gia đình</a:t>
            </a:r>
          </a:p>
        </p:txBody>
      </p:sp>
    </p:spTree>
    <p:extLst>
      <p:ext uri="{BB962C8B-B14F-4D97-AF65-F5344CB8AC3E}">
        <p14:creationId xmlns:p14="http://schemas.microsoft.com/office/powerpoint/2010/main" val="34276216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0E81AA9B-89B2-1D37-690F-A8B9131329AA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THÁP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60EB20F4-F401-891E-205F-77F3203C2411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17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08A12F1E-3FC3-0D8F-90DE-E4324A042F4D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Tháp Dân Số: Cấu Trúc Trực Quan Và Giá Trị Nhận Thức Lịch Sử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088D824A-0755-02D0-F11B-3702A73812D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DAD4A55A-19DB-31DB-FFEE-7CD2A8292FDF}"/>
              </a:ext>
            </a:extLst>
          </p:cNvPr>
          <p:cNvGrpSpPr/>
          <p:nvPr/>
        </p:nvGrpSpPr>
        <p:grpSpPr>
          <a:xfrm>
            <a:off x="6644640" y="1676400"/>
            <a:ext cx="4937760" cy="2184400"/>
            <a:chOff x="6644640" y="1676400"/>
            <a:chExt cx="4937760" cy="2184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618BB88-53DA-E2C6-8391-2F989216CCCF}"/>
                </a:ext>
              </a:extLst>
            </p:cNvPr>
            <p:cNvSpPr/>
            <p:nvPr/>
          </p:nvSpPr>
          <p:spPr>
            <a:xfrm>
              <a:off x="6644640" y="1676400"/>
              <a:ext cx="4937760" cy="218440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5FDFF9C-168F-8671-823E-077D7CAB351D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E302A78-59C0-8AA9-B64F-4303B3BA492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388E4AC-A4B9-F32D-B222-ED915E1980B5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Cấu Trúc Trục Biểu Đồ Tháp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Trục tung chia theo các độ tuổi (thường là nhóm 5 tuổi), trục hoành biểu thị tỷ lệ hoặc số lượng: bên trái là Nam, bên phải là Nữ.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D05126C1-0267-B222-FD96-2C5218523AA1}"/>
              </a:ext>
            </a:extLst>
          </p:cNvPr>
          <p:cNvGrpSpPr/>
          <p:nvPr/>
        </p:nvGrpSpPr>
        <p:grpSpPr>
          <a:xfrm>
            <a:off x="6644640" y="4013200"/>
            <a:ext cx="4937760" cy="2184400"/>
            <a:chOff x="6644640" y="4013200"/>
            <a:chExt cx="4937760" cy="21844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5DEACBD-BA74-3AA9-97BB-9C0ECE456A3F}"/>
                </a:ext>
              </a:extLst>
            </p:cNvPr>
            <p:cNvSpPr/>
            <p:nvPr/>
          </p:nvSpPr>
          <p:spPr>
            <a:xfrm>
              <a:off x="6644640" y="4013200"/>
              <a:ext cx="4937760" cy="21844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3D39F15-07CC-EA74-A6F8-B494B6289573}"/>
                </a:ext>
              </a:extLst>
            </p:cNvPr>
            <p:cNvSpPr/>
            <p:nvPr/>
          </p:nvSpPr>
          <p:spPr>
            <a:xfrm>
              <a:off x="6822440" y="41910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DBDFB73-D7B4-9F33-675B-371B3AB16DF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42545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6E80866-1DE0-95D6-6AB5-2410325894CF}"/>
                </a:ext>
              </a:extLst>
            </p:cNvPr>
            <p:cNvSpPr txBox="1"/>
            <p:nvPr/>
          </p:nvSpPr>
          <p:spPr>
            <a:xfrm>
              <a:off x="7305040" y="41402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Giá Trị Nhận Thức Nhân Khẩu
</a:t>
              </a:r>
              <a:r>
                <a:rPr lang="en-US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Các vết lõm phản ánh chiến tranh, dịch bệnh hoặc giảm sinh; các phần phình to phản ánh làn sóng bùng nổ trẻ em (Baby Boom).</a:t>
              </a: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090C9010-4C53-544E-93B8-3B6AEF5C8478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Kỹ thuật phân tích tháp dân số</a:t>
            </a:r>
          </a:p>
        </p:txBody>
      </p:sp>
    </p:spTree>
    <p:extLst>
      <p:ext uri="{BB962C8B-B14F-4D97-AF65-F5344CB8AC3E}">
        <p14:creationId xmlns:p14="http://schemas.microsoft.com/office/powerpoint/2010/main" val="40363078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DFCB1DF4-6C22-3B1C-7A21-614BBB3DB14E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DẠNG THÁP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0963520B-281C-85C8-4871-36FF778303ED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18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CDB43AF2-1C8A-0ED4-C529-867975CB0127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Ba Dạng Tháp Dân Số Kinh Điển: Mở Rộng, Ổn Định Và Thu Hẹp</a:t>
            </a:r>
          </a:p>
        </p:txBody>
      </p:sp>
      <p:graphicFrame>
        <p:nvGraphicFramePr>
          <p:cNvPr id="5" name="!!Stage_Hero_Container">
            <a:extLst>
              <a:ext uri="{FF2B5EF4-FFF2-40B4-BE49-F238E27FC236}">
                <a16:creationId xmlns:a16="http://schemas.microsoft.com/office/drawing/2014/main" id="{1A19D734-476E-1C76-F40A-52A01CE72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529819"/>
              </p:ext>
            </p:extLst>
          </p:nvPr>
        </p:nvGraphicFramePr>
        <p:xfrm>
          <a:off x="609600" y="1676400"/>
          <a:ext cx="109728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016">
                  <a:extLst>
                    <a:ext uri="{9D8B030D-6E8A-4147-A177-3AD203B41FA5}">
                      <a16:colId xmlns:a16="http://schemas.microsoft.com/office/drawing/2014/main" val="2083984091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714605456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1694908390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70350192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3936096458"/>
                    </a:ext>
                  </a:extLst>
                </a:gridCol>
              </a:tblGrid>
              <a:tr h="11303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DẠNG THÁP DÂN SỐ</a:t>
                      </a: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ĐÁY THÁP</a:t>
                      </a: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THÂN THÁP</a:t>
                      </a: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ĐỈNH THÁP</a:t>
                      </a: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ĐẶC TRƯNG DÂN SỐ &amp; ĐIỂN HÌNH</a:t>
                      </a:r>
                      <a:endParaRPr lang="en-US" sz="13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667094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Tháp Mở Rộng (Expansive)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Rất rộng, đáy mở to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Thu hẹp nhanh dần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Đỉnh tháp nhọn hẹp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Dân số trẻ, sinh cao, tử giảm (Các nước đang phát triển)</a:t>
                      </a:r>
                      <a:endParaRPr lang="en-US" sz="1200" b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510391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Tháp Ổn Định (Stationary)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Tương đương thân</a:t>
                      </a:r>
                      <a:endParaRPr lang="en-US" sz="1200" b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Thẳng đứng, đều đặn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Đỉnh tháp mở rộng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Dân số dừng, TFR ≈ 2.1 con, sống thọ (Bắc Âu, Thụy Điển)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810917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Tháp Thu Hẹp (Constrictive)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 thắt, hẹp hơn thân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Phình to ở giữa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Đỉnh tháp rất rộng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Dân số già, sinh thấp kéo dài (Nhật Bản, Đức, Ý)</a:t>
                      </a:r>
                    </a:p>
                  </a:txBody>
                  <a:tcPr marT="76200" marB="76200" anchor="ctr">
                    <a:solidFill>
                      <a:srgbClr val="0B1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545579"/>
                  </a:ext>
                </a:extLst>
              </a:tr>
            </a:tbl>
          </a:graphicData>
        </a:graphic>
      </p:graphicFrame>
      <p:sp>
        <p:nvSpPr>
          <p:cNvPr id="6" name="!!Anchor_Source_Footer">
            <a:extLst>
              <a:ext uri="{FF2B5EF4-FFF2-40B4-BE49-F238E27FC236}">
                <a16:creationId xmlns:a16="http://schemas.microsoft.com/office/drawing/2014/main" id="{8CBBBA3D-5E05-B43D-DFAA-58D21AE6DED3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Phân loại tháp dân số của Liên Hợp Quốc</a:t>
            </a:r>
          </a:p>
        </p:txBody>
      </p:sp>
    </p:spTree>
    <p:extLst>
      <p:ext uri="{BB962C8B-B14F-4D97-AF65-F5344CB8AC3E}">
        <p14:creationId xmlns:p14="http://schemas.microsoft.com/office/powerpoint/2010/main" val="8852970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2B969A04-1DB9-BA0B-DBEB-7748C6F4FF6A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THÁP DÂN SỐ VN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D072DB35-8A31-8C78-C432-CBA7E63272C8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19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4709BD24-C0C4-B9D1-16E3-EEAE7C79DE6B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Biến Đổi Hình Thái Tháp Dân Số Việt Nam Từ Dạng Đáy Rộng Sang Con Thoi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2E783879-19EF-C895-6780-263AAFD7FE8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48CE375D-449B-4A80-75BB-669CCACF00EA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02177EE-17F8-8C62-2A23-F6215C64A2BE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DE9AE79-4188-937E-D788-9060B2A2EE09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CE696DD9-BCFE-AF03-9607-A903F2C7B00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71F74C2-5520-CB3F-21D8-7276F24C4309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Năm 1989: Tháp Đáy Rộng Tam Giác
</a:t>
              </a:r>
              <a:r>
                <a:rPr lang="en-US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Nhóm tuổi 0-14 chiếm trên 40% dân số, gánh nặng phụ thuộc trẻ em rất lớn, mức sinh bình quân còn trên 3.8 con/phụ nữ.</a:t>
              </a: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C4BE1AA6-FC7D-F67E-9837-234BFC8A171C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014950C-3C2C-1DE9-9EB8-40F1F0CEDCAC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B1B9D15-B40D-E026-4549-C663F72F2593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C5A2301E-9754-E43B-4468-F19FEE1F127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3EA468C-035A-77D4-8C16-BE0D97A5D7C2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1205458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Năm 2019: Tháp Dạng Con Thoi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Thân tháp phình to ở nhóm tuổi 20-39 với 68.0% người trong độ tuổi lao động (dân số vàng), đáy tháp co hẹp lại do mức sinh ổn định.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96E62909-319A-3C1B-8400-47E2492E4E6F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BF94692-09D0-6D5E-2886-E9CC28AD0252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BFB9B52-7896-6194-3638-8E197D3A8CD3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FD9333D0-9F3F-D55E-77EB-CD802D5B629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0AAABBC-F085-9892-33AA-FF1898D74676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Xu Hướng Đến Năm 2040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Đỉnh tháp phình to mạnh mẽ do số người cao tuổi tăng nhanh, đòi hỏi chuẩn bị ngay hệ sinh thái dịch vụ dưỡng lão chuyên nghiệp.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E02D37B1-3D2B-67FA-BFC4-D50595DBC6A3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Dữ liệu Tổng điều tra dân số 1989 - 2019</a:t>
            </a:r>
          </a:p>
        </p:txBody>
      </p:sp>
    </p:spTree>
    <p:extLst>
      <p:ext uri="{BB962C8B-B14F-4D97-AF65-F5344CB8AC3E}">
        <p14:creationId xmlns:p14="http://schemas.microsoft.com/office/powerpoint/2010/main" val="16082694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1539BA02-AADA-B44A-D350-3DFF0347F5A0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CƠ CẤU XÃ HỘI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5C8172A6-C79D-40EE-F591-78BD74F28104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20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9A442226-7394-2D71-F9F6-CC85DF46FCDC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Cơ Cấu Xã Hội Của Dân Số: Hôn Nhân, Dân Tộc Và Học Vấn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56C58A52-8538-456C-12EA-F97FE1BA56C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185094C3-5AF7-223E-344D-F08A8BA12980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98EB205-2263-1280-CDFE-FED197D4A691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83D7002-3EEC-49B3-28B4-D608DD0AEC8C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E291B4D-DD0C-D499-178E-2EF350490BF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7092034-9C0B-EAA5-C3DD-0F5B2635F238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Tình Trạng Hôn Nhân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Tỷ lệ độc thân tăng, tuổi kết hôn lần đầu trung bình tăng lên 27.2 tuổi (nam 29.8, nữ 24.6), mức sinh có xu hướng giảm.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056F8DC6-4EAD-E022-F9AD-1123ED00834F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5B65A6F-41E0-1A3C-38AE-EBCDF476D96A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3779D9A-B646-9ED9-5B4C-4F1D2B4A0564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ECA5C4DE-808E-4046-484B-01308806290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99E08D4-20F5-7471-33B8-D3B6B5117F39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Cơ Cấu Dân Tộc (54 Dân Tộc)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Dân tộc Kinh chiếm khoảng 85.3%, 53 dân tộc thiểu số chiếm 14.7%, đòi hỏi chính sách hỗ trợ phát triển vùng đồng bào thiểu số.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6BB68EE8-F661-C394-3131-294BC3A91DA5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14C9883-B257-6AAE-DC60-9D9502CF7301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9B9FEB5-65DB-50DF-0EEC-E8F0209B52CF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E66F3A32-0D0E-2527-5D8C-36BCB9C7087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3E97C6-8F20-D6E5-CEB1-219DAE124DB7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Trình Độ Học Vấn &amp; Tay Nghề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Tỷ lệ biết chữ đạt trên 95%, nhưng tỷ lệ lao động có chứng chỉ kỹ năng nghề vẫn là điểm nghẽn cần tháo gỡ cấp bách.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5BB91851-82B4-29A6-C4A1-4FE32FD9B59D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Kết quả khảo sát dân tộc thiểu số và mức sống dân cư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022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EB5DBA94-D45B-62D0-C450-6356F9E7072D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CHẤT LƯỢNG DÂN SỐ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63BA11D6-7A8A-5D07-6216-C456F1483EB2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21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DAA7AE47-CAF7-65B8-967D-164EA8876D04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Khái Niệm Toàn Diện Về Chất Lượng Dân Số: Thể Chất, Trí Tuệ Và Tinh Thần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B5E37DB3-64F8-E6B7-EEA0-1732A2D012F1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D3A5C37-8972-DF88-CB22-AE6AA4EEBE64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1E293B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42A1746-3E6F-FC07-F61D-D6CDB899BEFA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14E46CC-0134-E38B-5F8D-5274EDC20F99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F906592-8BB7-58F2-0B34-C64F0ECA31C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81AE7D9-1AF7-CF04-FA0C-5E72C8436B0E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7280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FFFFFF"/>
                  </a:solidFill>
                  <a:latin typeface="Segoe UI" panose="020B0502040204020203" pitchFamily="34" charset="0"/>
                </a:rPr>
                <a:t>Chất lượng dân số phản ánh năng lực thể chất, trình độ học vấn trí tuệ và sự an lạc tinh thần của toàn bộ cộng đồng.</a:t>
              </a:r>
              <a:endParaRPr lang="en-US" sz="1250" b="1">
                <a:solidFill>
                  <a:srgbClr val="FFFFFF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39CF7C10-9254-B2A9-7894-5E43069BEDA3}"/>
              </a:ext>
            </a:extLst>
          </p:cNvPr>
          <p:cNvGrpSpPr/>
          <p:nvPr/>
        </p:nvGrpSpPr>
        <p:grpSpPr>
          <a:xfrm>
            <a:off x="6214872" y="1676400"/>
            <a:ext cx="5367528" cy="1405467"/>
            <a:chOff x="6214872" y="1676400"/>
            <a:chExt cx="5367528" cy="140546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6C338AB-B122-C4D6-64EF-57115BB92FC0}"/>
                </a:ext>
              </a:extLst>
            </p:cNvPr>
            <p:cNvSpPr/>
            <p:nvPr/>
          </p:nvSpPr>
          <p:spPr>
            <a:xfrm>
              <a:off x="6214872" y="1676400"/>
              <a:ext cx="5367528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4998D5D-0A36-9745-44DE-A0AEDC760BA0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23100F60-4735-C7A3-5103-145D2BC8300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17C737E-4E7C-AAC0-1A11-326DCDE0E278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Chất Lượng Thể Chất (Physical)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Đo lường bằng tuổi thọ bình quân, kỳ vọng sống khỏe mạnh, chiều cao, cân nặng, sức bền và tỷ lệ suy dinh dưỡng trẻ em.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B144C9BB-6286-EF72-6695-E2CBD4EBCD01}"/>
              </a:ext>
            </a:extLst>
          </p:cNvPr>
          <p:cNvGrpSpPr/>
          <p:nvPr/>
        </p:nvGrpSpPr>
        <p:grpSpPr>
          <a:xfrm>
            <a:off x="6214872" y="3234267"/>
            <a:ext cx="5367528" cy="1405466"/>
            <a:chOff x="6214872" y="3234267"/>
            <a:chExt cx="5367528" cy="140546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002FE9F-1891-6BDB-7EFF-250264E8F5C8}"/>
                </a:ext>
              </a:extLst>
            </p:cNvPr>
            <p:cNvSpPr/>
            <p:nvPr/>
          </p:nvSpPr>
          <p:spPr>
            <a:xfrm>
              <a:off x="6214872" y="3234267"/>
              <a:ext cx="5367528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CF29C78-D3AB-4A58-7883-7FFAE3C3CD7C}"/>
                </a:ext>
              </a:extLst>
            </p:cNvPr>
            <p:cNvSpPr/>
            <p:nvPr/>
          </p:nvSpPr>
          <p:spPr>
            <a:xfrm>
              <a:off x="6392672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BD1E3008-C038-64B3-2D40-748C36826D1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3475567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8B2FCA4-077E-D35D-02E2-409913B86FB1}"/>
                </a:ext>
              </a:extLst>
            </p:cNvPr>
            <p:cNvSpPr txBox="1"/>
            <p:nvPr/>
          </p:nvSpPr>
          <p:spPr>
            <a:xfrm>
              <a:off x="6875272" y="3361267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Chất Lượng Trí Tuệ (Intellectual)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Biểu hiện qua tỷ lệ biết chữ, số năm đi học bình quân, tỷ lệ lao động có chuyên môn kỹ thuật và năng lực sáng tạo công nghệ.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0" name="!!Stage_Sub_Card_3">
            <a:extLst>
              <a:ext uri="{FF2B5EF4-FFF2-40B4-BE49-F238E27FC236}">
                <a16:creationId xmlns:a16="http://schemas.microsoft.com/office/drawing/2014/main" id="{58EBE06E-4CF0-FBD0-2484-DC1EEAE02999}"/>
              </a:ext>
            </a:extLst>
          </p:cNvPr>
          <p:cNvGrpSpPr/>
          <p:nvPr/>
        </p:nvGrpSpPr>
        <p:grpSpPr>
          <a:xfrm>
            <a:off x="6214872" y="4792133"/>
            <a:ext cx="5367528" cy="1405467"/>
            <a:chOff x="6214872" y="4792133"/>
            <a:chExt cx="5367528" cy="140546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CE081DC-85ED-EF5C-82A9-7F989649E555}"/>
                </a:ext>
              </a:extLst>
            </p:cNvPr>
            <p:cNvSpPr/>
            <p:nvPr/>
          </p:nvSpPr>
          <p:spPr>
            <a:xfrm>
              <a:off x="6214872" y="4792133"/>
              <a:ext cx="5367528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A0500A9-25E0-A585-5F57-8433C6B04626}"/>
                </a:ext>
              </a:extLst>
            </p:cNvPr>
            <p:cNvSpPr/>
            <p:nvPr/>
          </p:nvSpPr>
          <p:spPr>
            <a:xfrm>
              <a:off x="6392672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D5CB065F-F028-F509-C804-4677DD2E667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56172" y="5033433"/>
              <a:ext cx="254000" cy="254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80D3884-4A01-1235-04F5-122AAD59ABC9}"/>
                </a:ext>
              </a:extLst>
            </p:cNvPr>
            <p:cNvSpPr txBox="1"/>
            <p:nvPr/>
          </p:nvSpPr>
          <p:spPr>
            <a:xfrm>
              <a:off x="6875272" y="4919133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Chất Lượng Tinh Thần (Mental)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Phản ánh qua mức độ hài lòng cuộc sống, sức khỏe tâm thần, môi trường gia đình ấm no và các chuẩn mực đạo đức xã hội.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31" name="!!Anchor_Source_Footer">
            <a:extLst>
              <a:ext uri="{FF2B5EF4-FFF2-40B4-BE49-F238E27FC236}">
                <a16:creationId xmlns:a16="http://schemas.microsoft.com/office/drawing/2014/main" id="{86825CD4-AFD5-3393-522F-010621B1DD38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Pháp lệnh Dân số Việt Nam</a:t>
            </a:r>
          </a:p>
        </p:txBody>
      </p:sp>
    </p:spTree>
    <p:extLst>
      <p:ext uri="{BB962C8B-B14F-4D97-AF65-F5344CB8AC3E}">
        <p14:creationId xmlns:p14="http://schemas.microsoft.com/office/powerpoint/2010/main" val="1255813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BB0E53AD-39FF-FA78-8919-8632CEB44F90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CHỈ SỐ HDI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FEB21C73-69DA-274D-7265-0776368C35C5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22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E95E96B8-7B6A-9D1D-4BDC-E1ECFD716D82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Chỉ Số Phát Triển Con Người (HDI) Và Ba Trụ Cột Thành Phần Đo Lường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68F8B014-2B3B-49F4-8026-677DE7DD8145}"/>
              </a:ext>
            </a:extLst>
          </p:cNvPr>
          <p:cNvGrpSpPr/>
          <p:nvPr/>
        </p:nvGrpSpPr>
        <p:grpSpPr>
          <a:xfrm>
            <a:off x="609600" y="1676400"/>
            <a:ext cx="10972800" cy="1117600"/>
            <a:chOff x="609600" y="1676400"/>
            <a:chExt cx="10972800" cy="11176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65092CF-1902-A4E4-5295-D24193C184B5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600382D-861C-A837-6F2B-ECF49CF327EB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EEC77E9-9508-936A-B5B1-D779A846220E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10B981"/>
                  </a:solidFill>
                  <a:latin typeface="Segoe UI" panose="020B0502040204020203" pitchFamily="34" charset="0"/>
                </a:rPr>
                <a:t>HDI = [I_Health * I_Education * I_Income]^(1/3) = (LEI * EI * II)^(1/3)</a:t>
              </a: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CE950AF5-3399-0A7C-B3A1-0BA2D5072D38}"/>
              </a:ext>
            </a:extLst>
          </p:cNvPr>
          <p:cNvGrpSpPr/>
          <p:nvPr/>
        </p:nvGrpSpPr>
        <p:grpSpPr>
          <a:xfrm>
            <a:off x="609600" y="2971800"/>
            <a:ext cx="3522133" cy="3225800"/>
            <a:chOff x="609600" y="2971800"/>
            <a:chExt cx="3522133" cy="3225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A156243-410A-3129-1388-0D47C343AC03}"/>
                </a:ext>
              </a:extLst>
            </p:cNvPr>
            <p:cNvSpPr/>
            <p:nvPr/>
          </p:nvSpPr>
          <p:spPr>
            <a:xfrm>
              <a:off x="609600" y="2971800"/>
              <a:ext cx="3522133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8EC0BCE-73E1-0FEB-3056-E81DC7FA80EF}"/>
                </a:ext>
              </a:extLst>
            </p:cNvPr>
            <p:cNvSpPr/>
            <p:nvPr/>
          </p:nvSpPr>
          <p:spPr>
            <a:xfrm>
              <a:off x="812800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BA697327-E381-8812-67C5-1DBCD67B455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3238500"/>
              <a:ext cx="279400" cy="279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2D53938-3562-85ED-7427-1561E44B2996}"/>
                </a:ext>
              </a:extLst>
            </p:cNvPr>
            <p:cNvSpPr txBox="1"/>
            <p:nvPr/>
          </p:nvSpPr>
          <p:spPr>
            <a:xfrm>
              <a:off x="812800" y="3683000"/>
              <a:ext cx="3115733" cy="1184299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1. Trụ Cột Sức Khỏe (LEI)
</a:t>
              </a:r>
              <a:r>
                <a:rPr lang="en-US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Đo bằng tuổi thọ kỳ vọng khi sinh (Life Expectancy Index). Chuẩn hóa trong khoảng từ 20 năm đến 85 năm.</a:t>
              </a: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65DF1831-716E-1104-2DE6-AF2038166C72}"/>
              </a:ext>
            </a:extLst>
          </p:cNvPr>
          <p:cNvGrpSpPr/>
          <p:nvPr/>
        </p:nvGrpSpPr>
        <p:grpSpPr>
          <a:xfrm>
            <a:off x="4334933" y="2971800"/>
            <a:ext cx="3522134" cy="3225800"/>
            <a:chOff x="4334933" y="2971800"/>
            <a:chExt cx="3522134" cy="32258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24B6140-F920-4395-1BBB-A8E850029ED6}"/>
                </a:ext>
              </a:extLst>
            </p:cNvPr>
            <p:cNvSpPr/>
            <p:nvPr/>
          </p:nvSpPr>
          <p:spPr>
            <a:xfrm>
              <a:off x="4334933" y="2971800"/>
              <a:ext cx="3522134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F46D285-9252-6404-858D-B390AA25CE38}"/>
                </a:ext>
              </a:extLst>
            </p:cNvPr>
            <p:cNvSpPr/>
            <p:nvPr/>
          </p:nvSpPr>
          <p:spPr>
            <a:xfrm>
              <a:off x="4538133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2EDAF5E5-51F7-7ED4-E258-43E73639F04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3238500"/>
              <a:ext cx="279400" cy="279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4CF06BC-42CF-A53E-A4BA-F86EC2BC1C80}"/>
                </a:ext>
              </a:extLst>
            </p:cNvPr>
            <p:cNvSpPr txBox="1"/>
            <p:nvPr/>
          </p:nvSpPr>
          <p:spPr>
            <a:xfrm>
              <a:off x="4538133" y="3683000"/>
              <a:ext cx="3115733" cy="144398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2. Trụ Cột Giáo Dục (EI)
</a:t>
              </a:r>
              <a:r>
                <a:rPr lang="vi-VN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Kết hợp giữa số năm đi học kỳ vọng của trẻ em (EYS) và số năm đi học bình quân của người từ 25 tuổi trở lên (MYS).</a:t>
              </a:r>
              <a:endParaRPr lang="en-US" sz="13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7B697E77-285C-BA13-5A74-5437701F5580}"/>
              </a:ext>
            </a:extLst>
          </p:cNvPr>
          <p:cNvGrpSpPr/>
          <p:nvPr/>
        </p:nvGrpSpPr>
        <p:grpSpPr>
          <a:xfrm>
            <a:off x="8060267" y="2971800"/>
            <a:ext cx="3522133" cy="3225800"/>
            <a:chOff x="8060267" y="2971800"/>
            <a:chExt cx="3522133" cy="32258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45123D8-D93B-88C7-547E-ADF3C6924FF3}"/>
                </a:ext>
              </a:extLst>
            </p:cNvPr>
            <p:cNvSpPr/>
            <p:nvPr/>
          </p:nvSpPr>
          <p:spPr>
            <a:xfrm>
              <a:off x="8060267" y="2971800"/>
              <a:ext cx="3522133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4039641-713B-166D-6CDD-1ECCCAC35CC5}"/>
                </a:ext>
              </a:extLst>
            </p:cNvPr>
            <p:cNvSpPr/>
            <p:nvPr/>
          </p:nvSpPr>
          <p:spPr>
            <a:xfrm>
              <a:off x="8263467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59B5815F-90EA-18A1-2498-23996EE8657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3238500"/>
              <a:ext cx="279400" cy="279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82066AD-EF02-97E3-8D1F-F8034B49FFCD}"/>
                </a:ext>
              </a:extLst>
            </p:cNvPr>
            <p:cNvSpPr txBox="1"/>
            <p:nvPr/>
          </p:nvSpPr>
          <p:spPr>
            <a:xfrm>
              <a:off x="8263467" y="3683000"/>
              <a:ext cx="3115733" cy="144398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3. Trụ Cột Thu Nhập (II)
</a:t>
              </a:r>
              <a:r>
                <a:rPr lang="vi-VN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Đo bằng Tổng thu nhập quốc dân (GNI) bình quân đầu người tính theo sức mua tương đương (PPP tính bằng USD).</a:t>
              </a:r>
              <a:endParaRPr lang="en-US" sz="13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7" name="!!Anchor_Source_Footer">
            <a:extLst>
              <a:ext uri="{FF2B5EF4-FFF2-40B4-BE49-F238E27FC236}">
                <a16:creationId xmlns:a16="http://schemas.microsoft.com/office/drawing/2014/main" id="{1BC0753B-1E9A-BB38-C2AA-7570BFF6AE4B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Chương trình Phát triển Liên Hợp Quốc (UNDP HDR)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0635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AEF159FB-36EF-B801-FFFD-3A4359299D27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HDI VIỆT NAM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2B750107-BA5D-F293-8F6B-1502EBC8F01F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23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B59AE5D6-E909-8479-03BF-7F623D138F4E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Vị Thế Và Tiến Trình Cải Thiện Chỉ Số HDI Của Việt Nam Trên Bản Đồ Thế Giới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C40FA843-396C-A0D2-0896-63C2D698FE1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52C00E42-FFDF-B2C1-425E-2C2B2A0F8C29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E68B106-770E-2EBE-35EE-996240A0DDEE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F09D86-584B-4448-7A48-B0380420A23A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07F4CF61-D2CC-C9CD-CED5-B26E8B6BEEE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F681DE-DA4C-74EC-4D68-870DB00D7068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HDI Đạt 0.726 (2023)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Việt Nam xếp thứ 107 trên 193 quốc gia, thuộc nhóm phát triển con người cao nhờ cải thiện liên tục suốt 3 thập kỷ.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420B9A96-E793-0E91-5523-23AB0B9878C6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9AB446F-996C-C369-5E92-FADCF6E295AD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BF70EE5-A3FD-DA57-CADD-97504BBB42B5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232F3DD-4A55-42F5-3C70-E2CAAA718BD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5E20800-9A45-FB3E-D965-5F62A6E45AA2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Điểm Mạnh Tuổi Thọ (73.7 Tuổi)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Chỉ số sức khỏe của Việt Nam vượt trội so với các quốc gia có cùng mức thu nhập bình quân đầu người.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41EB18BB-76C2-ABE9-3339-8F00267AE676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AD33093-315B-3F50-9AEF-2CB9291C2DC9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627FEDF-B4B5-0EDE-AEE8-E86EAC37B702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51DF957E-8425-A8F8-BCCA-B804B95AEEF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1852132-4F12-12FB-165A-1070D215A98E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Dư Địa Cải Thiện Thu Nhập &amp; Giáo Dục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Cần thúc đẩy đào tạo sau phổ thông và chuyển đổi mô hình kinh tế để nâng cao thực chất GNI bình quân đầu người.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5DDA36C1-35BA-255C-B643-7D3370971107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Báo cáo Phát triển Con người Toàn cầu - UNDP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5790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7BF3FCB9-E4AB-9A0D-3C59-B208609B9C23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SỨC KHỎE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39BBB4D6-F9E2-29BC-E535-B0F514A4EA99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24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05329416-1D3B-0535-0B68-EA26B9E673DE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Hệ Thống Chỉ Báo Đo Lường Sức Khỏe Thể Lực Và Tình Trạng Dinh Dưỡng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7A415F2F-ABF3-F05A-18A8-4CC29903CE34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E79B000-80A7-0430-AB4D-84669887C635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FA6EAC7-99E6-B431-ECB5-3B0C2C27F0C9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D1B692D-3383-BB06-1D73-4C872AA461E0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170ADC71-00AD-D44C-651A-406C61A827A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59D77FC-B460-6F72-2736-DD57094A3ACC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Tử Vong Trẻ Em (IMR &amp; U5MR)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Tỷ suất tử vong trẻ sơ sinh (IMR) giảm xuống dưới 12‰; tử vong dưới 5 tuổi (U5MR) giảm mạnh về mức 18.9‰.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1712250F-6691-8FF7-56DA-3CA0FAA0AD1E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EAFDB1E-AD7B-019D-56E7-89725A1CBAC8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49D8C56-DAFC-53AC-F053-79791ADD9691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67161B1-C4F0-8FCE-5221-E695523A6C85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89CB527-3DBE-CB15-F727-4626993DCD8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E12614A-19F8-E42D-B760-6CF060567C14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2255361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Chiều Cao Thanh Niên Cải Thiện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Chiều cao trung bình của nam thanh niên đạt 168.1 cm, nữ đạt 156.2 cm, tăng hơn 3 cm sau 10 năm can thiệp dinh dưỡng học đường.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78E91DAE-147A-7A62-CFAD-39DBC1549BBB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D2CDA4F-2C2E-55B6-3C75-50974486F461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F7848EF-C0B6-B0A0-E8C5-A5F7659FF9D4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5F5A2FF-6763-0935-5B79-84191CF1DF46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E617E296-D0FC-4045-1825-79B91920EE3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EC4985F-65A5-13E3-61F3-3416417FD084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Mô Hình Bệnh Tật Kép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Bệnh không lây nhiễm (tim mạch, ung thư, tiểu đường) chiếm hơn 70% gánh nặng bệnh tật và nguyên nhân tử vong.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B18AC659-EFBE-9638-6AA9-E3058FBB8009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Bộ Y tế - Khảo sát Dinh dưỡng Quốc gia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6568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16E7DDBC-FEFE-879E-7AB5-FF9F985C7084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YẾU TỐ ẢNH HƯỞNG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4B57A1B2-5B45-0A01-CA12-0497003BEB3E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25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9F5ACFA6-DA42-696F-C9FB-4A9414B35F07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Bốn Nhóm Yếu Tố Quyết Định Nâng Cao Chất Lượng Dân Số Bền Vững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D15ADD44-F495-B637-5DF5-D1CFE45E2BC4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E175DA-5FF7-FF1D-70F5-66ED7D7B2A7B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CB76DF-5E1C-DCC5-0D70-76D8AF9777CA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E4632B8-1ABC-5CB1-BE21-FECFCA67C2FA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FB8F4BD9-3BF4-2677-CB50-044F6C45382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231D99A-3DAA-1644-7901-36AB07E883FF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Kinh Tế &amp; An Sinh Xã Hội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Tăng trưởng thu nhập, giảm nghèo bền vững và mở rộng bao phủ bảo hiểm y tế toàn dân tạo nền tảng vật chất vững chắc.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0DDE5FC5-FD85-FDED-DF4F-D4C85986143C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F24B271-8586-8CAC-5405-D0A050D70C8F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E424D7E-BC75-F811-EBAA-07E2B6123F25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DB6E278-FDE0-235E-DC3E-35362C79BE65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ED3B8EDD-C9B8-8608-0E8F-C035D7BE206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8A51498-A625-2F41-C585-9329075A4EF4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Y Tế &amp; Chăm Sóc Đầu Đời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Khám sức khỏe tiền hôn nhân, tầm soát trước sinh và sơ sinh giúp giảm thiểu tối đa dị tật bẩm sinh di truyền.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916B7A96-96C0-3E5F-21F9-115F7BA5B64C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E218F6D-3F9C-D4C0-4F74-CCD3797CBCF2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DF6E8EB-EF94-F8B9-3ABD-3D052209BBB6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F23AE22-9DF6-3D4A-CCB6-AADD2A28529A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4501C357-E7B9-D098-3D93-8216A4E8FDC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97BD13A-CA7F-4EF5-44A7-B16884214C4B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Hệ Thống Giáo Dục &amp; Kỹ Năng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Đổi mới căn bản giáo dục phổ thông, phát triển trường nghề chất lượng cao và xây dựng xã hội học tập suốt đời.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98274F02-CB33-CF70-2076-F0DD72AC3133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Chiến lược Dân số và Sức khỏe sinh sản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2987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89BC9AE3-425B-58EE-ED9C-B11498DED545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MỐI QUAN HỆ BIỆN CHỨNG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161B9180-B5F4-B397-4BC6-A7C547ADC24A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26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AFF6C928-68CB-9D48-6495-4F25DCA6C8C5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Mối Quan Hệ Biện Chứng Giữa Quy Mô, Cơ Cấu Và Chất Lượng Dân Số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0B851289-D5FE-B851-A5FB-B3FFC4C51E0E}"/>
              </a:ext>
            </a:extLst>
          </p:cNvPr>
          <p:cNvGrpSpPr/>
          <p:nvPr/>
        </p:nvGrpSpPr>
        <p:grpSpPr>
          <a:xfrm>
            <a:off x="609600" y="1676400"/>
            <a:ext cx="5334000" cy="4521200"/>
            <a:chOff x="609600" y="1676400"/>
            <a:chExt cx="533400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330E141-5932-EA1C-86AF-F92A0EE09849}"/>
                </a:ext>
              </a:extLst>
            </p:cNvPr>
            <p:cNvSpPr/>
            <p:nvPr/>
          </p:nvSpPr>
          <p:spPr>
            <a:xfrm>
              <a:off x="609600" y="1676400"/>
              <a:ext cx="5334000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01FB6F4-6441-9093-A654-FC0F757ED351}"/>
                </a:ext>
              </a:extLst>
            </p:cNvPr>
            <p:cNvSpPr/>
            <p:nvPr/>
          </p:nvSpPr>
          <p:spPr>
            <a:xfrm>
              <a:off x="863600" y="1905000"/>
              <a:ext cx="1397000" cy="2794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TIÊU CHÍ SO SÁNH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83D0C17-753B-BFE7-A03F-1AE595DA166F}"/>
                </a:ext>
              </a:extLst>
            </p:cNvPr>
            <p:cNvSpPr/>
            <p:nvPr/>
          </p:nvSpPr>
          <p:spPr>
            <a:xfrm>
              <a:off x="863600" y="2260600"/>
              <a:ext cx="457200" cy="4572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F73491B2-9F81-05A2-61C8-E14AD667A0D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36800"/>
              <a:ext cx="304800" cy="304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C9C57C4-99D8-D13E-91A5-AB7411F7D6DB}"/>
                </a:ext>
              </a:extLst>
            </p:cNvPr>
            <p:cNvSpPr txBox="1"/>
            <p:nvPr/>
          </p:nvSpPr>
          <p:spPr>
            <a:xfrm>
              <a:off x="863600" y="2819400"/>
              <a:ext cx="4826000" cy="191520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vi-VN" sz="2000" b="1">
                  <a:solidFill>
                    <a:srgbClr val="FFFFFF"/>
                  </a:solidFill>
                  <a:latin typeface="Segoe UI" panose="020B0502040204020203" pitchFamily="34" charset="0"/>
                </a:rPr>
                <a:t>Cơ Cấu Vàng Là Thời Cơ Nâng Cao Chất Lượng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Tỷ lệ người phụ thuộc thấp cho phép gia đình và nhà nước dồn nguồn lực đầu tư giáo dục, dinh dưỡng chất lượng cao cho con em.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D4C6A3FE-C806-C9C7-3C08-8A32DFB96C47}"/>
              </a:ext>
            </a:extLst>
          </p:cNvPr>
          <p:cNvGrpSpPr/>
          <p:nvPr/>
        </p:nvGrpSpPr>
        <p:grpSpPr>
          <a:xfrm>
            <a:off x="6248400" y="1676400"/>
            <a:ext cx="5334000" cy="4521200"/>
            <a:chOff x="6248400" y="1676400"/>
            <a:chExt cx="5334000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7F17E85-FFB8-FA61-0B09-AC2FAB20F9D0}"/>
                </a:ext>
              </a:extLst>
            </p:cNvPr>
            <p:cNvSpPr/>
            <p:nvPr/>
          </p:nvSpPr>
          <p:spPr>
            <a:xfrm>
              <a:off x="6248400" y="1676400"/>
              <a:ext cx="5334000" cy="45212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5ADF0D9-80D6-14B2-F8AC-64FD68809869}"/>
                </a:ext>
              </a:extLst>
            </p:cNvPr>
            <p:cNvSpPr/>
            <p:nvPr/>
          </p:nvSpPr>
          <p:spPr>
            <a:xfrm>
              <a:off x="6502400" y="1905000"/>
              <a:ext cx="1397000" cy="279400"/>
            </a:xfrm>
            <a:prstGeom prst="roundRect">
              <a:avLst/>
            </a:prstGeom>
            <a:solidFill>
              <a:srgbClr val="064E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10B981"/>
                  </a:solidFill>
                  <a:latin typeface="Segoe UI" panose="020B0502040204020203" pitchFamily="34" charset="0"/>
                </a:rPr>
                <a:t>ĐẶC TRƯNG CỐT LÕI</a:t>
              </a:r>
              <a:endParaRPr lang="en-US" sz="900" b="1">
                <a:solidFill>
                  <a:srgbClr val="10B98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8CAA1A2-54B0-795E-3E54-92D3E6E440A0}"/>
                </a:ext>
              </a:extLst>
            </p:cNvPr>
            <p:cNvSpPr/>
            <p:nvPr/>
          </p:nvSpPr>
          <p:spPr>
            <a:xfrm>
              <a:off x="6502400" y="2260600"/>
              <a:ext cx="457200" cy="4572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52879959-A252-2495-DA76-CE6061A2C80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8600" y="2336800"/>
              <a:ext cx="304800" cy="304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4FFC53C-DDB8-7EF8-630C-C67AD5D233CB}"/>
                </a:ext>
              </a:extLst>
            </p:cNvPr>
            <p:cNvSpPr txBox="1"/>
            <p:nvPr/>
          </p:nvSpPr>
          <p:spPr>
            <a:xfrm>
              <a:off x="6502400" y="2819400"/>
              <a:ext cx="4826000" cy="191520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vi-VN" sz="2000" b="1">
                  <a:solidFill>
                    <a:srgbClr val="38BDF8"/>
                  </a:solidFill>
                  <a:latin typeface="Segoe UI" panose="020B0502040204020203" pitchFamily="34" charset="0"/>
                </a:rPr>
                <a:t>Chất Lượng Cao Bù Đắp Suy Giảm Số Lượng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Khi quy mô bước vào giai đoạn chững lại và cơ cấu già hóa, năng suất lao động vượt trội sẽ bù đắp hoàn toàn sự thiếu hụt số lượng.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1E733EC2-E0A9-EF27-0A0C-DA5F651E7047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Nghị quyết 21-NQ/TW</a:t>
            </a:r>
          </a:p>
        </p:txBody>
      </p:sp>
    </p:spTree>
    <p:extLst>
      <p:ext uri="{BB962C8B-B14F-4D97-AF65-F5344CB8AC3E}">
        <p14:creationId xmlns:p14="http://schemas.microsoft.com/office/powerpoint/2010/main" val="79837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A4447A8E-222D-FC93-A800-0BD9F8BFF2C0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ĐỊNH HƯỚNG CHIẾN LƯỢC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D2A9B2A9-21DE-77BC-7E77-650135E28A8B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27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43D54032-4C0C-EB20-6B6F-FC533EC569C9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Định Hướng Chiến Lược Nâng Cao Toàn Diện Chất Lượng Dân Số Đến 2030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0" name="!!Stage_Hero_Container">
            <a:extLst>
              <a:ext uri="{FF2B5EF4-FFF2-40B4-BE49-F238E27FC236}">
                <a16:creationId xmlns:a16="http://schemas.microsoft.com/office/drawing/2014/main" id="{598000DF-602B-2554-9307-3523DA52C249}"/>
              </a:ext>
            </a:extLst>
          </p:cNvPr>
          <p:cNvGrpSpPr/>
          <p:nvPr/>
        </p:nvGrpSpPr>
        <p:grpSpPr>
          <a:xfrm>
            <a:off x="609600" y="1676400"/>
            <a:ext cx="2609850" cy="4521200"/>
            <a:chOff x="609600" y="1676400"/>
            <a:chExt cx="260985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5259A81-A975-D1DB-8DB3-5D3CD1AB4278}"/>
                </a:ext>
              </a:extLst>
            </p:cNvPr>
            <p:cNvSpPr/>
            <p:nvPr/>
          </p:nvSpPr>
          <p:spPr>
            <a:xfrm>
              <a:off x="609600" y="1676400"/>
              <a:ext cx="2609850" cy="45212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5EB8BD0-51FA-E1D9-6451-C7BCAF8A79B2}"/>
                </a:ext>
              </a:extLst>
            </p:cNvPr>
            <p:cNvSpPr/>
            <p:nvPr/>
          </p:nvSpPr>
          <p:spPr>
            <a:xfrm>
              <a:off x="8128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01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FA6BC478-E2AB-3B18-DE86-553A43254C0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736850" y="1879600"/>
              <a:ext cx="279400" cy="279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C578CF-E9AA-C11B-883D-837526D8ADAF}"/>
                </a:ext>
              </a:extLst>
            </p:cNvPr>
            <p:cNvSpPr txBox="1"/>
            <p:nvPr/>
          </p:nvSpPr>
          <p:spPr>
            <a:xfrm>
              <a:off x="81280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FFFFFF"/>
                  </a:solidFill>
                  <a:latin typeface="Segoe UI" panose="020B0502040204020203" pitchFamily="34" charset="0"/>
                </a:rPr>
                <a:t>1. Duy Trì Mức Sinh Thay Thế
</a:t>
              </a:r>
              <a:r>
                <a:rPr lang="en-US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Vận động mỗi cặp vợ chồng sinh đủ 2 con, kiểm soát không để mức sinh giảm quá sâu tại các đô thị phát triển.</a:t>
              </a:r>
            </a:p>
          </p:txBody>
        </p:sp>
      </p:grpSp>
      <p:grpSp>
        <p:nvGrpSpPr>
          <p:cNvPr id="16" name="!!Stage_Sub_Card_1">
            <a:extLst>
              <a:ext uri="{FF2B5EF4-FFF2-40B4-BE49-F238E27FC236}">
                <a16:creationId xmlns:a16="http://schemas.microsoft.com/office/drawing/2014/main" id="{88CB8574-139F-8136-C606-261D9BED1430}"/>
              </a:ext>
            </a:extLst>
          </p:cNvPr>
          <p:cNvGrpSpPr/>
          <p:nvPr/>
        </p:nvGrpSpPr>
        <p:grpSpPr>
          <a:xfrm>
            <a:off x="3397250" y="1676400"/>
            <a:ext cx="2609850" cy="4521200"/>
            <a:chOff x="3397250" y="1676400"/>
            <a:chExt cx="2609850" cy="45212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6CC0BF5-D7D5-5C5C-4D2A-87AEDEC7CBDA}"/>
                </a:ext>
              </a:extLst>
            </p:cNvPr>
            <p:cNvSpPr/>
            <p:nvPr/>
          </p:nvSpPr>
          <p:spPr>
            <a:xfrm>
              <a:off x="3397250" y="1676400"/>
              <a:ext cx="2609850" cy="45212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3B05AC3-096A-6FFE-F990-E640A9E7B7E3}"/>
                </a:ext>
              </a:extLst>
            </p:cNvPr>
            <p:cNvSpPr/>
            <p:nvPr/>
          </p:nvSpPr>
          <p:spPr>
            <a:xfrm>
              <a:off x="360045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02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D813D337-3DC4-930D-9018-76415282AE1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24500" y="1879600"/>
              <a:ext cx="279400" cy="279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AD193CA-E4D2-B439-EA50-300655A80064}"/>
                </a:ext>
              </a:extLst>
            </p:cNvPr>
            <p:cNvSpPr txBox="1"/>
            <p:nvPr/>
          </p:nvSpPr>
          <p:spPr>
            <a:xfrm>
              <a:off x="360045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vi-VN" sz="1700" b="1">
                  <a:solidFill>
                    <a:srgbClr val="FFFFFF"/>
                  </a:solidFill>
                  <a:latin typeface="Segoe UI" panose="020B0502040204020203" pitchFamily="34" charset="0"/>
                </a:rPr>
                <a:t>2. Đưa SRB Về Mức Tự Nhiên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Phấn đấu đưa tỷ số giới tính khi sinh về dưới 109 bé trai / 100 bé gái vào năm 2030 qua kiểm soát nghiêm ngặt y tế.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2" name="!!Stage_Sub_Card_2">
            <a:extLst>
              <a:ext uri="{FF2B5EF4-FFF2-40B4-BE49-F238E27FC236}">
                <a16:creationId xmlns:a16="http://schemas.microsoft.com/office/drawing/2014/main" id="{31B7DDE0-5271-86EC-45E2-7A4D83C52572}"/>
              </a:ext>
            </a:extLst>
          </p:cNvPr>
          <p:cNvGrpSpPr/>
          <p:nvPr/>
        </p:nvGrpSpPr>
        <p:grpSpPr>
          <a:xfrm>
            <a:off x="6184900" y="1676400"/>
            <a:ext cx="2609850" cy="4521200"/>
            <a:chOff x="6184900" y="1676400"/>
            <a:chExt cx="2609850" cy="45212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F36CC5D-D34A-6865-B4C7-4EA4FEE8942E}"/>
                </a:ext>
              </a:extLst>
            </p:cNvPr>
            <p:cNvSpPr/>
            <p:nvPr/>
          </p:nvSpPr>
          <p:spPr>
            <a:xfrm>
              <a:off x="6184900" y="1676400"/>
              <a:ext cx="2609850" cy="45212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78CAD71-13DA-D27C-FD04-1FE1F161C85F}"/>
                </a:ext>
              </a:extLst>
            </p:cNvPr>
            <p:cNvSpPr/>
            <p:nvPr/>
          </p:nvSpPr>
          <p:spPr>
            <a:xfrm>
              <a:off x="63881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03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A7F510DB-7086-6CD3-56FA-EE680DD1D00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12150" y="1879600"/>
              <a:ext cx="279400" cy="279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86314C3-5A3C-CB64-0EA4-7C753F5DDBD9}"/>
                </a:ext>
              </a:extLst>
            </p:cNvPr>
            <p:cNvSpPr txBox="1"/>
            <p:nvPr/>
          </p:nvSpPr>
          <p:spPr>
            <a:xfrm>
              <a:off x="6388100" y="2336800"/>
              <a:ext cx="2203450" cy="1846659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FFFFFF"/>
                  </a:solidFill>
                  <a:latin typeface="Segoe UI" panose="020B0502040204020203" pitchFamily="34" charset="0"/>
                </a:rPr>
                <a:t>3. Tận Dụng Vàng &amp; Thích Ứng Già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Phát triển công nghiệp giá trị gia tăng cao và chuẩn bị cơ sở hạ tầng, y tế lão khoa thích ứng xã hội dân số già.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8" name="!!Stage_Sub_Card_3">
            <a:extLst>
              <a:ext uri="{FF2B5EF4-FFF2-40B4-BE49-F238E27FC236}">
                <a16:creationId xmlns:a16="http://schemas.microsoft.com/office/drawing/2014/main" id="{C026ED01-70D9-B55A-0C46-E247AF3C0B75}"/>
              </a:ext>
            </a:extLst>
          </p:cNvPr>
          <p:cNvGrpSpPr/>
          <p:nvPr/>
        </p:nvGrpSpPr>
        <p:grpSpPr>
          <a:xfrm>
            <a:off x="8972550" y="1676400"/>
            <a:ext cx="2609850" cy="4521200"/>
            <a:chOff x="8972550" y="1676400"/>
            <a:chExt cx="2609850" cy="452120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C6671AE-A5AB-CCE0-274E-EE6DA30395C3}"/>
                </a:ext>
              </a:extLst>
            </p:cNvPr>
            <p:cNvSpPr/>
            <p:nvPr/>
          </p:nvSpPr>
          <p:spPr>
            <a:xfrm>
              <a:off x="8972550" y="1676400"/>
              <a:ext cx="2609850" cy="45212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C94B567-E88A-A645-4DCC-0BB36C7D7567}"/>
                </a:ext>
              </a:extLst>
            </p:cNvPr>
            <p:cNvSpPr/>
            <p:nvPr/>
          </p:nvSpPr>
          <p:spPr>
            <a:xfrm>
              <a:off x="917575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04</a:t>
              </a: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8783EAD3-8552-9AC9-A27D-DBA81F51D32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99800" y="1879600"/>
              <a:ext cx="279400" cy="279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266C930-6CF8-D457-17BF-D01D6B5C3A54}"/>
                </a:ext>
              </a:extLst>
            </p:cNvPr>
            <p:cNvSpPr txBox="1"/>
            <p:nvPr/>
          </p:nvSpPr>
          <p:spPr>
            <a:xfrm>
              <a:off x="917575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FFFFFF"/>
                  </a:solidFill>
                  <a:latin typeface="Segoe UI" panose="020B0502040204020203" pitchFamily="34" charset="0"/>
                </a:rPr>
                <a:t>4. Tầm Soát Sức Khỏe Đầu Đời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70% phụ nữ mang thai được sàng lọc trước sinh; 90% trẻ sơ sinh được sàng lọc 5 bệnh tật bẩm sinh phổ biến nhất.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9" name="!!Anchor_Source_Footer">
            <a:extLst>
              <a:ext uri="{FF2B5EF4-FFF2-40B4-BE49-F238E27FC236}">
                <a16:creationId xmlns:a16="http://schemas.microsoft.com/office/drawing/2014/main" id="{2D465D90-98EC-EDA0-6C13-6BB90405139F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Chiến lược Dân số Việt Nam đến năm 2030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472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F3FBF23C-46E3-9307-071C-5514DB4854E7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TỔNG KẾT BÀI HỌC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4F6DDD25-E610-A8F4-73A5-EDA5362C6087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28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3F70BB3D-C382-26C2-A471-0A6621D33B8B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Tổng Kết Chuyên Đề Và Bài Tập Thực Hành Tính Toán Dân Số Học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64CDA797-C652-3015-0BFE-8FC119568335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2C606F7-E7A0-B99A-AA4F-E54A2E9B62E7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8716A9-02DD-D922-599D-034D424E995C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3B3A6EF-B9FB-6734-69F3-C6A4372E0F2C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5D80A7B9-A359-B7B1-2959-463C75C4222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B1E1A0C-C8C2-38DA-D622-1C8B7AC40731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Bài Tập 1: Cân Bằng Dân Số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Cho P_0 = 1,000,000 người; B = 16,000; D = 6,000; I = 8,000; O = 3,000. Hãy tính quy mô dân số P_t và tỷ lệ tăng tổng số r_g.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201369CD-753B-1B90-06FB-1A45355065C5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9967CD4-06CB-4B42-80DB-4A04688D0C6C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CECFAFA-6882-5017-6C67-5C46042C3B57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4359E64-5D8D-69B2-DAE1-F74DDF7A4BF0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CC332EA8-7407-8947-7157-D81D1F71A83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DB364DC-CF87-1613-D8E6-84A8C1B5BDB2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Bài Tập 2: Tỷ Số Phụ Thuộc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Dân số 0-14 chiếm 23%, dân số 65+ chiếm 9%, dân số 15-64 chiếm 68%. Tính YDR, ADR, CDR và xác định có thuộc cơ cấu vàng không?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EB031ABE-8D8D-4250-219B-3C24BE27204F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923915F-4197-4576-D78D-28C15E945DDA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26A8706-BCED-DE2A-AD73-2F84643B7BC3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CDEF9C9-5F77-582D-C4DE-82ACFA09FBF6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4A8CB442-D63E-B026-4F8D-2829EC8B0F5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C4C22DE-26A4-5D2F-B40E-7CEEFB321A7A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Thảo Luận Chính Sách 3
</a:t>
              </a:r>
              <a:r>
                <a:rPr lang="en-US" sz="1500">
                  <a:solidFill>
                    <a:srgbClr val="CBD5E1"/>
                  </a:solidFill>
                  <a:latin typeface="Segoe UI" panose="020B0502040204020203" pitchFamily="34" charset="0"/>
                </a:rPr>
                <a:t>Đề xuất 3 giải pháp chính sách an sinh xã hội khả thi để Việt Nam chủ động ứng phó với tốc độ già hóa dân số nhanh hiện nay.</a:t>
              </a: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D3645A0B-15EC-A15F-4CA8-7B36C1F09FC3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Tài liệu đào tạo Dân số học chuẩn quốc gia</a:t>
            </a:r>
          </a:p>
        </p:txBody>
      </p:sp>
    </p:spTree>
    <p:extLst>
      <p:ext uri="{BB962C8B-B14F-4D97-AF65-F5344CB8AC3E}">
        <p14:creationId xmlns:p14="http://schemas.microsoft.com/office/powerpoint/2010/main" val="2235390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4199</Words>
  <Application>Microsoft Office PowerPoint</Application>
  <PresentationFormat>Custom</PresentationFormat>
  <Paragraphs>230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Bahnschrift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Ninh Bui</dc:creator>
  <cp:lastModifiedBy>Thanh Ninh Bui</cp:lastModifiedBy>
  <cp:revision>1</cp:revision>
  <dcterms:created xsi:type="dcterms:W3CDTF">2026-09-18T09:14:03Z</dcterms:created>
  <dcterms:modified xsi:type="dcterms:W3CDTF">2026-09-18T09:14:03Z</dcterms:modified>
</cp:coreProperties>
</file>