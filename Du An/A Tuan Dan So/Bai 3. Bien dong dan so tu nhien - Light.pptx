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3E1894-5627-745C-5EE8-5B2652EFB35D}"/>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BE0059B8-2594-C5FD-9FFB-0B6AAFD20BDE}"/>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64BA700B-45D6-DD12-5CBE-AF49D96F2660}"/>
              </a:ext>
            </a:extLst>
          </p:cNvPr>
          <p:cNvSpPr>
            <a:spLocks noGrp="1"/>
          </p:cNvSpPr>
          <p:nvPr>
            <p:ph type="dt" sz="half" idx="10"/>
          </p:nvPr>
        </p:nvSpPr>
        <p:spPr/>
        <p:txBody>
          <a:bodyPr/>
          <a:lstStyle/>
          <a:p>
            <a:fld id="{BDBAD7E9-CCC3-4C8A-90B9-5BA0B73E8FD0}" type="datetimeFigureOut">
              <a:rPr lang="en-US" smtClean="0"/>
              <a:t>9/18/2026</a:t>
            </a:fld>
            <a:endParaRPr lang="en-US"/>
          </a:p>
        </p:txBody>
      </p:sp>
      <p:sp>
        <p:nvSpPr>
          <p:cNvPr id="5" name="Footer Placeholder 4">
            <a:extLst>
              <a:ext uri="{FF2B5EF4-FFF2-40B4-BE49-F238E27FC236}">
                <a16:creationId xmlns:a16="http://schemas.microsoft.com/office/drawing/2014/main" id="{B30B7AB4-2EB8-406B-493A-EBC89A34E66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78E6B02-F6C4-9D4C-90E2-94618848DB40}"/>
              </a:ext>
            </a:extLst>
          </p:cNvPr>
          <p:cNvSpPr>
            <a:spLocks noGrp="1"/>
          </p:cNvSpPr>
          <p:nvPr>
            <p:ph type="sldNum" sz="quarter" idx="12"/>
          </p:nvPr>
        </p:nvSpPr>
        <p:spPr/>
        <p:txBody>
          <a:bodyPr/>
          <a:lstStyle/>
          <a:p>
            <a:fld id="{8EE03B62-DE41-4A65-B17C-7A62F6AD85B6}" type="slidenum">
              <a:rPr lang="en-US" smtClean="0"/>
              <a:t>‹#›</a:t>
            </a:fld>
            <a:endParaRPr lang="en-US"/>
          </a:p>
        </p:txBody>
      </p:sp>
    </p:spTree>
    <p:extLst>
      <p:ext uri="{BB962C8B-B14F-4D97-AF65-F5344CB8AC3E}">
        <p14:creationId xmlns:p14="http://schemas.microsoft.com/office/powerpoint/2010/main" val="218207090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A23E6D-4516-0D58-6605-021F9B0CB319}"/>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2A640FD4-090B-171A-EE30-ADE0D6241AED}"/>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26A1995-37F0-313E-E637-7F36C51EF180}"/>
              </a:ext>
            </a:extLst>
          </p:cNvPr>
          <p:cNvSpPr>
            <a:spLocks noGrp="1"/>
          </p:cNvSpPr>
          <p:nvPr>
            <p:ph type="dt" sz="half" idx="10"/>
          </p:nvPr>
        </p:nvSpPr>
        <p:spPr/>
        <p:txBody>
          <a:bodyPr/>
          <a:lstStyle/>
          <a:p>
            <a:fld id="{BDBAD7E9-CCC3-4C8A-90B9-5BA0B73E8FD0}" type="datetimeFigureOut">
              <a:rPr lang="en-US" smtClean="0"/>
              <a:t>9/18/2026</a:t>
            </a:fld>
            <a:endParaRPr lang="en-US"/>
          </a:p>
        </p:txBody>
      </p:sp>
      <p:sp>
        <p:nvSpPr>
          <p:cNvPr id="5" name="Footer Placeholder 4">
            <a:extLst>
              <a:ext uri="{FF2B5EF4-FFF2-40B4-BE49-F238E27FC236}">
                <a16:creationId xmlns:a16="http://schemas.microsoft.com/office/drawing/2014/main" id="{08C98A85-209D-C479-0AC8-A506F61D020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57CE87F-A853-AF6D-35F4-3ADC1F0ED12D}"/>
              </a:ext>
            </a:extLst>
          </p:cNvPr>
          <p:cNvSpPr>
            <a:spLocks noGrp="1"/>
          </p:cNvSpPr>
          <p:nvPr>
            <p:ph type="sldNum" sz="quarter" idx="12"/>
          </p:nvPr>
        </p:nvSpPr>
        <p:spPr/>
        <p:txBody>
          <a:bodyPr/>
          <a:lstStyle/>
          <a:p>
            <a:fld id="{8EE03B62-DE41-4A65-B17C-7A62F6AD85B6}" type="slidenum">
              <a:rPr lang="en-US" smtClean="0"/>
              <a:t>‹#›</a:t>
            </a:fld>
            <a:endParaRPr lang="en-US"/>
          </a:p>
        </p:txBody>
      </p:sp>
    </p:spTree>
    <p:extLst>
      <p:ext uri="{BB962C8B-B14F-4D97-AF65-F5344CB8AC3E}">
        <p14:creationId xmlns:p14="http://schemas.microsoft.com/office/powerpoint/2010/main" val="99354979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964D9F-E7BD-1FA1-5F41-87D60912AAE9}"/>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C5F13A48-9ECC-82F5-02F2-784B978A53E5}"/>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B7D9A03C-BBF7-6890-5CCC-629ABEB58EB1}"/>
              </a:ext>
            </a:extLst>
          </p:cNvPr>
          <p:cNvSpPr>
            <a:spLocks noGrp="1"/>
          </p:cNvSpPr>
          <p:nvPr>
            <p:ph type="dt" sz="half" idx="10"/>
          </p:nvPr>
        </p:nvSpPr>
        <p:spPr/>
        <p:txBody>
          <a:bodyPr/>
          <a:lstStyle/>
          <a:p>
            <a:fld id="{BDBAD7E9-CCC3-4C8A-90B9-5BA0B73E8FD0}" type="datetimeFigureOut">
              <a:rPr lang="en-US" smtClean="0"/>
              <a:t>9/18/2026</a:t>
            </a:fld>
            <a:endParaRPr lang="en-US"/>
          </a:p>
        </p:txBody>
      </p:sp>
      <p:sp>
        <p:nvSpPr>
          <p:cNvPr id="5" name="Footer Placeholder 4">
            <a:extLst>
              <a:ext uri="{FF2B5EF4-FFF2-40B4-BE49-F238E27FC236}">
                <a16:creationId xmlns:a16="http://schemas.microsoft.com/office/drawing/2014/main" id="{DFA27904-89BE-3BED-0801-6E68E859E33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B150E5D-1292-485D-551F-66881421AC0E}"/>
              </a:ext>
            </a:extLst>
          </p:cNvPr>
          <p:cNvSpPr>
            <a:spLocks noGrp="1"/>
          </p:cNvSpPr>
          <p:nvPr>
            <p:ph type="sldNum" sz="quarter" idx="12"/>
          </p:nvPr>
        </p:nvSpPr>
        <p:spPr/>
        <p:txBody>
          <a:bodyPr/>
          <a:lstStyle/>
          <a:p>
            <a:fld id="{8EE03B62-DE41-4A65-B17C-7A62F6AD85B6}" type="slidenum">
              <a:rPr lang="en-US" smtClean="0"/>
              <a:t>‹#›</a:t>
            </a:fld>
            <a:endParaRPr lang="en-US"/>
          </a:p>
        </p:txBody>
      </p:sp>
    </p:spTree>
    <p:extLst>
      <p:ext uri="{BB962C8B-B14F-4D97-AF65-F5344CB8AC3E}">
        <p14:creationId xmlns:p14="http://schemas.microsoft.com/office/powerpoint/2010/main" val="341804357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EA4836-AB1F-D627-DF0C-7F0C0E6C5227}"/>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D58F33A6-89D3-EC98-3555-991D663ACFBC}"/>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AF77E0D2-D056-D1FC-4D1A-9465F322620E}"/>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6E4A17E8-D2F3-110A-F01F-086B9F11AFC5}"/>
              </a:ext>
            </a:extLst>
          </p:cNvPr>
          <p:cNvSpPr>
            <a:spLocks noGrp="1"/>
          </p:cNvSpPr>
          <p:nvPr>
            <p:ph type="dt" sz="half" idx="10"/>
          </p:nvPr>
        </p:nvSpPr>
        <p:spPr/>
        <p:txBody>
          <a:bodyPr/>
          <a:lstStyle/>
          <a:p>
            <a:fld id="{BDBAD7E9-CCC3-4C8A-90B9-5BA0B73E8FD0}" type="datetimeFigureOut">
              <a:rPr lang="en-US" smtClean="0"/>
              <a:t>9/18/2026</a:t>
            </a:fld>
            <a:endParaRPr lang="en-US"/>
          </a:p>
        </p:txBody>
      </p:sp>
      <p:sp>
        <p:nvSpPr>
          <p:cNvPr id="6" name="Footer Placeholder 5">
            <a:extLst>
              <a:ext uri="{FF2B5EF4-FFF2-40B4-BE49-F238E27FC236}">
                <a16:creationId xmlns:a16="http://schemas.microsoft.com/office/drawing/2014/main" id="{6950E8F5-30BF-7A53-1FB5-976341760C6B}"/>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491309F4-52E6-A91D-9AEF-D5CA4C4C7C3D}"/>
              </a:ext>
            </a:extLst>
          </p:cNvPr>
          <p:cNvSpPr>
            <a:spLocks noGrp="1"/>
          </p:cNvSpPr>
          <p:nvPr>
            <p:ph type="sldNum" sz="quarter" idx="12"/>
          </p:nvPr>
        </p:nvSpPr>
        <p:spPr/>
        <p:txBody>
          <a:bodyPr/>
          <a:lstStyle/>
          <a:p>
            <a:fld id="{8EE03B62-DE41-4A65-B17C-7A62F6AD85B6}" type="slidenum">
              <a:rPr lang="en-US" smtClean="0"/>
              <a:t>‹#›</a:t>
            </a:fld>
            <a:endParaRPr lang="en-US"/>
          </a:p>
        </p:txBody>
      </p:sp>
    </p:spTree>
    <p:extLst>
      <p:ext uri="{BB962C8B-B14F-4D97-AF65-F5344CB8AC3E}">
        <p14:creationId xmlns:p14="http://schemas.microsoft.com/office/powerpoint/2010/main" val="144143160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078AE6-348C-A3CA-F09D-258E3B11D32F}"/>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410C90CB-F0D8-EF3F-44AC-003C9E7CC56A}"/>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7727D43A-207E-A8C6-11D4-747635B5F447}"/>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9456696D-9A97-B618-E276-CC2468B32BAE}"/>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0E7C1ED8-DF28-A73D-9D73-3CCAF6082330}"/>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8A924028-20B7-5BC7-12CA-E05016E10BB5}"/>
              </a:ext>
            </a:extLst>
          </p:cNvPr>
          <p:cNvSpPr>
            <a:spLocks noGrp="1"/>
          </p:cNvSpPr>
          <p:nvPr>
            <p:ph type="dt" sz="half" idx="10"/>
          </p:nvPr>
        </p:nvSpPr>
        <p:spPr/>
        <p:txBody>
          <a:bodyPr/>
          <a:lstStyle/>
          <a:p>
            <a:fld id="{BDBAD7E9-CCC3-4C8A-90B9-5BA0B73E8FD0}" type="datetimeFigureOut">
              <a:rPr lang="en-US" smtClean="0"/>
              <a:t>9/18/2026</a:t>
            </a:fld>
            <a:endParaRPr lang="en-US"/>
          </a:p>
        </p:txBody>
      </p:sp>
      <p:sp>
        <p:nvSpPr>
          <p:cNvPr id="8" name="Footer Placeholder 7">
            <a:extLst>
              <a:ext uri="{FF2B5EF4-FFF2-40B4-BE49-F238E27FC236}">
                <a16:creationId xmlns:a16="http://schemas.microsoft.com/office/drawing/2014/main" id="{6AA91757-5E48-E4F7-C98F-DB22E5D559D1}"/>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C5A3D007-91E0-551D-B54F-831AA4781066}"/>
              </a:ext>
            </a:extLst>
          </p:cNvPr>
          <p:cNvSpPr>
            <a:spLocks noGrp="1"/>
          </p:cNvSpPr>
          <p:nvPr>
            <p:ph type="sldNum" sz="quarter" idx="12"/>
          </p:nvPr>
        </p:nvSpPr>
        <p:spPr/>
        <p:txBody>
          <a:bodyPr/>
          <a:lstStyle/>
          <a:p>
            <a:fld id="{8EE03B62-DE41-4A65-B17C-7A62F6AD85B6}" type="slidenum">
              <a:rPr lang="en-US" smtClean="0"/>
              <a:t>‹#›</a:t>
            </a:fld>
            <a:endParaRPr lang="en-US"/>
          </a:p>
        </p:txBody>
      </p:sp>
    </p:spTree>
    <p:extLst>
      <p:ext uri="{BB962C8B-B14F-4D97-AF65-F5344CB8AC3E}">
        <p14:creationId xmlns:p14="http://schemas.microsoft.com/office/powerpoint/2010/main" val="351113870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146C30-D45D-7405-EA7B-0A80A2D50E9F}"/>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803422F4-1624-DFDC-4845-53CA685477D1}"/>
              </a:ext>
            </a:extLst>
          </p:cNvPr>
          <p:cNvSpPr>
            <a:spLocks noGrp="1"/>
          </p:cNvSpPr>
          <p:nvPr>
            <p:ph type="dt" sz="half" idx="10"/>
          </p:nvPr>
        </p:nvSpPr>
        <p:spPr/>
        <p:txBody>
          <a:bodyPr/>
          <a:lstStyle/>
          <a:p>
            <a:fld id="{BDBAD7E9-CCC3-4C8A-90B9-5BA0B73E8FD0}" type="datetimeFigureOut">
              <a:rPr lang="en-US" smtClean="0"/>
              <a:t>9/18/2026</a:t>
            </a:fld>
            <a:endParaRPr lang="en-US"/>
          </a:p>
        </p:txBody>
      </p:sp>
      <p:sp>
        <p:nvSpPr>
          <p:cNvPr id="4" name="Footer Placeholder 3">
            <a:extLst>
              <a:ext uri="{FF2B5EF4-FFF2-40B4-BE49-F238E27FC236}">
                <a16:creationId xmlns:a16="http://schemas.microsoft.com/office/drawing/2014/main" id="{DA534754-2469-4B56-B037-2B6E71BFC94F}"/>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A2B1D7D1-B807-819D-BE6F-D34A9C8B900C}"/>
              </a:ext>
            </a:extLst>
          </p:cNvPr>
          <p:cNvSpPr>
            <a:spLocks noGrp="1"/>
          </p:cNvSpPr>
          <p:nvPr>
            <p:ph type="sldNum" sz="quarter" idx="12"/>
          </p:nvPr>
        </p:nvSpPr>
        <p:spPr/>
        <p:txBody>
          <a:bodyPr/>
          <a:lstStyle/>
          <a:p>
            <a:fld id="{8EE03B62-DE41-4A65-B17C-7A62F6AD85B6}" type="slidenum">
              <a:rPr lang="en-US" smtClean="0"/>
              <a:t>‹#›</a:t>
            </a:fld>
            <a:endParaRPr lang="en-US"/>
          </a:p>
        </p:txBody>
      </p:sp>
    </p:spTree>
    <p:extLst>
      <p:ext uri="{BB962C8B-B14F-4D97-AF65-F5344CB8AC3E}">
        <p14:creationId xmlns:p14="http://schemas.microsoft.com/office/powerpoint/2010/main" val="55666537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ED0F2308-E654-B2F5-D38B-5D9AE72038C1}"/>
              </a:ext>
            </a:extLst>
          </p:cNvPr>
          <p:cNvSpPr>
            <a:spLocks noGrp="1"/>
          </p:cNvSpPr>
          <p:nvPr>
            <p:ph type="dt" sz="half" idx="10"/>
          </p:nvPr>
        </p:nvSpPr>
        <p:spPr/>
        <p:txBody>
          <a:bodyPr/>
          <a:lstStyle/>
          <a:p>
            <a:fld id="{BDBAD7E9-CCC3-4C8A-90B9-5BA0B73E8FD0}" type="datetimeFigureOut">
              <a:rPr lang="en-US" smtClean="0"/>
              <a:t>9/18/2026</a:t>
            </a:fld>
            <a:endParaRPr lang="en-US"/>
          </a:p>
        </p:txBody>
      </p:sp>
      <p:sp>
        <p:nvSpPr>
          <p:cNvPr id="3" name="Footer Placeholder 2">
            <a:extLst>
              <a:ext uri="{FF2B5EF4-FFF2-40B4-BE49-F238E27FC236}">
                <a16:creationId xmlns:a16="http://schemas.microsoft.com/office/drawing/2014/main" id="{64C6FE7C-73BE-1399-F75F-1CC0888A916A}"/>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A45FA2CB-FF41-0AC7-0F0C-002C6E13B963}"/>
              </a:ext>
            </a:extLst>
          </p:cNvPr>
          <p:cNvSpPr>
            <a:spLocks noGrp="1"/>
          </p:cNvSpPr>
          <p:nvPr>
            <p:ph type="sldNum" sz="quarter" idx="12"/>
          </p:nvPr>
        </p:nvSpPr>
        <p:spPr/>
        <p:txBody>
          <a:bodyPr/>
          <a:lstStyle/>
          <a:p>
            <a:fld id="{8EE03B62-DE41-4A65-B17C-7A62F6AD85B6}" type="slidenum">
              <a:rPr lang="en-US" smtClean="0"/>
              <a:t>‹#›</a:t>
            </a:fld>
            <a:endParaRPr lang="en-US"/>
          </a:p>
        </p:txBody>
      </p:sp>
    </p:spTree>
    <p:extLst>
      <p:ext uri="{BB962C8B-B14F-4D97-AF65-F5344CB8AC3E}">
        <p14:creationId xmlns:p14="http://schemas.microsoft.com/office/powerpoint/2010/main" val="216637531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A2D4C8-83B1-D806-9B7E-3A994A68CEA3}"/>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EBAB50D4-F4E7-D13A-362A-66525FEF7463}"/>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7B5FCFCB-A5DE-9B67-CD6B-6A63C1627B6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0E1A26E4-FAC7-67D5-8FC3-8DD426814434}"/>
              </a:ext>
            </a:extLst>
          </p:cNvPr>
          <p:cNvSpPr>
            <a:spLocks noGrp="1"/>
          </p:cNvSpPr>
          <p:nvPr>
            <p:ph type="dt" sz="half" idx="10"/>
          </p:nvPr>
        </p:nvSpPr>
        <p:spPr/>
        <p:txBody>
          <a:bodyPr/>
          <a:lstStyle/>
          <a:p>
            <a:fld id="{BDBAD7E9-CCC3-4C8A-90B9-5BA0B73E8FD0}" type="datetimeFigureOut">
              <a:rPr lang="en-US" smtClean="0"/>
              <a:t>9/18/2026</a:t>
            </a:fld>
            <a:endParaRPr lang="en-US"/>
          </a:p>
        </p:txBody>
      </p:sp>
      <p:sp>
        <p:nvSpPr>
          <p:cNvPr id="6" name="Footer Placeholder 5">
            <a:extLst>
              <a:ext uri="{FF2B5EF4-FFF2-40B4-BE49-F238E27FC236}">
                <a16:creationId xmlns:a16="http://schemas.microsoft.com/office/drawing/2014/main" id="{0AD55DA9-A94C-307C-42A4-A2E1AB9AC7BC}"/>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1A4B467F-2A38-9B55-16D9-3EB68C854C07}"/>
              </a:ext>
            </a:extLst>
          </p:cNvPr>
          <p:cNvSpPr>
            <a:spLocks noGrp="1"/>
          </p:cNvSpPr>
          <p:nvPr>
            <p:ph type="sldNum" sz="quarter" idx="12"/>
          </p:nvPr>
        </p:nvSpPr>
        <p:spPr/>
        <p:txBody>
          <a:bodyPr/>
          <a:lstStyle/>
          <a:p>
            <a:fld id="{8EE03B62-DE41-4A65-B17C-7A62F6AD85B6}" type="slidenum">
              <a:rPr lang="en-US" smtClean="0"/>
              <a:t>‹#›</a:t>
            </a:fld>
            <a:endParaRPr lang="en-US"/>
          </a:p>
        </p:txBody>
      </p:sp>
    </p:spTree>
    <p:extLst>
      <p:ext uri="{BB962C8B-B14F-4D97-AF65-F5344CB8AC3E}">
        <p14:creationId xmlns:p14="http://schemas.microsoft.com/office/powerpoint/2010/main" val="399827216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27C3E4-36F8-822D-CAF5-7947F858395D}"/>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2A7FAA8E-149D-E872-C8C8-D6E2F67355BB}"/>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5E3C8658-285F-6F6B-3D13-770FEF3B1D7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66FC7E08-0A93-7EC8-94E3-904C114CCB1E}"/>
              </a:ext>
            </a:extLst>
          </p:cNvPr>
          <p:cNvSpPr>
            <a:spLocks noGrp="1"/>
          </p:cNvSpPr>
          <p:nvPr>
            <p:ph type="dt" sz="half" idx="10"/>
          </p:nvPr>
        </p:nvSpPr>
        <p:spPr/>
        <p:txBody>
          <a:bodyPr/>
          <a:lstStyle/>
          <a:p>
            <a:fld id="{BDBAD7E9-CCC3-4C8A-90B9-5BA0B73E8FD0}" type="datetimeFigureOut">
              <a:rPr lang="en-US" smtClean="0"/>
              <a:t>9/18/2026</a:t>
            </a:fld>
            <a:endParaRPr lang="en-US"/>
          </a:p>
        </p:txBody>
      </p:sp>
      <p:sp>
        <p:nvSpPr>
          <p:cNvPr id="6" name="Footer Placeholder 5">
            <a:extLst>
              <a:ext uri="{FF2B5EF4-FFF2-40B4-BE49-F238E27FC236}">
                <a16:creationId xmlns:a16="http://schemas.microsoft.com/office/drawing/2014/main" id="{44879E04-3674-8DF6-6A0D-62552BD27840}"/>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5CB9ED2E-52F7-C301-D0AE-37831E636BCF}"/>
              </a:ext>
            </a:extLst>
          </p:cNvPr>
          <p:cNvSpPr>
            <a:spLocks noGrp="1"/>
          </p:cNvSpPr>
          <p:nvPr>
            <p:ph type="sldNum" sz="quarter" idx="12"/>
          </p:nvPr>
        </p:nvSpPr>
        <p:spPr/>
        <p:txBody>
          <a:bodyPr/>
          <a:lstStyle/>
          <a:p>
            <a:fld id="{8EE03B62-DE41-4A65-B17C-7A62F6AD85B6}" type="slidenum">
              <a:rPr lang="en-US" smtClean="0"/>
              <a:t>‹#›</a:t>
            </a:fld>
            <a:endParaRPr lang="en-US"/>
          </a:p>
        </p:txBody>
      </p:sp>
    </p:spTree>
    <p:extLst>
      <p:ext uri="{BB962C8B-B14F-4D97-AF65-F5344CB8AC3E}">
        <p14:creationId xmlns:p14="http://schemas.microsoft.com/office/powerpoint/2010/main" val="281504562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0D866C-F7BC-708A-08E6-3FD19AD5F1E0}"/>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2B6695E2-C7BB-D68B-22CE-9C4E18EC7464}"/>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8403631-1EEB-EFF2-09DD-A2B8CAD80D0F}"/>
              </a:ext>
            </a:extLst>
          </p:cNvPr>
          <p:cNvSpPr>
            <a:spLocks noGrp="1"/>
          </p:cNvSpPr>
          <p:nvPr>
            <p:ph type="dt" sz="half" idx="10"/>
          </p:nvPr>
        </p:nvSpPr>
        <p:spPr/>
        <p:txBody>
          <a:bodyPr/>
          <a:lstStyle/>
          <a:p>
            <a:fld id="{BDBAD7E9-CCC3-4C8A-90B9-5BA0B73E8FD0}" type="datetimeFigureOut">
              <a:rPr lang="en-US" smtClean="0"/>
              <a:t>9/18/2026</a:t>
            </a:fld>
            <a:endParaRPr lang="en-US"/>
          </a:p>
        </p:txBody>
      </p:sp>
      <p:sp>
        <p:nvSpPr>
          <p:cNvPr id="5" name="Footer Placeholder 4">
            <a:extLst>
              <a:ext uri="{FF2B5EF4-FFF2-40B4-BE49-F238E27FC236}">
                <a16:creationId xmlns:a16="http://schemas.microsoft.com/office/drawing/2014/main" id="{56C01734-3672-7399-5866-D8928E3E167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A4928A0-3B61-3D21-87C0-92DD24C8810D}"/>
              </a:ext>
            </a:extLst>
          </p:cNvPr>
          <p:cNvSpPr>
            <a:spLocks noGrp="1"/>
          </p:cNvSpPr>
          <p:nvPr>
            <p:ph type="sldNum" sz="quarter" idx="12"/>
          </p:nvPr>
        </p:nvSpPr>
        <p:spPr/>
        <p:txBody>
          <a:bodyPr/>
          <a:lstStyle/>
          <a:p>
            <a:fld id="{8EE03B62-DE41-4A65-B17C-7A62F6AD85B6}" type="slidenum">
              <a:rPr lang="en-US" smtClean="0"/>
              <a:t>‹#›</a:t>
            </a:fld>
            <a:endParaRPr lang="en-US"/>
          </a:p>
        </p:txBody>
      </p:sp>
    </p:spTree>
    <p:extLst>
      <p:ext uri="{BB962C8B-B14F-4D97-AF65-F5344CB8AC3E}">
        <p14:creationId xmlns:p14="http://schemas.microsoft.com/office/powerpoint/2010/main" val="95968025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7D2B0022-9359-160C-399E-18248748757E}"/>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4CA15F0B-09BC-6CA0-FF74-A957D73E9D55}"/>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79F8184-D604-35A2-AC46-26777009529F}"/>
              </a:ext>
            </a:extLst>
          </p:cNvPr>
          <p:cNvSpPr>
            <a:spLocks noGrp="1"/>
          </p:cNvSpPr>
          <p:nvPr>
            <p:ph type="dt" sz="half" idx="10"/>
          </p:nvPr>
        </p:nvSpPr>
        <p:spPr/>
        <p:txBody>
          <a:bodyPr/>
          <a:lstStyle/>
          <a:p>
            <a:fld id="{BDBAD7E9-CCC3-4C8A-90B9-5BA0B73E8FD0}" type="datetimeFigureOut">
              <a:rPr lang="en-US" smtClean="0"/>
              <a:t>9/18/2026</a:t>
            </a:fld>
            <a:endParaRPr lang="en-US"/>
          </a:p>
        </p:txBody>
      </p:sp>
      <p:sp>
        <p:nvSpPr>
          <p:cNvPr id="5" name="Footer Placeholder 4">
            <a:extLst>
              <a:ext uri="{FF2B5EF4-FFF2-40B4-BE49-F238E27FC236}">
                <a16:creationId xmlns:a16="http://schemas.microsoft.com/office/drawing/2014/main" id="{DF4D5D80-3FB4-F01B-CFAD-567ED0AA433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D8FB0FC-8C81-4FF2-B8E2-6960457B13D5}"/>
              </a:ext>
            </a:extLst>
          </p:cNvPr>
          <p:cNvSpPr>
            <a:spLocks noGrp="1"/>
          </p:cNvSpPr>
          <p:nvPr>
            <p:ph type="sldNum" sz="quarter" idx="12"/>
          </p:nvPr>
        </p:nvSpPr>
        <p:spPr/>
        <p:txBody>
          <a:bodyPr/>
          <a:lstStyle/>
          <a:p>
            <a:fld id="{8EE03B62-DE41-4A65-B17C-7A62F6AD85B6}" type="slidenum">
              <a:rPr lang="en-US" smtClean="0"/>
              <a:t>‹#›</a:t>
            </a:fld>
            <a:endParaRPr lang="en-US"/>
          </a:p>
        </p:txBody>
      </p:sp>
    </p:spTree>
    <p:extLst>
      <p:ext uri="{BB962C8B-B14F-4D97-AF65-F5344CB8AC3E}">
        <p14:creationId xmlns:p14="http://schemas.microsoft.com/office/powerpoint/2010/main" val="60265336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4D8022C-57C3-44F8-B179-6387033B1E86}"/>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D7F17282-2037-44BF-49F4-77BCEE98F828}"/>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E78F479-1CF5-DCF6-2A3A-44007919B841}"/>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BDBAD7E9-CCC3-4C8A-90B9-5BA0B73E8FD0}" type="datetimeFigureOut">
              <a:rPr lang="en-US" smtClean="0"/>
              <a:t>9/18/2026</a:t>
            </a:fld>
            <a:endParaRPr lang="en-US"/>
          </a:p>
        </p:txBody>
      </p:sp>
      <p:sp>
        <p:nvSpPr>
          <p:cNvPr id="5" name="Footer Placeholder 4">
            <a:extLst>
              <a:ext uri="{FF2B5EF4-FFF2-40B4-BE49-F238E27FC236}">
                <a16:creationId xmlns:a16="http://schemas.microsoft.com/office/drawing/2014/main" id="{3A5E307A-12A1-8C21-51F4-726E4F31D663}"/>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5B29F930-4B35-6609-2394-98006A277AC2}"/>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EE03B62-DE41-4A65-B17C-7A62F6AD85B6}" type="slidenum">
              <a:rPr lang="en-US" smtClean="0"/>
              <a:t>‹#›</a:t>
            </a:fld>
            <a:endParaRPr lang="en-US"/>
          </a:p>
        </p:txBody>
      </p:sp>
    </p:spTree>
    <p:extLst>
      <p:ext uri="{BB962C8B-B14F-4D97-AF65-F5344CB8AC3E}">
        <p14:creationId xmlns:p14="http://schemas.microsoft.com/office/powerpoint/2010/main" val="422433123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svg"/><Relationship Id="rId1" Type="http://schemas.openxmlformats.org/officeDocument/2006/relationships/slideLayout" Target="../slideLayouts/slideLayout7.xml"/><Relationship Id="rId4" Type="http://schemas.openxmlformats.org/officeDocument/2006/relationships/image" Target="../media/image4.svg"/></Relationships>
</file>

<file path=ppt/slides/_rels/slide3.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jpg"/><Relationship Id="rId1" Type="http://schemas.openxmlformats.org/officeDocument/2006/relationships/slideLayout" Target="../slideLayouts/slideLayout7.xml"/><Relationship Id="rId5" Type="http://schemas.openxmlformats.org/officeDocument/2006/relationships/image" Target="../media/image8.svg"/><Relationship Id="rId4" Type="http://schemas.openxmlformats.org/officeDocument/2006/relationships/image" Target="../media/image7.svg"/></Relationships>
</file>

<file path=ppt/slides/_rels/slide4.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9.svg"/><Relationship Id="rId1" Type="http://schemas.openxmlformats.org/officeDocument/2006/relationships/slideLayout" Target="../slideLayouts/slideLayout7.xml"/><Relationship Id="rId4" Type="http://schemas.openxmlformats.org/officeDocument/2006/relationships/image" Target="../media/image11.svg"/></Relationships>
</file>

<file path=ppt/slides/_rels/slide5.xml.rels><?xml version="1.0" encoding="UTF-8" standalone="yes"?>
<Relationships xmlns="http://schemas.openxmlformats.org/package/2006/relationships"><Relationship Id="rId3" Type="http://schemas.openxmlformats.org/officeDocument/2006/relationships/image" Target="../media/image9.svg"/><Relationship Id="rId2" Type="http://schemas.openxmlformats.org/officeDocument/2006/relationships/image" Target="../media/image12.png"/><Relationship Id="rId1" Type="http://schemas.openxmlformats.org/officeDocument/2006/relationships/slideLayout" Target="../slideLayouts/slideLayout7.xml"/><Relationship Id="rId5" Type="http://schemas.openxmlformats.org/officeDocument/2006/relationships/image" Target="../media/image13.svg"/><Relationship Id="rId4" Type="http://schemas.openxmlformats.org/officeDocument/2006/relationships/image" Target="../media/image4.svg"/></Relationships>
</file>

<file path=ppt/slides/_rels/slide6.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14.svg"/><Relationship Id="rId1" Type="http://schemas.openxmlformats.org/officeDocument/2006/relationships/slideLayout" Target="../slideLayouts/slideLayout7.xml"/><Relationship Id="rId4" Type="http://schemas.openxmlformats.org/officeDocument/2006/relationships/image" Target="../media/image15.svg"/></Relationships>
</file>

<file path=ppt/slides/_rels/slide7.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9.svg"/><Relationship Id="rId1" Type="http://schemas.openxmlformats.org/officeDocument/2006/relationships/slideLayout" Target="../slideLayouts/slideLayout7.xml"/><Relationship Id="rId4" Type="http://schemas.openxmlformats.org/officeDocument/2006/relationships/image" Target="../media/image16.svg"/></Relationships>
</file>

<file path=ppt/slides/_rels/slide8.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17.png"/><Relationship Id="rId1" Type="http://schemas.openxmlformats.org/officeDocument/2006/relationships/slideLayout" Target="../slideLayouts/slideLayout7.xml"/><Relationship Id="rId4" Type="http://schemas.openxmlformats.org/officeDocument/2006/relationships/image" Target="../media/image18.svg"/></Relationships>
</file>

<file path=ppt/slides/_rels/slide9.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19.jpg"/><Relationship Id="rId1" Type="http://schemas.openxmlformats.org/officeDocument/2006/relationships/slideLayout" Target="../slideLayouts/slideLayout7.xml"/><Relationship Id="rId6" Type="http://schemas.openxmlformats.org/officeDocument/2006/relationships/image" Target="../media/image11.svg"/><Relationship Id="rId5" Type="http://schemas.openxmlformats.org/officeDocument/2006/relationships/image" Target="../media/image7.svg"/><Relationship Id="rId4" Type="http://schemas.openxmlformats.org/officeDocument/2006/relationships/image" Target="../media/image20.svg"/></Relationships>
</file>

<file path=ppt/slides/_rels/slide10.xml.rels><?xml version="1.0" encoding="UTF-8" standalone="yes"?>
<Relationships xmlns="http://schemas.openxmlformats.org/package/2006/relationships"><Relationship Id="rId3" Type="http://schemas.openxmlformats.org/officeDocument/2006/relationships/image" Target="../media/image21.svg"/><Relationship Id="rId2" Type="http://schemas.openxmlformats.org/officeDocument/2006/relationships/image" Target="../media/image8.svg"/><Relationship Id="rId1" Type="http://schemas.openxmlformats.org/officeDocument/2006/relationships/slideLayout" Target="../slideLayouts/slideLayout7.xml"/><Relationship Id="rId4" Type="http://schemas.openxmlformats.org/officeDocument/2006/relationships/image" Target="../media/image22.svg"/></Relationships>
</file>

<file path=ppt/slides/_rels/slide11.xml.rels><?xml version="1.0" encoding="UTF-8" standalone="yes"?>
<Relationships xmlns="http://schemas.openxmlformats.org/package/2006/relationships"><Relationship Id="rId3" Type="http://schemas.openxmlformats.org/officeDocument/2006/relationships/image" Target="../media/image23.svg"/><Relationship Id="rId2" Type="http://schemas.openxmlformats.org/officeDocument/2006/relationships/image" Target="../media/image12.png"/><Relationship Id="rId1" Type="http://schemas.openxmlformats.org/officeDocument/2006/relationships/slideLayout" Target="../slideLayouts/slideLayout7.xml"/><Relationship Id="rId4" Type="http://schemas.openxmlformats.org/officeDocument/2006/relationships/image" Target="../media/image16.svg"/></Relationships>
</file>

<file path=ppt/slides/_rels/slide12.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24.svg"/><Relationship Id="rId1" Type="http://schemas.openxmlformats.org/officeDocument/2006/relationships/slideLayout" Target="../slideLayouts/slideLayout7.xml"/><Relationship Id="rId4" Type="http://schemas.openxmlformats.org/officeDocument/2006/relationships/image" Target="../media/image22.svg"/></Relationships>
</file>

<file path=ppt/slides/_rels/slide13.xml.rels><?xml version="1.0" encoding="UTF-8" standalone="yes"?>
<Relationships xmlns="http://schemas.openxmlformats.org/package/2006/relationships"><Relationship Id="rId3" Type="http://schemas.openxmlformats.org/officeDocument/2006/relationships/image" Target="../media/image11.svg"/><Relationship Id="rId2" Type="http://schemas.openxmlformats.org/officeDocument/2006/relationships/image" Target="../media/image9.sv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14.svg"/><Relationship Id="rId1" Type="http://schemas.openxmlformats.org/officeDocument/2006/relationships/slideLayout" Target="../slideLayouts/slideLayout7.xml"/><Relationship Id="rId4" Type="http://schemas.openxmlformats.org/officeDocument/2006/relationships/image" Target="../media/image2.svg"/></Relationships>
</file>

<file path=ppt/slides/_rels/slide15.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7.svg"/><Relationship Id="rId1" Type="http://schemas.openxmlformats.org/officeDocument/2006/relationships/slideLayout" Target="../slideLayouts/slideLayout7.xml"/><Relationship Id="rId4" Type="http://schemas.openxmlformats.org/officeDocument/2006/relationships/image" Target="../media/image16.svg"/></Relationships>
</file>

<file path=ppt/slides/_rels/slide16.xml.rels><?xml version="1.0" encoding="UTF-8" standalone="yes"?>
<Relationships xmlns="http://schemas.openxmlformats.org/package/2006/relationships"><Relationship Id="rId3" Type="http://schemas.openxmlformats.org/officeDocument/2006/relationships/image" Target="../media/image13.svg"/><Relationship Id="rId2" Type="http://schemas.openxmlformats.org/officeDocument/2006/relationships/image" Target="../media/image9.svg"/><Relationship Id="rId1" Type="http://schemas.openxmlformats.org/officeDocument/2006/relationships/slideLayout" Target="../slideLayouts/slideLayout7.xml"/><Relationship Id="rId4" Type="http://schemas.openxmlformats.org/officeDocument/2006/relationships/image" Target="../media/image25.sv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3" Type="http://schemas.openxmlformats.org/officeDocument/2006/relationships/image" Target="../media/image26.svg"/><Relationship Id="rId2" Type="http://schemas.openxmlformats.org/officeDocument/2006/relationships/image" Target="../media/image3.svg"/><Relationship Id="rId1" Type="http://schemas.openxmlformats.org/officeDocument/2006/relationships/slideLayout" Target="../slideLayouts/slideLayout7.xml"/><Relationship Id="rId4" Type="http://schemas.openxmlformats.org/officeDocument/2006/relationships/image" Target="../media/image23.svg"/></Relationships>
</file>

<file path=ppt/slides/_rels/slide19.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27.png"/><Relationship Id="rId1" Type="http://schemas.openxmlformats.org/officeDocument/2006/relationships/slideLayout" Target="../slideLayouts/slideLayout7.xml"/><Relationship Id="rId5" Type="http://schemas.openxmlformats.org/officeDocument/2006/relationships/image" Target="../media/image13.svg"/><Relationship Id="rId4" Type="http://schemas.openxmlformats.org/officeDocument/2006/relationships/image" Target="../media/image8.svg"/></Relationships>
</file>

<file path=ppt/slides/_rels/slide20.xml.rels><?xml version="1.0" encoding="UTF-8" standalone="yes"?>
<Relationships xmlns="http://schemas.openxmlformats.org/package/2006/relationships"><Relationship Id="rId3" Type="http://schemas.openxmlformats.org/officeDocument/2006/relationships/image" Target="../media/image9.svg"/><Relationship Id="rId2" Type="http://schemas.openxmlformats.org/officeDocument/2006/relationships/image" Target="../media/image28.png"/><Relationship Id="rId1" Type="http://schemas.openxmlformats.org/officeDocument/2006/relationships/slideLayout" Target="../slideLayouts/slideLayout7.xml"/><Relationship Id="rId4" Type="http://schemas.openxmlformats.org/officeDocument/2006/relationships/image" Target="../media/image24.svg"/></Relationships>
</file>

<file path=ppt/slides/_rels/slide21.xml.rels><?xml version="1.0" encoding="UTF-8" standalone="yes"?>
<Relationships xmlns="http://schemas.openxmlformats.org/package/2006/relationships"><Relationship Id="rId3" Type="http://schemas.openxmlformats.org/officeDocument/2006/relationships/image" Target="../media/image30.svg"/><Relationship Id="rId2" Type="http://schemas.openxmlformats.org/officeDocument/2006/relationships/image" Target="../media/image29.png"/><Relationship Id="rId1" Type="http://schemas.openxmlformats.org/officeDocument/2006/relationships/slideLayout" Target="../slideLayouts/slideLayout7.xml"/><Relationship Id="rId5" Type="http://schemas.openxmlformats.org/officeDocument/2006/relationships/image" Target="../media/image24.svg"/><Relationship Id="rId4" Type="http://schemas.openxmlformats.org/officeDocument/2006/relationships/image" Target="../media/image4.svg"/></Relationships>
</file>

<file path=ppt/slides/_rels/slide22.xml.rels><?xml version="1.0" encoding="UTF-8" standalone="yes"?>
<Relationships xmlns="http://schemas.openxmlformats.org/package/2006/relationships"><Relationship Id="rId3" Type="http://schemas.openxmlformats.org/officeDocument/2006/relationships/image" Target="../media/image31.svg"/><Relationship Id="rId2" Type="http://schemas.openxmlformats.org/officeDocument/2006/relationships/image" Target="../media/image9.svg"/><Relationship Id="rId1" Type="http://schemas.openxmlformats.org/officeDocument/2006/relationships/slideLayout" Target="../slideLayouts/slideLayout7.xml"/><Relationship Id="rId4" Type="http://schemas.openxmlformats.org/officeDocument/2006/relationships/image" Target="../media/image32.sv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9DDA3B29-88EC-09AA-F481-517D53904F86}"/>
              </a:ext>
            </a:extLst>
          </p:cNvPr>
          <p:cNvSpPr/>
          <p:nvPr/>
        </p:nvSpPr>
        <p:spPr>
          <a:xfrm>
            <a:off x="609600" y="838200"/>
            <a:ext cx="609600" cy="63500"/>
          </a:xfrm>
          <a:prstGeom prst="rect">
            <a:avLst/>
          </a:prstGeom>
          <a:solidFill>
            <a:srgbClr val="0284C7"/>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a:extLst>
              <a:ext uri="{FF2B5EF4-FFF2-40B4-BE49-F238E27FC236}">
                <a16:creationId xmlns:a16="http://schemas.microsoft.com/office/drawing/2014/main" id="{5CF0C220-2A75-F1E4-F606-E03D79799A06}"/>
              </a:ext>
            </a:extLst>
          </p:cNvPr>
          <p:cNvSpPr txBox="1"/>
          <p:nvPr/>
        </p:nvSpPr>
        <p:spPr>
          <a:xfrm>
            <a:off x="609600" y="1041400"/>
            <a:ext cx="5266944" cy="276999"/>
          </a:xfrm>
          <a:prstGeom prst="rect">
            <a:avLst/>
          </a:prstGeom>
          <a:noFill/>
        </p:spPr>
        <p:txBody>
          <a:bodyPr vert="horz" rtlCol="0">
            <a:spAutoFit/>
          </a:bodyPr>
          <a:lstStyle/>
          <a:p>
            <a:r>
              <a:rPr lang="vi-VN" sz="1200" b="1">
                <a:solidFill>
                  <a:srgbClr val="059669"/>
                </a:solidFill>
                <a:latin typeface="Segoe UI" panose="020B0502040204020203" pitchFamily="34" charset="0"/>
              </a:rPr>
              <a:t>CHƯƠNG TRÌNH ĐÀO TẠO DÂN SỐ HỌC  •  TỔNG QUAN CHUYÊN ĐỀ</a:t>
            </a:r>
            <a:endParaRPr lang="en-US" sz="1200" b="1">
              <a:solidFill>
                <a:srgbClr val="059669"/>
              </a:solidFill>
              <a:latin typeface="Segoe UI" panose="020B0502040204020203" pitchFamily="34" charset="0"/>
            </a:endParaRPr>
          </a:p>
        </p:txBody>
      </p:sp>
      <p:sp>
        <p:nvSpPr>
          <p:cNvPr id="4" name="TextBox 3">
            <a:extLst>
              <a:ext uri="{FF2B5EF4-FFF2-40B4-BE49-F238E27FC236}">
                <a16:creationId xmlns:a16="http://schemas.microsoft.com/office/drawing/2014/main" id="{0A9360F9-8D25-B227-72B1-ED96597FA639}"/>
              </a:ext>
            </a:extLst>
          </p:cNvPr>
          <p:cNvSpPr txBox="1"/>
          <p:nvPr/>
        </p:nvSpPr>
        <p:spPr>
          <a:xfrm>
            <a:off x="609600" y="1447800"/>
            <a:ext cx="5266944" cy="1138773"/>
          </a:xfrm>
          <a:prstGeom prst="rect">
            <a:avLst/>
          </a:prstGeom>
          <a:noFill/>
        </p:spPr>
        <p:txBody>
          <a:bodyPr vert="horz" wrap="square" lIns="0" rtlCol="0">
            <a:spAutoFit/>
          </a:bodyPr>
          <a:lstStyle/>
          <a:p>
            <a:r>
              <a:rPr lang="en-US" sz="3400" b="1">
                <a:solidFill>
                  <a:srgbClr val="0F172A"/>
                </a:solidFill>
                <a:latin typeface="Segoe UI" panose="020B0502040204020203" pitchFamily="34" charset="0"/>
              </a:rPr>
              <a:t>BÀI 3: BIẾN ĐỘNG TỰ NHIÊN DÂN SỐ</a:t>
            </a:r>
          </a:p>
        </p:txBody>
      </p:sp>
      <p:sp>
        <p:nvSpPr>
          <p:cNvPr id="5" name="TextBox 4">
            <a:extLst>
              <a:ext uri="{FF2B5EF4-FFF2-40B4-BE49-F238E27FC236}">
                <a16:creationId xmlns:a16="http://schemas.microsoft.com/office/drawing/2014/main" id="{2A909BCD-6AC6-D5C8-7685-D20F164F73F4}"/>
              </a:ext>
            </a:extLst>
          </p:cNvPr>
          <p:cNvSpPr txBox="1"/>
          <p:nvPr/>
        </p:nvSpPr>
        <p:spPr>
          <a:xfrm>
            <a:off x="609600" y="3187700"/>
            <a:ext cx="5266944" cy="584775"/>
          </a:xfrm>
          <a:prstGeom prst="rect">
            <a:avLst/>
          </a:prstGeom>
          <a:noFill/>
        </p:spPr>
        <p:txBody>
          <a:bodyPr vert="horz" wrap="square" lIns="0" rtlCol="0">
            <a:spAutoFit/>
          </a:bodyPr>
          <a:lstStyle/>
          <a:p>
            <a:r>
              <a:rPr lang="vi-VN" sz="1600">
                <a:solidFill>
                  <a:srgbClr val="475569"/>
                </a:solidFill>
                <a:latin typeface="Segoe UI" panose="020B0502040204020203" pitchFamily="34" charset="0"/>
              </a:rPr>
              <a:t>Khung lý thuyết và phương pháp đo lường mức sinh, mức chết, bảng sống và mô hình chuyển tiếp dân số.</a:t>
            </a:r>
            <a:endParaRPr lang="en-US" sz="1600">
              <a:solidFill>
                <a:srgbClr val="475569"/>
              </a:solidFill>
              <a:latin typeface="Segoe UI" panose="020B0502040204020203" pitchFamily="34" charset="0"/>
            </a:endParaRPr>
          </a:p>
        </p:txBody>
      </p:sp>
      <p:pic>
        <p:nvPicPr>
          <p:cNvPr id="7" name="Picture 6">
            <a:extLst>
              <a:ext uri="{FF2B5EF4-FFF2-40B4-BE49-F238E27FC236}">
                <a16:creationId xmlns:a16="http://schemas.microsoft.com/office/drawing/2014/main" id="{131A42C4-22BA-F978-0C46-36E7D0869386}"/>
              </a:ext>
            </a:extLst>
          </p:cNvPr>
          <p:cNvPicPr>
            <a:picLocks/>
          </p:cNvPicPr>
          <p:nvPr/>
        </p:nvPicPr>
        <p:blipFill>
          <a:blip r:embed="rId2">
            <a:extLst>
              <a:ext uri="{28A0092B-C50C-407E-A947-70E740481C1C}">
                <a14:useLocalDpi xmlns:a14="http://schemas.microsoft.com/office/drawing/2010/main" val="0"/>
              </a:ext>
            </a:extLst>
          </a:blip>
          <a:stretch>
            <a:fillRect/>
          </a:stretch>
        </p:blipFill>
        <p:spPr>
          <a:xfrm>
            <a:off x="6181344" y="1333500"/>
            <a:ext cx="5401056" cy="3014980"/>
          </a:xfrm>
          <a:prstGeom prst="roundRect">
            <a:avLst/>
          </a:prstGeom>
          <a:ln w="19050">
            <a:solidFill>
              <a:srgbClr val="0284C7"/>
            </a:solidFill>
          </a:ln>
        </p:spPr>
      </p:pic>
    </p:spTree>
    <p:extLst>
      <p:ext uri="{BB962C8B-B14F-4D97-AF65-F5344CB8AC3E}">
        <p14:creationId xmlns:p14="http://schemas.microsoft.com/office/powerpoint/2010/main" val="2316498935"/>
      </p:ext>
    </p:extLst>
  </p:cSld>
  <p:clrMapOvr>
    <a:masterClrMapping/>
  </p:clrMapOvr>
  <mc:AlternateContent xmlns:mc="http://schemas.openxmlformats.org/markup-compatibility/2006">
    <mc:Choice xmlns:p14="http://schemas.microsoft.com/office/powerpoint/2010/main" Requires="p14">
      <p:transition spd="med" p14:dur="6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accel="50000" decel="50000" fill="hold" nodeType="with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6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a:xfrm>
          <a:off x="0" y="0"/>
          <a:ext cx="0" cy="0"/>
          <a:chOff x="0" y="0"/>
          <a:chExt cx="0" cy="0"/>
        </a:xfrm>
      </p:grpSpPr>
      <p:sp>
        <p:nvSpPr>
          <p:cNvPr id="2" name="!!Anchor_Kicker_Rail">
            <a:extLst>
              <a:ext uri="{FF2B5EF4-FFF2-40B4-BE49-F238E27FC236}">
                <a16:creationId xmlns:a16="http://schemas.microsoft.com/office/drawing/2014/main" id="{146023C8-B642-4B04-5CD8-FDFF2885D21B}"/>
              </a:ext>
            </a:extLst>
          </p:cNvPr>
          <p:cNvSpPr txBox="1"/>
          <p:nvPr/>
        </p:nvSpPr>
        <p:spPr>
          <a:xfrm>
            <a:off x="609600" y="457200"/>
            <a:ext cx="9956800" cy="276999"/>
          </a:xfrm>
          <a:prstGeom prst="rect">
            <a:avLst/>
          </a:prstGeom>
          <a:noFill/>
        </p:spPr>
        <p:txBody>
          <a:bodyPr vert="horz" rtlCol="0">
            <a:spAutoFit/>
          </a:bodyPr>
          <a:lstStyle/>
          <a:p>
            <a:r>
              <a:rPr lang="en-US" sz="1200" b="1">
                <a:solidFill>
                  <a:srgbClr val="0284C7"/>
                </a:solidFill>
                <a:latin typeface="Segoe UI" panose="020B0502040204020203" pitchFamily="34" charset="0"/>
              </a:rPr>
              <a:t>MỤC TIÊU BÀI HỌC  •  TRỌNG TÂM</a:t>
            </a:r>
          </a:p>
        </p:txBody>
      </p:sp>
      <p:sp>
        <p:nvSpPr>
          <p:cNvPr id="3" name="!!Anchor_Slide_Tracker">
            <a:extLst>
              <a:ext uri="{FF2B5EF4-FFF2-40B4-BE49-F238E27FC236}">
                <a16:creationId xmlns:a16="http://schemas.microsoft.com/office/drawing/2014/main" id="{BF26447F-57F2-46FD-6F54-4B46E6BA8357}"/>
              </a:ext>
            </a:extLst>
          </p:cNvPr>
          <p:cNvSpPr txBox="1"/>
          <p:nvPr/>
        </p:nvSpPr>
        <p:spPr>
          <a:xfrm>
            <a:off x="10820400" y="457200"/>
            <a:ext cx="762000" cy="276999"/>
          </a:xfrm>
          <a:prstGeom prst="rect">
            <a:avLst/>
          </a:prstGeom>
          <a:noFill/>
        </p:spPr>
        <p:txBody>
          <a:bodyPr vert="horz" rtlCol="0">
            <a:spAutoFit/>
          </a:bodyPr>
          <a:lstStyle/>
          <a:p>
            <a:pPr algn="r"/>
            <a:r>
              <a:rPr lang="en-US" sz="1200" b="1">
                <a:solidFill>
                  <a:srgbClr val="334155"/>
                </a:solidFill>
                <a:latin typeface="Bahnschrift" panose="020B0502040204020203" pitchFamily="34" charset="0"/>
              </a:rPr>
              <a:t>02 / 22</a:t>
            </a:r>
          </a:p>
        </p:txBody>
      </p:sp>
      <p:sp>
        <p:nvSpPr>
          <p:cNvPr id="4" name="!!Anchor_Assertion_Title">
            <a:extLst>
              <a:ext uri="{FF2B5EF4-FFF2-40B4-BE49-F238E27FC236}">
                <a16:creationId xmlns:a16="http://schemas.microsoft.com/office/drawing/2014/main" id="{9CB96A8F-D828-A226-6EFC-EC2F4C5F1921}"/>
              </a:ext>
            </a:extLst>
          </p:cNvPr>
          <p:cNvSpPr txBox="1"/>
          <p:nvPr/>
        </p:nvSpPr>
        <p:spPr>
          <a:xfrm>
            <a:off x="609600" y="711200"/>
            <a:ext cx="10972800" cy="369332"/>
          </a:xfrm>
          <a:prstGeom prst="rect">
            <a:avLst/>
          </a:prstGeom>
          <a:noFill/>
        </p:spPr>
        <p:txBody>
          <a:bodyPr vert="horz" wrap="square" tIns="0" bIns="0" rtlCol="0">
            <a:spAutoFit/>
          </a:bodyPr>
          <a:lstStyle/>
          <a:p>
            <a:r>
              <a:rPr lang="vi-VN" sz="2400" b="1">
                <a:solidFill>
                  <a:srgbClr val="0F172A"/>
                </a:solidFill>
                <a:latin typeface="Segoe UI" panose="020B0502040204020203" pitchFamily="34" charset="0"/>
              </a:rPr>
              <a:t>Năng Lực Làm Chủ Các Chỉ Báo Đo Lường Mức Sinh Và Mức Chết</a:t>
            </a:r>
            <a:endParaRPr lang="en-US" sz="2400" b="1">
              <a:solidFill>
                <a:srgbClr val="0F172A"/>
              </a:solidFill>
              <a:latin typeface="Segoe UI" panose="020B0502040204020203" pitchFamily="34" charset="0"/>
            </a:endParaRPr>
          </a:p>
        </p:txBody>
      </p:sp>
      <p:grpSp>
        <p:nvGrpSpPr>
          <p:cNvPr id="11" name="!!Stage_Hero_Container">
            <a:extLst>
              <a:ext uri="{FF2B5EF4-FFF2-40B4-BE49-F238E27FC236}">
                <a16:creationId xmlns:a16="http://schemas.microsoft.com/office/drawing/2014/main" id="{553C7700-81B6-F6AE-E5E4-05A9FC4D2860}"/>
              </a:ext>
            </a:extLst>
          </p:cNvPr>
          <p:cNvGrpSpPr/>
          <p:nvPr/>
        </p:nvGrpSpPr>
        <p:grpSpPr>
          <a:xfrm>
            <a:off x="609600" y="1676400"/>
            <a:ext cx="6035040" cy="4521200"/>
            <a:chOff x="609600" y="1676400"/>
            <a:chExt cx="6035040" cy="4521200"/>
          </a:xfrm>
        </p:grpSpPr>
        <p:sp>
          <p:nvSpPr>
            <p:cNvPr id="5" name="Rectangle: Rounded Corners 4">
              <a:extLst>
                <a:ext uri="{FF2B5EF4-FFF2-40B4-BE49-F238E27FC236}">
                  <a16:creationId xmlns:a16="http://schemas.microsoft.com/office/drawing/2014/main" id="{02B9EFB9-6DE0-B033-0AA7-55A1B817BA6E}"/>
                </a:ext>
              </a:extLst>
            </p:cNvPr>
            <p:cNvSpPr/>
            <p:nvPr/>
          </p:nvSpPr>
          <p:spPr>
            <a:xfrm>
              <a:off x="609600" y="1676400"/>
              <a:ext cx="6035040" cy="4521200"/>
            </a:xfrm>
            <a:prstGeom prst="roundRect">
              <a:avLst/>
            </a:prstGeom>
            <a:solidFill>
              <a:srgbClr val="FFFFFF"/>
            </a:solidFill>
            <a:ln w="25400">
              <a:solidFill>
                <a:srgbClr val="0284C7"/>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Rounded Corners 5">
              <a:extLst>
                <a:ext uri="{FF2B5EF4-FFF2-40B4-BE49-F238E27FC236}">
                  <a16:creationId xmlns:a16="http://schemas.microsoft.com/office/drawing/2014/main" id="{9EB1DCFD-677A-E73A-379E-2E265DC3C082}"/>
                </a:ext>
              </a:extLst>
            </p:cNvPr>
            <p:cNvSpPr/>
            <p:nvPr/>
          </p:nvSpPr>
          <p:spPr>
            <a:xfrm>
              <a:off x="863600" y="1905000"/>
              <a:ext cx="1524000" cy="279400"/>
            </a:xfrm>
            <a:prstGeom prst="roundRect">
              <a:avLst/>
            </a:prstGeom>
            <a:solidFill>
              <a:srgbClr val="E0F2FE"/>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b="1">
                  <a:solidFill>
                    <a:srgbClr val="0284C7"/>
                  </a:solidFill>
                  <a:latin typeface="Segoe UI" panose="020B0502040204020203" pitchFamily="34" charset="0"/>
                </a:rPr>
                <a:t>TRỌNG TÂM CỐT LÕI</a:t>
              </a:r>
            </a:p>
          </p:txBody>
        </p:sp>
        <p:sp>
          <p:nvSpPr>
            <p:cNvPr id="7" name="Oval 6">
              <a:extLst>
                <a:ext uri="{FF2B5EF4-FFF2-40B4-BE49-F238E27FC236}">
                  <a16:creationId xmlns:a16="http://schemas.microsoft.com/office/drawing/2014/main" id="{3F4E96C4-E1FA-4B58-9D16-9920B37CEB88}"/>
                </a:ext>
              </a:extLst>
            </p:cNvPr>
            <p:cNvSpPr/>
            <p:nvPr/>
          </p:nvSpPr>
          <p:spPr>
            <a:xfrm>
              <a:off x="863600" y="2286000"/>
              <a:ext cx="482600" cy="482600"/>
            </a:xfrm>
            <a:prstGeom prst="ellipse">
              <a:avLst/>
            </a:prstGeom>
            <a:solidFill>
              <a:srgbClr val="E0F2FE"/>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9" name="Graphic 8">
              <a:extLst>
                <a:ext uri="{FF2B5EF4-FFF2-40B4-BE49-F238E27FC236}">
                  <a16:creationId xmlns:a16="http://schemas.microsoft.com/office/drawing/2014/main" id="{1A63AD12-ACA7-8E2E-D6EB-43FB30FA0178}"/>
                </a:ext>
              </a:extLst>
            </p:cNvPr>
            <p:cNvPicPr>
              <a:picLocks/>
            </p:cNvPicPr>
            <p:nvPr/>
          </p:nvPicPr>
          <p:blipFill>
            <a:blip>
              <a:extLst>
                <a:ext uri="{96DAC541-7B7A-43D3-8B79-37D633B846F1}">
                  <asvg:svgBlip xmlns:asvg="http://schemas.microsoft.com/office/drawing/2016/SVG/main" r:embed="rId2"/>
                </a:ext>
              </a:extLst>
            </a:blip>
            <a:stretch>
              <a:fillRect/>
            </a:stretch>
          </p:blipFill>
          <p:spPr>
            <a:xfrm>
              <a:off x="939800" y="2362200"/>
              <a:ext cx="330200" cy="330200"/>
            </a:xfrm>
            <a:prstGeom prst="rect">
              <a:avLst/>
            </a:prstGeom>
          </p:spPr>
        </p:pic>
        <p:sp>
          <p:nvSpPr>
            <p:cNvPr id="10" name="TextBox 9">
              <a:extLst>
                <a:ext uri="{FF2B5EF4-FFF2-40B4-BE49-F238E27FC236}">
                  <a16:creationId xmlns:a16="http://schemas.microsoft.com/office/drawing/2014/main" id="{816E7403-9497-1145-1CAA-61B237DA872B}"/>
                </a:ext>
              </a:extLst>
            </p:cNvPr>
            <p:cNvSpPr txBox="1"/>
            <p:nvPr/>
          </p:nvSpPr>
          <p:spPr>
            <a:xfrm>
              <a:off x="863600" y="2870200"/>
              <a:ext cx="5527040" cy="1189365"/>
            </a:xfrm>
            <a:prstGeom prst="rect">
              <a:avLst/>
            </a:prstGeom>
            <a:noFill/>
          </p:spPr>
          <p:txBody>
            <a:bodyPr vert="horz" wrap="square" lIns="0" rtlCol="0">
              <a:spAutoFit/>
            </a:bodyPr>
            <a:lstStyle/>
            <a:p>
              <a:pPr>
                <a:lnSpc>
                  <a:spcPct val="130000"/>
                </a:lnSpc>
                <a:spcAft>
                  <a:spcPts val="1000"/>
                </a:spcAft>
              </a:pPr>
              <a:r>
                <a:rPr lang="vi-VN" sz="2000" b="1">
                  <a:solidFill>
                    <a:srgbClr val="0F172A"/>
                  </a:solidFill>
                  <a:latin typeface="Segoe UI" panose="020B0502040204020203" pitchFamily="34" charset="0"/>
                </a:rPr>
                <a:t>Hệ Thống Thước Đo Mức Sinh
</a:t>
              </a:r>
              <a:r>
                <a:rPr lang="vi-VN" sz="1500" b="1">
                  <a:solidFill>
                    <a:srgbClr val="334155"/>
                  </a:solidFill>
                  <a:latin typeface="Segoe UI" panose="020B0502040204020203" pitchFamily="34" charset="0"/>
                </a:rPr>
                <a:t>Tính toán và phân tích chuyên sâu tỷ suất sinh thô (CBR), tỷ suất sinh chung (GFR), ASFR và tổng tỷ suất sinh (TFR).</a:t>
              </a:r>
              <a:endParaRPr lang="en-US" sz="1500" b="1">
                <a:solidFill>
                  <a:srgbClr val="334155"/>
                </a:solidFill>
                <a:latin typeface="Segoe UI" panose="020B0502040204020203" pitchFamily="34" charset="0"/>
              </a:endParaRPr>
            </a:p>
          </p:txBody>
        </p:sp>
      </p:grpSp>
      <p:grpSp>
        <p:nvGrpSpPr>
          <p:cNvPr id="18" name="!!Stage_Sub_Card_1">
            <a:extLst>
              <a:ext uri="{FF2B5EF4-FFF2-40B4-BE49-F238E27FC236}">
                <a16:creationId xmlns:a16="http://schemas.microsoft.com/office/drawing/2014/main" id="{C4BC6B4B-3625-CBDF-C565-120DFDCEA3CF}"/>
              </a:ext>
            </a:extLst>
          </p:cNvPr>
          <p:cNvGrpSpPr/>
          <p:nvPr/>
        </p:nvGrpSpPr>
        <p:grpSpPr>
          <a:xfrm>
            <a:off x="6873240" y="1676400"/>
            <a:ext cx="4709160" cy="2171700"/>
            <a:chOff x="6873240" y="1676400"/>
            <a:chExt cx="4709160" cy="2171700"/>
          </a:xfrm>
        </p:grpSpPr>
        <p:sp>
          <p:nvSpPr>
            <p:cNvPr id="12" name="Rectangle: Rounded Corners 11">
              <a:extLst>
                <a:ext uri="{FF2B5EF4-FFF2-40B4-BE49-F238E27FC236}">
                  <a16:creationId xmlns:a16="http://schemas.microsoft.com/office/drawing/2014/main" id="{5C10A77C-4173-6FCC-EA52-440CAF320703}"/>
                </a:ext>
              </a:extLst>
            </p:cNvPr>
            <p:cNvSpPr/>
            <p:nvPr/>
          </p:nvSpPr>
          <p:spPr>
            <a:xfrm>
              <a:off x="6873240" y="1676400"/>
              <a:ext cx="4709160" cy="2171700"/>
            </a:xfrm>
            <a:prstGeom prst="roundRect">
              <a:avLst/>
            </a:prstGeom>
            <a:solidFill>
              <a:srgbClr val="FFFFFF"/>
            </a:solidFill>
            <a:ln>
              <a:solidFill>
                <a:srgbClr val="CBD5E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Rounded Corners 12">
              <a:extLst>
                <a:ext uri="{FF2B5EF4-FFF2-40B4-BE49-F238E27FC236}">
                  <a16:creationId xmlns:a16="http://schemas.microsoft.com/office/drawing/2014/main" id="{5D6B4AE2-6EDD-06CB-F732-6B2D01D21810}"/>
                </a:ext>
              </a:extLst>
            </p:cNvPr>
            <p:cNvSpPr/>
            <p:nvPr/>
          </p:nvSpPr>
          <p:spPr>
            <a:xfrm>
              <a:off x="7076440" y="1854200"/>
              <a:ext cx="1079500" cy="254000"/>
            </a:xfrm>
            <a:prstGeom prst="roundRect">
              <a:avLst/>
            </a:prstGeom>
            <a:solidFill>
              <a:srgbClr val="E0F2FE"/>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900" b="1">
                  <a:solidFill>
                    <a:srgbClr val="0284C7"/>
                  </a:solidFill>
                  <a:latin typeface="Segoe UI" panose="020B0502040204020203" pitchFamily="34" charset="0"/>
                </a:rPr>
                <a:t>MỤC TIÊU 01</a:t>
              </a:r>
            </a:p>
          </p:txBody>
        </p:sp>
        <p:sp>
          <p:nvSpPr>
            <p:cNvPr id="14" name="Oval 13">
              <a:extLst>
                <a:ext uri="{FF2B5EF4-FFF2-40B4-BE49-F238E27FC236}">
                  <a16:creationId xmlns:a16="http://schemas.microsoft.com/office/drawing/2014/main" id="{DB7AEFE3-4282-D011-C652-1D0BB3A69784}"/>
                </a:ext>
              </a:extLst>
            </p:cNvPr>
            <p:cNvSpPr/>
            <p:nvPr/>
          </p:nvSpPr>
          <p:spPr>
            <a:xfrm>
              <a:off x="7076440" y="2184400"/>
              <a:ext cx="406400" cy="406400"/>
            </a:xfrm>
            <a:prstGeom prst="ellipse">
              <a:avLst/>
            </a:prstGeom>
            <a:solidFill>
              <a:srgbClr val="E0F2FE"/>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6" name="Graphic 15">
              <a:extLst>
                <a:ext uri="{FF2B5EF4-FFF2-40B4-BE49-F238E27FC236}">
                  <a16:creationId xmlns:a16="http://schemas.microsoft.com/office/drawing/2014/main" id="{6925FC39-C286-27D2-779C-2CBC52F53A03}"/>
                </a:ext>
              </a:extLst>
            </p:cNvPr>
            <p:cNvPicPr>
              <a:picLocks/>
            </p:cNvPicPr>
            <p:nvPr/>
          </p:nvPicPr>
          <p:blipFill>
            <a:blip>
              <a:extLst>
                <a:ext uri="{96DAC541-7B7A-43D3-8B79-37D633B846F1}">
                  <asvg:svgBlip xmlns:asvg="http://schemas.microsoft.com/office/drawing/2016/SVG/main" r:embed="rId3"/>
                </a:ext>
              </a:extLst>
            </a:blip>
            <a:stretch>
              <a:fillRect/>
            </a:stretch>
          </p:blipFill>
          <p:spPr>
            <a:xfrm>
              <a:off x="7139940" y="2247900"/>
              <a:ext cx="279400" cy="279400"/>
            </a:xfrm>
            <a:prstGeom prst="rect">
              <a:avLst/>
            </a:prstGeom>
          </p:spPr>
        </p:pic>
        <p:sp>
          <p:nvSpPr>
            <p:cNvPr id="17" name="TextBox 16">
              <a:extLst>
                <a:ext uri="{FF2B5EF4-FFF2-40B4-BE49-F238E27FC236}">
                  <a16:creationId xmlns:a16="http://schemas.microsoft.com/office/drawing/2014/main" id="{AE0625AD-004B-7F76-1D21-BB61CBB46040}"/>
                </a:ext>
              </a:extLst>
            </p:cNvPr>
            <p:cNvSpPr txBox="1"/>
            <p:nvPr/>
          </p:nvSpPr>
          <p:spPr>
            <a:xfrm>
              <a:off x="7609840" y="2108200"/>
              <a:ext cx="3820160" cy="990015"/>
            </a:xfrm>
            <a:prstGeom prst="rect">
              <a:avLst/>
            </a:prstGeom>
            <a:noFill/>
          </p:spPr>
          <p:txBody>
            <a:bodyPr vert="horz" wrap="square" tIns="0" rtlCol="0">
              <a:spAutoFit/>
            </a:bodyPr>
            <a:lstStyle/>
            <a:p>
              <a:pPr>
                <a:spcAft>
                  <a:spcPts val="400"/>
                </a:spcAft>
              </a:pPr>
              <a:r>
                <a:rPr lang="vi-VN" sz="1600" b="1">
                  <a:solidFill>
                    <a:srgbClr val="0F172A"/>
                  </a:solidFill>
                  <a:latin typeface="Segoe UI" panose="020B0502040204020203" pitchFamily="34" charset="0"/>
                </a:rPr>
                <a:t>Hệ Thống Thước Đo Mức Chết
</a:t>
              </a:r>
              <a:r>
                <a:rPr lang="vi-VN" sz="1400" b="1">
                  <a:solidFill>
                    <a:srgbClr val="334155"/>
                  </a:solidFill>
                  <a:latin typeface="Segoe UI" panose="020B0502040204020203" pitchFamily="34" charset="0"/>
                </a:rPr>
                <a:t>Làm chủ tỷ suất chết thô (CDR), tử vong trẻ sơ sinh (IMR), tử vong mẹ (MMR) và nguyên lý lập bảng sống (Life Table).</a:t>
              </a:r>
              <a:endParaRPr lang="en-US" sz="1400" b="1">
                <a:solidFill>
                  <a:srgbClr val="334155"/>
                </a:solidFill>
                <a:latin typeface="Segoe UI" panose="020B0502040204020203" pitchFamily="34" charset="0"/>
              </a:endParaRPr>
            </a:p>
          </p:txBody>
        </p:sp>
      </p:grpSp>
      <p:grpSp>
        <p:nvGrpSpPr>
          <p:cNvPr id="25" name="!!Stage_Sub_Card_2">
            <a:extLst>
              <a:ext uri="{FF2B5EF4-FFF2-40B4-BE49-F238E27FC236}">
                <a16:creationId xmlns:a16="http://schemas.microsoft.com/office/drawing/2014/main" id="{074EBAF1-9FC9-8361-9331-2F2FAF6A5FDF}"/>
              </a:ext>
            </a:extLst>
          </p:cNvPr>
          <p:cNvGrpSpPr/>
          <p:nvPr/>
        </p:nvGrpSpPr>
        <p:grpSpPr>
          <a:xfrm>
            <a:off x="6873240" y="4025900"/>
            <a:ext cx="4709160" cy="2171700"/>
            <a:chOff x="6873240" y="4025900"/>
            <a:chExt cx="4709160" cy="2171700"/>
          </a:xfrm>
        </p:grpSpPr>
        <p:sp>
          <p:nvSpPr>
            <p:cNvPr id="19" name="Rectangle: Rounded Corners 18">
              <a:extLst>
                <a:ext uri="{FF2B5EF4-FFF2-40B4-BE49-F238E27FC236}">
                  <a16:creationId xmlns:a16="http://schemas.microsoft.com/office/drawing/2014/main" id="{599E92FE-0D8B-A290-2DE5-7825DF85B449}"/>
                </a:ext>
              </a:extLst>
            </p:cNvPr>
            <p:cNvSpPr/>
            <p:nvPr/>
          </p:nvSpPr>
          <p:spPr>
            <a:xfrm>
              <a:off x="6873240" y="4025900"/>
              <a:ext cx="4709160" cy="2171700"/>
            </a:xfrm>
            <a:prstGeom prst="roundRect">
              <a:avLst/>
            </a:prstGeom>
            <a:solidFill>
              <a:srgbClr val="FFFFFF"/>
            </a:solidFill>
            <a:ln>
              <a:solidFill>
                <a:srgbClr val="CBD5E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Rectangle: Rounded Corners 19">
              <a:extLst>
                <a:ext uri="{FF2B5EF4-FFF2-40B4-BE49-F238E27FC236}">
                  <a16:creationId xmlns:a16="http://schemas.microsoft.com/office/drawing/2014/main" id="{D512B054-CA30-AF6A-4287-B4CFA422C52A}"/>
                </a:ext>
              </a:extLst>
            </p:cNvPr>
            <p:cNvSpPr/>
            <p:nvPr/>
          </p:nvSpPr>
          <p:spPr>
            <a:xfrm>
              <a:off x="7076440" y="4203700"/>
              <a:ext cx="1079500" cy="254000"/>
            </a:xfrm>
            <a:prstGeom prst="roundRect">
              <a:avLst/>
            </a:prstGeom>
            <a:solidFill>
              <a:srgbClr val="E0F2FE"/>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900" b="1">
                  <a:solidFill>
                    <a:srgbClr val="0284C7"/>
                  </a:solidFill>
                  <a:latin typeface="Segoe UI" panose="020B0502040204020203" pitchFamily="34" charset="0"/>
                </a:rPr>
                <a:t>MỤC TIÊU 02</a:t>
              </a:r>
            </a:p>
          </p:txBody>
        </p:sp>
        <p:sp>
          <p:nvSpPr>
            <p:cNvPr id="21" name="Oval 20">
              <a:extLst>
                <a:ext uri="{FF2B5EF4-FFF2-40B4-BE49-F238E27FC236}">
                  <a16:creationId xmlns:a16="http://schemas.microsoft.com/office/drawing/2014/main" id="{996DBCE7-0685-060F-827B-6CF8300257C8}"/>
                </a:ext>
              </a:extLst>
            </p:cNvPr>
            <p:cNvSpPr/>
            <p:nvPr/>
          </p:nvSpPr>
          <p:spPr>
            <a:xfrm>
              <a:off x="7076440" y="4533900"/>
              <a:ext cx="406400" cy="406400"/>
            </a:xfrm>
            <a:prstGeom prst="ellipse">
              <a:avLst/>
            </a:prstGeom>
            <a:solidFill>
              <a:srgbClr val="E0F2FE"/>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3" name="Graphic 22">
              <a:extLst>
                <a:ext uri="{FF2B5EF4-FFF2-40B4-BE49-F238E27FC236}">
                  <a16:creationId xmlns:a16="http://schemas.microsoft.com/office/drawing/2014/main" id="{81E63095-50CD-5655-0DE4-419E54A37BDB}"/>
                </a:ext>
              </a:extLst>
            </p:cNvPr>
            <p:cNvPicPr>
              <a:picLocks/>
            </p:cNvPicPr>
            <p:nvPr/>
          </p:nvPicPr>
          <p:blipFill>
            <a:blip>
              <a:extLst>
                <a:ext uri="{96DAC541-7B7A-43D3-8B79-37D633B846F1}">
                  <asvg:svgBlip xmlns:asvg="http://schemas.microsoft.com/office/drawing/2016/SVG/main" r:embed="rId4"/>
                </a:ext>
              </a:extLst>
            </a:blip>
            <a:stretch>
              <a:fillRect/>
            </a:stretch>
          </p:blipFill>
          <p:spPr>
            <a:xfrm>
              <a:off x="7139940" y="4597400"/>
              <a:ext cx="279400" cy="279400"/>
            </a:xfrm>
            <a:prstGeom prst="rect">
              <a:avLst/>
            </a:prstGeom>
          </p:spPr>
        </p:pic>
        <p:sp>
          <p:nvSpPr>
            <p:cNvPr id="24" name="TextBox 23">
              <a:extLst>
                <a:ext uri="{FF2B5EF4-FFF2-40B4-BE49-F238E27FC236}">
                  <a16:creationId xmlns:a16="http://schemas.microsoft.com/office/drawing/2014/main" id="{952B446E-8CB0-E921-A56E-3CD205269695}"/>
                </a:ext>
              </a:extLst>
            </p:cNvPr>
            <p:cNvSpPr txBox="1"/>
            <p:nvPr/>
          </p:nvSpPr>
          <p:spPr>
            <a:xfrm>
              <a:off x="7609840" y="4457700"/>
              <a:ext cx="3820160" cy="990015"/>
            </a:xfrm>
            <a:prstGeom prst="rect">
              <a:avLst/>
            </a:prstGeom>
            <a:noFill/>
          </p:spPr>
          <p:txBody>
            <a:bodyPr vert="horz" wrap="square" tIns="0" rtlCol="0">
              <a:spAutoFit/>
            </a:bodyPr>
            <a:lstStyle/>
            <a:p>
              <a:pPr>
                <a:spcAft>
                  <a:spcPts val="400"/>
                </a:spcAft>
              </a:pPr>
              <a:r>
                <a:rPr lang="en-US" sz="1600" b="1">
                  <a:solidFill>
                    <a:srgbClr val="0F172A"/>
                  </a:solidFill>
                  <a:latin typeface="Segoe UI" panose="020B0502040204020203" pitchFamily="34" charset="0"/>
                </a:rPr>
                <a:t>Mô Hình Chuyển Tiếp Dân Số
</a:t>
              </a:r>
              <a:r>
                <a:rPr lang="en-US" sz="1400" b="1">
                  <a:solidFill>
                    <a:srgbClr val="334155"/>
                  </a:solidFill>
                  <a:latin typeface="Segoe UI" panose="020B0502040204020203" pitchFamily="34" charset="0"/>
                </a:rPr>
                <a:t>Hiểu rõ 4 giai đoạn chuyển tiếp nhân khẩu học và vận dụng vào phân tích chính sách duy trì mức sinh thay thế ở Việt Nam.</a:t>
              </a:r>
            </a:p>
          </p:txBody>
        </p:sp>
      </p:grpSp>
      <p:sp>
        <p:nvSpPr>
          <p:cNvPr id="26" name="!!Anchor_Source_Footer">
            <a:extLst>
              <a:ext uri="{FF2B5EF4-FFF2-40B4-BE49-F238E27FC236}">
                <a16:creationId xmlns:a16="http://schemas.microsoft.com/office/drawing/2014/main" id="{05C0F1E1-0C3D-801B-370B-D6088028E2EB}"/>
              </a:ext>
            </a:extLst>
          </p:cNvPr>
          <p:cNvSpPr txBox="1"/>
          <p:nvPr/>
        </p:nvSpPr>
        <p:spPr>
          <a:xfrm>
            <a:off x="609600" y="6273800"/>
            <a:ext cx="10972800" cy="246221"/>
          </a:xfrm>
          <a:prstGeom prst="rect">
            <a:avLst/>
          </a:prstGeom>
          <a:noFill/>
        </p:spPr>
        <p:txBody>
          <a:bodyPr vert="horz" rtlCol="0">
            <a:spAutoFit/>
          </a:bodyPr>
          <a:lstStyle/>
          <a:p>
            <a:r>
              <a:rPr lang="en-US" sz="1000">
                <a:solidFill>
                  <a:srgbClr val="334155"/>
                </a:solidFill>
                <a:latin typeface="Segoe UI" panose="020B0502040204020203" pitchFamily="34" charset="0"/>
              </a:rPr>
              <a:t>Khung chuẩn đầu ra chuyên đề</a:t>
            </a:r>
          </a:p>
        </p:txBody>
      </p:sp>
    </p:spTree>
    <p:extLst>
      <p:ext uri="{BB962C8B-B14F-4D97-AF65-F5344CB8AC3E}">
        <p14:creationId xmlns:p14="http://schemas.microsoft.com/office/powerpoint/2010/main" val="1285179107"/>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850">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accel="50000" decel="50000" fill="hold" nodeType="clickEffect">
                                  <p:stCondLst>
                                    <p:cond delay="0"/>
                                  </p:stCondLst>
                                  <p:childTnLst>
                                    <p:set>
                                      <p:cBhvr>
                                        <p:cTn id="6" dur="1" fill="hold">
                                          <p:stCondLst>
                                            <p:cond delay="0"/>
                                          </p:stCondLst>
                                        </p:cTn>
                                        <p:tgtEl>
                                          <p:spTgt spid="18"/>
                                        </p:tgtEl>
                                        <p:attrNameLst>
                                          <p:attrName>style.visibility</p:attrName>
                                        </p:attrNameLst>
                                      </p:cBhvr>
                                      <p:to>
                                        <p:strVal val="visible"/>
                                      </p:to>
                                    </p:set>
                                    <p:anim calcmode="lin" valueType="num">
                                      <p:cBhvr additive="base">
                                        <p:cTn id="7" dur="450" fill="hold"/>
                                        <p:tgtEl>
                                          <p:spTgt spid="18"/>
                                        </p:tgtEl>
                                        <p:attrNameLst>
                                          <p:attrName>ppt_x</p:attrName>
                                        </p:attrNameLst>
                                      </p:cBhvr>
                                      <p:tavLst>
                                        <p:tav tm="0">
                                          <p:val>
                                            <p:strVal val="#ppt_x"/>
                                          </p:val>
                                        </p:tav>
                                        <p:tav tm="100000">
                                          <p:val>
                                            <p:strVal val="#ppt_x"/>
                                          </p:val>
                                        </p:tav>
                                      </p:tavLst>
                                    </p:anim>
                                    <p:anim calcmode="lin" valueType="num">
                                      <p:cBhvr additive="base">
                                        <p:cTn id="8" dur="450" fill="hold"/>
                                        <p:tgtEl>
                                          <p:spTgt spid="18"/>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accel="50000" decel="50000" fill="hold" nodeType="clickEffect">
                                  <p:stCondLst>
                                    <p:cond delay="0"/>
                                  </p:stCondLst>
                                  <p:childTnLst>
                                    <p:set>
                                      <p:cBhvr>
                                        <p:cTn id="12" dur="1" fill="hold">
                                          <p:stCondLst>
                                            <p:cond delay="0"/>
                                          </p:stCondLst>
                                        </p:cTn>
                                        <p:tgtEl>
                                          <p:spTgt spid="25"/>
                                        </p:tgtEl>
                                        <p:attrNameLst>
                                          <p:attrName>style.visibility</p:attrName>
                                        </p:attrNameLst>
                                      </p:cBhvr>
                                      <p:to>
                                        <p:strVal val="visible"/>
                                      </p:to>
                                    </p:set>
                                    <p:anim calcmode="lin" valueType="num">
                                      <p:cBhvr additive="base">
                                        <p:cTn id="13" dur="450" fill="hold"/>
                                        <p:tgtEl>
                                          <p:spTgt spid="25"/>
                                        </p:tgtEl>
                                        <p:attrNameLst>
                                          <p:attrName>ppt_x</p:attrName>
                                        </p:attrNameLst>
                                      </p:cBhvr>
                                      <p:tavLst>
                                        <p:tav tm="0">
                                          <p:val>
                                            <p:strVal val="#ppt_x"/>
                                          </p:val>
                                        </p:tav>
                                        <p:tav tm="100000">
                                          <p:val>
                                            <p:strVal val="#ppt_x"/>
                                          </p:val>
                                        </p:tav>
                                      </p:tavLst>
                                    </p:anim>
                                    <p:anim calcmode="lin" valueType="num">
                                      <p:cBhvr additive="base">
                                        <p:cTn id="14" dur="450" fill="hold"/>
                                        <p:tgtEl>
                                          <p:spTgt spid="2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a:xfrm>
          <a:off x="0" y="0"/>
          <a:ext cx="0" cy="0"/>
          <a:chOff x="0" y="0"/>
          <a:chExt cx="0" cy="0"/>
        </a:xfrm>
      </p:grpSpPr>
      <p:sp>
        <p:nvSpPr>
          <p:cNvPr id="2" name="!!Anchor_Kicker_Rail">
            <a:extLst>
              <a:ext uri="{FF2B5EF4-FFF2-40B4-BE49-F238E27FC236}">
                <a16:creationId xmlns:a16="http://schemas.microsoft.com/office/drawing/2014/main" id="{B7323F74-6B36-8258-63CA-E582DA23C69B}"/>
              </a:ext>
            </a:extLst>
          </p:cNvPr>
          <p:cNvSpPr txBox="1"/>
          <p:nvPr/>
        </p:nvSpPr>
        <p:spPr>
          <a:xfrm>
            <a:off x="609600" y="457200"/>
            <a:ext cx="9956800" cy="276999"/>
          </a:xfrm>
          <a:prstGeom prst="rect">
            <a:avLst/>
          </a:prstGeom>
          <a:noFill/>
        </p:spPr>
        <p:txBody>
          <a:bodyPr vert="horz" rtlCol="0">
            <a:spAutoFit/>
          </a:bodyPr>
          <a:lstStyle/>
          <a:p>
            <a:r>
              <a:rPr lang="en-US" sz="1200" b="1">
                <a:solidFill>
                  <a:srgbClr val="0284C7"/>
                </a:solidFill>
                <a:latin typeface="Segoe UI" panose="020B0502040204020203" pitchFamily="34" charset="0"/>
              </a:rPr>
              <a:t>KHÁI NIỆM MỨC SINH  •  TRỌNG TÂM</a:t>
            </a:r>
          </a:p>
        </p:txBody>
      </p:sp>
      <p:sp>
        <p:nvSpPr>
          <p:cNvPr id="3" name="!!Anchor_Slide_Tracker">
            <a:extLst>
              <a:ext uri="{FF2B5EF4-FFF2-40B4-BE49-F238E27FC236}">
                <a16:creationId xmlns:a16="http://schemas.microsoft.com/office/drawing/2014/main" id="{25D135C6-CD10-13BF-A991-9971FAD00C89}"/>
              </a:ext>
            </a:extLst>
          </p:cNvPr>
          <p:cNvSpPr txBox="1"/>
          <p:nvPr/>
        </p:nvSpPr>
        <p:spPr>
          <a:xfrm>
            <a:off x="10820400" y="457200"/>
            <a:ext cx="762000" cy="276999"/>
          </a:xfrm>
          <a:prstGeom prst="rect">
            <a:avLst/>
          </a:prstGeom>
          <a:noFill/>
        </p:spPr>
        <p:txBody>
          <a:bodyPr vert="horz" rtlCol="0">
            <a:spAutoFit/>
          </a:bodyPr>
          <a:lstStyle/>
          <a:p>
            <a:pPr algn="r"/>
            <a:r>
              <a:rPr lang="en-US" sz="1200" b="1">
                <a:solidFill>
                  <a:srgbClr val="334155"/>
                </a:solidFill>
                <a:latin typeface="Bahnschrift" panose="020B0502040204020203" pitchFamily="34" charset="0"/>
              </a:rPr>
              <a:t>03 / 22</a:t>
            </a:r>
          </a:p>
        </p:txBody>
      </p:sp>
      <p:sp>
        <p:nvSpPr>
          <p:cNvPr id="4" name="!!Anchor_Assertion_Title">
            <a:extLst>
              <a:ext uri="{FF2B5EF4-FFF2-40B4-BE49-F238E27FC236}">
                <a16:creationId xmlns:a16="http://schemas.microsoft.com/office/drawing/2014/main" id="{358E915A-100B-F617-0454-1C4CAD1F6D97}"/>
              </a:ext>
            </a:extLst>
          </p:cNvPr>
          <p:cNvSpPr txBox="1"/>
          <p:nvPr/>
        </p:nvSpPr>
        <p:spPr>
          <a:xfrm>
            <a:off x="609600" y="711200"/>
            <a:ext cx="10972800" cy="369332"/>
          </a:xfrm>
          <a:prstGeom prst="rect">
            <a:avLst/>
          </a:prstGeom>
          <a:noFill/>
        </p:spPr>
        <p:txBody>
          <a:bodyPr vert="horz" wrap="square" tIns="0" bIns="0" rtlCol="0">
            <a:spAutoFit/>
          </a:bodyPr>
          <a:lstStyle/>
          <a:p>
            <a:r>
              <a:rPr lang="en-US" sz="2400" b="1">
                <a:solidFill>
                  <a:srgbClr val="0F172A"/>
                </a:solidFill>
                <a:latin typeface="Segoe UI" panose="020B0502040204020203" pitchFamily="34" charset="0"/>
              </a:rPr>
              <a:t>Quá Trình Sinh Đẻ Và Bản Chất Khái Niệm Mức Sinh (Fertility)</a:t>
            </a:r>
          </a:p>
        </p:txBody>
      </p:sp>
      <p:grpSp>
        <p:nvGrpSpPr>
          <p:cNvPr id="12" name="!!Stage_Hero_Container">
            <a:extLst>
              <a:ext uri="{FF2B5EF4-FFF2-40B4-BE49-F238E27FC236}">
                <a16:creationId xmlns:a16="http://schemas.microsoft.com/office/drawing/2014/main" id="{B0C2C879-EA49-59B9-E59C-1077B77D0D65}"/>
              </a:ext>
            </a:extLst>
          </p:cNvPr>
          <p:cNvGrpSpPr/>
          <p:nvPr/>
        </p:nvGrpSpPr>
        <p:grpSpPr>
          <a:xfrm>
            <a:off x="609600" y="1676400"/>
            <a:ext cx="5376672" cy="4521200"/>
            <a:chOff x="609600" y="1676400"/>
            <a:chExt cx="5376672" cy="4521200"/>
          </a:xfrm>
        </p:grpSpPr>
        <p:pic>
          <p:nvPicPr>
            <p:cNvPr id="6" name="Picture 5">
              <a:extLst>
                <a:ext uri="{FF2B5EF4-FFF2-40B4-BE49-F238E27FC236}">
                  <a16:creationId xmlns:a16="http://schemas.microsoft.com/office/drawing/2014/main" id="{A8EE71AF-E7A5-6D32-1544-58A9E65075D0}"/>
                </a:ext>
              </a:extLst>
            </p:cNvPr>
            <p:cNvPicPr>
              <a:picLocks/>
            </p:cNvPicPr>
            <p:nvPr/>
          </p:nvPicPr>
          <p:blipFill>
            <a:blip r:embed="rId2">
              <a:extLst>
                <a:ext uri="{28A0092B-C50C-407E-A947-70E740481C1C}">
                  <a14:useLocalDpi xmlns:a14="http://schemas.microsoft.com/office/drawing/2010/main" val="0"/>
                </a:ext>
              </a:extLst>
            </a:blip>
            <a:stretch>
              <a:fillRect/>
            </a:stretch>
          </p:blipFill>
          <p:spPr>
            <a:xfrm>
              <a:off x="609600" y="1676400"/>
              <a:ext cx="5376672" cy="3001010"/>
            </a:xfrm>
            <a:prstGeom prst="roundRect">
              <a:avLst/>
            </a:prstGeom>
            <a:ln w="12700">
              <a:solidFill>
                <a:srgbClr val="CBD5E1"/>
              </a:solidFill>
            </a:ln>
          </p:spPr>
        </p:pic>
        <p:sp>
          <p:nvSpPr>
            <p:cNvPr id="7" name="Rectangle: Rounded Corners 6">
              <a:extLst>
                <a:ext uri="{FF2B5EF4-FFF2-40B4-BE49-F238E27FC236}">
                  <a16:creationId xmlns:a16="http://schemas.microsoft.com/office/drawing/2014/main" id="{A9463416-B55B-37D6-57B4-445EBCDF0F93}"/>
                </a:ext>
              </a:extLst>
            </p:cNvPr>
            <p:cNvSpPr/>
            <p:nvPr/>
          </p:nvSpPr>
          <p:spPr>
            <a:xfrm>
              <a:off x="609600" y="4829810"/>
              <a:ext cx="5376672" cy="1367790"/>
            </a:xfrm>
            <a:prstGeom prst="roundRect">
              <a:avLst/>
            </a:prstGeom>
            <a:solidFill>
              <a:srgbClr val="FFFFFF"/>
            </a:solidFill>
            <a:ln w="19050">
              <a:solidFill>
                <a:srgbClr val="0284C7"/>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Oval 7">
              <a:extLst>
                <a:ext uri="{FF2B5EF4-FFF2-40B4-BE49-F238E27FC236}">
                  <a16:creationId xmlns:a16="http://schemas.microsoft.com/office/drawing/2014/main" id="{9218C8D0-C6C4-2EB0-1A9A-348DA6B4F18B}"/>
                </a:ext>
              </a:extLst>
            </p:cNvPr>
            <p:cNvSpPr/>
            <p:nvPr/>
          </p:nvSpPr>
          <p:spPr>
            <a:xfrm>
              <a:off x="787400" y="5007610"/>
              <a:ext cx="355600" cy="355600"/>
            </a:xfrm>
            <a:prstGeom prst="ellipse">
              <a:avLst/>
            </a:prstGeom>
            <a:solidFill>
              <a:srgbClr val="E0F2FE"/>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0" name="Graphic 9">
              <a:extLst>
                <a:ext uri="{FF2B5EF4-FFF2-40B4-BE49-F238E27FC236}">
                  <a16:creationId xmlns:a16="http://schemas.microsoft.com/office/drawing/2014/main" id="{3C190627-3A46-DD18-9607-4E54B1C5ADEF}"/>
                </a:ext>
              </a:extLst>
            </p:cNvPr>
            <p:cNvPicPr>
              <a:picLocks/>
            </p:cNvPicPr>
            <p:nvPr/>
          </p:nvPicPr>
          <p:blipFill>
            <a:blip>
              <a:extLst>
                <a:ext uri="{96DAC541-7B7A-43D3-8B79-37D633B846F1}">
                  <asvg:svgBlip xmlns:asvg="http://schemas.microsoft.com/office/drawing/2016/SVG/main" r:embed="rId3"/>
                </a:ext>
              </a:extLst>
            </a:blip>
            <a:stretch>
              <a:fillRect/>
            </a:stretch>
          </p:blipFill>
          <p:spPr>
            <a:xfrm>
              <a:off x="850900" y="5071110"/>
              <a:ext cx="228600" cy="228600"/>
            </a:xfrm>
            <a:prstGeom prst="rect">
              <a:avLst/>
            </a:prstGeom>
          </p:spPr>
        </p:pic>
        <p:sp>
          <p:nvSpPr>
            <p:cNvPr id="11" name="TextBox 10">
              <a:extLst>
                <a:ext uri="{FF2B5EF4-FFF2-40B4-BE49-F238E27FC236}">
                  <a16:creationId xmlns:a16="http://schemas.microsoft.com/office/drawing/2014/main" id="{90E2C14A-14E2-3FF1-72E3-612864D2B79D}"/>
                </a:ext>
              </a:extLst>
            </p:cNvPr>
            <p:cNvSpPr txBox="1"/>
            <p:nvPr/>
          </p:nvSpPr>
          <p:spPr>
            <a:xfrm>
              <a:off x="1219200" y="4956810"/>
              <a:ext cx="4640072" cy="728020"/>
            </a:xfrm>
            <a:prstGeom prst="rect">
              <a:avLst/>
            </a:prstGeom>
            <a:noFill/>
          </p:spPr>
          <p:txBody>
            <a:bodyPr vert="horz" wrap="square" lIns="0" tIns="0" rtlCol="0">
              <a:spAutoFit/>
            </a:bodyPr>
            <a:lstStyle/>
            <a:p>
              <a:pPr>
                <a:lnSpc>
                  <a:spcPct val="120000"/>
                </a:lnSpc>
                <a:spcAft>
                  <a:spcPts val="300"/>
                </a:spcAft>
              </a:pPr>
              <a:r>
                <a:rPr lang="en-US" sz="1100" b="1">
                  <a:solidFill>
                    <a:srgbClr val="0284C7"/>
                  </a:solidFill>
                  <a:latin typeface="Segoe UI" panose="020B0502040204020203" pitchFamily="34" charset="0"/>
                </a:rPr>
                <a:t>THÔNG ĐIỆP CỐT LÕI
</a:t>
              </a:r>
              <a:r>
                <a:rPr lang="en-US" sz="1250" b="1">
                  <a:solidFill>
                    <a:srgbClr val="0F172A"/>
                  </a:solidFill>
                  <a:latin typeface="Segoe UI" panose="020B0502040204020203" pitchFamily="34" charset="0"/>
                </a:rPr>
                <a:t>Mức sinh phản ánh kết quả thực tế của quá trình sinh đẻ của quần thể dân số trong một khoảng thời gian xác định.</a:t>
              </a:r>
            </a:p>
          </p:txBody>
        </p:sp>
      </p:grpSp>
      <p:grpSp>
        <p:nvGrpSpPr>
          <p:cNvPr id="18" name="!!Stage_Sub_Card_1">
            <a:extLst>
              <a:ext uri="{FF2B5EF4-FFF2-40B4-BE49-F238E27FC236}">
                <a16:creationId xmlns:a16="http://schemas.microsoft.com/office/drawing/2014/main" id="{697B4614-00FC-E334-6917-98FFC351E012}"/>
              </a:ext>
            </a:extLst>
          </p:cNvPr>
          <p:cNvGrpSpPr/>
          <p:nvPr/>
        </p:nvGrpSpPr>
        <p:grpSpPr>
          <a:xfrm>
            <a:off x="6214872" y="1676400"/>
            <a:ext cx="5367528" cy="2184400"/>
            <a:chOff x="6214872" y="1676400"/>
            <a:chExt cx="5367528" cy="2184400"/>
          </a:xfrm>
        </p:grpSpPr>
        <p:sp>
          <p:nvSpPr>
            <p:cNvPr id="13" name="Rectangle: Rounded Corners 12">
              <a:extLst>
                <a:ext uri="{FF2B5EF4-FFF2-40B4-BE49-F238E27FC236}">
                  <a16:creationId xmlns:a16="http://schemas.microsoft.com/office/drawing/2014/main" id="{912D372B-38DC-5308-D284-AE92C2AFDEF3}"/>
                </a:ext>
              </a:extLst>
            </p:cNvPr>
            <p:cNvSpPr/>
            <p:nvPr/>
          </p:nvSpPr>
          <p:spPr>
            <a:xfrm>
              <a:off x="6214872" y="1676400"/>
              <a:ext cx="5367528" cy="2184400"/>
            </a:xfrm>
            <a:prstGeom prst="roundRect">
              <a:avLst/>
            </a:prstGeom>
            <a:solidFill>
              <a:srgbClr val="FFFFFF"/>
            </a:solidFill>
            <a:ln w="19050">
              <a:solidFill>
                <a:srgbClr val="0284C7"/>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Oval 13">
              <a:extLst>
                <a:ext uri="{FF2B5EF4-FFF2-40B4-BE49-F238E27FC236}">
                  <a16:creationId xmlns:a16="http://schemas.microsoft.com/office/drawing/2014/main" id="{E1FCBA4B-DEDA-909D-026C-88CCF61BA23C}"/>
                </a:ext>
              </a:extLst>
            </p:cNvPr>
            <p:cNvSpPr/>
            <p:nvPr/>
          </p:nvSpPr>
          <p:spPr>
            <a:xfrm>
              <a:off x="6392672" y="1854200"/>
              <a:ext cx="381000" cy="381000"/>
            </a:xfrm>
            <a:prstGeom prst="ellipse">
              <a:avLst/>
            </a:prstGeom>
            <a:solidFill>
              <a:srgbClr val="E0F2FE"/>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6" name="Graphic 15">
              <a:extLst>
                <a:ext uri="{FF2B5EF4-FFF2-40B4-BE49-F238E27FC236}">
                  <a16:creationId xmlns:a16="http://schemas.microsoft.com/office/drawing/2014/main" id="{555D0188-2925-49D9-09EA-DF10D3541A5B}"/>
                </a:ext>
              </a:extLst>
            </p:cNvPr>
            <p:cNvPicPr>
              <a:picLocks/>
            </p:cNvPicPr>
            <p:nvPr/>
          </p:nvPicPr>
          <p:blipFill>
            <a:blip>
              <a:extLst>
                <a:ext uri="{96DAC541-7B7A-43D3-8B79-37D633B846F1}">
                  <asvg:svgBlip xmlns:asvg="http://schemas.microsoft.com/office/drawing/2016/SVG/main" r:embed="rId4"/>
                </a:ext>
              </a:extLst>
            </a:blip>
            <a:stretch>
              <a:fillRect/>
            </a:stretch>
          </p:blipFill>
          <p:spPr>
            <a:xfrm>
              <a:off x="6456172" y="1917700"/>
              <a:ext cx="254000" cy="254000"/>
            </a:xfrm>
            <a:prstGeom prst="rect">
              <a:avLst/>
            </a:prstGeom>
          </p:spPr>
        </p:pic>
        <p:sp>
          <p:nvSpPr>
            <p:cNvPr id="17" name="TextBox 16">
              <a:extLst>
                <a:ext uri="{FF2B5EF4-FFF2-40B4-BE49-F238E27FC236}">
                  <a16:creationId xmlns:a16="http://schemas.microsoft.com/office/drawing/2014/main" id="{14BB1308-4817-083C-A5DB-4B91FBEA24B2}"/>
                </a:ext>
              </a:extLst>
            </p:cNvPr>
            <p:cNvSpPr txBox="1"/>
            <p:nvPr/>
          </p:nvSpPr>
          <p:spPr>
            <a:xfrm>
              <a:off x="6875272" y="1803400"/>
              <a:ext cx="4580128" cy="990015"/>
            </a:xfrm>
            <a:prstGeom prst="rect">
              <a:avLst/>
            </a:prstGeom>
            <a:noFill/>
          </p:spPr>
          <p:txBody>
            <a:bodyPr vert="horz" wrap="square" tIns="0" rtlCol="0">
              <a:spAutoFit/>
            </a:bodyPr>
            <a:lstStyle/>
            <a:p>
              <a:pPr>
                <a:spcAft>
                  <a:spcPts val="400"/>
                </a:spcAft>
              </a:pPr>
              <a:r>
                <a:rPr lang="en-US" sz="1600" b="1">
                  <a:solidFill>
                    <a:srgbClr val="0F172A"/>
                  </a:solidFill>
                  <a:latin typeface="Segoe UI" panose="020B0502040204020203" pitchFamily="34" charset="0"/>
                </a:rPr>
                <a:t>Khả Năng Sinh Sản (Fecundity)
</a:t>
              </a:r>
              <a:r>
                <a:rPr lang="vi-VN" sz="1400" b="1">
                  <a:solidFill>
                    <a:srgbClr val="334155"/>
                  </a:solidFill>
                  <a:latin typeface="Segoe UI" panose="020B0502040204020203" pitchFamily="34" charset="0"/>
                </a:rPr>
                <a:t>Khả năng sinh lý tiềm tàng về mặt sinh học của người phụ nữ có thể thụ thai và sinh con trong độ tuổi sinh sản (15-49 tuổi).</a:t>
              </a:r>
              <a:endParaRPr lang="en-US" sz="1400" b="1">
                <a:solidFill>
                  <a:srgbClr val="334155"/>
                </a:solidFill>
                <a:latin typeface="Segoe UI" panose="020B0502040204020203" pitchFamily="34" charset="0"/>
              </a:endParaRPr>
            </a:p>
          </p:txBody>
        </p:sp>
      </p:grpSp>
      <p:grpSp>
        <p:nvGrpSpPr>
          <p:cNvPr id="24" name="!!Stage_Sub_Card_2">
            <a:extLst>
              <a:ext uri="{FF2B5EF4-FFF2-40B4-BE49-F238E27FC236}">
                <a16:creationId xmlns:a16="http://schemas.microsoft.com/office/drawing/2014/main" id="{98BEF1CD-FA66-0974-A461-1A25D7A7F3BD}"/>
              </a:ext>
            </a:extLst>
          </p:cNvPr>
          <p:cNvGrpSpPr/>
          <p:nvPr/>
        </p:nvGrpSpPr>
        <p:grpSpPr>
          <a:xfrm>
            <a:off x="6214872" y="4013200"/>
            <a:ext cx="5367528" cy="2184400"/>
            <a:chOff x="6214872" y="4013200"/>
            <a:chExt cx="5367528" cy="2184400"/>
          </a:xfrm>
        </p:grpSpPr>
        <p:sp>
          <p:nvSpPr>
            <p:cNvPr id="19" name="Rectangle: Rounded Corners 18">
              <a:extLst>
                <a:ext uri="{FF2B5EF4-FFF2-40B4-BE49-F238E27FC236}">
                  <a16:creationId xmlns:a16="http://schemas.microsoft.com/office/drawing/2014/main" id="{1B0AFF3E-E112-FCE2-6F80-E7FF1393000D}"/>
                </a:ext>
              </a:extLst>
            </p:cNvPr>
            <p:cNvSpPr/>
            <p:nvPr/>
          </p:nvSpPr>
          <p:spPr>
            <a:xfrm>
              <a:off x="6214872" y="4013200"/>
              <a:ext cx="5367528" cy="2184400"/>
            </a:xfrm>
            <a:prstGeom prst="roundRect">
              <a:avLst/>
            </a:prstGeom>
            <a:solidFill>
              <a:srgbClr val="FFFFFF"/>
            </a:solidFill>
            <a:ln w="12700">
              <a:solidFill>
                <a:srgbClr val="CBD5E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Oval 19">
              <a:extLst>
                <a:ext uri="{FF2B5EF4-FFF2-40B4-BE49-F238E27FC236}">
                  <a16:creationId xmlns:a16="http://schemas.microsoft.com/office/drawing/2014/main" id="{9FED67F3-426E-0005-C0A5-ADDBB4896E57}"/>
                </a:ext>
              </a:extLst>
            </p:cNvPr>
            <p:cNvSpPr/>
            <p:nvPr/>
          </p:nvSpPr>
          <p:spPr>
            <a:xfrm>
              <a:off x="6392672" y="4191000"/>
              <a:ext cx="381000" cy="381000"/>
            </a:xfrm>
            <a:prstGeom prst="ellipse">
              <a:avLst/>
            </a:prstGeom>
            <a:solidFill>
              <a:srgbClr val="E0F2FE"/>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2" name="Graphic 21">
              <a:extLst>
                <a:ext uri="{FF2B5EF4-FFF2-40B4-BE49-F238E27FC236}">
                  <a16:creationId xmlns:a16="http://schemas.microsoft.com/office/drawing/2014/main" id="{B49DCE65-79DC-94E1-CAE5-35A313A10BF4}"/>
                </a:ext>
              </a:extLst>
            </p:cNvPr>
            <p:cNvPicPr>
              <a:picLocks/>
            </p:cNvPicPr>
            <p:nvPr/>
          </p:nvPicPr>
          <p:blipFill>
            <a:blip>
              <a:extLst>
                <a:ext uri="{96DAC541-7B7A-43D3-8B79-37D633B846F1}">
                  <asvg:svgBlip xmlns:asvg="http://schemas.microsoft.com/office/drawing/2016/SVG/main" r:embed="rId5"/>
                </a:ext>
              </a:extLst>
            </a:blip>
            <a:stretch>
              <a:fillRect/>
            </a:stretch>
          </p:blipFill>
          <p:spPr>
            <a:xfrm>
              <a:off x="6456172" y="4254500"/>
              <a:ext cx="254000" cy="254000"/>
            </a:xfrm>
            <a:prstGeom prst="rect">
              <a:avLst/>
            </a:prstGeom>
          </p:spPr>
        </p:pic>
        <p:sp>
          <p:nvSpPr>
            <p:cNvPr id="23" name="TextBox 22">
              <a:extLst>
                <a:ext uri="{FF2B5EF4-FFF2-40B4-BE49-F238E27FC236}">
                  <a16:creationId xmlns:a16="http://schemas.microsoft.com/office/drawing/2014/main" id="{D97C79B7-45B8-C521-C67C-3D032C3E949F}"/>
                </a:ext>
              </a:extLst>
            </p:cNvPr>
            <p:cNvSpPr txBox="1"/>
            <p:nvPr/>
          </p:nvSpPr>
          <p:spPr>
            <a:xfrm>
              <a:off x="6875272" y="4140200"/>
              <a:ext cx="4580128" cy="990015"/>
            </a:xfrm>
            <a:prstGeom prst="rect">
              <a:avLst/>
            </a:prstGeom>
            <a:noFill/>
          </p:spPr>
          <p:txBody>
            <a:bodyPr vert="horz" wrap="square" tIns="0" rtlCol="0">
              <a:spAutoFit/>
            </a:bodyPr>
            <a:lstStyle/>
            <a:p>
              <a:pPr>
                <a:spcAft>
                  <a:spcPts val="400"/>
                </a:spcAft>
              </a:pPr>
              <a:r>
                <a:rPr lang="en-US" sz="1600" b="1">
                  <a:solidFill>
                    <a:srgbClr val="0F172A"/>
                  </a:solidFill>
                  <a:latin typeface="Segoe UI" panose="020B0502040204020203" pitchFamily="34" charset="0"/>
                </a:rPr>
                <a:t>Mức Sinh Thực Tế (Fertility)
</a:t>
              </a:r>
              <a:r>
                <a:rPr lang="vi-VN" sz="1400" b="1">
                  <a:solidFill>
                    <a:srgbClr val="334155"/>
                  </a:solidFill>
                  <a:latin typeface="Segoe UI" panose="020B0502040204020203" pitchFamily="34" charset="0"/>
                </a:rPr>
                <a:t>Số lượng trẻ sinh sống thực tế được sinh ra, là sự kết hợp giữa khả năng sinh học và các rào cản hành vi kinh tế - xã hội.</a:t>
              </a:r>
              <a:endParaRPr lang="en-US" sz="1400" b="1">
                <a:solidFill>
                  <a:srgbClr val="334155"/>
                </a:solidFill>
                <a:latin typeface="Segoe UI" panose="020B0502040204020203" pitchFamily="34" charset="0"/>
              </a:endParaRPr>
            </a:p>
          </p:txBody>
        </p:sp>
      </p:grpSp>
      <p:sp>
        <p:nvSpPr>
          <p:cNvPr id="25" name="!!Anchor_Source_Footer">
            <a:extLst>
              <a:ext uri="{FF2B5EF4-FFF2-40B4-BE49-F238E27FC236}">
                <a16:creationId xmlns:a16="http://schemas.microsoft.com/office/drawing/2014/main" id="{2EB5092E-7279-7ECD-CCEA-32A1EAF258BF}"/>
              </a:ext>
            </a:extLst>
          </p:cNvPr>
          <p:cNvSpPr txBox="1"/>
          <p:nvPr/>
        </p:nvSpPr>
        <p:spPr>
          <a:xfrm>
            <a:off x="609600" y="6273800"/>
            <a:ext cx="10972800" cy="246221"/>
          </a:xfrm>
          <a:prstGeom prst="rect">
            <a:avLst/>
          </a:prstGeom>
          <a:noFill/>
        </p:spPr>
        <p:txBody>
          <a:bodyPr vert="horz" rtlCol="0">
            <a:spAutoFit/>
          </a:bodyPr>
          <a:lstStyle/>
          <a:p>
            <a:r>
              <a:rPr lang="vi-VN" sz="1000">
                <a:solidFill>
                  <a:srgbClr val="334155"/>
                </a:solidFill>
                <a:latin typeface="Segoe UI" panose="020B0502040204020203" pitchFamily="34" charset="0"/>
              </a:rPr>
              <a:t>Giáo trình Dân số học đại cương</a:t>
            </a:r>
            <a:endParaRPr lang="en-US" sz="1000">
              <a:solidFill>
                <a:srgbClr val="334155"/>
              </a:solidFill>
              <a:latin typeface="Segoe UI" panose="020B0502040204020203" pitchFamily="34" charset="0"/>
            </a:endParaRPr>
          </a:p>
        </p:txBody>
      </p:sp>
    </p:spTree>
    <p:extLst>
      <p:ext uri="{BB962C8B-B14F-4D97-AF65-F5344CB8AC3E}">
        <p14:creationId xmlns:p14="http://schemas.microsoft.com/office/powerpoint/2010/main" val="4009026888"/>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850">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accel="50000" decel="50000" fill="hold" nodeType="clickEffect">
                                  <p:stCondLst>
                                    <p:cond delay="0"/>
                                  </p:stCondLst>
                                  <p:childTnLst>
                                    <p:set>
                                      <p:cBhvr>
                                        <p:cTn id="6" dur="1" fill="hold">
                                          <p:stCondLst>
                                            <p:cond delay="0"/>
                                          </p:stCondLst>
                                        </p:cTn>
                                        <p:tgtEl>
                                          <p:spTgt spid="18"/>
                                        </p:tgtEl>
                                        <p:attrNameLst>
                                          <p:attrName>style.visibility</p:attrName>
                                        </p:attrNameLst>
                                      </p:cBhvr>
                                      <p:to>
                                        <p:strVal val="visible"/>
                                      </p:to>
                                    </p:set>
                                    <p:anim calcmode="lin" valueType="num">
                                      <p:cBhvr additive="base">
                                        <p:cTn id="7" dur="450" fill="hold"/>
                                        <p:tgtEl>
                                          <p:spTgt spid="18"/>
                                        </p:tgtEl>
                                        <p:attrNameLst>
                                          <p:attrName>ppt_x</p:attrName>
                                        </p:attrNameLst>
                                      </p:cBhvr>
                                      <p:tavLst>
                                        <p:tav tm="0">
                                          <p:val>
                                            <p:strVal val="#ppt_x"/>
                                          </p:val>
                                        </p:tav>
                                        <p:tav tm="100000">
                                          <p:val>
                                            <p:strVal val="#ppt_x"/>
                                          </p:val>
                                        </p:tav>
                                      </p:tavLst>
                                    </p:anim>
                                    <p:anim calcmode="lin" valueType="num">
                                      <p:cBhvr additive="base">
                                        <p:cTn id="8" dur="450" fill="hold"/>
                                        <p:tgtEl>
                                          <p:spTgt spid="18"/>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accel="50000" decel="50000" fill="hold" nodeType="clickEffect">
                                  <p:stCondLst>
                                    <p:cond delay="0"/>
                                  </p:stCondLst>
                                  <p:childTnLst>
                                    <p:set>
                                      <p:cBhvr>
                                        <p:cTn id="12" dur="1" fill="hold">
                                          <p:stCondLst>
                                            <p:cond delay="0"/>
                                          </p:stCondLst>
                                        </p:cTn>
                                        <p:tgtEl>
                                          <p:spTgt spid="24"/>
                                        </p:tgtEl>
                                        <p:attrNameLst>
                                          <p:attrName>style.visibility</p:attrName>
                                        </p:attrNameLst>
                                      </p:cBhvr>
                                      <p:to>
                                        <p:strVal val="visible"/>
                                      </p:to>
                                    </p:set>
                                    <p:anim calcmode="lin" valueType="num">
                                      <p:cBhvr additive="base">
                                        <p:cTn id="13" dur="450" fill="hold"/>
                                        <p:tgtEl>
                                          <p:spTgt spid="24"/>
                                        </p:tgtEl>
                                        <p:attrNameLst>
                                          <p:attrName>ppt_x</p:attrName>
                                        </p:attrNameLst>
                                      </p:cBhvr>
                                      <p:tavLst>
                                        <p:tav tm="0">
                                          <p:val>
                                            <p:strVal val="#ppt_x"/>
                                          </p:val>
                                        </p:tav>
                                        <p:tav tm="100000">
                                          <p:val>
                                            <p:strVal val="#ppt_x"/>
                                          </p:val>
                                        </p:tav>
                                      </p:tavLst>
                                    </p:anim>
                                    <p:anim calcmode="lin" valueType="num">
                                      <p:cBhvr additive="base">
                                        <p:cTn id="14" dur="450" fill="hold"/>
                                        <p:tgtEl>
                                          <p:spTgt spid="2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a:xfrm>
          <a:off x="0" y="0"/>
          <a:ext cx="0" cy="0"/>
          <a:chOff x="0" y="0"/>
          <a:chExt cx="0" cy="0"/>
        </a:xfrm>
      </p:grpSpPr>
      <p:sp>
        <p:nvSpPr>
          <p:cNvPr id="2" name="!!Anchor_Kicker_Rail">
            <a:extLst>
              <a:ext uri="{FF2B5EF4-FFF2-40B4-BE49-F238E27FC236}">
                <a16:creationId xmlns:a16="http://schemas.microsoft.com/office/drawing/2014/main" id="{3E91A7E9-B316-CC77-BA81-B355912F8030}"/>
              </a:ext>
            </a:extLst>
          </p:cNvPr>
          <p:cNvSpPr txBox="1"/>
          <p:nvPr/>
        </p:nvSpPr>
        <p:spPr>
          <a:xfrm>
            <a:off x="609600" y="457200"/>
            <a:ext cx="9956800" cy="276999"/>
          </a:xfrm>
          <a:prstGeom prst="rect">
            <a:avLst/>
          </a:prstGeom>
          <a:noFill/>
        </p:spPr>
        <p:txBody>
          <a:bodyPr vert="horz" rtlCol="0">
            <a:spAutoFit/>
          </a:bodyPr>
          <a:lstStyle/>
          <a:p>
            <a:r>
              <a:rPr lang="vi-VN" sz="1200" b="1">
                <a:solidFill>
                  <a:srgbClr val="0284C7"/>
                </a:solidFill>
                <a:latin typeface="Segoe UI" panose="020B0502040204020203" pitchFamily="34" charset="0"/>
              </a:rPr>
              <a:t>THƯỚC ĐO MỨC SINH  •  TRỌNG TÂM</a:t>
            </a:r>
            <a:endParaRPr lang="en-US" sz="1200" b="1">
              <a:solidFill>
                <a:srgbClr val="0284C7"/>
              </a:solidFill>
              <a:latin typeface="Segoe UI" panose="020B0502040204020203" pitchFamily="34" charset="0"/>
            </a:endParaRPr>
          </a:p>
        </p:txBody>
      </p:sp>
      <p:sp>
        <p:nvSpPr>
          <p:cNvPr id="3" name="!!Anchor_Slide_Tracker">
            <a:extLst>
              <a:ext uri="{FF2B5EF4-FFF2-40B4-BE49-F238E27FC236}">
                <a16:creationId xmlns:a16="http://schemas.microsoft.com/office/drawing/2014/main" id="{D2485553-EB20-1005-0CF3-ED43B6D788DE}"/>
              </a:ext>
            </a:extLst>
          </p:cNvPr>
          <p:cNvSpPr txBox="1"/>
          <p:nvPr/>
        </p:nvSpPr>
        <p:spPr>
          <a:xfrm>
            <a:off x="10820400" y="457200"/>
            <a:ext cx="762000" cy="276999"/>
          </a:xfrm>
          <a:prstGeom prst="rect">
            <a:avLst/>
          </a:prstGeom>
          <a:noFill/>
        </p:spPr>
        <p:txBody>
          <a:bodyPr vert="horz" rtlCol="0">
            <a:spAutoFit/>
          </a:bodyPr>
          <a:lstStyle/>
          <a:p>
            <a:pPr algn="r"/>
            <a:r>
              <a:rPr lang="en-US" sz="1200" b="1">
                <a:solidFill>
                  <a:srgbClr val="334155"/>
                </a:solidFill>
                <a:latin typeface="Bahnschrift" panose="020B0502040204020203" pitchFamily="34" charset="0"/>
              </a:rPr>
              <a:t>04 / 22</a:t>
            </a:r>
          </a:p>
        </p:txBody>
      </p:sp>
      <p:sp>
        <p:nvSpPr>
          <p:cNvPr id="4" name="!!Anchor_Assertion_Title">
            <a:extLst>
              <a:ext uri="{FF2B5EF4-FFF2-40B4-BE49-F238E27FC236}">
                <a16:creationId xmlns:a16="http://schemas.microsoft.com/office/drawing/2014/main" id="{792F9288-7416-82BF-EEE2-00C65587B5C6}"/>
              </a:ext>
            </a:extLst>
          </p:cNvPr>
          <p:cNvSpPr txBox="1"/>
          <p:nvPr/>
        </p:nvSpPr>
        <p:spPr>
          <a:xfrm>
            <a:off x="609600" y="711200"/>
            <a:ext cx="10972800" cy="369332"/>
          </a:xfrm>
          <a:prstGeom prst="rect">
            <a:avLst/>
          </a:prstGeom>
          <a:noFill/>
        </p:spPr>
        <p:txBody>
          <a:bodyPr vert="horz" wrap="square" tIns="0" bIns="0" rtlCol="0">
            <a:spAutoFit/>
          </a:bodyPr>
          <a:lstStyle/>
          <a:p>
            <a:r>
              <a:rPr lang="vi-VN" sz="2400" b="1">
                <a:solidFill>
                  <a:srgbClr val="0F172A"/>
                </a:solidFill>
                <a:latin typeface="Segoe UI" panose="020B0502040204020203" pitchFamily="34" charset="0"/>
              </a:rPr>
              <a:t>Tỷ Suất Sinh Thô (CBR) Và Giới Hạn Của Thước Đo Ban Đầu</a:t>
            </a:r>
            <a:endParaRPr lang="en-US" sz="2400" b="1">
              <a:solidFill>
                <a:srgbClr val="0F172A"/>
              </a:solidFill>
              <a:latin typeface="Segoe UI" panose="020B0502040204020203" pitchFamily="34" charset="0"/>
            </a:endParaRPr>
          </a:p>
        </p:txBody>
      </p:sp>
      <p:grpSp>
        <p:nvGrpSpPr>
          <p:cNvPr id="8" name="!!Stage_Hero_Container">
            <a:extLst>
              <a:ext uri="{FF2B5EF4-FFF2-40B4-BE49-F238E27FC236}">
                <a16:creationId xmlns:a16="http://schemas.microsoft.com/office/drawing/2014/main" id="{C8326AB0-D47C-BFAD-044D-3DBC56AD9D48}"/>
              </a:ext>
            </a:extLst>
          </p:cNvPr>
          <p:cNvGrpSpPr/>
          <p:nvPr/>
        </p:nvGrpSpPr>
        <p:grpSpPr>
          <a:xfrm>
            <a:off x="609600" y="1676400"/>
            <a:ext cx="10972800" cy="1117600"/>
            <a:chOff x="609600" y="1676400"/>
            <a:chExt cx="10972800" cy="1117600"/>
          </a:xfrm>
        </p:grpSpPr>
        <p:sp>
          <p:nvSpPr>
            <p:cNvPr id="5" name="Rectangle: Rounded Corners 4">
              <a:extLst>
                <a:ext uri="{FF2B5EF4-FFF2-40B4-BE49-F238E27FC236}">
                  <a16:creationId xmlns:a16="http://schemas.microsoft.com/office/drawing/2014/main" id="{4957EC50-46C0-471E-103C-56527BB500A6}"/>
                </a:ext>
              </a:extLst>
            </p:cNvPr>
            <p:cNvSpPr/>
            <p:nvPr/>
          </p:nvSpPr>
          <p:spPr>
            <a:xfrm>
              <a:off x="609600" y="1676400"/>
              <a:ext cx="10972800" cy="1117600"/>
            </a:xfrm>
            <a:prstGeom prst="roundRect">
              <a:avLst/>
            </a:prstGeom>
            <a:solidFill>
              <a:srgbClr val="FFFFFF"/>
            </a:solidFill>
            <a:ln w="25400">
              <a:solidFill>
                <a:srgbClr val="0284C7"/>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Rounded Corners 5">
              <a:extLst>
                <a:ext uri="{FF2B5EF4-FFF2-40B4-BE49-F238E27FC236}">
                  <a16:creationId xmlns:a16="http://schemas.microsoft.com/office/drawing/2014/main" id="{BFC8BB4A-8677-669F-2ADD-5CE2460E2098}"/>
                </a:ext>
              </a:extLst>
            </p:cNvPr>
            <p:cNvSpPr/>
            <p:nvPr/>
          </p:nvSpPr>
          <p:spPr>
            <a:xfrm>
              <a:off x="863600" y="1803400"/>
              <a:ext cx="2413000" cy="254000"/>
            </a:xfrm>
            <a:prstGeom prst="roundRect">
              <a:avLst/>
            </a:prstGeom>
            <a:solidFill>
              <a:srgbClr val="E0F2FE"/>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vi-VN" sz="900" b="1">
                  <a:solidFill>
                    <a:srgbClr val="0284C7"/>
                  </a:solidFill>
                  <a:latin typeface="Segoe UI" panose="020B0502040204020203" pitchFamily="34" charset="0"/>
                </a:rPr>
                <a:t>CÔNG THỨC ĐỊNH LƯỢNG CHUẨN</a:t>
              </a:r>
              <a:endParaRPr lang="en-US" sz="900" b="1">
                <a:solidFill>
                  <a:srgbClr val="0284C7"/>
                </a:solidFill>
                <a:latin typeface="Segoe UI" panose="020B0502040204020203" pitchFamily="34" charset="0"/>
              </a:endParaRPr>
            </a:p>
          </p:txBody>
        </p:sp>
        <p:sp>
          <p:nvSpPr>
            <p:cNvPr id="7" name="TextBox 6">
              <a:extLst>
                <a:ext uri="{FF2B5EF4-FFF2-40B4-BE49-F238E27FC236}">
                  <a16:creationId xmlns:a16="http://schemas.microsoft.com/office/drawing/2014/main" id="{F005F050-EED7-C1A9-CCB3-05D405FB1305}"/>
                </a:ext>
              </a:extLst>
            </p:cNvPr>
            <p:cNvSpPr txBox="1"/>
            <p:nvPr/>
          </p:nvSpPr>
          <p:spPr>
            <a:xfrm>
              <a:off x="863600" y="2082800"/>
              <a:ext cx="10464800" cy="461665"/>
            </a:xfrm>
            <a:prstGeom prst="rect">
              <a:avLst/>
            </a:prstGeom>
            <a:noFill/>
          </p:spPr>
          <p:txBody>
            <a:bodyPr vert="horz" rtlCol="0">
              <a:spAutoFit/>
            </a:bodyPr>
            <a:lstStyle/>
            <a:p>
              <a:pPr algn="ctr"/>
              <a:r>
                <a:rPr lang="vi-VN" sz="2400" b="1">
                  <a:solidFill>
                    <a:srgbClr val="0284C7"/>
                  </a:solidFill>
                  <a:latin typeface="Segoe UI" panose="020B0502040204020203" pitchFamily="34" charset="0"/>
                </a:rPr>
                <a:t>CBR = (B / P_tb) * 1,000  (Đơn vị: ‰ - Trên 1.000 dân trung bình)</a:t>
              </a:r>
              <a:endParaRPr lang="en-US" sz="2400" b="1">
                <a:solidFill>
                  <a:srgbClr val="0284C7"/>
                </a:solidFill>
                <a:latin typeface="Segoe UI" panose="020B0502040204020203" pitchFamily="34" charset="0"/>
              </a:endParaRPr>
            </a:p>
          </p:txBody>
        </p:sp>
      </p:grpSp>
      <p:grpSp>
        <p:nvGrpSpPr>
          <p:cNvPr id="14" name="!!Stage_Sub_Card_1">
            <a:extLst>
              <a:ext uri="{FF2B5EF4-FFF2-40B4-BE49-F238E27FC236}">
                <a16:creationId xmlns:a16="http://schemas.microsoft.com/office/drawing/2014/main" id="{E96B84E8-155C-5852-2BCC-D711DE9A8D7D}"/>
              </a:ext>
            </a:extLst>
          </p:cNvPr>
          <p:cNvGrpSpPr/>
          <p:nvPr/>
        </p:nvGrpSpPr>
        <p:grpSpPr>
          <a:xfrm>
            <a:off x="609600" y="2971800"/>
            <a:ext cx="3522133" cy="3225800"/>
            <a:chOff x="609600" y="2971800"/>
            <a:chExt cx="3522133" cy="3225800"/>
          </a:xfrm>
        </p:grpSpPr>
        <p:sp>
          <p:nvSpPr>
            <p:cNvPr id="9" name="Rectangle: Rounded Corners 8">
              <a:extLst>
                <a:ext uri="{FF2B5EF4-FFF2-40B4-BE49-F238E27FC236}">
                  <a16:creationId xmlns:a16="http://schemas.microsoft.com/office/drawing/2014/main" id="{93B91FF3-FD4E-AC19-5CE5-DE460C32D60F}"/>
                </a:ext>
              </a:extLst>
            </p:cNvPr>
            <p:cNvSpPr/>
            <p:nvPr/>
          </p:nvSpPr>
          <p:spPr>
            <a:xfrm>
              <a:off x="609600" y="2971800"/>
              <a:ext cx="3522133" cy="3225800"/>
            </a:xfrm>
            <a:prstGeom prst="roundRect">
              <a:avLst/>
            </a:prstGeom>
            <a:solidFill>
              <a:srgbClr val="FFFFFF"/>
            </a:solidFill>
            <a:ln w="12700">
              <a:solidFill>
                <a:srgbClr val="CBD5E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Oval 9">
              <a:extLst>
                <a:ext uri="{FF2B5EF4-FFF2-40B4-BE49-F238E27FC236}">
                  <a16:creationId xmlns:a16="http://schemas.microsoft.com/office/drawing/2014/main" id="{E6223A09-1097-B1F1-19DA-3447595EAE04}"/>
                </a:ext>
              </a:extLst>
            </p:cNvPr>
            <p:cNvSpPr/>
            <p:nvPr/>
          </p:nvSpPr>
          <p:spPr>
            <a:xfrm>
              <a:off x="812800" y="3175000"/>
              <a:ext cx="406400" cy="406400"/>
            </a:xfrm>
            <a:prstGeom prst="ellipse">
              <a:avLst/>
            </a:prstGeom>
            <a:solidFill>
              <a:srgbClr val="E0F2FE"/>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2" name="Graphic 11">
              <a:extLst>
                <a:ext uri="{FF2B5EF4-FFF2-40B4-BE49-F238E27FC236}">
                  <a16:creationId xmlns:a16="http://schemas.microsoft.com/office/drawing/2014/main" id="{11601A06-6E8B-98A9-142D-1D4774EC841F}"/>
                </a:ext>
              </a:extLst>
            </p:cNvPr>
            <p:cNvPicPr>
              <a:picLocks/>
            </p:cNvPicPr>
            <p:nvPr/>
          </p:nvPicPr>
          <p:blipFill>
            <a:blip>
              <a:extLst>
                <a:ext uri="{96DAC541-7B7A-43D3-8B79-37D633B846F1}">
                  <asvg:svgBlip xmlns:asvg="http://schemas.microsoft.com/office/drawing/2016/SVG/main" r:embed="rId2"/>
                </a:ext>
              </a:extLst>
            </a:blip>
            <a:stretch>
              <a:fillRect/>
            </a:stretch>
          </p:blipFill>
          <p:spPr>
            <a:xfrm>
              <a:off x="876300" y="3238500"/>
              <a:ext cx="279400" cy="279400"/>
            </a:xfrm>
            <a:prstGeom prst="rect">
              <a:avLst/>
            </a:prstGeom>
          </p:spPr>
        </p:pic>
        <p:sp>
          <p:nvSpPr>
            <p:cNvPr id="13" name="TextBox 12">
              <a:extLst>
                <a:ext uri="{FF2B5EF4-FFF2-40B4-BE49-F238E27FC236}">
                  <a16:creationId xmlns:a16="http://schemas.microsoft.com/office/drawing/2014/main" id="{ED5410F9-87B8-FADA-7764-D89B020ADD68}"/>
                </a:ext>
              </a:extLst>
            </p:cNvPr>
            <p:cNvSpPr txBox="1"/>
            <p:nvPr/>
          </p:nvSpPr>
          <p:spPr>
            <a:xfrm>
              <a:off x="812800" y="3683000"/>
              <a:ext cx="3115733" cy="1443985"/>
            </a:xfrm>
            <a:prstGeom prst="rect">
              <a:avLst/>
            </a:prstGeom>
            <a:noFill/>
          </p:spPr>
          <p:txBody>
            <a:bodyPr vert="horz" wrap="square" lIns="0" tIns="0" rtlCol="0">
              <a:spAutoFit/>
            </a:bodyPr>
            <a:lstStyle/>
            <a:p>
              <a:pPr>
                <a:lnSpc>
                  <a:spcPct val="125000"/>
                </a:lnSpc>
                <a:spcAft>
                  <a:spcPts val="600"/>
                </a:spcAft>
              </a:pPr>
              <a:r>
                <a:rPr lang="en-US" sz="1600" b="1">
                  <a:solidFill>
                    <a:srgbClr val="0F172A"/>
                  </a:solidFill>
                  <a:latin typeface="Segoe UI" panose="020B0502040204020203" pitchFamily="34" charset="0"/>
                </a:rPr>
                <a:t>Công Thức Tính CBR
</a:t>
              </a:r>
              <a:r>
                <a:rPr lang="vi-VN" sz="1350" b="1">
                  <a:solidFill>
                    <a:srgbClr val="334155"/>
                  </a:solidFill>
                  <a:latin typeface="Segoe UI" panose="020B0502040204020203" pitchFamily="34" charset="0"/>
                </a:rPr>
                <a:t>CBR = (B / P_tb) * 1,000 (đơn vị ‰). Với B là tổng số trẻ sinh sống trong năm, P_tb là dân số trung bình trong năm.</a:t>
              </a:r>
              <a:endParaRPr lang="en-US" sz="1350" b="1">
                <a:solidFill>
                  <a:srgbClr val="334155"/>
                </a:solidFill>
                <a:latin typeface="Segoe UI" panose="020B0502040204020203" pitchFamily="34" charset="0"/>
              </a:endParaRPr>
            </a:p>
          </p:txBody>
        </p:sp>
      </p:grpSp>
      <p:grpSp>
        <p:nvGrpSpPr>
          <p:cNvPr id="20" name="!!Stage_Sub_Card_2">
            <a:extLst>
              <a:ext uri="{FF2B5EF4-FFF2-40B4-BE49-F238E27FC236}">
                <a16:creationId xmlns:a16="http://schemas.microsoft.com/office/drawing/2014/main" id="{DF63A5BE-CB14-837E-0FF3-F5D32AE98C01}"/>
              </a:ext>
            </a:extLst>
          </p:cNvPr>
          <p:cNvGrpSpPr/>
          <p:nvPr/>
        </p:nvGrpSpPr>
        <p:grpSpPr>
          <a:xfrm>
            <a:off x="4334933" y="2971800"/>
            <a:ext cx="3522134" cy="3225800"/>
            <a:chOff x="4334933" y="2971800"/>
            <a:chExt cx="3522134" cy="3225800"/>
          </a:xfrm>
        </p:grpSpPr>
        <p:sp>
          <p:nvSpPr>
            <p:cNvPr id="15" name="Rectangle: Rounded Corners 14">
              <a:extLst>
                <a:ext uri="{FF2B5EF4-FFF2-40B4-BE49-F238E27FC236}">
                  <a16:creationId xmlns:a16="http://schemas.microsoft.com/office/drawing/2014/main" id="{36B4AD92-FE47-2859-5B6B-34A436789CC9}"/>
                </a:ext>
              </a:extLst>
            </p:cNvPr>
            <p:cNvSpPr/>
            <p:nvPr/>
          </p:nvSpPr>
          <p:spPr>
            <a:xfrm>
              <a:off x="4334933" y="2971800"/>
              <a:ext cx="3522134" cy="3225800"/>
            </a:xfrm>
            <a:prstGeom prst="roundRect">
              <a:avLst/>
            </a:prstGeom>
            <a:solidFill>
              <a:srgbClr val="FFFFFF"/>
            </a:solidFill>
            <a:ln w="12700">
              <a:solidFill>
                <a:srgbClr val="CBD5E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Oval 15">
              <a:extLst>
                <a:ext uri="{FF2B5EF4-FFF2-40B4-BE49-F238E27FC236}">
                  <a16:creationId xmlns:a16="http://schemas.microsoft.com/office/drawing/2014/main" id="{288D9F4C-122F-5675-3664-813067672596}"/>
                </a:ext>
              </a:extLst>
            </p:cNvPr>
            <p:cNvSpPr/>
            <p:nvPr/>
          </p:nvSpPr>
          <p:spPr>
            <a:xfrm>
              <a:off x="4538133" y="3175000"/>
              <a:ext cx="406400" cy="406400"/>
            </a:xfrm>
            <a:prstGeom prst="ellipse">
              <a:avLst/>
            </a:prstGeom>
            <a:solidFill>
              <a:srgbClr val="E0F2FE"/>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8" name="Graphic 17">
              <a:extLst>
                <a:ext uri="{FF2B5EF4-FFF2-40B4-BE49-F238E27FC236}">
                  <a16:creationId xmlns:a16="http://schemas.microsoft.com/office/drawing/2014/main" id="{574EA928-4355-DC1B-0D3E-B584DCA51AA0}"/>
                </a:ext>
              </a:extLst>
            </p:cNvPr>
            <p:cNvPicPr>
              <a:picLocks/>
            </p:cNvPicPr>
            <p:nvPr/>
          </p:nvPicPr>
          <p:blipFill>
            <a:blip>
              <a:extLst>
                <a:ext uri="{96DAC541-7B7A-43D3-8B79-37D633B846F1}">
                  <asvg:svgBlip xmlns:asvg="http://schemas.microsoft.com/office/drawing/2016/SVG/main" r:embed="rId3"/>
                </a:ext>
              </a:extLst>
            </a:blip>
            <a:stretch>
              <a:fillRect/>
            </a:stretch>
          </p:blipFill>
          <p:spPr>
            <a:xfrm>
              <a:off x="4601633" y="3238500"/>
              <a:ext cx="279400" cy="279400"/>
            </a:xfrm>
            <a:prstGeom prst="rect">
              <a:avLst/>
            </a:prstGeom>
          </p:spPr>
        </p:pic>
        <p:sp>
          <p:nvSpPr>
            <p:cNvPr id="19" name="TextBox 18">
              <a:extLst>
                <a:ext uri="{FF2B5EF4-FFF2-40B4-BE49-F238E27FC236}">
                  <a16:creationId xmlns:a16="http://schemas.microsoft.com/office/drawing/2014/main" id="{29CA3AE4-FA41-E79F-5F2B-80CEE79D7891}"/>
                </a:ext>
              </a:extLst>
            </p:cNvPr>
            <p:cNvSpPr txBox="1"/>
            <p:nvPr/>
          </p:nvSpPr>
          <p:spPr>
            <a:xfrm>
              <a:off x="4538133" y="3683000"/>
              <a:ext cx="3115733" cy="1184299"/>
            </a:xfrm>
            <a:prstGeom prst="rect">
              <a:avLst/>
            </a:prstGeom>
            <a:noFill/>
          </p:spPr>
          <p:txBody>
            <a:bodyPr vert="horz" wrap="square" lIns="0" tIns="0" rtlCol="0">
              <a:spAutoFit/>
            </a:bodyPr>
            <a:lstStyle/>
            <a:p>
              <a:pPr>
                <a:lnSpc>
                  <a:spcPct val="125000"/>
                </a:lnSpc>
                <a:spcAft>
                  <a:spcPts val="600"/>
                </a:spcAft>
              </a:pPr>
              <a:r>
                <a:rPr lang="vi-VN" sz="1600" b="1">
                  <a:solidFill>
                    <a:srgbClr val="0F172A"/>
                  </a:solidFill>
                  <a:latin typeface="Segoe UI" panose="020B0502040204020203" pitchFamily="34" charset="0"/>
                </a:rPr>
                <a:t>Ưu Điểm Của Chỉ Số
</a:t>
              </a:r>
              <a:r>
                <a:rPr lang="vi-VN" sz="1350" b="1">
                  <a:solidFill>
                    <a:srgbClr val="334155"/>
                  </a:solidFill>
                  <a:latin typeface="Segoe UI" panose="020B0502040204020203" pitchFamily="34" charset="0"/>
                </a:rPr>
                <a:t>Đơn giản, dễ thu thập số liệu qua đăng ký hộ tịch và cho phép so sánh khái quát nhanh giữa các quốc gia.</a:t>
              </a:r>
              <a:endParaRPr lang="en-US" sz="1350" b="1">
                <a:solidFill>
                  <a:srgbClr val="334155"/>
                </a:solidFill>
                <a:latin typeface="Segoe UI" panose="020B0502040204020203" pitchFamily="34" charset="0"/>
              </a:endParaRPr>
            </a:p>
          </p:txBody>
        </p:sp>
      </p:grpSp>
      <p:grpSp>
        <p:nvGrpSpPr>
          <p:cNvPr id="26" name="!!Stage_Sub_Card_3">
            <a:extLst>
              <a:ext uri="{FF2B5EF4-FFF2-40B4-BE49-F238E27FC236}">
                <a16:creationId xmlns:a16="http://schemas.microsoft.com/office/drawing/2014/main" id="{DF45F39B-00B5-4C0B-D2AA-79315B705913}"/>
              </a:ext>
            </a:extLst>
          </p:cNvPr>
          <p:cNvGrpSpPr/>
          <p:nvPr/>
        </p:nvGrpSpPr>
        <p:grpSpPr>
          <a:xfrm>
            <a:off x="8060267" y="2971800"/>
            <a:ext cx="3522133" cy="3225800"/>
            <a:chOff x="8060267" y="2971800"/>
            <a:chExt cx="3522133" cy="3225800"/>
          </a:xfrm>
        </p:grpSpPr>
        <p:sp>
          <p:nvSpPr>
            <p:cNvPr id="21" name="Rectangle: Rounded Corners 20">
              <a:extLst>
                <a:ext uri="{FF2B5EF4-FFF2-40B4-BE49-F238E27FC236}">
                  <a16:creationId xmlns:a16="http://schemas.microsoft.com/office/drawing/2014/main" id="{044C6EC0-87C9-0F41-7BAF-1FD00711D28E}"/>
                </a:ext>
              </a:extLst>
            </p:cNvPr>
            <p:cNvSpPr/>
            <p:nvPr/>
          </p:nvSpPr>
          <p:spPr>
            <a:xfrm>
              <a:off x="8060267" y="2971800"/>
              <a:ext cx="3522133" cy="3225800"/>
            </a:xfrm>
            <a:prstGeom prst="roundRect">
              <a:avLst/>
            </a:prstGeom>
            <a:solidFill>
              <a:srgbClr val="FFFFFF"/>
            </a:solidFill>
            <a:ln w="12700">
              <a:solidFill>
                <a:srgbClr val="CBD5E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Oval 21">
              <a:extLst>
                <a:ext uri="{FF2B5EF4-FFF2-40B4-BE49-F238E27FC236}">
                  <a16:creationId xmlns:a16="http://schemas.microsoft.com/office/drawing/2014/main" id="{BB6664B6-2491-336E-D829-1D55B11FD7A8}"/>
                </a:ext>
              </a:extLst>
            </p:cNvPr>
            <p:cNvSpPr/>
            <p:nvPr/>
          </p:nvSpPr>
          <p:spPr>
            <a:xfrm>
              <a:off x="8263467" y="3175000"/>
              <a:ext cx="406400" cy="406400"/>
            </a:xfrm>
            <a:prstGeom prst="ellipse">
              <a:avLst/>
            </a:prstGeom>
            <a:solidFill>
              <a:srgbClr val="E0F2FE"/>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4" name="Graphic 23">
              <a:extLst>
                <a:ext uri="{FF2B5EF4-FFF2-40B4-BE49-F238E27FC236}">
                  <a16:creationId xmlns:a16="http://schemas.microsoft.com/office/drawing/2014/main" id="{9A8AEEA2-A5D9-2555-DC71-3B02EB0E4F2F}"/>
                </a:ext>
              </a:extLst>
            </p:cNvPr>
            <p:cNvPicPr>
              <a:picLocks/>
            </p:cNvPicPr>
            <p:nvPr/>
          </p:nvPicPr>
          <p:blipFill>
            <a:blip>
              <a:extLst>
                <a:ext uri="{96DAC541-7B7A-43D3-8B79-37D633B846F1}">
                  <asvg:svgBlip xmlns:asvg="http://schemas.microsoft.com/office/drawing/2016/SVG/main" r:embed="rId4"/>
                </a:ext>
              </a:extLst>
            </a:blip>
            <a:stretch>
              <a:fillRect/>
            </a:stretch>
          </p:blipFill>
          <p:spPr>
            <a:xfrm>
              <a:off x="8326967" y="3238500"/>
              <a:ext cx="279400" cy="279400"/>
            </a:xfrm>
            <a:prstGeom prst="rect">
              <a:avLst/>
            </a:prstGeom>
          </p:spPr>
        </p:pic>
        <p:sp>
          <p:nvSpPr>
            <p:cNvPr id="25" name="TextBox 24">
              <a:extLst>
                <a:ext uri="{FF2B5EF4-FFF2-40B4-BE49-F238E27FC236}">
                  <a16:creationId xmlns:a16="http://schemas.microsoft.com/office/drawing/2014/main" id="{36E5D796-009B-7660-44EB-712CDF6F8F3C}"/>
                </a:ext>
              </a:extLst>
            </p:cNvPr>
            <p:cNvSpPr txBox="1"/>
            <p:nvPr/>
          </p:nvSpPr>
          <p:spPr>
            <a:xfrm>
              <a:off x="8263467" y="3683000"/>
              <a:ext cx="3115733" cy="1443985"/>
            </a:xfrm>
            <a:prstGeom prst="rect">
              <a:avLst/>
            </a:prstGeom>
            <a:noFill/>
          </p:spPr>
          <p:txBody>
            <a:bodyPr vert="horz" wrap="square" lIns="0" tIns="0" rtlCol="0">
              <a:spAutoFit/>
            </a:bodyPr>
            <a:lstStyle/>
            <a:p>
              <a:pPr>
                <a:lnSpc>
                  <a:spcPct val="125000"/>
                </a:lnSpc>
                <a:spcAft>
                  <a:spcPts val="600"/>
                </a:spcAft>
              </a:pPr>
              <a:r>
                <a:rPr lang="vi-VN" sz="1600" b="1">
                  <a:solidFill>
                    <a:srgbClr val="0F172A"/>
                  </a:solidFill>
                  <a:latin typeface="Segoe UI" panose="020B0502040204020203" pitchFamily="34" charset="0"/>
                </a:rPr>
                <a:t>Nhược Điểm Cốt Tử
</a:t>
              </a:r>
              <a:r>
                <a:rPr lang="vi-VN" sz="1350" b="1">
                  <a:solidFill>
                    <a:srgbClr val="334155"/>
                  </a:solidFill>
                  <a:latin typeface="Segoe UI" panose="020B0502040204020203" pitchFamily="34" charset="0"/>
                </a:rPr>
                <a:t>Mẫu số chứa cả nam giới, người già và trẻ em - những đối tượng không có khả năng sinh sản, làm méo mó bản chất mức sinh.</a:t>
              </a:r>
              <a:endParaRPr lang="en-US" sz="1350" b="1">
                <a:solidFill>
                  <a:srgbClr val="334155"/>
                </a:solidFill>
                <a:latin typeface="Segoe UI" panose="020B0502040204020203" pitchFamily="34" charset="0"/>
              </a:endParaRPr>
            </a:p>
          </p:txBody>
        </p:sp>
      </p:grpSp>
      <p:sp>
        <p:nvSpPr>
          <p:cNvPr id="27" name="!!Anchor_Source_Footer">
            <a:extLst>
              <a:ext uri="{FF2B5EF4-FFF2-40B4-BE49-F238E27FC236}">
                <a16:creationId xmlns:a16="http://schemas.microsoft.com/office/drawing/2014/main" id="{FF2E2DEE-A866-D4CB-D41E-4EA12147CFDC}"/>
              </a:ext>
            </a:extLst>
          </p:cNvPr>
          <p:cNvSpPr txBox="1"/>
          <p:nvPr/>
        </p:nvSpPr>
        <p:spPr>
          <a:xfrm>
            <a:off x="609600" y="6273800"/>
            <a:ext cx="10972800" cy="246221"/>
          </a:xfrm>
          <a:prstGeom prst="rect">
            <a:avLst/>
          </a:prstGeom>
          <a:noFill/>
        </p:spPr>
        <p:txBody>
          <a:bodyPr vert="horz" rtlCol="0">
            <a:spAutoFit/>
          </a:bodyPr>
          <a:lstStyle/>
          <a:p>
            <a:r>
              <a:rPr lang="vi-VN" sz="1000">
                <a:solidFill>
                  <a:srgbClr val="334155"/>
                </a:solidFill>
                <a:latin typeface="Segoe UI" panose="020B0502040204020203" pitchFamily="34" charset="0"/>
              </a:rPr>
              <a:t>Phương pháp đo lường nhân khẩu học</a:t>
            </a:r>
            <a:endParaRPr lang="en-US" sz="1000">
              <a:solidFill>
                <a:srgbClr val="334155"/>
              </a:solidFill>
              <a:latin typeface="Segoe UI" panose="020B0502040204020203" pitchFamily="34" charset="0"/>
            </a:endParaRPr>
          </a:p>
        </p:txBody>
      </p:sp>
    </p:spTree>
    <p:extLst>
      <p:ext uri="{BB962C8B-B14F-4D97-AF65-F5344CB8AC3E}">
        <p14:creationId xmlns:p14="http://schemas.microsoft.com/office/powerpoint/2010/main" val="2150011859"/>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850">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accel="50000" decel="50000" fill="hold" nodeType="clickEffect">
                                  <p:stCondLst>
                                    <p:cond delay="0"/>
                                  </p:stCondLst>
                                  <p:childTnLst>
                                    <p:set>
                                      <p:cBhvr>
                                        <p:cTn id="6" dur="1" fill="hold">
                                          <p:stCondLst>
                                            <p:cond delay="0"/>
                                          </p:stCondLst>
                                        </p:cTn>
                                        <p:tgtEl>
                                          <p:spTgt spid="14"/>
                                        </p:tgtEl>
                                        <p:attrNameLst>
                                          <p:attrName>style.visibility</p:attrName>
                                        </p:attrNameLst>
                                      </p:cBhvr>
                                      <p:to>
                                        <p:strVal val="visible"/>
                                      </p:to>
                                    </p:set>
                                    <p:anim calcmode="lin" valueType="num">
                                      <p:cBhvr additive="base">
                                        <p:cTn id="7" dur="450" fill="hold"/>
                                        <p:tgtEl>
                                          <p:spTgt spid="14"/>
                                        </p:tgtEl>
                                        <p:attrNameLst>
                                          <p:attrName>ppt_x</p:attrName>
                                        </p:attrNameLst>
                                      </p:cBhvr>
                                      <p:tavLst>
                                        <p:tav tm="0">
                                          <p:val>
                                            <p:strVal val="#ppt_x"/>
                                          </p:val>
                                        </p:tav>
                                        <p:tav tm="100000">
                                          <p:val>
                                            <p:strVal val="#ppt_x"/>
                                          </p:val>
                                        </p:tav>
                                      </p:tavLst>
                                    </p:anim>
                                    <p:anim calcmode="lin" valueType="num">
                                      <p:cBhvr additive="base">
                                        <p:cTn id="8" dur="450" fill="hold"/>
                                        <p:tgtEl>
                                          <p:spTgt spid="14"/>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accel="50000" decel="50000" fill="hold" nodeType="clickEffect">
                                  <p:stCondLst>
                                    <p:cond delay="0"/>
                                  </p:stCondLst>
                                  <p:childTnLst>
                                    <p:set>
                                      <p:cBhvr>
                                        <p:cTn id="12" dur="1" fill="hold">
                                          <p:stCondLst>
                                            <p:cond delay="0"/>
                                          </p:stCondLst>
                                        </p:cTn>
                                        <p:tgtEl>
                                          <p:spTgt spid="20"/>
                                        </p:tgtEl>
                                        <p:attrNameLst>
                                          <p:attrName>style.visibility</p:attrName>
                                        </p:attrNameLst>
                                      </p:cBhvr>
                                      <p:to>
                                        <p:strVal val="visible"/>
                                      </p:to>
                                    </p:set>
                                    <p:anim calcmode="lin" valueType="num">
                                      <p:cBhvr additive="base">
                                        <p:cTn id="13" dur="450" fill="hold"/>
                                        <p:tgtEl>
                                          <p:spTgt spid="20"/>
                                        </p:tgtEl>
                                        <p:attrNameLst>
                                          <p:attrName>ppt_x</p:attrName>
                                        </p:attrNameLst>
                                      </p:cBhvr>
                                      <p:tavLst>
                                        <p:tav tm="0">
                                          <p:val>
                                            <p:strVal val="#ppt_x"/>
                                          </p:val>
                                        </p:tav>
                                        <p:tav tm="100000">
                                          <p:val>
                                            <p:strVal val="#ppt_x"/>
                                          </p:val>
                                        </p:tav>
                                      </p:tavLst>
                                    </p:anim>
                                    <p:anim calcmode="lin" valueType="num">
                                      <p:cBhvr additive="base">
                                        <p:cTn id="14" dur="450" fill="hold"/>
                                        <p:tgtEl>
                                          <p:spTgt spid="20"/>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accel="50000" decel="50000" fill="hold" nodeType="clickEffect">
                                  <p:stCondLst>
                                    <p:cond delay="0"/>
                                  </p:stCondLst>
                                  <p:childTnLst>
                                    <p:set>
                                      <p:cBhvr>
                                        <p:cTn id="18" dur="1" fill="hold">
                                          <p:stCondLst>
                                            <p:cond delay="0"/>
                                          </p:stCondLst>
                                        </p:cTn>
                                        <p:tgtEl>
                                          <p:spTgt spid="26"/>
                                        </p:tgtEl>
                                        <p:attrNameLst>
                                          <p:attrName>style.visibility</p:attrName>
                                        </p:attrNameLst>
                                      </p:cBhvr>
                                      <p:to>
                                        <p:strVal val="visible"/>
                                      </p:to>
                                    </p:set>
                                    <p:anim calcmode="lin" valueType="num">
                                      <p:cBhvr additive="base">
                                        <p:cTn id="19" dur="450" fill="hold"/>
                                        <p:tgtEl>
                                          <p:spTgt spid="26"/>
                                        </p:tgtEl>
                                        <p:attrNameLst>
                                          <p:attrName>ppt_x</p:attrName>
                                        </p:attrNameLst>
                                      </p:cBhvr>
                                      <p:tavLst>
                                        <p:tav tm="0">
                                          <p:val>
                                            <p:strVal val="#ppt_x"/>
                                          </p:val>
                                        </p:tav>
                                        <p:tav tm="100000">
                                          <p:val>
                                            <p:strVal val="#ppt_x"/>
                                          </p:val>
                                        </p:tav>
                                      </p:tavLst>
                                    </p:anim>
                                    <p:anim calcmode="lin" valueType="num">
                                      <p:cBhvr additive="base">
                                        <p:cTn id="20" dur="450" fill="hold"/>
                                        <p:tgtEl>
                                          <p:spTgt spid="2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a:xfrm>
          <a:off x="0" y="0"/>
          <a:ext cx="0" cy="0"/>
          <a:chOff x="0" y="0"/>
          <a:chExt cx="0" cy="0"/>
        </a:xfrm>
      </p:grpSpPr>
      <p:sp>
        <p:nvSpPr>
          <p:cNvPr id="2" name="!!Anchor_Kicker_Rail">
            <a:extLst>
              <a:ext uri="{FF2B5EF4-FFF2-40B4-BE49-F238E27FC236}">
                <a16:creationId xmlns:a16="http://schemas.microsoft.com/office/drawing/2014/main" id="{ABCEA01F-D97A-CF39-9C5F-D816088161F3}"/>
              </a:ext>
            </a:extLst>
          </p:cNvPr>
          <p:cNvSpPr txBox="1"/>
          <p:nvPr/>
        </p:nvSpPr>
        <p:spPr>
          <a:xfrm>
            <a:off x="609600" y="457200"/>
            <a:ext cx="9956800" cy="276999"/>
          </a:xfrm>
          <a:prstGeom prst="rect">
            <a:avLst/>
          </a:prstGeom>
          <a:noFill/>
        </p:spPr>
        <p:txBody>
          <a:bodyPr vert="horz" rtlCol="0">
            <a:spAutoFit/>
          </a:bodyPr>
          <a:lstStyle/>
          <a:p>
            <a:r>
              <a:rPr lang="en-US" sz="1200" b="1">
                <a:solidFill>
                  <a:srgbClr val="0284C7"/>
                </a:solidFill>
                <a:latin typeface="Segoe UI" panose="020B0502040204020203" pitchFamily="34" charset="0"/>
              </a:rPr>
              <a:t>TỶ SUẤT GFR  •  TRỌNG TÂM</a:t>
            </a:r>
          </a:p>
        </p:txBody>
      </p:sp>
      <p:sp>
        <p:nvSpPr>
          <p:cNvPr id="3" name="!!Anchor_Slide_Tracker">
            <a:extLst>
              <a:ext uri="{FF2B5EF4-FFF2-40B4-BE49-F238E27FC236}">
                <a16:creationId xmlns:a16="http://schemas.microsoft.com/office/drawing/2014/main" id="{54C9FB17-34B5-500F-FA94-A934FEE19A4A}"/>
              </a:ext>
            </a:extLst>
          </p:cNvPr>
          <p:cNvSpPr txBox="1"/>
          <p:nvPr/>
        </p:nvSpPr>
        <p:spPr>
          <a:xfrm>
            <a:off x="10820400" y="457200"/>
            <a:ext cx="762000" cy="276999"/>
          </a:xfrm>
          <a:prstGeom prst="rect">
            <a:avLst/>
          </a:prstGeom>
          <a:noFill/>
        </p:spPr>
        <p:txBody>
          <a:bodyPr vert="horz" rtlCol="0">
            <a:spAutoFit/>
          </a:bodyPr>
          <a:lstStyle/>
          <a:p>
            <a:pPr algn="r"/>
            <a:r>
              <a:rPr lang="en-US" sz="1200" b="1">
                <a:solidFill>
                  <a:srgbClr val="334155"/>
                </a:solidFill>
                <a:latin typeface="Bahnschrift" panose="020B0502040204020203" pitchFamily="34" charset="0"/>
              </a:rPr>
              <a:t>05 / 22</a:t>
            </a:r>
          </a:p>
        </p:txBody>
      </p:sp>
      <p:sp>
        <p:nvSpPr>
          <p:cNvPr id="4" name="!!Anchor_Assertion_Title">
            <a:extLst>
              <a:ext uri="{FF2B5EF4-FFF2-40B4-BE49-F238E27FC236}">
                <a16:creationId xmlns:a16="http://schemas.microsoft.com/office/drawing/2014/main" id="{B1BC86EB-A3E9-1A0B-1A9D-8D6A04AF6C36}"/>
              </a:ext>
            </a:extLst>
          </p:cNvPr>
          <p:cNvSpPr txBox="1"/>
          <p:nvPr/>
        </p:nvSpPr>
        <p:spPr>
          <a:xfrm>
            <a:off x="609600" y="711200"/>
            <a:ext cx="10972800" cy="369332"/>
          </a:xfrm>
          <a:prstGeom prst="rect">
            <a:avLst/>
          </a:prstGeom>
          <a:noFill/>
        </p:spPr>
        <p:txBody>
          <a:bodyPr vert="horz" wrap="square" tIns="0" bIns="0" rtlCol="0">
            <a:spAutoFit/>
          </a:bodyPr>
          <a:lstStyle/>
          <a:p>
            <a:r>
              <a:rPr lang="en-US" sz="2400" b="1">
                <a:solidFill>
                  <a:srgbClr val="0F172A"/>
                </a:solidFill>
                <a:latin typeface="Segoe UI" panose="020B0502040204020203" pitchFamily="34" charset="0"/>
              </a:rPr>
              <a:t>Tỷ Suất Sinh Chung (GFR) Xác Định Trên Quần Thể Phụ Nữ Sinh Đẻ</a:t>
            </a:r>
          </a:p>
        </p:txBody>
      </p:sp>
      <p:pic>
        <p:nvPicPr>
          <p:cNvPr id="6" name="!!Stage_Hero_Container">
            <a:extLst>
              <a:ext uri="{FF2B5EF4-FFF2-40B4-BE49-F238E27FC236}">
                <a16:creationId xmlns:a16="http://schemas.microsoft.com/office/drawing/2014/main" id="{DDBDA1FA-B0E1-0367-5ED2-C3DEBBDAC63A}"/>
              </a:ext>
            </a:extLst>
          </p:cNvPr>
          <p:cNvPicPr>
            <a:picLocks/>
          </p:cNvPicPr>
          <p:nvPr/>
        </p:nvPicPr>
        <p:blipFill>
          <a:blip r:embed="rId2">
            <a:extLst>
              <a:ext uri="{28A0092B-C50C-407E-A947-70E740481C1C}">
                <a14:useLocalDpi xmlns:a14="http://schemas.microsoft.com/office/drawing/2010/main" val="0"/>
              </a:ext>
            </a:extLst>
          </a:blip>
          <a:stretch>
            <a:fillRect/>
          </a:stretch>
        </p:blipFill>
        <p:spPr>
          <a:xfrm>
            <a:off x="609600" y="1752600"/>
            <a:ext cx="5705856" cy="4368800"/>
          </a:xfrm>
          <a:prstGeom prst="roundRect">
            <a:avLst/>
          </a:prstGeom>
          <a:ln w="12700">
            <a:solidFill>
              <a:srgbClr val="CBD5E1"/>
            </a:solidFill>
          </a:ln>
        </p:spPr>
      </p:pic>
      <p:grpSp>
        <p:nvGrpSpPr>
          <p:cNvPr id="12" name="!!Stage_Sub_Card_1">
            <a:extLst>
              <a:ext uri="{FF2B5EF4-FFF2-40B4-BE49-F238E27FC236}">
                <a16:creationId xmlns:a16="http://schemas.microsoft.com/office/drawing/2014/main" id="{A4130430-F5B8-C154-A40C-28FEB396C6B8}"/>
              </a:ext>
            </a:extLst>
          </p:cNvPr>
          <p:cNvGrpSpPr/>
          <p:nvPr/>
        </p:nvGrpSpPr>
        <p:grpSpPr>
          <a:xfrm>
            <a:off x="6644640" y="1676400"/>
            <a:ext cx="4937760" cy="1405467"/>
            <a:chOff x="6644640" y="1676400"/>
            <a:chExt cx="4937760" cy="1405467"/>
          </a:xfrm>
        </p:grpSpPr>
        <p:sp>
          <p:nvSpPr>
            <p:cNvPr id="7" name="Rectangle: Rounded Corners 6">
              <a:extLst>
                <a:ext uri="{FF2B5EF4-FFF2-40B4-BE49-F238E27FC236}">
                  <a16:creationId xmlns:a16="http://schemas.microsoft.com/office/drawing/2014/main" id="{ECB6F4F0-8589-DFDB-47FC-842F5F48D335}"/>
                </a:ext>
              </a:extLst>
            </p:cNvPr>
            <p:cNvSpPr/>
            <p:nvPr/>
          </p:nvSpPr>
          <p:spPr>
            <a:xfrm>
              <a:off x="6644640" y="1676400"/>
              <a:ext cx="4937760" cy="1405467"/>
            </a:xfrm>
            <a:prstGeom prst="roundRect">
              <a:avLst/>
            </a:prstGeom>
            <a:solidFill>
              <a:srgbClr val="FFFFFF"/>
            </a:solidFill>
            <a:ln w="19050">
              <a:solidFill>
                <a:srgbClr val="0284C7"/>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Oval 7">
              <a:extLst>
                <a:ext uri="{FF2B5EF4-FFF2-40B4-BE49-F238E27FC236}">
                  <a16:creationId xmlns:a16="http://schemas.microsoft.com/office/drawing/2014/main" id="{C69A5477-712F-C9ED-E389-6777BC24B5CC}"/>
                </a:ext>
              </a:extLst>
            </p:cNvPr>
            <p:cNvSpPr/>
            <p:nvPr/>
          </p:nvSpPr>
          <p:spPr>
            <a:xfrm>
              <a:off x="6822440" y="1854200"/>
              <a:ext cx="381000" cy="381000"/>
            </a:xfrm>
            <a:prstGeom prst="ellipse">
              <a:avLst/>
            </a:prstGeom>
            <a:solidFill>
              <a:srgbClr val="E0F2FE"/>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0" name="Graphic 9">
              <a:extLst>
                <a:ext uri="{FF2B5EF4-FFF2-40B4-BE49-F238E27FC236}">
                  <a16:creationId xmlns:a16="http://schemas.microsoft.com/office/drawing/2014/main" id="{BAF36B2F-8881-9DA6-075E-ECC18A9FDD93}"/>
                </a:ext>
              </a:extLst>
            </p:cNvPr>
            <p:cNvPicPr>
              <a:picLocks/>
            </p:cNvPicPr>
            <p:nvPr/>
          </p:nvPicPr>
          <p:blipFill>
            <a:blip>
              <a:extLst>
                <a:ext uri="{96DAC541-7B7A-43D3-8B79-37D633B846F1}">
                  <asvg:svgBlip xmlns:asvg="http://schemas.microsoft.com/office/drawing/2016/SVG/main" r:embed="rId3"/>
                </a:ext>
              </a:extLst>
            </a:blip>
            <a:stretch>
              <a:fillRect/>
            </a:stretch>
          </p:blipFill>
          <p:spPr>
            <a:xfrm>
              <a:off x="6885940" y="1917700"/>
              <a:ext cx="254000" cy="254000"/>
            </a:xfrm>
            <a:prstGeom prst="rect">
              <a:avLst/>
            </a:prstGeom>
          </p:spPr>
        </p:pic>
        <p:sp>
          <p:nvSpPr>
            <p:cNvPr id="11" name="TextBox 10">
              <a:extLst>
                <a:ext uri="{FF2B5EF4-FFF2-40B4-BE49-F238E27FC236}">
                  <a16:creationId xmlns:a16="http://schemas.microsoft.com/office/drawing/2014/main" id="{58CD872E-A023-54BF-84E5-BBFBE6488310}"/>
                </a:ext>
              </a:extLst>
            </p:cNvPr>
            <p:cNvSpPr txBox="1"/>
            <p:nvPr/>
          </p:nvSpPr>
          <p:spPr>
            <a:xfrm>
              <a:off x="7305040" y="1803400"/>
              <a:ext cx="4150360" cy="990015"/>
            </a:xfrm>
            <a:prstGeom prst="rect">
              <a:avLst/>
            </a:prstGeom>
            <a:noFill/>
          </p:spPr>
          <p:txBody>
            <a:bodyPr vert="horz" wrap="square" tIns="0" rtlCol="0">
              <a:spAutoFit/>
            </a:bodyPr>
            <a:lstStyle/>
            <a:p>
              <a:pPr>
                <a:spcAft>
                  <a:spcPts val="400"/>
                </a:spcAft>
              </a:pPr>
              <a:r>
                <a:rPr lang="en-US" sz="1600" b="1">
                  <a:solidFill>
                    <a:srgbClr val="0F172A"/>
                  </a:solidFill>
                  <a:latin typeface="Segoe UI" panose="020B0502040204020203" pitchFamily="34" charset="0"/>
                </a:rPr>
                <a:t>Công Thức Tính GFR
</a:t>
              </a:r>
              <a:r>
                <a:rPr lang="vi-VN" sz="1400" b="1">
                  <a:solidFill>
                    <a:srgbClr val="334155"/>
                  </a:solidFill>
                  <a:latin typeface="Segoe UI" panose="020B0502040204020203" pitchFamily="34" charset="0"/>
                </a:rPr>
                <a:t>GFR = (B / W_15-49) * 1,000 (đơn vị ‰). Với W_15-49 là số phụ nữ trong độ tuổi 15-49 tuổi bình quân trong năm.</a:t>
              </a:r>
              <a:endParaRPr lang="en-US" sz="1400" b="1">
                <a:solidFill>
                  <a:srgbClr val="334155"/>
                </a:solidFill>
                <a:latin typeface="Segoe UI" panose="020B0502040204020203" pitchFamily="34" charset="0"/>
              </a:endParaRPr>
            </a:p>
          </p:txBody>
        </p:sp>
      </p:grpSp>
      <p:grpSp>
        <p:nvGrpSpPr>
          <p:cNvPr id="18" name="!!Stage_Sub_Card_2">
            <a:extLst>
              <a:ext uri="{FF2B5EF4-FFF2-40B4-BE49-F238E27FC236}">
                <a16:creationId xmlns:a16="http://schemas.microsoft.com/office/drawing/2014/main" id="{4B2D54FE-7A5B-CEB5-50FB-1A73974C6FAA}"/>
              </a:ext>
            </a:extLst>
          </p:cNvPr>
          <p:cNvGrpSpPr/>
          <p:nvPr/>
        </p:nvGrpSpPr>
        <p:grpSpPr>
          <a:xfrm>
            <a:off x="6644640" y="3234267"/>
            <a:ext cx="4937760" cy="1405466"/>
            <a:chOff x="6644640" y="3234267"/>
            <a:chExt cx="4937760" cy="1405466"/>
          </a:xfrm>
        </p:grpSpPr>
        <p:sp>
          <p:nvSpPr>
            <p:cNvPr id="13" name="Rectangle: Rounded Corners 12">
              <a:extLst>
                <a:ext uri="{FF2B5EF4-FFF2-40B4-BE49-F238E27FC236}">
                  <a16:creationId xmlns:a16="http://schemas.microsoft.com/office/drawing/2014/main" id="{5AE088E5-9CBB-46BF-80AF-2D32CFD2C3D6}"/>
                </a:ext>
              </a:extLst>
            </p:cNvPr>
            <p:cNvSpPr/>
            <p:nvPr/>
          </p:nvSpPr>
          <p:spPr>
            <a:xfrm>
              <a:off x="6644640" y="3234267"/>
              <a:ext cx="4937760" cy="1405466"/>
            </a:xfrm>
            <a:prstGeom prst="roundRect">
              <a:avLst/>
            </a:prstGeom>
            <a:solidFill>
              <a:srgbClr val="FFFFFF"/>
            </a:solidFill>
            <a:ln w="12700">
              <a:solidFill>
                <a:srgbClr val="CBD5E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Oval 13">
              <a:extLst>
                <a:ext uri="{FF2B5EF4-FFF2-40B4-BE49-F238E27FC236}">
                  <a16:creationId xmlns:a16="http://schemas.microsoft.com/office/drawing/2014/main" id="{CF3A1704-F793-5E47-0E06-E4453DCDC143}"/>
                </a:ext>
              </a:extLst>
            </p:cNvPr>
            <p:cNvSpPr/>
            <p:nvPr/>
          </p:nvSpPr>
          <p:spPr>
            <a:xfrm>
              <a:off x="6822440" y="3412067"/>
              <a:ext cx="381000" cy="381000"/>
            </a:xfrm>
            <a:prstGeom prst="ellipse">
              <a:avLst/>
            </a:prstGeom>
            <a:solidFill>
              <a:srgbClr val="E0F2FE"/>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6" name="Graphic 15">
              <a:extLst>
                <a:ext uri="{FF2B5EF4-FFF2-40B4-BE49-F238E27FC236}">
                  <a16:creationId xmlns:a16="http://schemas.microsoft.com/office/drawing/2014/main" id="{DC0E1B7A-6738-F6C8-65A8-E42572852818}"/>
                </a:ext>
              </a:extLst>
            </p:cNvPr>
            <p:cNvPicPr>
              <a:picLocks/>
            </p:cNvPicPr>
            <p:nvPr/>
          </p:nvPicPr>
          <p:blipFill>
            <a:blip>
              <a:extLst>
                <a:ext uri="{96DAC541-7B7A-43D3-8B79-37D633B846F1}">
                  <asvg:svgBlip xmlns:asvg="http://schemas.microsoft.com/office/drawing/2016/SVG/main" r:embed="rId4"/>
                </a:ext>
              </a:extLst>
            </a:blip>
            <a:stretch>
              <a:fillRect/>
            </a:stretch>
          </p:blipFill>
          <p:spPr>
            <a:xfrm>
              <a:off x="6885940" y="3475567"/>
              <a:ext cx="254000" cy="254000"/>
            </a:xfrm>
            <a:prstGeom prst="rect">
              <a:avLst/>
            </a:prstGeom>
          </p:spPr>
        </p:pic>
        <p:sp>
          <p:nvSpPr>
            <p:cNvPr id="17" name="TextBox 16">
              <a:extLst>
                <a:ext uri="{FF2B5EF4-FFF2-40B4-BE49-F238E27FC236}">
                  <a16:creationId xmlns:a16="http://schemas.microsoft.com/office/drawing/2014/main" id="{6FB8CAE4-29A5-C485-2CFE-F66914F519F5}"/>
                </a:ext>
              </a:extLst>
            </p:cNvPr>
            <p:cNvSpPr txBox="1"/>
            <p:nvPr/>
          </p:nvSpPr>
          <p:spPr>
            <a:xfrm>
              <a:off x="7305040" y="3361267"/>
              <a:ext cx="4150360" cy="990015"/>
            </a:xfrm>
            <a:prstGeom prst="rect">
              <a:avLst/>
            </a:prstGeom>
            <a:noFill/>
          </p:spPr>
          <p:txBody>
            <a:bodyPr vert="horz" wrap="square" tIns="0" rtlCol="0">
              <a:spAutoFit/>
            </a:bodyPr>
            <a:lstStyle/>
            <a:p>
              <a:pPr>
                <a:spcAft>
                  <a:spcPts val="400"/>
                </a:spcAft>
              </a:pPr>
              <a:r>
                <a:rPr lang="vi-VN" sz="1600" b="1">
                  <a:solidFill>
                    <a:srgbClr val="0F172A"/>
                  </a:solidFill>
                  <a:latin typeface="Segoe UI" panose="020B0502040204020203" pitchFamily="34" charset="0"/>
                </a:rPr>
                <a:t>Mức Độ Chuẩn Hóa Cao Hơn
</a:t>
              </a:r>
              <a:r>
                <a:rPr lang="vi-VN" sz="1400" b="1">
                  <a:solidFill>
                    <a:srgbClr val="334155"/>
                  </a:solidFill>
                  <a:latin typeface="Segoe UI" panose="020B0502040204020203" pitchFamily="34" charset="0"/>
                </a:rPr>
                <a:t>GFR thường có giá trị cao gấp 4 đến 5 lần so với CBR vì đã loại bỏ nam giới và các lứa tuổi không tham gia sinh đẻ.</a:t>
              </a:r>
              <a:endParaRPr lang="en-US" sz="1400" b="1">
                <a:solidFill>
                  <a:srgbClr val="334155"/>
                </a:solidFill>
                <a:latin typeface="Segoe UI" panose="020B0502040204020203" pitchFamily="34" charset="0"/>
              </a:endParaRPr>
            </a:p>
          </p:txBody>
        </p:sp>
      </p:grpSp>
      <p:grpSp>
        <p:nvGrpSpPr>
          <p:cNvPr id="24" name="!!Stage_Sub_Card_3">
            <a:extLst>
              <a:ext uri="{FF2B5EF4-FFF2-40B4-BE49-F238E27FC236}">
                <a16:creationId xmlns:a16="http://schemas.microsoft.com/office/drawing/2014/main" id="{473014F2-0D5D-60F1-2E6D-743C7CBFB8F0}"/>
              </a:ext>
            </a:extLst>
          </p:cNvPr>
          <p:cNvGrpSpPr/>
          <p:nvPr/>
        </p:nvGrpSpPr>
        <p:grpSpPr>
          <a:xfrm>
            <a:off x="6644640" y="4792133"/>
            <a:ext cx="4937760" cy="1405467"/>
            <a:chOff x="6644640" y="4792133"/>
            <a:chExt cx="4937760" cy="1405467"/>
          </a:xfrm>
        </p:grpSpPr>
        <p:sp>
          <p:nvSpPr>
            <p:cNvPr id="19" name="Rectangle: Rounded Corners 18">
              <a:extLst>
                <a:ext uri="{FF2B5EF4-FFF2-40B4-BE49-F238E27FC236}">
                  <a16:creationId xmlns:a16="http://schemas.microsoft.com/office/drawing/2014/main" id="{709900F5-6152-8718-D911-59142B49F1EC}"/>
                </a:ext>
              </a:extLst>
            </p:cNvPr>
            <p:cNvSpPr/>
            <p:nvPr/>
          </p:nvSpPr>
          <p:spPr>
            <a:xfrm>
              <a:off x="6644640" y="4792133"/>
              <a:ext cx="4937760" cy="1405467"/>
            </a:xfrm>
            <a:prstGeom prst="roundRect">
              <a:avLst/>
            </a:prstGeom>
            <a:solidFill>
              <a:srgbClr val="FFFFFF"/>
            </a:solidFill>
            <a:ln w="12700">
              <a:solidFill>
                <a:srgbClr val="CBD5E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Oval 19">
              <a:extLst>
                <a:ext uri="{FF2B5EF4-FFF2-40B4-BE49-F238E27FC236}">
                  <a16:creationId xmlns:a16="http://schemas.microsoft.com/office/drawing/2014/main" id="{DDE650F5-89BB-0604-1442-E6C67E94C68A}"/>
                </a:ext>
              </a:extLst>
            </p:cNvPr>
            <p:cNvSpPr/>
            <p:nvPr/>
          </p:nvSpPr>
          <p:spPr>
            <a:xfrm>
              <a:off x="6822440" y="4969933"/>
              <a:ext cx="381000" cy="381000"/>
            </a:xfrm>
            <a:prstGeom prst="ellipse">
              <a:avLst/>
            </a:prstGeom>
            <a:solidFill>
              <a:srgbClr val="E0F2FE"/>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2" name="Graphic 21">
              <a:extLst>
                <a:ext uri="{FF2B5EF4-FFF2-40B4-BE49-F238E27FC236}">
                  <a16:creationId xmlns:a16="http://schemas.microsoft.com/office/drawing/2014/main" id="{D7DC18CA-EF7A-64A8-D010-AFC7C43304C4}"/>
                </a:ext>
              </a:extLst>
            </p:cNvPr>
            <p:cNvPicPr>
              <a:picLocks/>
            </p:cNvPicPr>
            <p:nvPr/>
          </p:nvPicPr>
          <p:blipFill>
            <a:blip>
              <a:extLst>
                <a:ext uri="{96DAC541-7B7A-43D3-8B79-37D633B846F1}">
                  <asvg:svgBlip xmlns:asvg="http://schemas.microsoft.com/office/drawing/2016/SVG/main" r:embed="rId5"/>
                </a:ext>
              </a:extLst>
            </a:blip>
            <a:stretch>
              <a:fillRect/>
            </a:stretch>
          </p:blipFill>
          <p:spPr>
            <a:xfrm>
              <a:off x="6885940" y="5033433"/>
              <a:ext cx="254000" cy="254000"/>
            </a:xfrm>
            <a:prstGeom prst="rect">
              <a:avLst/>
            </a:prstGeom>
          </p:spPr>
        </p:pic>
        <p:sp>
          <p:nvSpPr>
            <p:cNvPr id="23" name="TextBox 22">
              <a:extLst>
                <a:ext uri="{FF2B5EF4-FFF2-40B4-BE49-F238E27FC236}">
                  <a16:creationId xmlns:a16="http://schemas.microsoft.com/office/drawing/2014/main" id="{7A520EFE-9F34-B3D8-3F6A-A1F9C29CB8D1}"/>
                </a:ext>
              </a:extLst>
            </p:cNvPr>
            <p:cNvSpPr txBox="1"/>
            <p:nvPr/>
          </p:nvSpPr>
          <p:spPr>
            <a:xfrm>
              <a:off x="7305040" y="4919133"/>
              <a:ext cx="4150360" cy="990015"/>
            </a:xfrm>
            <a:prstGeom prst="rect">
              <a:avLst/>
            </a:prstGeom>
            <a:noFill/>
          </p:spPr>
          <p:txBody>
            <a:bodyPr vert="horz" wrap="square" tIns="0" rtlCol="0">
              <a:spAutoFit/>
            </a:bodyPr>
            <a:lstStyle/>
            <a:p>
              <a:pPr>
                <a:spcAft>
                  <a:spcPts val="400"/>
                </a:spcAft>
              </a:pPr>
              <a:r>
                <a:rPr lang="en-US" sz="1600" b="1">
                  <a:solidFill>
                    <a:srgbClr val="0F172A"/>
                  </a:solidFill>
                  <a:latin typeface="Segoe UI" panose="020B0502040204020203" pitchFamily="34" charset="0"/>
                </a:rPr>
                <a:t>Hạn Chế Còn Tồn Tại
</a:t>
              </a:r>
              <a:r>
                <a:rPr lang="vi-VN" sz="1400" b="1">
                  <a:solidFill>
                    <a:srgbClr val="334155"/>
                  </a:solidFill>
                  <a:latin typeface="Segoe UI" panose="020B0502040204020203" pitchFamily="34" charset="0"/>
                </a:rPr>
                <a:t>Vẫn chưa tính đến sự khác biệt lớn về cường độ sinh con giữa các lứa tuổi trong khoảng 15-49 (tuổi 25-29 sinh nhiều hơn 40-44).</a:t>
              </a:r>
              <a:endParaRPr lang="en-US" sz="1400" b="1">
                <a:solidFill>
                  <a:srgbClr val="334155"/>
                </a:solidFill>
                <a:latin typeface="Segoe UI" panose="020B0502040204020203" pitchFamily="34" charset="0"/>
              </a:endParaRPr>
            </a:p>
          </p:txBody>
        </p:sp>
      </p:grpSp>
      <p:sp>
        <p:nvSpPr>
          <p:cNvPr id="25" name="!!Anchor_Source_Footer">
            <a:extLst>
              <a:ext uri="{FF2B5EF4-FFF2-40B4-BE49-F238E27FC236}">
                <a16:creationId xmlns:a16="http://schemas.microsoft.com/office/drawing/2014/main" id="{4DC3146F-BA5C-B706-4EF5-B84E3AAD5A5C}"/>
              </a:ext>
            </a:extLst>
          </p:cNvPr>
          <p:cNvSpPr txBox="1"/>
          <p:nvPr/>
        </p:nvSpPr>
        <p:spPr>
          <a:xfrm>
            <a:off x="609600" y="6273800"/>
            <a:ext cx="10972800" cy="246221"/>
          </a:xfrm>
          <a:prstGeom prst="rect">
            <a:avLst/>
          </a:prstGeom>
          <a:noFill/>
        </p:spPr>
        <p:txBody>
          <a:bodyPr vert="horz" rtlCol="0">
            <a:spAutoFit/>
          </a:bodyPr>
          <a:lstStyle/>
          <a:p>
            <a:r>
              <a:rPr lang="vi-VN" sz="1000">
                <a:solidFill>
                  <a:srgbClr val="334155"/>
                </a:solidFill>
                <a:latin typeface="Segoe UI" panose="020B0502040204020203" pitchFamily="34" charset="0"/>
              </a:rPr>
              <a:t>Giáo trình Dân số học đại cương</a:t>
            </a:r>
            <a:endParaRPr lang="en-US" sz="1000">
              <a:solidFill>
                <a:srgbClr val="334155"/>
              </a:solidFill>
              <a:latin typeface="Segoe UI" panose="020B0502040204020203" pitchFamily="34" charset="0"/>
            </a:endParaRPr>
          </a:p>
        </p:txBody>
      </p:sp>
    </p:spTree>
    <p:extLst>
      <p:ext uri="{BB962C8B-B14F-4D97-AF65-F5344CB8AC3E}">
        <p14:creationId xmlns:p14="http://schemas.microsoft.com/office/powerpoint/2010/main" val="3536338470"/>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850">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accel="50000" decel="50000" fill="hold" nodeType="clickEffect">
                                  <p:stCondLst>
                                    <p:cond delay="0"/>
                                  </p:stCondLst>
                                  <p:childTnLst>
                                    <p:set>
                                      <p:cBhvr>
                                        <p:cTn id="6" dur="1" fill="hold">
                                          <p:stCondLst>
                                            <p:cond delay="0"/>
                                          </p:stCondLst>
                                        </p:cTn>
                                        <p:tgtEl>
                                          <p:spTgt spid="12"/>
                                        </p:tgtEl>
                                        <p:attrNameLst>
                                          <p:attrName>style.visibility</p:attrName>
                                        </p:attrNameLst>
                                      </p:cBhvr>
                                      <p:to>
                                        <p:strVal val="visible"/>
                                      </p:to>
                                    </p:set>
                                    <p:anim calcmode="lin" valueType="num">
                                      <p:cBhvr additive="base">
                                        <p:cTn id="7" dur="450" fill="hold"/>
                                        <p:tgtEl>
                                          <p:spTgt spid="12"/>
                                        </p:tgtEl>
                                        <p:attrNameLst>
                                          <p:attrName>ppt_x</p:attrName>
                                        </p:attrNameLst>
                                      </p:cBhvr>
                                      <p:tavLst>
                                        <p:tav tm="0">
                                          <p:val>
                                            <p:strVal val="#ppt_x"/>
                                          </p:val>
                                        </p:tav>
                                        <p:tav tm="100000">
                                          <p:val>
                                            <p:strVal val="#ppt_x"/>
                                          </p:val>
                                        </p:tav>
                                      </p:tavLst>
                                    </p:anim>
                                    <p:anim calcmode="lin" valueType="num">
                                      <p:cBhvr additive="base">
                                        <p:cTn id="8" dur="450" fill="hold"/>
                                        <p:tgtEl>
                                          <p:spTgt spid="12"/>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accel="50000" decel="50000" fill="hold" nodeType="clickEffect">
                                  <p:stCondLst>
                                    <p:cond delay="0"/>
                                  </p:stCondLst>
                                  <p:childTnLst>
                                    <p:set>
                                      <p:cBhvr>
                                        <p:cTn id="12" dur="1" fill="hold">
                                          <p:stCondLst>
                                            <p:cond delay="0"/>
                                          </p:stCondLst>
                                        </p:cTn>
                                        <p:tgtEl>
                                          <p:spTgt spid="18"/>
                                        </p:tgtEl>
                                        <p:attrNameLst>
                                          <p:attrName>style.visibility</p:attrName>
                                        </p:attrNameLst>
                                      </p:cBhvr>
                                      <p:to>
                                        <p:strVal val="visible"/>
                                      </p:to>
                                    </p:set>
                                    <p:anim calcmode="lin" valueType="num">
                                      <p:cBhvr additive="base">
                                        <p:cTn id="13" dur="450" fill="hold"/>
                                        <p:tgtEl>
                                          <p:spTgt spid="18"/>
                                        </p:tgtEl>
                                        <p:attrNameLst>
                                          <p:attrName>ppt_x</p:attrName>
                                        </p:attrNameLst>
                                      </p:cBhvr>
                                      <p:tavLst>
                                        <p:tav tm="0">
                                          <p:val>
                                            <p:strVal val="#ppt_x"/>
                                          </p:val>
                                        </p:tav>
                                        <p:tav tm="100000">
                                          <p:val>
                                            <p:strVal val="#ppt_x"/>
                                          </p:val>
                                        </p:tav>
                                      </p:tavLst>
                                    </p:anim>
                                    <p:anim calcmode="lin" valueType="num">
                                      <p:cBhvr additive="base">
                                        <p:cTn id="14" dur="450" fill="hold"/>
                                        <p:tgtEl>
                                          <p:spTgt spid="18"/>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accel="50000" decel="50000" fill="hold" nodeType="clickEffect">
                                  <p:stCondLst>
                                    <p:cond delay="0"/>
                                  </p:stCondLst>
                                  <p:childTnLst>
                                    <p:set>
                                      <p:cBhvr>
                                        <p:cTn id="18" dur="1" fill="hold">
                                          <p:stCondLst>
                                            <p:cond delay="0"/>
                                          </p:stCondLst>
                                        </p:cTn>
                                        <p:tgtEl>
                                          <p:spTgt spid="24"/>
                                        </p:tgtEl>
                                        <p:attrNameLst>
                                          <p:attrName>style.visibility</p:attrName>
                                        </p:attrNameLst>
                                      </p:cBhvr>
                                      <p:to>
                                        <p:strVal val="visible"/>
                                      </p:to>
                                    </p:set>
                                    <p:anim calcmode="lin" valueType="num">
                                      <p:cBhvr additive="base">
                                        <p:cTn id="19" dur="450" fill="hold"/>
                                        <p:tgtEl>
                                          <p:spTgt spid="24"/>
                                        </p:tgtEl>
                                        <p:attrNameLst>
                                          <p:attrName>ppt_x</p:attrName>
                                        </p:attrNameLst>
                                      </p:cBhvr>
                                      <p:tavLst>
                                        <p:tav tm="0">
                                          <p:val>
                                            <p:strVal val="#ppt_x"/>
                                          </p:val>
                                        </p:tav>
                                        <p:tav tm="100000">
                                          <p:val>
                                            <p:strVal val="#ppt_x"/>
                                          </p:val>
                                        </p:tav>
                                      </p:tavLst>
                                    </p:anim>
                                    <p:anim calcmode="lin" valueType="num">
                                      <p:cBhvr additive="base">
                                        <p:cTn id="20" dur="450" fill="hold"/>
                                        <p:tgtEl>
                                          <p:spTgt spid="2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a:xfrm>
          <a:off x="0" y="0"/>
          <a:ext cx="0" cy="0"/>
          <a:chOff x="0" y="0"/>
          <a:chExt cx="0" cy="0"/>
        </a:xfrm>
      </p:grpSpPr>
      <p:sp>
        <p:nvSpPr>
          <p:cNvPr id="2" name="!!Anchor_Kicker_Rail">
            <a:extLst>
              <a:ext uri="{FF2B5EF4-FFF2-40B4-BE49-F238E27FC236}">
                <a16:creationId xmlns:a16="http://schemas.microsoft.com/office/drawing/2014/main" id="{3DF4C211-F607-D8AF-541D-4265C0163947}"/>
              </a:ext>
            </a:extLst>
          </p:cNvPr>
          <p:cNvSpPr txBox="1"/>
          <p:nvPr/>
        </p:nvSpPr>
        <p:spPr>
          <a:xfrm>
            <a:off x="609600" y="457200"/>
            <a:ext cx="9956800" cy="276999"/>
          </a:xfrm>
          <a:prstGeom prst="rect">
            <a:avLst/>
          </a:prstGeom>
          <a:noFill/>
        </p:spPr>
        <p:txBody>
          <a:bodyPr vert="horz" rtlCol="0">
            <a:spAutoFit/>
          </a:bodyPr>
          <a:lstStyle/>
          <a:p>
            <a:r>
              <a:rPr lang="en-US" sz="1200" b="1">
                <a:solidFill>
                  <a:srgbClr val="0284C7"/>
                </a:solidFill>
                <a:latin typeface="Segoe UI" panose="020B0502040204020203" pitchFamily="34" charset="0"/>
              </a:rPr>
              <a:t>TỶ SUẤT ASFR  •  TRỌNG TÂM</a:t>
            </a:r>
          </a:p>
        </p:txBody>
      </p:sp>
      <p:sp>
        <p:nvSpPr>
          <p:cNvPr id="3" name="!!Anchor_Slide_Tracker">
            <a:extLst>
              <a:ext uri="{FF2B5EF4-FFF2-40B4-BE49-F238E27FC236}">
                <a16:creationId xmlns:a16="http://schemas.microsoft.com/office/drawing/2014/main" id="{DEECE01A-EAB5-915C-69DA-BC8FE5754DDF}"/>
              </a:ext>
            </a:extLst>
          </p:cNvPr>
          <p:cNvSpPr txBox="1"/>
          <p:nvPr/>
        </p:nvSpPr>
        <p:spPr>
          <a:xfrm>
            <a:off x="10820400" y="457200"/>
            <a:ext cx="762000" cy="276999"/>
          </a:xfrm>
          <a:prstGeom prst="rect">
            <a:avLst/>
          </a:prstGeom>
          <a:noFill/>
        </p:spPr>
        <p:txBody>
          <a:bodyPr vert="horz" rtlCol="0">
            <a:spAutoFit/>
          </a:bodyPr>
          <a:lstStyle/>
          <a:p>
            <a:pPr algn="r"/>
            <a:r>
              <a:rPr lang="en-US" sz="1200" b="1">
                <a:solidFill>
                  <a:srgbClr val="334155"/>
                </a:solidFill>
                <a:latin typeface="Bahnschrift" panose="020B0502040204020203" pitchFamily="34" charset="0"/>
              </a:rPr>
              <a:t>06 / 22</a:t>
            </a:r>
          </a:p>
        </p:txBody>
      </p:sp>
      <p:sp>
        <p:nvSpPr>
          <p:cNvPr id="4" name="!!Anchor_Assertion_Title">
            <a:extLst>
              <a:ext uri="{FF2B5EF4-FFF2-40B4-BE49-F238E27FC236}">
                <a16:creationId xmlns:a16="http://schemas.microsoft.com/office/drawing/2014/main" id="{77608AAC-7270-A10F-DEF8-F89E8E52EC1B}"/>
              </a:ext>
            </a:extLst>
          </p:cNvPr>
          <p:cNvSpPr txBox="1"/>
          <p:nvPr/>
        </p:nvSpPr>
        <p:spPr>
          <a:xfrm>
            <a:off x="609600" y="711200"/>
            <a:ext cx="10972800" cy="369332"/>
          </a:xfrm>
          <a:prstGeom prst="rect">
            <a:avLst/>
          </a:prstGeom>
          <a:noFill/>
        </p:spPr>
        <p:txBody>
          <a:bodyPr vert="horz" wrap="square" tIns="0" bIns="0" rtlCol="0">
            <a:spAutoFit/>
          </a:bodyPr>
          <a:lstStyle/>
          <a:p>
            <a:r>
              <a:rPr lang="vi-VN" sz="2400" b="1">
                <a:solidFill>
                  <a:srgbClr val="0F172A"/>
                </a:solidFill>
                <a:latin typeface="Segoe UI" panose="020B0502040204020203" pitchFamily="34" charset="0"/>
              </a:rPr>
              <a:t>Tỷ Suất Sinh Đặc Trưng Theo Tuổi (ASFR) Và Đồ Thị Phân Bố Sinh</a:t>
            </a:r>
            <a:endParaRPr lang="en-US" sz="2400" b="1">
              <a:solidFill>
                <a:srgbClr val="0F172A"/>
              </a:solidFill>
              <a:latin typeface="Segoe UI" panose="020B0502040204020203" pitchFamily="34" charset="0"/>
            </a:endParaRPr>
          </a:p>
        </p:txBody>
      </p:sp>
      <p:grpSp>
        <p:nvGrpSpPr>
          <p:cNvPr id="8" name="!!Stage_Hero_Container">
            <a:extLst>
              <a:ext uri="{FF2B5EF4-FFF2-40B4-BE49-F238E27FC236}">
                <a16:creationId xmlns:a16="http://schemas.microsoft.com/office/drawing/2014/main" id="{2B9E60F7-ABD0-0D94-AA28-3B13B8011CBD}"/>
              </a:ext>
            </a:extLst>
          </p:cNvPr>
          <p:cNvGrpSpPr/>
          <p:nvPr/>
        </p:nvGrpSpPr>
        <p:grpSpPr>
          <a:xfrm>
            <a:off x="609600" y="1676400"/>
            <a:ext cx="10972800" cy="1117600"/>
            <a:chOff x="609600" y="1676400"/>
            <a:chExt cx="10972800" cy="1117600"/>
          </a:xfrm>
        </p:grpSpPr>
        <p:sp>
          <p:nvSpPr>
            <p:cNvPr id="5" name="Rectangle: Rounded Corners 4">
              <a:extLst>
                <a:ext uri="{FF2B5EF4-FFF2-40B4-BE49-F238E27FC236}">
                  <a16:creationId xmlns:a16="http://schemas.microsoft.com/office/drawing/2014/main" id="{5A9884B1-A4E4-C516-52FD-809CF4557E2D}"/>
                </a:ext>
              </a:extLst>
            </p:cNvPr>
            <p:cNvSpPr/>
            <p:nvPr/>
          </p:nvSpPr>
          <p:spPr>
            <a:xfrm>
              <a:off x="609600" y="1676400"/>
              <a:ext cx="10972800" cy="1117600"/>
            </a:xfrm>
            <a:prstGeom prst="roundRect">
              <a:avLst/>
            </a:prstGeom>
            <a:solidFill>
              <a:srgbClr val="FFFFFF"/>
            </a:solidFill>
            <a:ln w="25400">
              <a:solidFill>
                <a:srgbClr val="0284C7"/>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Rounded Corners 5">
              <a:extLst>
                <a:ext uri="{FF2B5EF4-FFF2-40B4-BE49-F238E27FC236}">
                  <a16:creationId xmlns:a16="http://schemas.microsoft.com/office/drawing/2014/main" id="{FF78F3CC-CE4D-BFE0-E738-CE11783E9270}"/>
                </a:ext>
              </a:extLst>
            </p:cNvPr>
            <p:cNvSpPr/>
            <p:nvPr/>
          </p:nvSpPr>
          <p:spPr>
            <a:xfrm>
              <a:off x="863600" y="1803400"/>
              <a:ext cx="2413000" cy="254000"/>
            </a:xfrm>
            <a:prstGeom prst="roundRect">
              <a:avLst/>
            </a:prstGeom>
            <a:solidFill>
              <a:srgbClr val="E0F2FE"/>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vi-VN" sz="900" b="1">
                  <a:solidFill>
                    <a:srgbClr val="0284C7"/>
                  </a:solidFill>
                  <a:latin typeface="Segoe UI" panose="020B0502040204020203" pitchFamily="34" charset="0"/>
                </a:rPr>
                <a:t>CÔNG THỨC ĐỊNH LƯỢNG CHUẨN</a:t>
              </a:r>
              <a:endParaRPr lang="en-US" sz="900" b="1">
                <a:solidFill>
                  <a:srgbClr val="0284C7"/>
                </a:solidFill>
                <a:latin typeface="Segoe UI" panose="020B0502040204020203" pitchFamily="34" charset="0"/>
              </a:endParaRPr>
            </a:p>
          </p:txBody>
        </p:sp>
        <p:sp>
          <p:nvSpPr>
            <p:cNvPr id="7" name="TextBox 6">
              <a:extLst>
                <a:ext uri="{FF2B5EF4-FFF2-40B4-BE49-F238E27FC236}">
                  <a16:creationId xmlns:a16="http://schemas.microsoft.com/office/drawing/2014/main" id="{4094FEDC-DCD5-C086-C825-9153247662D5}"/>
                </a:ext>
              </a:extLst>
            </p:cNvPr>
            <p:cNvSpPr txBox="1"/>
            <p:nvPr/>
          </p:nvSpPr>
          <p:spPr>
            <a:xfrm>
              <a:off x="863600" y="2082800"/>
              <a:ext cx="10464800" cy="461665"/>
            </a:xfrm>
            <a:prstGeom prst="rect">
              <a:avLst/>
            </a:prstGeom>
            <a:noFill/>
          </p:spPr>
          <p:txBody>
            <a:bodyPr vert="horz" rtlCol="0">
              <a:spAutoFit/>
            </a:bodyPr>
            <a:lstStyle/>
            <a:p>
              <a:pPr algn="ctr"/>
              <a:r>
                <a:rPr lang="vi-VN" sz="2400" b="1">
                  <a:solidFill>
                    <a:srgbClr val="0284C7"/>
                  </a:solidFill>
                  <a:latin typeface="Segoe UI" panose="020B0502040204020203" pitchFamily="34" charset="0"/>
                </a:rPr>
                <a:t>ASFR_x = (B_x / W_x) * 1,000  (Đơn vị: ‰ - Cho từng nhóm tuổi x)</a:t>
              </a:r>
              <a:endParaRPr lang="en-US" sz="2400" b="1">
                <a:solidFill>
                  <a:srgbClr val="0284C7"/>
                </a:solidFill>
                <a:latin typeface="Segoe UI" panose="020B0502040204020203" pitchFamily="34" charset="0"/>
              </a:endParaRPr>
            </a:p>
          </p:txBody>
        </p:sp>
      </p:grpSp>
      <p:grpSp>
        <p:nvGrpSpPr>
          <p:cNvPr id="14" name="!!Stage_Sub_Card_1">
            <a:extLst>
              <a:ext uri="{FF2B5EF4-FFF2-40B4-BE49-F238E27FC236}">
                <a16:creationId xmlns:a16="http://schemas.microsoft.com/office/drawing/2014/main" id="{02257C81-9010-B377-DA13-9AE94E0947B7}"/>
              </a:ext>
            </a:extLst>
          </p:cNvPr>
          <p:cNvGrpSpPr/>
          <p:nvPr/>
        </p:nvGrpSpPr>
        <p:grpSpPr>
          <a:xfrm>
            <a:off x="609600" y="2971800"/>
            <a:ext cx="3522133" cy="3225800"/>
            <a:chOff x="609600" y="2971800"/>
            <a:chExt cx="3522133" cy="3225800"/>
          </a:xfrm>
        </p:grpSpPr>
        <p:sp>
          <p:nvSpPr>
            <p:cNvPr id="9" name="Rectangle: Rounded Corners 8">
              <a:extLst>
                <a:ext uri="{FF2B5EF4-FFF2-40B4-BE49-F238E27FC236}">
                  <a16:creationId xmlns:a16="http://schemas.microsoft.com/office/drawing/2014/main" id="{73F20F0C-A46A-7C8B-8D33-7EAE6F5B2E73}"/>
                </a:ext>
              </a:extLst>
            </p:cNvPr>
            <p:cNvSpPr/>
            <p:nvPr/>
          </p:nvSpPr>
          <p:spPr>
            <a:xfrm>
              <a:off x="609600" y="2971800"/>
              <a:ext cx="3522133" cy="3225800"/>
            </a:xfrm>
            <a:prstGeom prst="roundRect">
              <a:avLst/>
            </a:prstGeom>
            <a:solidFill>
              <a:srgbClr val="FFFFFF"/>
            </a:solidFill>
            <a:ln w="12700">
              <a:solidFill>
                <a:srgbClr val="CBD5E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Oval 9">
              <a:extLst>
                <a:ext uri="{FF2B5EF4-FFF2-40B4-BE49-F238E27FC236}">
                  <a16:creationId xmlns:a16="http://schemas.microsoft.com/office/drawing/2014/main" id="{9945FE0C-5721-7B80-C394-772F4E847AB2}"/>
                </a:ext>
              </a:extLst>
            </p:cNvPr>
            <p:cNvSpPr/>
            <p:nvPr/>
          </p:nvSpPr>
          <p:spPr>
            <a:xfrm>
              <a:off x="812800" y="3175000"/>
              <a:ext cx="406400" cy="406400"/>
            </a:xfrm>
            <a:prstGeom prst="ellipse">
              <a:avLst/>
            </a:prstGeom>
            <a:solidFill>
              <a:srgbClr val="E0F2FE"/>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2" name="Graphic 11">
              <a:extLst>
                <a:ext uri="{FF2B5EF4-FFF2-40B4-BE49-F238E27FC236}">
                  <a16:creationId xmlns:a16="http://schemas.microsoft.com/office/drawing/2014/main" id="{EA23143B-F3B2-850E-DF52-10333D6E9588}"/>
                </a:ext>
              </a:extLst>
            </p:cNvPr>
            <p:cNvPicPr>
              <a:picLocks/>
            </p:cNvPicPr>
            <p:nvPr/>
          </p:nvPicPr>
          <p:blipFill>
            <a:blip>
              <a:extLst>
                <a:ext uri="{96DAC541-7B7A-43D3-8B79-37D633B846F1}">
                  <asvg:svgBlip xmlns:asvg="http://schemas.microsoft.com/office/drawing/2016/SVG/main" r:embed="rId2"/>
                </a:ext>
              </a:extLst>
            </a:blip>
            <a:stretch>
              <a:fillRect/>
            </a:stretch>
          </p:blipFill>
          <p:spPr>
            <a:xfrm>
              <a:off x="876300" y="3238500"/>
              <a:ext cx="279400" cy="279400"/>
            </a:xfrm>
            <a:prstGeom prst="rect">
              <a:avLst/>
            </a:prstGeom>
          </p:spPr>
        </p:pic>
        <p:sp>
          <p:nvSpPr>
            <p:cNvPr id="13" name="TextBox 12">
              <a:extLst>
                <a:ext uri="{FF2B5EF4-FFF2-40B4-BE49-F238E27FC236}">
                  <a16:creationId xmlns:a16="http://schemas.microsoft.com/office/drawing/2014/main" id="{9C1BA8C4-03B4-DDB1-6B29-E8C293C66937}"/>
                </a:ext>
              </a:extLst>
            </p:cNvPr>
            <p:cNvSpPr txBox="1"/>
            <p:nvPr/>
          </p:nvSpPr>
          <p:spPr>
            <a:xfrm>
              <a:off x="812800" y="3683000"/>
              <a:ext cx="3115733" cy="1443985"/>
            </a:xfrm>
            <a:prstGeom prst="rect">
              <a:avLst/>
            </a:prstGeom>
            <a:noFill/>
          </p:spPr>
          <p:txBody>
            <a:bodyPr vert="horz" wrap="square" lIns="0" tIns="0" rtlCol="0">
              <a:spAutoFit/>
            </a:bodyPr>
            <a:lstStyle/>
            <a:p>
              <a:pPr>
                <a:lnSpc>
                  <a:spcPct val="125000"/>
                </a:lnSpc>
                <a:spcAft>
                  <a:spcPts val="600"/>
                </a:spcAft>
              </a:pPr>
              <a:r>
                <a:rPr lang="en-US" sz="1600" b="1">
                  <a:solidFill>
                    <a:srgbClr val="0F172A"/>
                  </a:solidFill>
                  <a:latin typeface="Segoe UI" panose="020B0502040204020203" pitchFamily="34" charset="0"/>
                </a:rPr>
                <a:t>Công Thức ASFR_x
</a:t>
              </a:r>
              <a:r>
                <a:rPr lang="vi-VN" sz="1350" b="1">
                  <a:solidFill>
                    <a:srgbClr val="334155"/>
                  </a:solidFill>
                  <a:latin typeface="Segoe UI" panose="020B0502040204020203" pitchFamily="34" charset="0"/>
                </a:rPr>
                <a:t>ASFR_x = (B_x / W_x) * 1,000 (đơn vị ‰). Với B_x là số con do phụ nữ nhóm tuổi x sinh ra, W_x là số phụ nữ nhóm tuổi x.</a:t>
              </a:r>
              <a:endParaRPr lang="en-US" sz="1350" b="1">
                <a:solidFill>
                  <a:srgbClr val="334155"/>
                </a:solidFill>
                <a:latin typeface="Segoe UI" panose="020B0502040204020203" pitchFamily="34" charset="0"/>
              </a:endParaRPr>
            </a:p>
          </p:txBody>
        </p:sp>
      </p:grpSp>
      <p:grpSp>
        <p:nvGrpSpPr>
          <p:cNvPr id="20" name="!!Stage_Sub_Card_2">
            <a:extLst>
              <a:ext uri="{FF2B5EF4-FFF2-40B4-BE49-F238E27FC236}">
                <a16:creationId xmlns:a16="http://schemas.microsoft.com/office/drawing/2014/main" id="{13F10CF3-18DF-BFD4-C51B-4D96F617C1C3}"/>
              </a:ext>
            </a:extLst>
          </p:cNvPr>
          <p:cNvGrpSpPr/>
          <p:nvPr/>
        </p:nvGrpSpPr>
        <p:grpSpPr>
          <a:xfrm>
            <a:off x="4334933" y="2971800"/>
            <a:ext cx="3522134" cy="3225800"/>
            <a:chOff x="4334933" y="2971800"/>
            <a:chExt cx="3522134" cy="3225800"/>
          </a:xfrm>
        </p:grpSpPr>
        <p:sp>
          <p:nvSpPr>
            <p:cNvPr id="15" name="Rectangle: Rounded Corners 14">
              <a:extLst>
                <a:ext uri="{FF2B5EF4-FFF2-40B4-BE49-F238E27FC236}">
                  <a16:creationId xmlns:a16="http://schemas.microsoft.com/office/drawing/2014/main" id="{37CB0DAC-311D-02DA-F615-C220BB0AEAF2}"/>
                </a:ext>
              </a:extLst>
            </p:cNvPr>
            <p:cNvSpPr/>
            <p:nvPr/>
          </p:nvSpPr>
          <p:spPr>
            <a:xfrm>
              <a:off x="4334933" y="2971800"/>
              <a:ext cx="3522134" cy="3225800"/>
            </a:xfrm>
            <a:prstGeom prst="roundRect">
              <a:avLst/>
            </a:prstGeom>
            <a:solidFill>
              <a:srgbClr val="FFFFFF"/>
            </a:solidFill>
            <a:ln w="12700">
              <a:solidFill>
                <a:srgbClr val="CBD5E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Oval 15">
              <a:extLst>
                <a:ext uri="{FF2B5EF4-FFF2-40B4-BE49-F238E27FC236}">
                  <a16:creationId xmlns:a16="http://schemas.microsoft.com/office/drawing/2014/main" id="{BB1154DD-8C8D-3B74-D7DE-80A262C95131}"/>
                </a:ext>
              </a:extLst>
            </p:cNvPr>
            <p:cNvSpPr/>
            <p:nvPr/>
          </p:nvSpPr>
          <p:spPr>
            <a:xfrm>
              <a:off x="4538133" y="3175000"/>
              <a:ext cx="406400" cy="406400"/>
            </a:xfrm>
            <a:prstGeom prst="ellipse">
              <a:avLst/>
            </a:prstGeom>
            <a:solidFill>
              <a:srgbClr val="E0F2FE"/>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8" name="Graphic 17">
              <a:extLst>
                <a:ext uri="{FF2B5EF4-FFF2-40B4-BE49-F238E27FC236}">
                  <a16:creationId xmlns:a16="http://schemas.microsoft.com/office/drawing/2014/main" id="{AAF759BC-6FCE-093F-467E-D9AF65148273}"/>
                </a:ext>
              </a:extLst>
            </p:cNvPr>
            <p:cNvPicPr>
              <a:picLocks/>
            </p:cNvPicPr>
            <p:nvPr/>
          </p:nvPicPr>
          <p:blipFill>
            <a:blip>
              <a:extLst>
                <a:ext uri="{96DAC541-7B7A-43D3-8B79-37D633B846F1}">
                  <asvg:svgBlip xmlns:asvg="http://schemas.microsoft.com/office/drawing/2016/SVG/main" r:embed="rId3"/>
                </a:ext>
              </a:extLst>
            </a:blip>
            <a:stretch>
              <a:fillRect/>
            </a:stretch>
          </p:blipFill>
          <p:spPr>
            <a:xfrm>
              <a:off x="4601633" y="3238500"/>
              <a:ext cx="279400" cy="279400"/>
            </a:xfrm>
            <a:prstGeom prst="rect">
              <a:avLst/>
            </a:prstGeom>
          </p:spPr>
        </p:pic>
        <p:sp>
          <p:nvSpPr>
            <p:cNvPr id="19" name="TextBox 18">
              <a:extLst>
                <a:ext uri="{FF2B5EF4-FFF2-40B4-BE49-F238E27FC236}">
                  <a16:creationId xmlns:a16="http://schemas.microsoft.com/office/drawing/2014/main" id="{3A5CC443-D2AC-CA74-6A7B-C61791269DB1}"/>
                </a:ext>
              </a:extLst>
            </p:cNvPr>
            <p:cNvSpPr txBox="1"/>
            <p:nvPr/>
          </p:nvSpPr>
          <p:spPr>
            <a:xfrm>
              <a:off x="4538133" y="3683000"/>
              <a:ext cx="3115733" cy="1443985"/>
            </a:xfrm>
            <a:prstGeom prst="rect">
              <a:avLst/>
            </a:prstGeom>
            <a:noFill/>
          </p:spPr>
          <p:txBody>
            <a:bodyPr vert="horz" wrap="square" lIns="0" tIns="0" rtlCol="0">
              <a:spAutoFit/>
            </a:bodyPr>
            <a:lstStyle/>
            <a:p>
              <a:pPr>
                <a:lnSpc>
                  <a:spcPct val="125000"/>
                </a:lnSpc>
                <a:spcAft>
                  <a:spcPts val="600"/>
                </a:spcAft>
              </a:pPr>
              <a:r>
                <a:rPr lang="en-US" sz="1600" b="1">
                  <a:solidFill>
                    <a:srgbClr val="0F172A"/>
                  </a:solidFill>
                  <a:latin typeface="Segoe UI" panose="020B0502040204020203" pitchFamily="34" charset="0"/>
                </a:rPr>
                <a:t>Hình Thái Đồ Thị Hình Chuông
</a:t>
              </a:r>
              <a:r>
                <a:rPr lang="en-US" sz="1350" b="1">
                  <a:solidFill>
                    <a:srgbClr val="334155"/>
                  </a:solidFill>
                  <a:latin typeface="Segoe UI" panose="020B0502040204020203" pitchFamily="34" charset="0"/>
                </a:rPr>
                <a:t>Đồ thị ASFR luôn có dạng hình chuông: bắt đầu thấp ở 15-19, đạt đỉnh cao ở 25-29 tuổi và giảm dần về 45-49 tuổi.</a:t>
              </a:r>
            </a:p>
          </p:txBody>
        </p:sp>
      </p:grpSp>
      <p:grpSp>
        <p:nvGrpSpPr>
          <p:cNvPr id="26" name="!!Stage_Sub_Card_3">
            <a:extLst>
              <a:ext uri="{FF2B5EF4-FFF2-40B4-BE49-F238E27FC236}">
                <a16:creationId xmlns:a16="http://schemas.microsoft.com/office/drawing/2014/main" id="{FD0F6926-6CFB-40AD-DCFA-A8CA3036966F}"/>
              </a:ext>
            </a:extLst>
          </p:cNvPr>
          <p:cNvGrpSpPr/>
          <p:nvPr/>
        </p:nvGrpSpPr>
        <p:grpSpPr>
          <a:xfrm>
            <a:off x="8060267" y="2971800"/>
            <a:ext cx="3522133" cy="3225800"/>
            <a:chOff x="8060267" y="2971800"/>
            <a:chExt cx="3522133" cy="3225800"/>
          </a:xfrm>
        </p:grpSpPr>
        <p:sp>
          <p:nvSpPr>
            <p:cNvPr id="21" name="Rectangle: Rounded Corners 20">
              <a:extLst>
                <a:ext uri="{FF2B5EF4-FFF2-40B4-BE49-F238E27FC236}">
                  <a16:creationId xmlns:a16="http://schemas.microsoft.com/office/drawing/2014/main" id="{337CF397-F531-8317-DCCA-02ED0DB252E5}"/>
                </a:ext>
              </a:extLst>
            </p:cNvPr>
            <p:cNvSpPr/>
            <p:nvPr/>
          </p:nvSpPr>
          <p:spPr>
            <a:xfrm>
              <a:off x="8060267" y="2971800"/>
              <a:ext cx="3522133" cy="3225800"/>
            </a:xfrm>
            <a:prstGeom prst="roundRect">
              <a:avLst/>
            </a:prstGeom>
            <a:solidFill>
              <a:srgbClr val="FFFFFF"/>
            </a:solidFill>
            <a:ln w="12700">
              <a:solidFill>
                <a:srgbClr val="CBD5E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Oval 21">
              <a:extLst>
                <a:ext uri="{FF2B5EF4-FFF2-40B4-BE49-F238E27FC236}">
                  <a16:creationId xmlns:a16="http://schemas.microsoft.com/office/drawing/2014/main" id="{662658F4-7756-C504-3535-2FBEC0C07B05}"/>
                </a:ext>
              </a:extLst>
            </p:cNvPr>
            <p:cNvSpPr/>
            <p:nvPr/>
          </p:nvSpPr>
          <p:spPr>
            <a:xfrm>
              <a:off x="8263467" y="3175000"/>
              <a:ext cx="406400" cy="406400"/>
            </a:xfrm>
            <a:prstGeom prst="ellipse">
              <a:avLst/>
            </a:prstGeom>
            <a:solidFill>
              <a:srgbClr val="E0F2FE"/>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4" name="Graphic 23">
              <a:extLst>
                <a:ext uri="{FF2B5EF4-FFF2-40B4-BE49-F238E27FC236}">
                  <a16:creationId xmlns:a16="http://schemas.microsoft.com/office/drawing/2014/main" id="{AE6097CE-F698-DAFA-4F00-5DA9ADD2479D}"/>
                </a:ext>
              </a:extLst>
            </p:cNvPr>
            <p:cNvPicPr>
              <a:picLocks/>
            </p:cNvPicPr>
            <p:nvPr/>
          </p:nvPicPr>
          <p:blipFill>
            <a:blip>
              <a:extLst>
                <a:ext uri="{96DAC541-7B7A-43D3-8B79-37D633B846F1}">
                  <asvg:svgBlip xmlns:asvg="http://schemas.microsoft.com/office/drawing/2016/SVG/main" r:embed="rId4"/>
                </a:ext>
              </a:extLst>
            </a:blip>
            <a:stretch>
              <a:fillRect/>
            </a:stretch>
          </p:blipFill>
          <p:spPr>
            <a:xfrm>
              <a:off x="8326967" y="3238500"/>
              <a:ext cx="279400" cy="279400"/>
            </a:xfrm>
            <a:prstGeom prst="rect">
              <a:avLst/>
            </a:prstGeom>
          </p:spPr>
        </p:pic>
        <p:sp>
          <p:nvSpPr>
            <p:cNvPr id="25" name="TextBox 24">
              <a:extLst>
                <a:ext uri="{FF2B5EF4-FFF2-40B4-BE49-F238E27FC236}">
                  <a16:creationId xmlns:a16="http://schemas.microsoft.com/office/drawing/2014/main" id="{2E50ABE4-C1E8-478E-D701-1B42975356FB}"/>
                </a:ext>
              </a:extLst>
            </p:cNvPr>
            <p:cNvSpPr txBox="1"/>
            <p:nvPr/>
          </p:nvSpPr>
          <p:spPr>
            <a:xfrm>
              <a:off x="8263467" y="3683000"/>
              <a:ext cx="3115733" cy="1443985"/>
            </a:xfrm>
            <a:prstGeom prst="rect">
              <a:avLst/>
            </a:prstGeom>
            <a:noFill/>
          </p:spPr>
          <p:txBody>
            <a:bodyPr vert="horz" wrap="square" lIns="0" tIns="0" rtlCol="0">
              <a:spAutoFit/>
            </a:bodyPr>
            <a:lstStyle/>
            <a:p>
              <a:pPr>
                <a:lnSpc>
                  <a:spcPct val="125000"/>
                </a:lnSpc>
                <a:spcAft>
                  <a:spcPts val="600"/>
                </a:spcAft>
              </a:pPr>
              <a:r>
                <a:rPr lang="vi-VN" sz="1600" b="1">
                  <a:solidFill>
                    <a:srgbClr val="0F172A"/>
                  </a:solidFill>
                  <a:latin typeface="Segoe UI" panose="020B0502040204020203" pitchFamily="34" charset="0"/>
                </a:rPr>
                <a:t>Xu Hướng Dịch Chuyển Đỉnh
</a:t>
              </a:r>
              <a:r>
                <a:rPr lang="vi-VN" sz="1350" b="1">
                  <a:solidFill>
                    <a:srgbClr val="334155"/>
                  </a:solidFill>
                  <a:latin typeface="Segoe UI" panose="020B0502040204020203" pitchFamily="34" charset="0"/>
                </a:rPr>
                <a:t>Ở các đô thị hiện đại, đỉnh sinh đẻ đang dịch chuyển từ nhóm 20-24 sang nhóm 25-29 và thậm chí 30-34 tuổi.</a:t>
              </a:r>
              <a:endParaRPr lang="en-US" sz="1350" b="1">
                <a:solidFill>
                  <a:srgbClr val="334155"/>
                </a:solidFill>
                <a:latin typeface="Segoe UI" panose="020B0502040204020203" pitchFamily="34" charset="0"/>
              </a:endParaRPr>
            </a:p>
          </p:txBody>
        </p:sp>
      </p:grpSp>
      <p:sp>
        <p:nvSpPr>
          <p:cNvPr id="27" name="!!Anchor_Source_Footer">
            <a:extLst>
              <a:ext uri="{FF2B5EF4-FFF2-40B4-BE49-F238E27FC236}">
                <a16:creationId xmlns:a16="http://schemas.microsoft.com/office/drawing/2014/main" id="{5DFE0099-D842-8069-2667-9A1D71464B86}"/>
              </a:ext>
            </a:extLst>
          </p:cNvPr>
          <p:cNvSpPr txBox="1"/>
          <p:nvPr/>
        </p:nvSpPr>
        <p:spPr>
          <a:xfrm>
            <a:off x="609600" y="6273800"/>
            <a:ext cx="10972800" cy="246221"/>
          </a:xfrm>
          <a:prstGeom prst="rect">
            <a:avLst/>
          </a:prstGeom>
          <a:noFill/>
        </p:spPr>
        <p:txBody>
          <a:bodyPr vert="horz" rtlCol="0">
            <a:spAutoFit/>
          </a:bodyPr>
          <a:lstStyle/>
          <a:p>
            <a:r>
              <a:rPr lang="vi-VN" sz="1000">
                <a:solidFill>
                  <a:srgbClr val="334155"/>
                </a:solidFill>
                <a:latin typeface="Segoe UI" panose="020B0502040204020203" pitchFamily="34" charset="0"/>
              </a:rPr>
              <a:t>Phương pháp thống kê nhân khẩu học</a:t>
            </a:r>
            <a:endParaRPr lang="en-US" sz="1000">
              <a:solidFill>
                <a:srgbClr val="334155"/>
              </a:solidFill>
              <a:latin typeface="Segoe UI" panose="020B0502040204020203" pitchFamily="34" charset="0"/>
            </a:endParaRPr>
          </a:p>
        </p:txBody>
      </p:sp>
    </p:spTree>
    <p:extLst>
      <p:ext uri="{BB962C8B-B14F-4D97-AF65-F5344CB8AC3E}">
        <p14:creationId xmlns:p14="http://schemas.microsoft.com/office/powerpoint/2010/main" val="482055490"/>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850">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accel="50000" decel="50000" fill="hold" nodeType="clickEffect">
                                  <p:stCondLst>
                                    <p:cond delay="0"/>
                                  </p:stCondLst>
                                  <p:childTnLst>
                                    <p:set>
                                      <p:cBhvr>
                                        <p:cTn id="6" dur="1" fill="hold">
                                          <p:stCondLst>
                                            <p:cond delay="0"/>
                                          </p:stCondLst>
                                        </p:cTn>
                                        <p:tgtEl>
                                          <p:spTgt spid="14"/>
                                        </p:tgtEl>
                                        <p:attrNameLst>
                                          <p:attrName>style.visibility</p:attrName>
                                        </p:attrNameLst>
                                      </p:cBhvr>
                                      <p:to>
                                        <p:strVal val="visible"/>
                                      </p:to>
                                    </p:set>
                                    <p:anim calcmode="lin" valueType="num">
                                      <p:cBhvr additive="base">
                                        <p:cTn id="7" dur="450" fill="hold"/>
                                        <p:tgtEl>
                                          <p:spTgt spid="14"/>
                                        </p:tgtEl>
                                        <p:attrNameLst>
                                          <p:attrName>ppt_x</p:attrName>
                                        </p:attrNameLst>
                                      </p:cBhvr>
                                      <p:tavLst>
                                        <p:tav tm="0">
                                          <p:val>
                                            <p:strVal val="#ppt_x"/>
                                          </p:val>
                                        </p:tav>
                                        <p:tav tm="100000">
                                          <p:val>
                                            <p:strVal val="#ppt_x"/>
                                          </p:val>
                                        </p:tav>
                                      </p:tavLst>
                                    </p:anim>
                                    <p:anim calcmode="lin" valueType="num">
                                      <p:cBhvr additive="base">
                                        <p:cTn id="8" dur="450" fill="hold"/>
                                        <p:tgtEl>
                                          <p:spTgt spid="14"/>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accel="50000" decel="50000" fill="hold" nodeType="clickEffect">
                                  <p:stCondLst>
                                    <p:cond delay="0"/>
                                  </p:stCondLst>
                                  <p:childTnLst>
                                    <p:set>
                                      <p:cBhvr>
                                        <p:cTn id="12" dur="1" fill="hold">
                                          <p:stCondLst>
                                            <p:cond delay="0"/>
                                          </p:stCondLst>
                                        </p:cTn>
                                        <p:tgtEl>
                                          <p:spTgt spid="20"/>
                                        </p:tgtEl>
                                        <p:attrNameLst>
                                          <p:attrName>style.visibility</p:attrName>
                                        </p:attrNameLst>
                                      </p:cBhvr>
                                      <p:to>
                                        <p:strVal val="visible"/>
                                      </p:to>
                                    </p:set>
                                    <p:anim calcmode="lin" valueType="num">
                                      <p:cBhvr additive="base">
                                        <p:cTn id="13" dur="450" fill="hold"/>
                                        <p:tgtEl>
                                          <p:spTgt spid="20"/>
                                        </p:tgtEl>
                                        <p:attrNameLst>
                                          <p:attrName>ppt_x</p:attrName>
                                        </p:attrNameLst>
                                      </p:cBhvr>
                                      <p:tavLst>
                                        <p:tav tm="0">
                                          <p:val>
                                            <p:strVal val="#ppt_x"/>
                                          </p:val>
                                        </p:tav>
                                        <p:tav tm="100000">
                                          <p:val>
                                            <p:strVal val="#ppt_x"/>
                                          </p:val>
                                        </p:tav>
                                      </p:tavLst>
                                    </p:anim>
                                    <p:anim calcmode="lin" valueType="num">
                                      <p:cBhvr additive="base">
                                        <p:cTn id="14" dur="450" fill="hold"/>
                                        <p:tgtEl>
                                          <p:spTgt spid="20"/>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accel="50000" decel="50000" fill="hold" nodeType="clickEffect">
                                  <p:stCondLst>
                                    <p:cond delay="0"/>
                                  </p:stCondLst>
                                  <p:childTnLst>
                                    <p:set>
                                      <p:cBhvr>
                                        <p:cTn id="18" dur="1" fill="hold">
                                          <p:stCondLst>
                                            <p:cond delay="0"/>
                                          </p:stCondLst>
                                        </p:cTn>
                                        <p:tgtEl>
                                          <p:spTgt spid="26"/>
                                        </p:tgtEl>
                                        <p:attrNameLst>
                                          <p:attrName>style.visibility</p:attrName>
                                        </p:attrNameLst>
                                      </p:cBhvr>
                                      <p:to>
                                        <p:strVal val="visible"/>
                                      </p:to>
                                    </p:set>
                                    <p:anim calcmode="lin" valueType="num">
                                      <p:cBhvr additive="base">
                                        <p:cTn id="19" dur="450" fill="hold"/>
                                        <p:tgtEl>
                                          <p:spTgt spid="26"/>
                                        </p:tgtEl>
                                        <p:attrNameLst>
                                          <p:attrName>ppt_x</p:attrName>
                                        </p:attrNameLst>
                                      </p:cBhvr>
                                      <p:tavLst>
                                        <p:tav tm="0">
                                          <p:val>
                                            <p:strVal val="#ppt_x"/>
                                          </p:val>
                                        </p:tav>
                                        <p:tav tm="100000">
                                          <p:val>
                                            <p:strVal val="#ppt_x"/>
                                          </p:val>
                                        </p:tav>
                                      </p:tavLst>
                                    </p:anim>
                                    <p:anim calcmode="lin" valueType="num">
                                      <p:cBhvr additive="base">
                                        <p:cTn id="20" dur="450" fill="hold"/>
                                        <p:tgtEl>
                                          <p:spTgt spid="2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a:xfrm>
          <a:off x="0" y="0"/>
          <a:ext cx="0" cy="0"/>
          <a:chOff x="0" y="0"/>
          <a:chExt cx="0" cy="0"/>
        </a:xfrm>
      </p:grpSpPr>
      <p:sp>
        <p:nvSpPr>
          <p:cNvPr id="2" name="!!Anchor_Kicker_Rail">
            <a:extLst>
              <a:ext uri="{FF2B5EF4-FFF2-40B4-BE49-F238E27FC236}">
                <a16:creationId xmlns:a16="http://schemas.microsoft.com/office/drawing/2014/main" id="{E9A69EF5-03E3-20CD-2EB3-EF77D0421C46}"/>
              </a:ext>
            </a:extLst>
          </p:cNvPr>
          <p:cNvSpPr txBox="1"/>
          <p:nvPr/>
        </p:nvSpPr>
        <p:spPr>
          <a:xfrm>
            <a:off x="609600" y="457200"/>
            <a:ext cx="9956800" cy="276999"/>
          </a:xfrm>
          <a:prstGeom prst="rect">
            <a:avLst/>
          </a:prstGeom>
          <a:noFill/>
        </p:spPr>
        <p:txBody>
          <a:bodyPr vert="horz" rtlCol="0">
            <a:spAutoFit/>
          </a:bodyPr>
          <a:lstStyle/>
          <a:p>
            <a:r>
              <a:rPr lang="en-US" sz="1200" b="1">
                <a:solidFill>
                  <a:srgbClr val="0284C7"/>
                </a:solidFill>
                <a:latin typeface="Segoe UI" panose="020B0502040204020203" pitchFamily="34" charset="0"/>
              </a:rPr>
              <a:t>TỔNG TỶ SUẤT SINH  •  TRỌNG TÂM</a:t>
            </a:r>
          </a:p>
        </p:txBody>
      </p:sp>
      <p:sp>
        <p:nvSpPr>
          <p:cNvPr id="3" name="!!Anchor_Slide_Tracker">
            <a:extLst>
              <a:ext uri="{FF2B5EF4-FFF2-40B4-BE49-F238E27FC236}">
                <a16:creationId xmlns:a16="http://schemas.microsoft.com/office/drawing/2014/main" id="{F20925C1-89E1-3E58-B133-712886BCDE82}"/>
              </a:ext>
            </a:extLst>
          </p:cNvPr>
          <p:cNvSpPr txBox="1"/>
          <p:nvPr/>
        </p:nvSpPr>
        <p:spPr>
          <a:xfrm>
            <a:off x="10820400" y="457200"/>
            <a:ext cx="762000" cy="276999"/>
          </a:xfrm>
          <a:prstGeom prst="rect">
            <a:avLst/>
          </a:prstGeom>
          <a:noFill/>
        </p:spPr>
        <p:txBody>
          <a:bodyPr vert="horz" rtlCol="0">
            <a:spAutoFit/>
          </a:bodyPr>
          <a:lstStyle/>
          <a:p>
            <a:pPr algn="r"/>
            <a:r>
              <a:rPr lang="en-US" sz="1200" b="1">
                <a:solidFill>
                  <a:srgbClr val="334155"/>
                </a:solidFill>
                <a:latin typeface="Bahnschrift" panose="020B0502040204020203" pitchFamily="34" charset="0"/>
              </a:rPr>
              <a:t>07 / 22</a:t>
            </a:r>
          </a:p>
        </p:txBody>
      </p:sp>
      <p:sp>
        <p:nvSpPr>
          <p:cNvPr id="4" name="!!Anchor_Assertion_Title">
            <a:extLst>
              <a:ext uri="{FF2B5EF4-FFF2-40B4-BE49-F238E27FC236}">
                <a16:creationId xmlns:a16="http://schemas.microsoft.com/office/drawing/2014/main" id="{0B4DFD30-D8BF-C7B0-0F71-FEA8835EF8A5}"/>
              </a:ext>
            </a:extLst>
          </p:cNvPr>
          <p:cNvSpPr txBox="1"/>
          <p:nvPr/>
        </p:nvSpPr>
        <p:spPr>
          <a:xfrm>
            <a:off x="609600" y="711200"/>
            <a:ext cx="10972800" cy="369332"/>
          </a:xfrm>
          <a:prstGeom prst="rect">
            <a:avLst/>
          </a:prstGeom>
          <a:noFill/>
        </p:spPr>
        <p:txBody>
          <a:bodyPr vert="horz" wrap="square" tIns="0" bIns="0" rtlCol="0">
            <a:spAutoFit/>
          </a:bodyPr>
          <a:lstStyle/>
          <a:p>
            <a:r>
              <a:rPr lang="vi-VN" sz="2400" b="1">
                <a:solidFill>
                  <a:srgbClr val="0F172A"/>
                </a:solidFill>
                <a:latin typeface="Segoe UI" panose="020B0502040204020203" pitchFamily="34" charset="0"/>
              </a:rPr>
              <a:t>Tổng Tỷ Suất Sinh (TFR) Và Ngưỡng Mức Sinh Thay Thế Chuẩn 2.1 Con</a:t>
            </a:r>
            <a:endParaRPr lang="en-US" sz="2400" b="1">
              <a:solidFill>
                <a:srgbClr val="0F172A"/>
              </a:solidFill>
              <a:latin typeface="Segoe UI" panose="020B0502040204020203" pitchFamily="34" charset="0"/>
            </a:endParaRPr>
          </a:p>
        </p:txBody>
      </p:sp>
      <p:grpSp>
        <p:nvGrpSpPr>
          <p:cNvPr id="8" name="!!Stage_Hero_Container">
            <a:extLst>
              <a:ext uri="{FF2B5EF4-FFF2-40B4-BE49-F238E27FC236}">
                <a16:creationId xmlns:a16="http://schemas.microsoft.com/office/drawing/2014/main" id="{5958DA3A-1899-F8E8-DD16-0738B0395CA8}"/>
              </a:ext>
            </a:extLst>
          </p:cNvPr>
          <p:cNvGrpSpPr/>
          <p:nvPr/>
        </p:nvGrpSpPr>
        <p:grpSpPr>
          <a:xfrm>
            <a:off x="609600" y="1676400"/>
            <a:ext cx="10972800" cy="1117600"/>
            <a:chOff x="609600" y="1676400"/>
            <a:chExt cx="10972800" cy="1117600"/>
          </a:xfrm>
        </p:grpSpPr>
        <p:sp>
          <p:nvSpPr>
            <p:cNvPr id="5" name="Rectangle: Rounded Corners 4">
              <a:extLst>
                <a:ext uri="{FF2B5EF4-FFF2-40B4-BE49-F238E27FC236}">
                  <a16:creationId xmlns:a16="http://schemas.microsoft.com/office/drawing/2014/main" id="{A27868F6-012A-B6C8-7A97-5363B31A149F}"/>
                </a:ext>
              </a:extLst>
            </p:cNvPr>
            <p:cNvSpPr/>
            <p:nvPr/>
          </p:nvSpPr>
          <p:spPr>
            <a:xfrm>
              <a:off x="609600" y="1676400"/>
              <a:ext cx="10972800" cy="1117600"/>
            </a:xfrm>
            <a:prstGeom prst="roundRect">
              <a:avLst/>
            </a:prstGeom>
            <a:solidFill>
              <a:srgbClr val="FFFFFF"/>
            </a:solidFill>
            <a:ln w="25400">
              <a:solidFill>
                <a:srgbClr val="0284C7"/>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Rounded Corners 5">
              <a:extLst>
                <a:ext uri="{FF2B5EF4-FFF2-40B4-BE49-F238E27FC236}">
                  <a16:creationId xmlns:a16="http://schemas.microsoft.com/office/drawing/2014/main" id="{4016CC69-41ED-A748-7216-3980883530A3}"/>
                </a:ext>
              </a:extLst>
            </p:cNvPr>
            <p:cNvSpPr/>
            <p:nvPr/>
          </p:nvSpPr>
          <p:spPr>
            <a:xfrm>
              <a:off x="863600" y="1803400"/>
              <a:ext cx="2413000" cy="254000"/>
            </a:xfrm>
            <a:prstGeom prst="roundRect">
              <a:avLst/>
            </a:prstGeom>
            <a:solidFill>
              <a:srgbClr val="E0F2FE"/>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vi-VN" sz="900" b="1">
                  <a:solidFill>
                    <a:srgbClr val="0284C7"/>
                  </a:solidFill>
                  <a:latin typeface="Segoe UI" panose="020B0502040204020203" pitchFamily="34" charset="0"/>
                </a:rPr>
                <a:t>CÔNG THỨC ĐỊNH LƯỢNG CHUẨN</a:t>
              </a:r>
              <a:endParaRPr lang="en-US" sz="900" b="1">
                <a:solidFill>
                  <a:srgbClr val="0284C7"/>
                </a:solidFill>
                <a:latin typeface="Segoe UI" panose="020B0502040204020203" pitchFamily="34" charset="0"/>
              </a:endParaRPr>
            </a:p>
          </p:txBody>
        </p:sp>
        <p:sp>
          <p:nvSpPr>
            <p:cNvPr id="7" name="TextBox 6">
              <a:extLst>
                <a:ext uri="{FF2B5EF4-FFF2-40B4-BE49-F238E27FC236}">
                  <a16:creationId xmlns:a16="http://schemas.microsoft.com/office/drawing/2014/main" id="{37F2AC72-677A-E7EB-C3E2-F96456D782D8}"/>
                </a:ext>
              </a:extLst>
            </p:cNvPr>
            <p:cNvSpPr txBox="1"/>
            <p:nvPr/>
          </p:nvSpPr>
          <p:spPr>
            <a:xfrm>
              <a:off x="863600" y="2082800"/>
              <a:ext cx="10464800" cy="461665"/>
            </a:xfrm>
            <a:prstGeom prst="rect">
              <a:avLst/>
            </a:prstGeom>
            <a:noFill/>
          </p:spPr>
          <p:txBody>
            <a:bodyPr vert="horz" rtlCol="0">
              <a:spAutoFit/>
            </a:bodyPr>
            <a:lstStyle/>
            <a:p>
              <a:pPr algn="ctr"/>
              <a:r>
                <a:rPr lang="en-US" sz="2400" b="1">
                  <a:solidFill>
                    <a:srgbClr val="0284C7"/>
                  </a:solidFill>
                  <a:latin typeface="Segoe UI" panose="020B0502040204020203" pitchFamily="34" charset="0"/>
                </a:rPr>
                <a:t>TFR = 5 * </a:t>
              </a:r>
              <a:r>
                <a:rPr lang="el-GR" sz="2400" b="1">
                  <a:solidFill>
                    <a:srgbClr val="0284C7"/>
                  </a:solidFill>
                  <a:latin typeface="Segoe UI" panose="020B0502040204020203" pitchFamily="34" charset="0"/>
                </a:rPr>
                <a:t>Σ(</a:t>
              </a:r>
              <a:r>
                <a:rPr lang="en-US" sz="2400" b="1">
                  <a:solidFill>
                    <a:srgbClr val="0284C7"/>
                  </a:solidFill>
                  <a:latin typeface="Segoe UI" panose="020B0502040204020203" pitchFamily="34" charset="0"/>
                </a:rPr>
                <a:t>ASFR_x) / 1,000  (Mức sinh thay thế chuẩn = 2.10 con)</a:t>
              </a:r>
            </a:p>
          </p:txBody>
        </p:sp>
      </p:grpSp>
      <p:grpSp>
        <p:nvGrpSpPr>
          <p:cNvPr id="14" name="!!Stage_Sub_Card_1">
            <a:extLst>
              <a:ext uri="{FF2B5EF4-FFF2-40B4-BE49-F238E27FC236}">
                <a16:creationId xmlns:a16="http://schemas.microsoft.com/office/drawing/2014/main" id="{830C3A6D-057B-4CB7-209D-F4D745253D4E}"/>
              </a:ext>
            </a:extLst>
          </p:cNvPr>
          <p:cNvGrpSpPr/>
          <p:nvPr/>
        </p:nvGrpSpPr>
        <p:grpSpPr>
          <a:xfrm>
            <a:off x="609600" y="2971800"/>
            <a:ext cx="3522133" cy="3225800"/>
            <a:chOff x="609600" y="2971800"/>
            <a:chExt cx="3522133" cy="3225800"/>
          </a:xfrm>
        </p:grpSpPr>
        <p:sp>
          <p:nvSpPr>
            <p:cNvPr id="9" name="Rectangle: Rounded Corners 8">
              <a:extLst>
                <a:ext uri="{FF2B5EF4-FFF2-40B4-BE49-F238E27FC236}">
                  <a16:creationId xmlns:a16="http://schemas.microsoft.com/office/drawing/2014/main" id="{DA8EE51A-A342-C3EF-60F2-590812BECBB2}"/>
                </a:ext>
              </a:extLst>
            </p:cNvPr>
            <p:cNvSpPr/>
            <p:nvPr/>
          </p:nvSpPr>
          <p:spPr>
            <a:xfrm>
              <a:off x="609600" y="2971800"/>
              <a:ext cx="3522133" cy="3225800"/>
            </a:xfrm>
            <a:prstGeom prst="roundRect">
              <a:avLst/>
            </a:prstGeom>
            <a:solidFill>
              <a:srgbClr val="FFFFFF"/>
            </a:solidFill>
            <a:ln w="12700">
              <a:solidFill>
                <a:srgbClr val="CBD5E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Oval 9">
              <a:extLst>
                <a:ext uri="{FF2B5EF4-FFF2-40B4-BE49-F238E27FC236}">
                  <a16:creationId xmlns:a16="http://schemas.microsoft.com/office/drawing/2014/main" id="{053230F9-80C6-6B05-1037-A2B2B8A02674}"/>
                </a:ext>
              </a:extLst>
            </p:cNvPr>
            <p:cNvSpPr/>
            <p:nvPr/>
          </p:nvSpPr>
          <p:spPr>
            <a:xfrm>
              <a:off x="812800" y="3175000"/>
              <a:ext cx="406400" cy="406400"/>
            </a:xfrm>
            <a:prstGeom prst="ellipse">
              <a:avLst/>
            </a:prstGeom>
            <a:solidFill>
              <a:srgbClr val="E0F2FE"/>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2" name="Graphic 11">
              <a:extLst>
                <a:ext uri="{FF2B5EF4-FFF2-40B4-BE49-F238E27FC236}">
                  <a16:creationId xmlns:a16="http://schemas.microsoft.com/office/drawing/2014/main" id="{C048DA12-C2B0-E4F4-4E0E-7A1CA5BFEFA3}"/>
                </a:ext>
              </a:extLst>
            </p:cNvPr>
            <p:cNvPicPr>
              <a:picLocks/>
            </p:cNvPicPr>
            <p:nvPr/>
          </p:nvPicPr>
          <p:blipFill>
            <a:blip>
              <a:extLst>
                <a:ext uri="{96DAC541-7B7A-43D3-8B79-37D633B846F1}">
                  <asvg:svgBlip xmlns:asvg="http://schemas.microsoft.com/office/drawing/2016/SVG/main" r:embed="rId2"/>
                </a:ext>
              </a:extLst>
            </a:blip>
            <a:stretch>
              <a:fillRect/>
            </a:stretch>
          </p:blipFill>
          <p:spPr>
            <a:xfrm>
              <a:off x="876300" y="3238500"/>
              <a:ext cx="279400" cy="279400"/>
            </a:xfrm>
            <a:prstGeom prst="rect">
              <a:avLst/>
            </a:prstGeom>
          </p:spPr>
        </p:pic>
        <p:sp>
          <p:nvSpPr>
            <p:cNvPr id="13" name="TextBox 12">
              <a:extLst>
                <a:ext uri="{FF2B5EF4-FFF2-40B4-BE49-F238E27FC236}">
                  <a16:creationId xmlns:a16="http://schemas.microsoft.com/office/drawing/2014/main" id="{B57608F3-5529-A1BF-43CB-EE4FFE513008}"/>
                </a:ext>
              </a:extLst>
            </p:cNvPr>
            <p:cNvSpPr txBox="1"/>
            <p:nvPr/>
          </p:nvSpPr>
          <p:spPr>
            <a:xfrm>
              <a:off x="812800" y="3683000"/>
              <a:ext cx="3115733" cy="1443985"/>
            </a:xfrm>
            <a:prstGeom prst="rect">
              <a:avLst/>
            </a:prstGeom>
            <a:noFill/>
          </p:spPr>
          <p:txBody>
            <a:bodyPr vert="horz" wrap="square" lIns="0" tIns="0" rtlCol="0">
              <a:spAutoFit/>
            </a:bodyPr>
            <a:lstStyle/>
            <a:p>
              <a:pPr>
                <a:lnSpc>
                  <a:spcPct val="125000"/>
                </a:lnSpc>
                <a:spcAft>
                  <a:spcPts val="600"/>
                </a:spcAft>
              </a:pPr>
              <a:r>
                <a:rPr lang="en-US" sz="1600" b="1">
                  <a:solidFill>
                    <a:srgbClr val="0F172A"/>
                  </a:solidFill>
                  <a:latin typeface="Segoe UI" panose="020B0502040204020203" pitchFamily="34" charset="0"/>
                </a:rPr>
                <a:t>Công Thức Tính TFR
</a:t>
              </a:r>
              <a:r>
                <a:rPr lang="vi-VN" sz="1350" b="1">
                  <a:solidFill>
                    <a:srgbClr val="334155"/>
                  </a:solidFill>
                  <a:latin typeface="Segoe UI" panose="020B0502040204020203" pitchFamily="34" charset="0"/>
                </a:rPr>
                <a:t>TFR = 5 * </a:t>
              </a:r>
              <a:r>
                <a:rPr lang="el-GR" sz="1350" b="1">
                  <a:solidFill>
                    <a:srgbClr val="334155"/>
                  </a:solidFill>
                  <a:latin typeface="Segoe UI" panose="020B0502040204020203" pitchFamily="34" charset="0"/>
                </a:rPr>
                <a:t>Σ(</a:t>
              </a:r>
              <a:r>
                <a:rPr lang="vi-VN" sz="1350" b="1">
                  <a:solidFill>
                    <a:srgbClr val="334155"/>
                  </a:solidFill>
                  <a:latin typeface="Segoe UI" panose="020B0502040204020203" pitchFamily="34" charset="0"/>
                </a:rPr>
                <a:t>ASFR_x) / 1,000. Đo lường độc lập hoàn toàn với cơ cấu tuổi của dân số, cho phép so sánh quốc tế chuẩn xác.</a:t>
              </a:r>
              <a:endParaRPr lang="en-US" sz="1350" b="1">
                <a:solidFill>
                  <a:srgbClr val="334155"/>
                </a:solidFill>
                <a:latin typeface="Segoe UI" panose="020B0502040204020203" pitchFamily="34" charset="0"/>
              </a:endParaRPr>
            </a:p>
          </p:txBody>
        </p:sp>
      </p:grpSp>
      <p:grpSp>
        <p:nvGrpSpPr>
          <p:cNvPr id="20" name="!!Stage_Sub_Card_2">
            <a:extLst>
              <a:ext uri="{FF2B5EF4-FFF2-40B4-BE49-F238E27FC236}">
                <a16:creationId xmlns:a16="http://schemas.microsoft.com/office/drawing/2014/main" id="{5C34A935-198B-0B7D-BB20-6D8033922CF1}"/>
              </a:ext>
            </a:extLst>
          </p:cNvPr>
          <p:cNvGrpSpPr/>
          <p:nvPr/>
        </p:nvGrpSpPr>
        <p:grpSpPr>
          <a:xfrm>
            <a:off x="4334933" y="2971800"/>
            <a:ext cx="3522134" cy="3225800"/>
            <a:chOff x="4334933" y="2971800"/>
            <a:chExt cx="3522134" cy="3225800"/>
          </a:xfrm>
        </p:grpSpPr>
        <p:sp>
          <p:nvSpPr>
            <p:cNvPr id="15" name="Rectangle: Rounded Corners 14">
              <a:extLst>
                <a:ext uri="{FF2B5EF4-FFF2-40B4-BE49-F238E27FC236}">
                  <a16:creationId xmlns:a16="http://schemas.microsoft.com/office/drawing/2014/main" id="{E80B0F4F-6D42-3C32-B698-7BD1C61FFCBE}"/>
                </a:ext>
              </a:extLst>
            </p:cNvPr>
            <p:cNvSpPr/>
            <p:nvPr/>
          </p:nvSpPr>
          <p:spPr>
            <a:xfrm>
              <a:off x="4334933" y="2971800"/>
              <a:ext cx="3522134" cy="3225800"/>
            </a:xfrm>
            <a:prstGeom prst="roundRect">
              <a:avLst/>
            </a:prstGeom>
            <a:solidFill>
              <a:srgbClr val="FFFFFF"/>
            </a:solidFill>
            <a:ln w="12700">
              <a:solidFill>
                <a:srgbClr val="CBD5E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Oval 15">
              <a:extLst>
                <a:ext uri="{FF2B5EF4-FFF2-40B4-BE49-F238E27FC236}">
                  <a16:creationId xmlns:a16="http://schemas.microsoft.com/office/drawing/2014/main" id="{A97CF7CD-5058-C001-38B3-EDDF5C6A01D2}"/>
                </a:ext>
              </a:extLst>
            </p:cNvPr>
            <p:cNvSpPr/>
            <p:nvPr/>
          </p:nvSpPr>
          <p:spPr>
            <a:xfrm>
              <a:off x="4538133" y="3175000"/>
              <a:ext cx="406400" cy="406400"/>
            </a:xfrm>
            <a:prstGeom prst="ellipse">
              <a:avLst/>
            </a:prstGeom>
            <a:solidFill>
              <a:srgbClr val="E0F2FE"/>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8" name="Graphic 17">
              <a:extLst>
                <a:ext uri="{FF2B5EF4-FFF2-40B4-BE49-F238E27FC236}">
                  <a16:creationId xmlns:a16="http://schemas.microsoft.com/office/drawing/2014/main" id="{6DDF6441-B22C-5A3E-4910-37340567D6D2}"/>
                </a:ext>
              </a:extLst>
            </p:cNvPr>
            <p:cNvPicPr>
              <a:picLocks/>
            </p:cNvPicPr>
            <p:nvPr/>
          </p:nvPicPr>
          <p:blipFill>
            <a:blip>
              <a:extLst>
                <a:ext uri="{96DAC541-7B7A-43D3-8B79-37D633B846F1}">
                  <asvg:svgBlip xmlns:asvg="http://schemas.microsoft.com/office/drawing/2016/SVG/main" r:embed="rId3"/>
                </a:ext>
              </a:extLst>
            </a:blip>
            <a:stretch>
              <a:fillRect/>
            </a:stretch>
          </p:blipFill>
          <p:spPr>
            <a:xfrm>
              <a:off x="4601633" y="3238500"/>
              <a:ext cx="279400" cy="279400"/>
            </a:xfrm>
            <a:prstGeom prst="rect">
              <a:avLst/>
            </a:prstGeom>
          </p:spPr>
        </p:pic>
        <p:sp>
          <p:nvSpPr>
            <p:cNvPr id="19" name="TextBox 18">
              <a:extLst>
                <a:ext uri="{FF2B5EF4-FFF2-40B4-BE49-F238E27FC236}">
                  <a16:creationId xmlns:a16="http://schemas.microsoft.com/office/drawing/2014/main" id="{04B803CE-4D96-AFCB-A1C0-0D6EB5A1058B}"/>
                </a:ext>
              </a:extLst>
            </p:cNvPr>
            <p:cNvSpPr txBox="1"/>
            <p:nvPr/>
          </p:nvSpPr>
          <p:spPr>
            <a:xfrm>
              <a:off x="4538133" y="3683000"/>
              <a:ext cx="3115733" cy="1751762"/>
            </a:xfrm>
            <a:prstGeom prst="rect">
              <a:avLst/>
            </a:prstGeom>
            <a:noFill/>
          </p:spPr>
          <p:txBody>
            <a:bodyPr vert="horz" wrap="square" lIns="0" tIns="0" rtlCol="0">
              <a:spAutoFit/>
            </a:bodyPr>
            <a:lstStyle/>
            <a:p>
              <a:pPr>
                <a:lnSpc>
                  <a:spcPct val="125000"/>
                </a:lnSpc>
                <a:spcAft>
                  <a:spcPts val="600"/>
                </a:spcAft>
              </a:pPr>
              <a:r>
                <a:rPr lang="vi-VN" sz="1600" b="1">
                  <a:solidFill>
                    <a:srgbClr val="0F172A"/>
                  </a:solidFill>
                  <a:latin typeface="Segoe UI" panose="020B0502040204020203" pitchFamily="34" charset="0"/>
                </a:rPr>
                <a:t>Ngưỡng Mức Sinh Thay Thế (2.1 Con)
</a:t>
              </a:r>
              <a:r>
                <a:rPr lang="vi-VN" sz="1350" b="1">
                  <a:solidFill>
                    <a:srgbClr val="334155"/>
                  </a:solidFill>
                  <a:latin typeface="Segoe UI" panose="020B0502040204020203" pitchFamily="34" charset="0"/>
                </a:rPr>
                <a:t>Mức sinh bảo đảm một thế hệ con gái thay thế đúng số lượng thế hệ người mẹ. Cần 2.1 con để bù đắp rủi ro tử vong trước tuổi sinh sản.</a:t>
              </a:r>
              <a:endParaRPr lang="en-US" sz="1350" b="1">
                <a:solidFill>
                  <a:srgbClr val="334155"/>
                </a:solidFill>
                <a:latin typeface="Segoe UI" panose="020B0502040204020203" pitchFamily="34" charset="0"/>
              </a:endParaRPr>
            </a:p>
          </p:txBody>
        </p:sp>
      </p:grpSp>
      <p:grpSp>
        <p:nvGrpSpPr>
          <p:cNvPr id="26" name="!!Stage_Sub_Card_3">
            <a:extLst>
              <a:ext uri="{FF2B5EF4-FFF2-40B4-BE49-F238E27FC236}">
                <a16:creationId xmlns:a16="http://schemas.microsoft.com/office/drawing/2014/main" id="{3ACDFB50-BCB8-8244-6AB5-F0FDC703D30D}"/>
              </a:ext>
            </a:extLst>
          </p:cNvPr>
          <p:cNvGrpSpPr/>
          <p:nvPr/>
        </p:nvGrpSpPr>
        <p:grpSpPr>
          <a:xfrm>
            <a:off x="8060267" y="2971800"/>
            <a:ext cx="3522133" cy="3225800"/>
            <a:chOff x="8060267" y="2971800"/>
            <a:chExt cx="3522133" cy="3225800"/>
          </a:xfrm>
        </p:grpSpPr>
        <p:sp>
          <p:nvSpPr>
            <p:cNvPr id="21" name="Rectangle: Rounded Corners 20">
              <a:extLst>
                <a:ext uri="{FF2B5EF4-FFF2-40B4-BE49-F238E27FC236}">
                  <a16:creationId xmlns:a16="http://schemas.microsoft.com/office/drawing/2014/main" id="{089A208D-5299-A982-6489-6BEB7D998D98}"/>
                </a:ext>
              </a:extLst>
            </p:cNvPr>
            <p:cNvSpPr/>
            <p:nvPr/>
          </p:nvSpPr>
          <p:spPr>
            <a:xfrm>
              <a:off x="8060267" y="2971800"/>
              <a:ext cx="3522133" cy="3225800"/>
            </a:xfrm>
            <a:prstGeom prst="roundRect">
              <a:avLst/>
            </a:prstGeom>
            <a:solidFill>
              <a:srgbClr val="FFFFFF"/>
            </a:solidFill>
            <a:ln w="12700">
              <a:solidFill>
                <a:srgbClr val="CBD5E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Oval 21">
              <a:extLst>
                <a:ext uri="{FF2B5EF4-FFF2-40B4-BE49-F238E27FC236}">
                  <a16:creationId xmlns:a16="http://schemas.microsoft.com/office/drawing/2014/main" id="{A7EDAE54-C423-BD0C-9E42-E3256544422F}"/>
                </a:ext>
              </a:extLst>
            </p:cNvPr>
            <p:cNvSpPr/>
            <p:nvPr/>
          </p:nvSpPr>
          <p:spPr>
            <a:xfrm>
              <a:off x="8263467" y="3175000"/>
              <a:ext cx="406400" cy="406400"/>
            </a:xfrm>
            <a:prstGeom prst="ellipse">
              <a:avLst/>
            </a:prstGeom>
            <a:solidFill>
              <a:srgbClr val="E0F2FE"/>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4" name="Graphic 23">
              <a:extLst>
                <a:ext uri="{FF2B5EF4-FFF2-40B4-BE49-F238E27FC236}">
                  <a16:creationId xmlns:a16="http://schemas.microsoft.com/office/drawing/2014/main" id="{E19DFF27-7CDC-B449-7C89-04F24C553EDA}"/>
                </a:ext>
              </a:extLst>
            </p:cNvPr>
            <p:cNvPicPr>
              <a:picLocks/>
            </p:cNvPicPr>
            <p:nvPr/>
          </p:nvPicPr>
          <p:blipFill>
            <a:blip>
              <a:extLst>
                <a:ext uri="{96DAC541-7B7A-43D3-8B79-37D633B846F1}">
                  <asvg:svgBlip xmlns:asvg="http://schemas.microsoft.com/office/drawing/2016/SVG/main" r:embed="rId4"/>
                </a:ext>
              </a:extLst>
            </a:blip>
            <a:stretch>
              <a:fillRect/>
            </a:stretch>
          </p:blipFill>
          <p:spPr>
            <a:xfrm>
              <a:off x="8326967" y="3238500"/>
              <a:ext cx="279400" cy="279400"/>
            </a:xfrm>
            <a:prstGeom prst="rect">
              <a:avLst/>
            </a:prstGeom>
          </p:spPr>
        </p:pic>
        <p:sp>
          <p:nvSpPr>
            <p:cNvPr id="25" name="TextBox 24">
              <a:extLst>
                <a:ext uri="{FF2B5EF4-FFF2-40B4-BE49-F238E27FC236}">
                  <a16:creationId xmlns:a16="http://schemas.microsoft.com/office/drawing/2014/main" id="{34826172-897F-A9F8-82BF-9F39586154AE}"/>
                </a:ext>
              </a:extLst>
            </p:cNvPr>
            <p:cNvSpPr txBox="1"/>
            <p:nvPr/>
          </p:nvSpPr>
          <p:spPr>
            <a:xfrm>
              <a:off x="8263467" y="3683000"/>
              <a:ext cx="3115733" cy="1184299"/>
            </a:xfrm>
            <a:prstGeom prst="rect">
              <a:avLst/>
            </a:prstGeom>
            <a:noFill/>
          </p:spPr>
          <p:txBody>
            <a:bodyPr vert="horz" wrap="square" lIns="0" tIns="0" rtlCol="0">
              <a:spAutoFit/>
            </a:bodyPr>
            <a:lstStyle/>
            <a:p>
              <a:pPr>
                <a:lnSpc>
                  <a:spcPct val="125000"/>
                </a:lnSpc>
                <a:spcAft>
                  <a:spcPts val="600"/>
                </a:spcAft>
              </a:pPr>
              <a:r>
                <a:rPr lang="vi-VN" sz="1600" b="1">
                  <a:solidFill>
                    <a:srgbClr val="0F172A"/>
                  </a:solidFill>
                  <a:latin typeface="Segoe UI" panose="020B0502040204020203" pitchFamily="34" charset="0"/>
                </a:rPr>
                <a:t>Ý Nghĩa Chiến Lược Quốc Gia
</a:t>
              </a:r>
              <a:r>
                <a:rPr lang="vi-VN" sz="1350" b="1">
                  <a:solidFill>
                    <a:srgbClr val="334155"/>
                  </a:solidFill>
                  <a:latin typeface="Segoe UI" panose="020B0502040204020203" pitchFamily="34" charset="0"/>
                </a:rPr>
                <a:t>Duy trì TFR quanh mức 2.1 con giúp ổn định quy mô dân số và làm chậm quá trình già hóa trong dài hạn.</a:t>
              </a:r>
              <a:endParaRPr lang="en-US" sz="1350" b="1">
                <a:solidFill>
                  <a:srgbClr val="334155"/>
                </a:solidFill>
                <a:latin typeface="Segoe UI" panose="020B0502040204020203" pitchFamily="34" charset="0"/>
              </a:endParaRPr>
            </a:p>
          </p:txBody>
        </p:sp>
      </p:grpSp>
      <p:sp>
        <p:nvSpPr>
          <p:cNvPr id="27" name="!!Anchor_Source_Footer">
            <a:extLst>
              <a:ext uri="{FF2B5EF4-FFF2-40B4-BE49-F238E27FC236}">
                <a16:creationId xmlns:a16="http://schemas.microsoft.com/office/drawing/2014/main" id="{E49BAF4A-5C0A-68B7-E152-493683BAAA34}"/>
              </a:ext>
            </a:extLst>
          </p:cNvPr>
          <p:cNvSpPr txBox="1"/>
          <p:nvPr/>
        </p:nvSpPr>
        <p:spPr>
          <a:xfrm>
            <a:off x="609600" y="6273800"/>
            <a:ext cx="10972800" cy="246221"/>
          </a:xfrm>
          <a:prstGeom prst="rect">
            <a:avLst/>
          </a:prstGeom>
          <a:noFill/>
        </p:spPr>
        <p:txBody>
          <a:bodyPr vert="horz" rtlCol="0">
            <a:spAutoFit/>
          </a:bodyPr>
          <a:lstStyle/>
          <a:p>
            <a:r>
              <a:rPr lang="en-US" sz="1000">
                <a:solidFill>
                  <a:srgbClr val="334155"/>
                </a:solidFill>
                <a:latin typeface="Segoe UI" panose="020B0502040204020203" pitchFamily="34" charset="0"/>
              </a:rPr>
              <a:t>Khái niệm mức sinh thay thế - Liên Hợp Quốc</a:t>
            </a:r>
          </a:p>
        </p:txBody>
      </p:sp>
    </p:spTree>
    <p:extLst>
      <p:ext uri="{BB962C8B-B14F-4D97-AF65-F5344CB8AC3E}">
        <p14:creationId xmlns:p14="http://schemas.microsoft.com/office/powerpoint/2010/main" val="3461559248"/>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850">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accel="50000" decel="50000" fill="hold" nodeType="clickEffect">
                                  <p:stCondLst>
                                    <p:cond delay="0"/>
                                  </p:stCondLst>
                                  <p:childTnLst>
                                    <p:set>
                                      <p:cBhvr>
                                        <p:cTn id="6" dur="1" fill="hold">
                                          <p:stCondLst>
                                            <p:cond delay="0"/>
                                          </p:stCondLst>
                                        </p:cTn>
                                        <p:tgtEl>
                                          <p:spTgt spid="14"/>
                                        </p:tgtEl>
                                        <p:attrNameLst>
                                          <p:attrName>style.visibility</p:attrName>
                                        </p:attrNameLst>
                                      </p:cBhvr>
                                      <p:to>
                                        <p:strVal val="visible"/>
                                      </p:to>
                                    </p:set>
                                    <p:anim calcmode="lin" valueType="num">
                                      <p:cBhvr additive="base">
                                        <p:cTn id="7" dur="450" fill="hold"/>
                                        <p:tgtEl>
                                          <p:spTgt spid="14"/>
                                        </p:tgtEl>
                                        <p:attrNameLst>
                                          <p:attrName>ppt_x</p:attrName>
                                        </p:attrNameLst>
                                      </p:cBhvr>
                                      <p:tavLst>
                                        <p:tav tm="0">
                                          <p:val>
                                            <p:strVal val="#ppt_x"/>
                                          </p:val>
                                        </p:tav>
                                        <p:tav tm="100000">
                                          <p:val>
                                            <p:strVal val="#ppt_x"/>
                                          </p:val>
                                        </p:tav>
                                      </p:tavLst>
                                    </p:anim>
                                    <p:anim calcmode="lin" valueType="num">
                                      <p:cBhvr additive="base">
                                        <p:cTn id="8" dur="450" fill="hold"/>
                                        <p:tgtEl>
                                          <p:spTgt spid="14"/>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accel="50000" decel="50000" fill="hold" nodeType="clickEffect">
                                  <p:stCondLst>
                                    <p:cond delay="0"/>
                                  </p:stCondLst>
                                  <p:childTnLst>
                                    <p:set>
                                      <p:cBhvr>
                                        <p:cTn id="12" dur="1" fill="hold">
                                          <p:stCondLst>
                                            <p:cond delay="0"/>
                                          </p:stCondLst>
                                        </p:cTn>
                                        <p:tgtEl>
                                          <p:spTgt spid="20"/>
                                        </p:tgtEl>
                                        <p:attrNameLst>
                                          <p:attrName>style.visibility</p:attrName>
                                        </p:attrNameLst>
                                      </p:cBhvr>
                                      <p:to>
                                        <p:strVal val="visible"/>
                                      </p:to>
                                    </p:set>
                                    <p:anim calcmode="lin" valueType="num">
                                      <p:cBhvr additive="base">
                                        <p:cTn id="13" dur="450" fill="hold"/>
                                        <p:tgtEl>
                                          <p:spTgt spid="20"/>
                                        </p:tgtEl>
                                        <p:attrNameLst>
                                          <p:attrName>ppt_x</p:attrName>
                                        </p:attrNameLst>
                                      </p:cBhvr>
                                      <p:tavLst>
                                        <p:tav tm="0">
                                          <p:val>
                                            <p:strVal val="#ppt_x"/>
                                          </p:val>
                                        </p:tav>
                                        <p:tav tm="100000">
                                          <p:val>
                                            <p:strVal val="#ppt_x"/>
                                          </p:val>
                                        </p:tav>
                                      </p:tavLst>
                                    </p:anim>
                                    <p:anim calcmode="lin" valueType="num">
                                      <p:cBhvr additive="base">
                                        <p:cTn id="14" dur="450" fill="hold"/>
                                        <p:tgtEl>
                                          <p:spTgt spid="20"/>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accel="50000" decel="50000" fill="hold" nodeType="clickEffect">
                                  <p:stCondLst>
                                    <p:cond delay="0"/>
                                  </p:stCondLst>
                                  <p:childTnLst>
                                    <p:set>
                                      <p:cBhvr>
                                        <p:cTn id="18" dur="1" fill="hold">
                                          <p:stCondLst>
                                            <p:cond delay="0"/>
                                          </p:stCondLst>
                                        </p:cTn>
                                        <p:tgtEl>
                                          <p:spTgt spid="26"/>
                                        </p:tgtEl>
                                        <p:attrNameLst>
                                          <p:attrName>style.visibility</p:attrName>
                                        </p:attrNameLst>
                                      </p:cBhvr>
                                      <p:to>
                                        <p:strVal val="visible"/>
                                      </p:to>
                                    </p:set>
                                    <p:anim calcmode="lin" valueType="num">
                                      <p:cBhvr additive="base">
                                        <p:cTn id="19" dur="450" fill="hold"/>
                                        <p:tgtEl>
                                          <p:spTgt spid="26"/>
                                        </p:tgtEl>
                                        <p:attrNameLst>
                                          <p:attrName>ppt_x</p:attrName>
                                        </p:attrNameLst>
                                      </p:cBhvr>
                                      <p:tavLst>
                                        <p:tav tm="0">
                                          <p:val>
                                            <p:strVal val="#ppt_x"/>
                                          </p:val>
                                        </p:tav>
                                        <p:tav tm="100000">
                                          <p:val>
                                            <p:strVal val="#ppt_x"/>
                                          </p:val>
                                        </p:tav>
                                      </p:tavLst>
                                    </p:anim>
                                    <p:anim calcmode="lin" valueType="num">
                                      <p:cBhvr additive="base">
                                        <p:cTn id="20" dur="450" fill="hold"/>
                                        <p:tgtEl>
                                          <p:spTgt spid="2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a:xfrm>
          <a:off x="0" y="0"/>
          <a:ext cx="0" cy="0"/>
          <a:chOff x="0" y="0"/>
          <a:chExt cx="0" cy="0"/>
        </a:xfrm>
      </p:grpSpPr>
      <p:sp>
        <p:nvSpPr>
          <p:cNvPr id="2" name="!!Anchor_Kicker_Rail">
            <a:extLst>
              <a:ext uri="{FF2B5EF4-FFF2-40B4-BE49-F238E27FC236}">
                <a16:creationId xmlns:a16="http://schemas.microsoft.com/office/drawing/2014/main" id="{4DA512BA-22D9-4F32-958B-928AFFA798E7}"/>
              </a:ext>
            </a:extLst>
          </p:cNvPr>
          <p:cNvSpPr txBox="1"/>
          <p:nvPr/>
        </p:nvSpPr>
        <p:spPr>
          <a:xfrm>
            <a:off x="609600" y="457200"/>
            <a:ext cx="9956800" cy="276999"/>
          </a:xfrm>
          <a:prstGeom prst="rect">
            <a:avLst/>
          </a:prstGeom>
          <a:noFill/>
        </p:spPr>
        <p:txBody>
          <a:bodyPr vert="horz" rtlCol="0">
            <a:spAutoFit/>
          </a:bodyPr>
          <a:lstStyle/>
          <a:p>
            <a:r>
              <a:rPr lang="en-US" sz="1200" b="1">
                <a:solidFill>
                  <a:srgbClr val="0284C7"/>
                </a:solidFill>
                <a:latin typeface="Segoe UI" panose="020B0502040204020203" pitchFamily="34" charset="0"/>
              </a:rPr>
              <a:t>TÁI SINH DÂN SỐ  •  TRỌNG TÂM</a:t>
            </a:r>
          </a:p>
        </p:txBody>
      </p:sp>
      <p:sp>
        <p:nvSpPr>
          <p:cNvPr id="3" name="!!Anchor_Slide_Tracker">
            <a:extLst>
              <a:ext uri="{FF2B5EF4-FFF2-40B4-BE49-F238E27FC236}">
                <a16:creationId xmlns:a16="http://schemas.microsoft.com/office/drawing/2014/main" id="{225BBC7D-3C06-F3B8-37DD-E298E99D2543}"/>
              </a:ext>
            </a:extLst>
          </p:cNvPr>
          <p:cNvSpPr txBox="1"/>
          <p:nvPr/>
        </p:nvSpPr>
        <p:spPr>
          <a:xfrm>
            <a:off x="10820400" y="457200"/>
            <a:ext cx="762000" cy="276999"/>
          </a:xfrm>
          <a:prstGeom prst="rect">
            <a:avLst/>
          </a:prstGeom>
          <a:noFill/>
        </p:spPr>
        <p:txBody>
          <a:bodyPr vert="horz" rtlCol="0">
            <a:spAutoFit/>
          </a:bodyPr>
          <a:lstStyle/>
          <a:p>
            <a:pPr algn="r"/>
            <a:r>
              <a:rPr lang="en-US" sz="1200" b="1">
                <a:solidFill>
                  <a:srgbClr val="334155"/>
                </a:solidFill>
                <a:latin typeface="Bahnschrift" panose="020B0502040204020203" pitchFamily="34" charset="0"/>
              </a:rPr>
              <a:t>08 / 22</a:t>
            </a:r>
          </a:p>
        </p:txBody>
      </p:sp>
      <p:sp>
        <p:nvSpPr>
          <p:cNvPr id="4" name="!!Anchor_Assertion_Title">
            <a:extLst>
              <a:ext uri="{FF2B5EF4-FFF2-40B4-BE49-F238E27FC236}">
                <a16:creationId xmlns:a16="http://schemas.microsoft.com/office/drawing/2014/main" id="{A15255A0-FAD2-2B2E-B056-1D85A4F9E9D8}"/>
              </a:ext>
            </a:extLst>
          </p:cNvPr>
          <p:cNvSpPr txBox="1"/>
          <p:nvPr/>
        </p:nvSpPr>
        <p:spPr>
          <a:xfrm>
            <a:off x="609600" y="711200"/>
            <a:ext cx="10972800" cy="369332"/>
          </a:xfrm>
          <a:prstGeom prst="rect">
            <a:avLst/>
          </a:prstGeom>
          <a:noFill/>
        </p:spPr>
        <p:txBody>
          <a:bodyPr vert="horz" wrap="square" tIns="0" bIns="0" rtlCol="0">
            <a:spAutoFit/>
          </a:bodyPr>
          <a:lstStyle/>
          <a:p>
            <a:r>
              <a:rPr lang="vi-VN" sz="2400" b="1">
                <a:solidFill>
                  <a:srgbClr val="0F172A"/>
                </a:solidFill>
                <a:latin typeface="Segoe UI" panose="020B0502040204020203" pitchFamily="34" charset="0"/>
              </a:rPr>
              <a:t>Thước Đo Tái Sinh Dân Số: Tỷ Suất Tái Sinh Thô (GRR) Và Thuần (NRR)</a:t>
            </a:r>
            <a:endParaRPr lang="en-US" sz="2400" b="1">
              <a:solidFill>
                <a:srgbClr val="0F172A"/>
              </a:solidFill>
              <a:latin typeface="Segoe UI" panose="020B0502040204020203" pitchFamily="34" charset="0"/>
            </a:endParaRPr>
          </a:p>
        </p:txBody>
      </p:sp>
      <p:pic>
        <p:nvPicPr>
          <p:cNvPr id="6" name="!!Stage_Hero_Container">
            <a:extLst>
              <a:ext uri="{FF2B5EF4-FFF2-40B4-BE49-F238E27FC236}">
                <a16:creationId xmlns:a16="http://schemas.microsoft.com/office/drawing/2014/main" id="{54245801-C188-C335-FED0-8A1B2AEE978C}"/>
              </a:ext>
            </a:extLst>
          </p:cNvPr>
          <p:cNvPicPr>
            <a:picLocks/>
          </p:cNvPicPr>
          <p:nvPr/>
        </p:nvPicPr>
        <p:blipFill>
          <a:blip r:embed="rId2">
            <a:extLst>
              <a:ext uri="{28A0092B-C50C-407E-A947-70E740481C1C}">
                <a14:useLocalDpi xmlns:a14="http://schemas.microsoft.com/office/drawing/2010/main" val="0"/>
              </a:ext>
            </a:extLst>
          </a:blip>
          <a:stretch>
            <a:fillRect/>
          </a:stretch>
        </p:blipFill>
        <p:spPr>
          <a:xfrm>
            <a:off x="609600" y="1752600"/>
            <a:ext cx="5705856" cy="4368800"/>
          </a:xfrm>
          <a:prstGeom prst="roundRect">
            <a:avLst/>
          </a:prstGeom>
          <a:ln w="12700">
            <a:solidFill>
              <a:srgbClr val="CBD5E1"/>
            </a:solidFill>
          </a:ln>
        </p:spPr>
      </p:pic>
      <p:grpSp>
        <p:nvGrpSpPr>
          <p:cNvPr id="12" name="!!Stage_Sub_Card_1">
            <a:extLst>
              <a:ext uri="{FF2B5EF4-FFF2-40B4-BE49-F238E27FC236}">
                <a16:creationId xmlns:a16="http://schemas.microsoft.com/office/drawing/2014/main" id="{88491E1C-6B50-C031-C894-4F713D3EE115}"/>
              </a:ext>
            </a:extLst>
          </p:cNvPr>
          <p:cNvGrpSpPr/>
          <p:nvPr/>
        </p:nvGrpSpPr>
        <p:grpSpPr>
          <a:xfrm>
            <a:off x="6644640" y="1676400"/>
            <a:ext cx="4937760" cy="2184400"/>
            <a:chOff x="6644640" y="1676400"/>
            <a:chExt cx="4937760" cy="2184400"/>
          </a:xfrm>
        </p:grpSpPr>
        <p:sp>
          <p:nvSpPr>
            <p:cNvPr id="7" name="Rectangle: Rounded Corners 6">
              <a:extLst>
                <a:ext uri="{FF2B5EF4-FFF2-40B4-BE49-F238E27FC236}">
                  <a16:creationId xmlns:a16="http://schemas.microsoft.com/office/drawing/2014/main" id="{4DFA3ABE-B1C3-6C62-593A-DC16C4441141}"/>
                </a:ext>
              </a:extLst>
            </p:cNvPr>
            <p:cNvSpPr/>
            <p:nvPr/>
          </p:nvSpPr>
          <p:spPr>
            <a:xfrm>
              <a:off x="6644640" y="1676400"/>
              <a:ext cx="4937760" cy="2184400"/>
            </a:xfrm>
            <a:prstGeom prst="roundRect">
              <a:avLst/>
            </a:prstGeom>
            <a:solidFill>
              <a:srgbClr val="FFFFFF"/>
            </a:solidFill>
            <a:ln w="19050">
              <a:solidFill>
                <a:srgbClr val="0284C7"/>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Oval 7">
              <a:extLst>
                <a:ext uri="{FF2B5EF4-FFF2-40B4-BE49-F238E27FC236}">
                  <a16:creationId xmlns:a16="http://schemas.microsoft.com/office/drawing/2014/main" id="{DDE4F473-7281-CB0A-DF66-F6C2725875BD}"/>
                </a:ext>
              </a:extLst>
            </p:cNvPr>
            <p:cNvSpPr/>
            <p:nvPr/>
          </p:nvSpPr>
          <p:spPr>
            <a:xfrm>
              <a:off x="6822440" y="1854200"/>
              <a:ext cx="381000" cy="381000"/>
            </a:xfrm>
            <a:prstGeom prst="ellipse">
              <a:avLst/>
            </a:prstGeom>
            <a:solidFill>
              <a:srgbClr val="E0F2FE"/>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0" name="Graphic 9">
              <a:extLst>
                <a:ext uri="{FF2B5EF4-FFF2-40B4-BE49-F238E27FC236}">
                  <a16:creationId xmlns:a16="http://schemas.microsoft.com/office/drawing/2014/main" id="{A7302D55-481A-2565-5F98-C82090E03198}"/>
                </a:ext>
              </a:extLst>
            </p:cNvPr>
            <p:cNvPicPr>
              <a:picLocks/>
            </p:cNvPicPr>
            <p:nvPr/>
          </p:nvPicPr>
          <p:blipFill>
            <a:blip>
              <a:extLst>
                <a:ext uri="{96DAC541-7B7A-43D3-8B79-37D633B846F1}">
                  <asvg:svgBlip xmlns:asvg="http://schemas.microsoft.com/office/drawing/2016/SVG/main" r:embed="rId3"/>
                </a:ext>
              </a:extLst>
            </a:blip>
            <a:stretch>
              <a:fillRect/>
            </a:stretch>
          </p:blipFill>
          <p:spPr>
            <a:xfrm>
              <a:off x="6885940" y="1917700"/>
              <a:ext cx="254000" cy="254000"/>
            </a:xfrm>
            <a:prstGeom prst="rect">
              <a:avLst/>
            </a:prstGeom>
          </p:spPr>
        </p:pic>
        <p:sp>
          <p:nvSpPr>
            <p:cNvPr id="11" name="TextBox 10">
              <a:extLst>
                <a:ext uri="{FF2B5EF4-FFF2-40B4-BE49-F238E27FC236}">
                  <a16:creationId xmlns:a16="http://schemas.microsoft.com/office/drawing/2014/main" id="{486838A2-0AE7-11CD-6463-6C2B202275D7}"/>
                </a:ext>
              </a:extLst>
            </p:cNvPr>
            <p:cNvSpPr txBox="1"/>
            <p:nvPr/>
          </p:nvSpPr>
          <p:spPr>
            <a:xfrm>
              <a:off x="7305040" y="1803400"/>
              <a:ext cx="4150360" cy="990015"/>
            </a:xfrm>
            <a:prstGeom prst="rect">
              <a:avLst/>
            </a:prstGeom>
            <a:noFill/>
          </p:spPr>
          <p:txBody>
            <a:bodyPr vert="horz" wrap="square" tIns="0" rtlCol="0">
              <a:spAutoFit/>
            </a:bodyPr>
            <a:lstStyle/>
            <a:p>
              <a:pPr>
                <a:spcAft>
                  <a:spcPts val="400"/>
                </a:spcAft>
              </a:pPr>
              <a:r>
                <a:rPr lang="en-US" sz="1600" b="1">
                  <a:solidFill>
                    <a:srgbClr val="0F172A"/>
                  </a:solidFill>
                  <a:latin typeface="Segoe UI" panose="020B0502040204020203" pitchFamily="34" charset="0"/>
                </a:rPr>
                <a:t>Tỷ Suất Tái Sinh Thô (GRR)
</a:t>
              </a:r>
              <a:r>
                <a:rPr lang="vi-VN" sz="1400" b="1">
                  <a:solidFill>
                    <a:srgbClr val="334155"/>
                  </a:solidFill>
                  <a:latin typeface="Segoe UI" panose="020B0502040204020203" pitchFamily="34" charset="0"/>
                </a:rPr>
                <a:t>Số con gái trung bình một phụ nữ sinh ra nếu không tính đến rủi ro tử vong của người mẹ và con gái trước khi hết tuổi sinh sản.</a:t>
              </a:r>
              <a:endParaRPr lang="en-US" sz="1400" b="1">
                <a:solidFill>
                  <a:srgbClr val="334155"/>
                </a:solidFill>
                <a:latin typeface="Segoe UI" panose="020B0502040204020203" pitchFamily="34" charset="0"/>
              </a:endParaRPr>
            </a:p>
          </p:txBody>
        </p:sp>
      </p:grpSp>
      <p:grpSp>
        <p:nvGrpSpPr>
          <p:cNvPr id="18" name="!!Stage_Sub_Card_2">
            <a:extLst>
              <a:ext uri="{FF2B5EF4-FFF2-40B4-BE49-F238E27FC236}">
                <a16:creationId xmlns:a16="http://schemas.microsoft.com/office/drawing/2014/main" id="{75FCF0E7-3EE3-6039-36C0-2BFADF05A19A}"/>
              </a:ext>
            </a:extLst>
          </p:cNvPr>
          <p:cNvGrpSpPr/>
          <p:nvPr/>
        </p:nvGrpSpPr>
        <p:grpSpPr>
          <a:xfrm>
            <a:off x="6644640" y="4013200"/>
            <a:ext cx="4937760" cy="2184400"/>
            <a:chOff x="6644640" y="4013200"/>
            <a:chExt cx="4937760" cy="2184400"/>
          </a:xfrm>
        </p:grpSpPr>
        <p:sp>
          <p:nvSpPr>
            <p:cNvPr id="13" name="Rectangle: Rounded Corners 12">
              <a:extLst>
                <a:ext uri="{FF2B5EF4-FFF2-40B4-BE49-F238E27FC236}">
                  <a16:creationId xmlns:a16="http://schemas.microsoft.com/office/drawing/2014/main" id="{EEBCE4C5-A441-02E1-D7F9-BB3AD1D90CCC}"/>
                </a:ext>
              </a:extLst>
            </p:cNvPr>
            <p:cNvSpPr/>
            <p:nvPr/>
          </p:nvSpPr>
          <p:spPr>
            <a:xfrm>
              <a:off x="6644640" y="4013200"/>
              <a:ext cx="4937760" cy="2184400"/>
            </a:xfrm>
            <a:prstGeom prst="roundRect">
              <a:avLst/>
            </a:prstGeom>
            <a:solidFill>
              <a:srgbClr val="FFFFFF"/>
            </a:solidFill>
            <a:ln w="12700">
              <a:solidFill>
                <a:srgbClr val="CBD5E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Oval 13">
              <a:extLst>
                <a:ext uri="{FF2B5EF4-FFF2-40B4-BE49-F238E27FC236}">
                  <a16:creationId xmlns:a16="http://schemas.microsoft.com/office/drawing/2014/main" id="{FA9E0D24-F29D-3CF0-E038-E5A6BC844CC3}"/>
                </a:ext>
              </a:extLst>
            </p:cNvPr>
            <p:cNvSpPr/>
            <p:nvPr/>
          </p:nvSpPr>
          <p:spPr>
            <a:xfrm>
              <a:off x="6822440" y="4191000"/>
              <a:ext cx="381000" cy="381000"/>
            </a:xfrm>
            <a:prstGeom prst="ellipse">
              <a:avLst/>
            </a:prstGeom>
            <a:solidFill>
              <a:srgbClr val="E0F2FE"/>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6" name="Graphic 15">
              <a:extLst>
                <a:ext uri="{FF2B5EF4-FFF2-40B4-BE49-F238E27FC236}">
                  <a16:creationId xmlns:a16="http://schemas.microsoft.com/office/drawing/2014/main" id="{00B69D88-8305-0D06-3E4F-229BD4440A16}"/>
                </a:ext>
              </a:extLst>
            </p:cNvPr>
            <p:cNvPicPr>
              <a:picLocks/>
            </p:cNvPicPr>
            <p:nvPr/>
          </p:nvPicPr>
          <p:blipFill>
            <a:blip>
              <a:extLst>
                <a:ext uri="{96DAC541-7B7A-43D3-8B79-37D633B846F1}">
                  <asvg:svgBlip xmlns:asvg="http://schemas.microsoft.com/office/drawing/2016/SVG/main" r:embed="rId4"/>
                </a:ext>
              </a:extLst>
            </a:blip>
            <a:stretch>
              <a:fillRect/>
            </a:stretch>
          </p:blipFill>
          <p:spPr>
            <a:xfrm>
              <a:off x="6885940" y="4254500"/>
              <a:ext cx="254000" cy="254000"/>
            </a:xfrm>
            <a:prstGeom prst="rect">
              <a:avLst/>
            </a:prstGeom>
          </p:spPr>
        </p:pic>
        <p:sp>
          <p:nvSpPr>
            <p:cNvPr id="17" name="TextBox 16">
              <a:extLst>
                <a:ext uri="{FF2B5EF4-FFF2-40B4-BE49-F238E27FC236}">
                  <a16:creationId xmlns:a16="http://schemas.microsoft.com/office/drawing/2014/main" id="{C9EBE1C0-EE04-EB7A-01AE-F421E9C59B84}"/>
                </a:ext>
              </a:extLst>
            </p:cNvPr>
            <p:cNvSpPr txBox="1"/>
            <p:nvPr/>
          </p:nvSpPr>
          <p:spPr>
            <a:xfrm>
              <a:off x="7305040" y="4140200"/>
              <a:ext cx="4150360" cy="990015"/>
            </a:xfrm>
            <a:prstGeom prst="rect">
              <a:avLst/>
            </a:prstGeom>
            <a:noFill/>
          </p:spPr>
          <p:txBody>
            <a:bodyPr vert="horz" wrap="square" tIns="0" rtlCol="0">
              <a:spAutoFit/>
            </a:bodyPr>
            <a:lstStyle/>
            <a:p>
              <a:pPr>
                <a:spcAft>
                  <a:spcPts val="400"/>
                </a:spcAft>
              </a:pPr>
              <a:r>
                <a:rPr lang="en-US" sz="1600" b="1">
                  <a:solidFill>
                    <a:srgbClr val="0F172A"/>
                  </a:solidFill>
                  <a:latin typeface="Segoe UI" panose="020B0502040204020203" pitchFamily="34" charset="0"/>
                </a:rPr>
                <a:t>Tỷ Suất Tái Sinh Thuần (NRR)
</a:t>
              </a:r>
              <a:r>
                <a:rPr lang="en-US" sz="1400" b="1">
                  <a:solidFill>
                    <a:srgbClr val="334155"/>
                  </a:solidFill>
                  <a:latin typeface="Segoe UI" panose="020B0502040204020203" pitchFamily="34" charset="0"/>
                </a:rPr>
                <a:t>Có tính đến xác suất sống sót của con gái từ khi sinh đến độ tuổi của mẹ. Nếu NRR = 1.0, dân số bảo đảm thay thế hoàn hảo.</a:t>
              </a:r>
            </a:p>
          </p:txBody>
        </p:sp>
      </p:grpSp>
      <p:sp>
        <p:nvSpPr>
          <p:cNvPr id="19" name="!!Anchor_Source_Footer">
            <a:extLst>
              <a:ext uri="{FF2B5EF4-FFF2-40B4-BE49-F238E27FC236}">
                <a16:creationId xmlns:a16="http://schemas.microsoft.com/office/drawing/2014/main" id="{12FD1B09-E7C1-EA59-3A0D-AA070F6F3FC7}"/>
              </a:ext>
            </a:extLst>
          </p:cNvPr>
          <p:cNvSpPr txBox="1"/>
          <p:nvPr/>
        </p:nvSpPr>
        <p:spPr>
          <a:xfrm>
            <a:off x="609600" y="6273800"/>
            <a:ext cx="10972800" cy="246221"/>
          </a:xfrm>
          <a:prstGeom prst="rect">
            <a:avLst/>
          </a:prstGeom>
          <a:noFill/>
        </p:spPr>
        <p:txBody>
          <a:bodyPr vert="horz" rtlCol="0">
            <a:spAutoFit/>
          </a:bodyPr>
          <a:lstStyle/>
          <a:p>
            <a:r>
              <a:rPr lang="vi-VN" sz="1000">
                <a:solidFill>
                  <a:srgbClr val="334155"/>
                </a:solidFill>
                <a:latin typeface="Segoe UI" panose="020B0502040204020203" pitchFamily="34" charset="0"/>
              </a:rPr>
              <a:t>Giáo trình Dân số học đại cương</a:t>
            </a:r>
            <a:endParaRPr lang="en-US" sz="1000">
              <a:solidFill>
                <a:srgbClr val="334155"/>
              </a:solidFill>
              <a:latin typeface="Segoe UI" panose="020B0502040204020203" pitchFamily="34" charset="0"/>
            </a:endParaRPr>
          </a:p>
        </p:txBody>
      </p:sp>
    </p:spTree>
    <p:extLst>
      <p:ext uri="{BB962C8B-B14F-4D97-AF65-F5344CB8AC3E}">
        <p14:creationId xmlns:p14="http://schemas.microsoft.com/office/powerpoint/2010/main" val="3877402093"/>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850">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accel="50000" decel="50000" fill="hold" nodeType="clickEffect">
                                  <p:stCondLst>
                                    <p:cond delay="0"/>
                                  </p:stCondLst>
                                  <p:childTnLst>
                                    <p:set>
                                      <p:cBhvr>
                                        <p:cTn id="6" dur="1" fill="hold">
                                          <p:stCondLst>
                                            <p:cond delay="0"/>
                                          </p:stCondLst>
                                        </p:cTn>
                                        <p:tgtEl>
                                          <p:spTgt spid="12"/>
                                        </p:tgtEl>
                                        <p:attrNameLst>
                                          <p:attrName>style.visibility</p:attrName>
                                        </p:attrNameLst>
                                      </p:cBhvr>
                                      <p:to>
                                        <p:strVal val="visible"/>
                                      </p:to>
                                    </p:set>
                                    <p:anim calcmode="lin" valueType="num">
                                      <p:cBhvr additive="base">
                                        <p:cTn id="7" dur="450" fill="hold"/>
                                        <p:tgtEl>
                                          <p:spTgt spid="12"/>
                                        </p:tgtEl>
                                        <p:attrNameLst>
                                          <p:attrName>ppt_x</p:attrName>
                                        </p:attrNameLst>
                                      </p:cBhvr>
                                      <p:tavLst>
                                        <p:tav tm="0">
                                          <p:val>
                                            <p:strVal val="#ppt_x"/>
                                          </p:val>
                                        </p:tav>
                                        <p:tav tm="100000">
                                          <p:val>
                                            <p:strVal val="#ppt_x"/>
                                          </p:val>
                                        </p:tav>
                                      </p:tavLst>
                                    </p:anim>
                                    <p:anim calcmode="lin" valueType="num">
                                      <p:cBhvr additive="base">
                                        <p:cTn id="8" dur="450" fill="hold"/>
                                        <p:tgtEl>
                                          <p:spTgt spid="12"/>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accel="50000" decel="50000" fill="hold" nodeType="clickEffect">
                                  <p:stCondLst>
                                    <p:cond delay="0"/>
                                  </p:stCondLst>
                                  <p:childTnLst>
                                    <p:set>
                                      <p:cBhvr>
                                        <p:cTn id="12" dur="1" fill="hold">
                                          <p:stCondLst>
                                            <p:cond delay="0"/>
                                          </p:stCondLst>
                                        </p:cTn>
                                        <p:tgtEl>
                                          <p:spTgt spid="18"/>
                                        </p:tgtEl>
                                        <p:attrNameLst>
                                          <p:attrName>style.visibility</p:attrName>
                                        </p:attrNameLst>
                                      </p:cBhvr>
                                      <p:to>
                                        <p:strVal val="visible"/>
                                      </p:to>
                                    </p:set>
                                    <p:anim calcmode="lin" valueType="num">
                                      <p:cBhvr additive="base">
                                        <p:cTn id="13" dur="450" fill="hold"/>
                                        <p:tgtEl>
                                          <p:spTgt spid="18"/>
                                        </p:tgtEl>
                                        <p:attrNameLst>
                                          <p:attrName>ppt_x</p:attrName>
                                        </p:attrNameLst>
                                      </p:cBhvr>
                                      <p:tavLst>
                                        <p:tav tm="0">
                                          <p:val>
                                            <p:strVal val="#ppt_x"/>
                                          </p:val>
                                        </p:tav>
                                        <p:tav tm="100000">
                                          <p:val>
                                            <p:strVal val="#ppt_x"/>
                                          </p:val>
                                        </p:tav>
                                      </p:tavLst>
                                    </p:anim>
                                    <p:anim calcmode="lin" valueType="num">
                                      <p:cBhvr additive="base">
                                        <p:cTn id="14" dur="450" fill="hold"/>
                                        <p:tgtEl>
                                          <p:spTgt spid="18"/>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a:xfrm>
          <a:off x="0" y="0"/>
          <a:ext cx="0" cy="0"/>
          <a:chOff x="0" y="0"/>
          <a:chExt cx="0" cy="0"/>
        </a:xfrm>
      </p:grpSpPr>
      <p:sp>
        <p:nvSpPr>
          <p:cNvPr id="2" name="!!Anchor_Kicker_Rail">
            <a:extLst>
              <a:ext uri="{FF2B5EF4-FFF2-40B4-BE49-F238E27FC236}">
                <a16:creationId xmlns:a16="http://schemas.microsoft.com/office/drawing/2014/main" id="{0425E9A2-1135-0271-7EB7-C96A91BD6067}"/>
              </a:ext>
            </a:extLst>
          </p:cNvPr>
          <p:cNvSpPr txBox="1"/>
          <p:nvPr/>
        </p:nvSpPr>
        <p:spPr>
          <a:xfrm>
            <a:off x="609600" y="457200"/>
            <a:ext cx="9956800" cy="276999"/>
          </a:xfrm>
          <a:prstGeom prst="rect">
            <a:avLst/>
          </a:prstGeom>
          <a:noFill/>
        </p:spPr>
        <p:txBody>
          <a:bodyPr vert="horz" rtlCol="0">
            <a:spAutoFit/>
          </a:bodyPr>
          <a:lstStyle/>
          <a:p>
            <a:r>
              <a:rPr lang="en-US" sz="1200" b="1">
                <a:solidFill>
                  <a:srgbClr val="0284C7"/>
                </a:solidFill>
                <a:latin typeface="Segoe UI" panose="020B0502040204020203" pitchFamily="34" charset="0"/>
              </a:rPr>
              <a:t>YẾU TỐ SINH HỌC  •  TRỌNG TÂM</a:t>
            </a:r>
          </a:p>
        </p:txBody>
      </p:sp>
      <p:sp>
        <p:nvSpPr>
          <p:cNvPr id="3" name="!!Anchor_Slide_Tracker">
            <a:extLst>
              <a:ext uri="{FF2B5EF4-FFF2-40B4-BE49-F238E27FC236}">
                <a16:creationId xmlns:a16="http://schemas.microsoft.com/office/drawing/2014/main" id="{D3CC339E-ACAB-98A5-859A-A5A8A86D51A8}"/>
              </a:ext>
            </a:extLst>
          </p:cNvPr>
          <p:cNvSpPr txBox="1"/>
          <p:nvPr/>
        </p:nvSpPr>
        <p:spPr>
          <a:xfrm>
            <a:off x="10820400" y="457200"/>
            <a:ext cx="762000" cy="276999"/>
          </a:xfrm>
          <a:prstGeom prst="rect">
            <a:avLst/>
          </a:prstGeom>
          <a:noFill/>
        </p:spPr>
        <p:txBody>
          <a:bodyPr vert="horz" rtlCol="0">
            <a:spAutoFit/>
          </a:bodyPr>
          <a:lstStyle/>
          <a:p>
            <a:pPr algn="r"/>
            <a:r>
              <a:rPr lang="en-US" sz="1200" b="1">
                <a:solidFill>
                  <a:srgbClr val="334155"/>
                </a:solidFill>
                <a:latin typeface="Bahnschrift" panose="020B0502040204020203" pitchFamily="34" charset="0"/>
              </a:rPr>
              <a:t>09 / 22</a:t>
            </a:r>
          </a:p>
        </p:txBody>
      </p:sp>
      <p:sp>
        <p:nvSpPr>
          <p:cNvPr id="4" name="!!Anchor_Assertion_Title">
            <a:extLst>
              <a:ext uri="{FF2B5EF4-FFF2-40B4-BE49-F238E27FC236}">
                <a16:creationId xmlns:a16="http://schemas.microsoft.com/office/drawing/2014/main" id="{056DB236-96D9-2973-553B-93B5CF3966AF}"/>
              </a:ext>
            </a:extLst>
          </p:cNvPr>
          <p:cNvSpPr txBox="1"/>
          <p:nvPr/>
        </p:nvSpPr>
        <p:spPr>
          <a:xfrm>
            <a:off x="609600" y="711200"/>
            <a:ext cx="10972800" cy="369332"/>
          </a:xfrm>
          <a:prstGeom prst="rect">
            <a:avLst/>
          </a:prstGeom>
          <a:noFill/>
        </p:spPr>
        <p:txBody>
          <a:bodyPr vert="horz" wrap="square" tIns="0" bIns="0" rtlCol="0">
            <a:spAutoFit/>
          </a:bodyPr>
          <a:lstStyle/>
          <a:p>
            <a:r>
              <a:rPr lang="en-US" sz="2400" b="1">
                <a:solidFill>
                  <a:srgbClr val="0F172A"/>
                </a:solidFill>
                <a:latin typeface="Segoe UI" panose="020B0502040204020203" pitchFamily="34" charset="0"/>
              </a:rPr>
              <a:t>Nhóm Yếu Tố Tự Nhiên Và Sinh Học Chi Phối Khả Năng Sinh Sản</a:t>
            </a:r>
          </a:p>
        </p:txBody>
      </p:sp>
      <p:grpSp>
        <p:nvGrpSpPr>
          <p:cNvPr id="12" name="!!Stage_Hero_Container">
            <a:extLst>
              <a:ext uri="{FF2B5EF4-FFF2-40B4-BE49-F238E27FC236}">
                <a16:creationId xmlns:a16="http://schemas.microsoft.com/office/drawing/2014/main" id="{5368F9B5-B1D4-C972-1FC3-65E16CA52A2F}"/>
              </a:ext>
            </a:extLst>
          </p:cNvPr>
          <p:cNvGrpSpPr/>
          <p:nvPr/>
        </p:nvGrpSpPr>
        <p:grpSpPr>
          <a:xfrm>
            <a:off x="609600" y="1676400"/>
            <a:ext cx="5376672" cy="4521200"/>
            <a:chOff x="609600" y="1676400"/>
            <a:chExt cx="5376672" cy="4521200"/>
          </a:xfrm>
        </p:grpSpPr>
        <p:pic>
          <p:nvPicPr>
            <p:cNvPr id="6" name="Picture 5">
              <a:extLst>
                <a:ext uri="{FF2B5EF4-FFF2-40B4-BE49-F238E27FC236}">
                  <a16:creationId xmlns:a16="http://schemas.microsoft.com/office/drawing/2014/main" id="{6418878F-401E-7B9B-3DC7-7FA33D4FF661}"/>
                </a:ext>
              </a:extLst>
            </p:cNvPr>
            <p:cNvPicPr>
              <a:picLocks/>
            </p:cNvPicPr>
            <p:nvPr/>
          </p:nvPicPr>
          <p:blipFill>
            <a:blip r:embed="rId2">
              <a:extLst>
                <a:ext uri="{28A0092B-C50C-407E-A947-70E740481C1C}">
                  <a14:useLocalDpi xmlns:a14="http://schemas.microsoft.com/office/drawing/2010/main" val="0"/>
                </a:ext>
              </a:extLst>
            </a:blip>
            <a:stretch>
              <a:fillRect/>
            </a:stretch>
          </p:blipFill>
          <p:spPr>
            <a:xfrm>
              <a:off x="609600" y="1676400"/>
              <a:ext cx="5376672" cy="3001010"/>
            </a:xfrm>
            <a:prstGeom prst="roundRect">
              <a:avLst/>
            </a:prstGeom>
            <a:ln w="12700">
              <a:solidFill>
                <a:srgbClr val="CBD5E1"/>
              </a:solidFill>
            </a:ln>
          </p:spPr>
        </p:pic>
        <p:sp>
          <p:nvSpPr>
            <p:cNvPr id="7" name="Rectangle: Rounded Corners 6">
              <a:extLst>
                <a:ext uri="{FF2B5EF4-FFF2-40B4-BE49-F238E27FC236}">
                  <a16:creationId xmlns:a16="http://schemas.microsoft.com/office/drawing/2014/main" id="{3993B4F0-7F5B-90E5-8213-DBB285675EB7}"/>
                </a:ext>
              </a:extLst>
            </p:cNvPr>
            <p:cNvSpPr/>
            <p:nvPr/>
          </p:nvSpPr>
          <p:spPr>
            <a:xfrm>
              <a:off x="609600" y="4829810"/>
              <a:ext cx="5376672" cy="1367790"/>
            </a:xfrm>
            <a:prstGeom prst="roundRect">
              <a:avLst/>
            </a:prstGeom>
            <a:solidFill>
              <a:srgbClr val="FFFFFF"/>
            </a:solidFill>
            <a:ln w="19050">
              <a:solidFill>
                <a:srgbClr val="0284C7"/>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Oval 7">
              <a:extLst>
                <a:ext uri="{FF2B5EF4-FFF2-40B4-BE49-F238E27FC236}">
                  <a16:creationId xmlns:a16="http://schemas.microsoft.com/office/drawing/2014/main" id="{286E6C98-77B4-6BC8-68B2-27DCF1AF811F}"/>
                </a:ext>
              </a:extLst>
            </p:cNvPr>
            <p:cNvSpPr/>
            <p:nvPr/>
          </p:nvSpPr>
          <p:spPr>
            <a:xfrm>
              <a:off x="787400" y="5007610"/>
              <a:ext cx="355600" cy="355600"/>
            </a:xfrm>
            <a:prstGeom prst="ellipse">
              <a:avLst/>
            </a:prstGeom>
            <a:solidFill>
              <a:srgbClr val="E0F2FE"/>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0" name="Graphic 9">
              <a:extLst>
                <a:ext uri="{FF2B5EF4-FFF2-40B4-BE49-F238E27FC236}">
                  <a16:creationId xmlns:a16="http://schemas.microsoft.com/office/drawing/2014/main" id="{166075D5-54E9-CB18-9274-0A6585371E61}"/>
                </a:ext>
              </a:extLst>
            </p:cNvPr>
            <p:cNvPicPr>
              <a:picLocks/>
            </p:cNvPicPr>
            <p:nvPr/>
          </p:nvPicPr>
          <p:blipFill>
            <a:blip>
              <a:extLst>
                <a:ext uri="{96DAC541-7B7A-43D3-8B79-37D633B846F1}">
                  <asvg:svgBlip xmlns:asvg="http://schemas.microsoft.com/office/drawing/2016/SVG/main" r:embed="rId3"/>
                </a:ext>
              </a:extLst>
            </a:blip>
            <a:stretch>
              <a:fillRect/>
            </a:stretch>
          </p:blipFill>
          <p:spPr>
            <a:xfrm>
              <a:off x="850900" y="5071110"/>
              <a:ext cx="228600" cy="228600"/>
            </a:xfrm>
            <a:prstGeom prst="rect">
              <a:avLst/>
            </a:prstGeom>
          </p:spPr>
        </p:pic>
        <p:sp>
          <p:nvSpPr>
            <p:cNvPr id="11" name="TextBox 10">
              <a:extLst>
                <a:ext uri="{FF2B5EF4-FFF2-40B4-BE49-F238E27FC236}">
                  <a16:creationId xmlns:a16="http://schemas.microsoft.com/office/drawing/2014/main" id="{E9D8F78E-D931-9179-7BF1-E9096D8C75B2}"/>
                </a:ext>
              </a:extLst>
            </p:cNvPr>
            <p:cNvSpPr txBox="1"/>
            <p:nvPr/>
          </p:nvSpPr>
          <p:spPr>
            <a:xfrm>
              <a:off x="1219200" y="4956810"/>
              <a:ext cx="4640072" cy="958852"/>
            </a:xfrm>
            <a:prstGeom prst="rect">
              <a:avLst/>
            </a:prstGeom>
            <a:noFill/>
          </p:spPr>
          <p:txBody>
            <a:bodyPr vert="horz" wrap="square" lIns="0" tIns="0" rtlCol="0">
              <a:spAutoFit/>
            </a:bodyPr>
            <a:lstStyle/>
            <a:p>
              <a:pPr>
                <a:lnSpc>
                  <a:spcPct val="120000"/>
                </a:lnSpc>
                <a:spcAft>
                  <a:spcPts val="300"/>
                </a:spcAft>
              </a:pPr>
              <a:r>
                <a:rPr lang="en-US" sz="1100" b="1">
                  <a:solidFill>
                    <a:srgbClr val="0284C7"/>
                  </a:solidFill>
                  <a:latin typeface="Segoe UI" panose="020B0502040204020203" pitchFamily="34" charset="0"/>
                </a:rPr>
                <a:t>THÔNG ĐIỆP CỐT LÕI
</a:t>
              </a:r>
              <a:r>
                <a:rPr lang="en-US" sz="1250" b="1">
                  <a:solidFill>
                    <a:srgbClr val="0F172A"/>
                  </a:solidFill>
                  <a:latin typeface="Segoe UI" panose="020B0502040204020203" pitchFamily="34" charset="0"/>
                </a:rPr>
                <a:t>Khả năng sinh sản sinh học chịu tác động của độ tuổi dậy thì, mãn kinh, khoảng cách giữa các lần sinh và tình trạng sức khỏe.</a:t>
              </a:r>
            </a:p>
          </p:txBody>
        </p:sp>
      </p:grpSp>
      <p:grpSp>
        <p:nvGrpSpPr>
          <p:cNvPr id="18" name="!!Stage_Sub_Card_1">
            <a:extLst>
              <a:ext uri="{FF2B5EF4-FFF2-40B4-BE49-F238E27FC236}">
                <a16:creationId xmlns:a16="http://schemas.microsoft.com/office/drawing/2014/main" id="{6C1A961E-9D58-DE86-4A29-AFEC78D09555}"/>
              </a:ext>
            </a:extLst>
          </p:cNvPr>
          <p:cNvGrpSpPr/>
          <p:nvPr/>
        </p:nvGrpSpPr>
        <p:grpSpPr>
          <a:xfrm>
            <a:off x="6214872" y="1676400"/>
            <a:ext cx="5367528" cy="1405467"/>
            <a:chOff x="6214872" y="1676400"/>
            <a:chExt cx="5367528" cy="1405467"/>
          </a:xfrm>
        </p:grpSpPr>
        <p:sp>
          <p:nvSpPr>
            <p:cNvPr id="13" name="Rectangle: Rounded Corners 12">
              <a:extLst>
                <a:ext uri="{FF2B5EF4-FFF2-40B4-BE49-F238E27FC236}">
                  <a16:creationId xmlns:a16="http://schemas.microsoft.com/office/drawing/2014/main" id="{88BB58D5-3009-5FB8-D859-79D0D67D60FA}"/>
                </a:ext>
              </a:extLst>
            </p:cNvPr>
            <p:cNvSpPr/>
            <p:nvPr/>
          </p:nvSpPr>
          <p:spPr>
            <a:xfrm>
              <a:off x="6214872" y="1676400"/>
              <a:ext cx="5367528" cy="1405467"/>
            </a:xfrm>
            <a:prstGeom prst="roundRect">
              <a:avLst/>
            </a:prstGeom>
            <a:solidFill>
              <a:srgbClr val="FFFFFF"/>
            </a:solidFill>
            <a:ln w="19050">
              <a:solidFill>
                <a:srgbClr val="0284C7"/>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Oval 13">
              <a:extLst>
                <a:ext uri="{FF2B5EF4-FFF2-40B4-BE49-F238E27FC236}">
                  <a16:creationId xmlns:a16="http://schemas.microsoft.com/office/drawing/2014/main" id="{7EF51721-51FF-E0B5-E684-06709DCFEE67}"/>
                </a:ext>
              </a:extLst>
            </p:cNvPr>
            <p:cNvSpPr/>
            <p:nvPr/>
          </p:nvSpPr>
          <p:spPr>
            <a:xfrm>
              <a:off x="6392672" y="1854200"/>
              <a:ext cx="381000" cy="381000"/>
            </a:xfrm>
            <a:prstGeom prst="ellipse">
              <a:avLst/>
            </a:prstGeom>
            <a:solidFill>
              <a:srgbClr val="E0F2FE"/>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6" name="Graphic 15">
              <a:extLst>
                <a:ext uri="{FF2B5EF4-FFF2-40B4-BE49-F238E27FC236}">
                  <a16:creationId xmlns:a16="http://schemas.microsoft.com/office/drawing/2014/main" id="{DA38C2F4-817E-D1DB-6D32-C0973F12D758}"/>
                </a:ext>
              </a:extLst>
            </p:cNvPr>
            <p:cNvPicPr>
              <a:picLocks/>
            </p:cNvPicPr>
            <p:nvPr/>
          </p:nvPicPr>
          <p:blipFill>
            <a:blip>
              <a:extLst>
                <a:ext uri="{96DAC541-7B7A-43D3-8B79-37D633B846F1}">
                  <asvg:svgBlip xmlns:asvg="http://schemas.microsoft.com/office/drawing/2016/SVG/main" r:embed="rId4"/>
                </a:ext>
              </a:extLst>
            </a:blip>
            <a:stretch>
              <a:fillRect/>
            </a:stretch>
          </p:blipFill>
          <p:spPr>
            <a:xfrm>
              <a:off x="6456172" y="1917700"/>
              <a:ext cx="254000" cy="254000"/>
            </a:xfrm>
            <a:prstGeom prst="rect">
              <a:avLst/>
            </a:prstGeom>
          </p:spPr>
        </p:pic>
        <p:sp>
          <p:nvSpPr>
            <p:cNvPr id="17" name="TextBox 16">
              <a:extLst>
                <a:ext uri="{FF2B5EF4-FFF2-40B4-BE49-F238E27FC236}">
                  <a16:creationId xmlns:a16="http://schemas.microsoft.com/office/drawing/2014/main" id="{93F17571-1DF1-564C-8DD6-7B13F208319E}"/>
                </a:ext>
              </a:extLst>
            </p:cNvPr>
            <p:cNvSpPr txBox="1"/>
            <p:nvPr/>
          </p:nvSpPr>
          <p:spPr>
            <a:xfrm>
              <a:off x="6875272" y="1803400"/>
              <a:ext cx="4580128" cy="990015"/>
            </a:xfrm>
            <a:prstGeom prst="rect">
              <a:avLst/>
            </a:prstGeom>
            <a:noFill/>
          </p:spPr>
          <p:txBody>
            <a:bodyPr vert="horz" wrap="square" tIns="0" rtlCol="0">
              <a:spAutoFit/>
            </a:bodyPr>
            <a:lstStyle/>
            <a:p>
              <a:pPr>
                <a:spcAft>
                  <a:spcPts val="400"/>
                </a:spcAft>
              </a:pPr>
              <a:r>
                <a:rPr lang="en-US" sz="1600" b="1">
                  <a:solidFill>
                    <a:srgbClr val="0F172A"/>
                  </a:solidFill>
                  <a:latin typeface="Segoe UI" panose="020B0502040204020203" pitchFamily="34" charset="0"/>
                </a:rPr>
                <a:t>Khoảng Thời Gian Sinh Sản
</a:t>
              </a:r>
              <a:r>
                <a:rPr lang="en-US" sz="1400" b="1">
                  <a:solidFill>
                    <a:srgbClr val="334155"/>
                  </a:solidFill>
                  <a:latin typeface="Segoe UI" panose="020B0502040204020203" pitchFamily="34" charset="0"/>
                </a:rPr>
                <a:t>Thời kỳ từ khi có kinh nguyệt đầu tiên đến khi mãn kinh. Tuổi kết hôn càng muộn thì khoảng thời gian sinh sản thực tế càng bị rút ngắn.</a:t>
              </a:r>
            </a:p>
          </p:txBody>
        </p:sp>
      </p:grpSp>
      <p:grpSp>
        <p:nvGrpSpPr>
          <p:cNvPr id="24" name="!!Stage_Sub_Card_2">
            <a:extLst>
              <a:ext uri="{FF2B5EF4-FFF2-40B4-BE49-F238E27FC236}">
                <a16:creationId xmlns:a16="http://schemas.microsoft.com/office/drawing/2014/main" id="{7981D00A-8AFC-6576-4A03-0E36AC0EC2A5}"/>
              </a:ext>
            </a:extLst>
          </p:cNvPr>
          <p:cNvGrpSpPr/>
          <p:nvPr/>
        </p:nvGrpSpPr>
        <p:grpSpPr>
          <a:xfrm>
            <a:off x="6214872" y="3234267"/>
            <a:ext cx="5367528" cy="1405466"/>
            <a:chOff x="6214872" y="3234267"/>
            <a:chExt cx="5367528" cy="1405466"/>
          </a:xfrm>
        </p:grpSpPr>
        <p:sp>
          <p:nvSpPr>
            <p:cNvPr id="19" name="Rectangle: Rounded Corners 18">
              <a:extLst>
                <a:ext uri="{FF2B5EF4-FFF2-40B4-BE49-F238E27FC236}">
                  <a16:creationId xmlns:a16="http://schemas.microsoft.com/office/drawing/2014/main" id="{B480AF1E-3E2A-C8AD-3051-9CB72A4B7ECC}"/>
                </a:ext>
              </a:extLst>
            </p:cNvPr>
            <p:cNvSpPr/>
            <p:nvPr/>
          </p:nvSpPr>
          <p:spPr>
            <a:xfrm>
              <a:off x="6214872" y="3234267"/>
              <a:ext cx="5367528" cy="1405466"/>
            </a:xfrm>
            <a:prstGeom prst="roundRect">
              <a:avLst/>
            </a:prstGeom>
            <a:solidFill>
              <a:srgbClr val="FFFFFF"/>
            </a:solidFill>
            <a:ln w="12700">
              <a:solidFill>
                <a:srgbClr val="CBD5E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Oval 19">
              <a:extLst>
                <a:ext uri="{FF2B5EF4-FFF2-40B4-BE49-F238E27FC236}">
                  <a16:creationId xmlns:a16="http://schemas.microsoft.com/office/drawing/2014/main" id="{B0AF074E-3496-0DF1-E36D-B994134B80F2}"/>
                </a:ext>
              </a:extLst>
            </p:cNvPr>
            <p:cNvSpPr/>
            <p:nvPr/>
          </p:nvSpPr>
          <p:spPr>
            <a:xfrm>
              <a:off x="6392672" y="3412067"/>
              <a:ext cx="381000" cy="381000"/>
            </a:xfrm>
            <a:prstGeom prst="ellipse">
              <a:avLst/>
            </a:prstGeom>
            <a:solidFill>
              <a:srgbClr val="E0F2FE"/>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2" name="Graphic 21">
              <a:extLst>
                <a:ext uri="{FF2B5EF4-FFF2-40B4-BE49-F238E27FC236}">
                  <a16:creationId xmlns:a16="http://schemas.microsoft.com/office/drawing/2014/main" id="{EB4118CC-B079-2407-ADFF-CFD7AA7FA666}"/>
                </a:ext>
              </a:extLst>
            </p:cNvPr>
            <p:cNvPicPr>
              <a:picLocks/>
            </p:cNvPicPr>
            <p:nvPr/>
          </p:nvPicPr>
          <p:blipFill>
            <a:blip>
              <a:extLst>
                <a:ext uri="{96DAC541-7B7A-43D3-8B79-37D633B846F1}">
                  <asvg:svgBlip xmlns:asvg="http://schemas.microsoft.com/office/drawing/2016/SVG/main" r:embed="rId5"/>
                </a:ext>
              </a:extLst>
            </a:blip>
            <a:stretch>
              <a:fillRect/>
            </a:stretch>
          </p:blipFill>
          <p:spPr>
            <a:xfrm>
              <a:off x="6456172" y="3475567"/>
              <a:ext cx="254000" cy="254000"/>
            </a:xfrm>
            <a:prstGeom prst="rect">
              <a:avLst/>
            </a:prstGeom>
          </p:spPr>
        </p:pic>
        <p:sp>
          <p:nvSpPr>
            <p:cNvPr id="23" name="TextBox 22">
              <a:extLst>
                <a:ext uri="{FF2B5EF4-FFF2-40B4-BE49-F238E27FC236}">
                  <a16:creationId xmlns:a16="http://schemas.microsoft.com/office/drawing/2014/main" id="{A324D932-2945-EC11-BE3A-2F11253E6771}"/>
                </a:ext>
              </a:extLst>
            </p:cNvPr>
            <p:cNvSpPr txBox="1"/>
            <p:nvPr/>
          </p:nvSpPr>
          <p:spPr>
            <a:xfrm>
              <a:off x="6875272" y="3361267"/>
              <a:ext cx="4580128" cy="990015"/>
            </a:xfrm>
            <a:prstGeom prst="rect">
              <a:avLst/>
            </a:prstGeom>
            <a:noFill/>
          </p:spPr>
          <p:txBody>
            <a:bodyPr vert="horz" wrap="square" tIns="0" rtlCol="0">
              <a:spAutoFit/>
            </a:bodyPr>
            <a:lstStyle/>
            <a:p>
              <a:pPr>
                <a:spcAft>
                  <a:spcPts val="400"/>
                </a:spcAft>
              </a:pPr>
              <a:r>
                <a:rPr lang="en-US" sz="1600" b="1">
                  <a:solidFill>
                    <a:srgbClr val="0F172A"/>
                  </a:solidFill>
                  <a:latin typeface="Segoe UI" panose="020B0502040204020203" pitchFamily="34" charset="0"/>
                </a:rPr>
                <a:t>Thời Gian Vô Sinh Tạm Thời Sau Sinh
</a:t>
              </a:r>
              <a:r>
                <a:rPr lang="en-US" sz="1400" b="1">
                  <a:solidFill>
                    <a:srgbClr val="334155"/>
                  </a:solidFill>
                  <a:latin typeface="Segoe UI" panose="020B0502040204020203" pitchFamily="34" charset="0"/>
                </a:rPr>
                <a:t>Tác dụng ức chế rụng trứng tự nhiên khi nuôi con hoàn toàn bằng sữa mẹ kéo dài khoảng cách giữa các lần sinh.</a:t>
              </a:r>
            </a:p>
          </p:txBody>
        </p:sp>
      </p:grpSp>
      <p:grpSp>
        <p:nvGrpSpPr>
          <p:cNvPr id="30" name="!!Stage_Sub_Card_3">
            <a:extLst>
              <a:ext uri="{FF2B5EF4-FFF2-40B4-BE49-F238E27FC236}">
                <a16:creationId xmlns:a16="http://schemas.microsoft.com/office/drawing/2014/main" id="{6286105C-5EAE-5B3F-0E83-9706345FBEC9}"/>
              </a:ext>
            </a:extLst>
          </p:cNvPr>
          <p:cNvGrpSpPr/>
          <p:nvPr/>
        </p:nvGrpSpPr>
        <p:grpSpPr>
          <a:xfrm>
            <a:off x="6214872" y="4792133"/>
            <a:ext cx="5367528" cy="1405467"/>
            <a:chOff x="6214872" y="4792133"/>
            <a:chExt cx="5367528" cy="1405467"/>
          </a:xfrm>
        </p:grpSpPr>
        <p:sp>
          <p:nvSpPr>
            <p:cNvPr id="25" name="Rectangle: Rounded Corners 24">
              <a:extLst>
                <a:ext uri="{FF2B5EF4-FFF2-40B4-BE49-F238E27FC236}">
                  <a16:creationId xmlns:a16="http://schemas.microsoft.com/office/drawing/2014/main" id="{1185BB69-702A-A632-AD3E-E79AF0C60652}"/>
                </a:ext>
              </a:extLst>
            </p:cNvPr>
            <p:cNvSpPr/>
            <p:nvPr/>
          </p:nvSpPr>
          <p:spPr>
            <a:xfrm>
              <a:off x="6214872" y="4792133"/>
              <a:ext cx="5367528" cy="1405467"/>
            </a:xfrm>
            <a:prstGeom prst="roundRect">
              <a:avLst/>
            </a:prstGeom>
            <a:solidFill>
              <a:srgbClr val="FFFFFF"/>
            </a:solidFill>
            <a:ln w="12700">
              <a:solidFill>
                <a:srgbClr val="CBD5E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Oval 25">
              <a:extLst>
                <a:ext uri="{FF2B5EF4-FFF2-40B4-BE49-F238E27FC236}">
                  <a16:creationId xmlns:a16="http://schemas.microsoft.com/office/drawing/2014/main" id="{DF0D8B06-6AF5-55F8-4C47-B5CF5F9E417A}"/>
                </a:ext>
              </a:extLst>
            </p:cNvPr>
            <p:cNvSpPr/>
            <p:nvPr/>
          </p:nvSpPr>
          <p:spPr>
            <a:xfrm>
              <a:off x="6392672" y="4969933"/>
              <a:ext cx="381000" cy="381000"/>
            </a:xfrm>
            <a:prstGeom prst="ellipse">
              <a:avLst/>
            </a:prstGeom>
            <a:solidFill>
              <a:srgbClr val="E0F2FE"/>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8" name="Graphic 27">
              <a:extLst>
                <a:ext uri="{FF2B5EF4-FFF2-40B4-BE49-F238E27FC236}">
                  <a16:creationId xmlns:a16="http://schemas.microsoft.com/office/drawing/2014/main" id="{DCE3113E-E9B2-2572-4B02-1F36859525C6}"/>
                </a:ext>
              </a:extLst>
            </p:cNvPr>
            <p:cNvPicPr>
              <a:picLocks/>
            </p:cNvPicPr>
            <p:nvPr/>
          </p:nvPicPr>
          <p:blipFill>
            <a:blip>
              <a:extLst>
                <a:ext uri="{96DAC541-7B7A-43D3-8B79-37D633B846F1}">
                  <asvg:svgBlip xmlns:asvg="http://schemas.microsoft.com/office/drawing/2016/SVG/main" r:embed="rId6"/>
                </a:ext>
              </a:extLst>
            </a:blip>
            <a:stretch>
              <a:fillRect/>
            </a:stretch>
          </p:blipFill>
          <p:spPr>
            <a:xfrm>
              <a:off x="6456172" y="5033433"/>
              <a:ext cx="254000" cy="254000"/>
            </a:xfrm>
            <a:prstGeom prst="rect">
              <a:avLst/>
            </a:prstGeom>
          </p:spPr>
        </p:pic>
        <p:sp>
          <p:nvSpPr>
            <p:cNvPr id="29" name="TextBox 28">
              <a:extLst>
                <a:ext uri="{FF2B5EF4-FFF2-40B4-BE49-F238E27FC236}">
                  <a16:creationId xmlns:a16="http://schemas.microsoft.com/office/drawing/2014/main" id="{E2253ED6-46BC-4701-7D31-33456048ADBE}"/>
                </a:ext>
              </a:extLst>
            </p:cNvPr>
            <p:cNvSpPr txBox="1"/>
            <p:nvPr/>
          </p:nvSpPr>
          <p:spPr>
            <a:xfrm>
              <a:off x="6875272" y="4919133"/>
              <a:ext cx="4580128" cy="990015"/>
            </a:xfrm>
            <a:prstGeom prst="rect">
              <a:avLst/>
            </a:prstGeom>
            <a:noFill/>
          </p:spPr>
          <p:txBody>
            <a:bodyPr vert="horz" wrap="square" tIns="0" rtlCol="0">
              <a:spAutoFit/>
            </a:bodyPr>
            <a:lstStyle/>
            <a:p>
              <a:pPr>
                <a:spcAft>
                  <a:spcPts val="400"/>
                </a:spcAft>
              </a:pPr>
              <a:r>
                <a:rPr lang="en-US" sz="1600" b="1">
                  <a:solidFill>
                    <a:srgbClr val="0F172A"/>
                  </a:solidFill>
                  <a:latin typeface="Segoe UI" panose="020B0502040204020203" pitchFamily="34" charset="0"/>
                </a:rPr>
                <a:t>Tình Trạng Vô Sinh &amp; Hiếm Muộn
</a:t>
              </a:r>
              <a:r>
                <a:rPr lang="vi-VN" sz="1400" b="1">
                  <a:solidFill>
                    <a:srgbClr val="334155"/>
                  </a:solidFill>
                  <a:latin typeface="Segoe UI" panose="020B0502040204020203" pitchFamily="34" charset="0"/>
                </a:rPr>
                <a:t>Ô nhiễm môi trường, lối sống và bệnh lý khiến tỷ lệ vô sinh thứ phát gia tăng, cần sự can thiệp của y học hỗ trợ sinh sản.</a:t>
              </a:r>
              <a:endParaRPr lang="en-US" sz="1400" b="1">
                <a:solidFill>
                  <a:srgbClr val="334155"/>
                </a:solidFill>
                <a:latin typeface="Segoe UI" panose="020B0502040204020203" pitchFamily="34" charset="0"/>
              </a:endParaRPr>
            </a:p>
          </p:txBody>
        </p:sp>
      </p:grpSp>
      <p:sp>
        <p:nvSpPr>
          <p:cNvPr id="31" name="!!Anchor_Source_Footer">
            <a:extLst>
              <a:ext uri="{FF2B5EF4-FFF2-40B4-BE49-F238E27FC236}">
                <a16:creationId xmlns:a16="http://schemas.microsoft.com/office/drawing/2014/main" id="{0BC59A10-2747-1F68-A9D5-6BFEAC380F40}"/>
              </a:ext>
            </a:extLst>
          </p:cNvPr>
          <p:cNvSpPr txBox="1"/>
          <p:nvPr/>
        </p:nvSpPr>
        <p:spPr>
          <a:xfrm>
            <a:off x="609600" y="6273800"/>
            <a:ext cx="10972800" cy="246221"/>
          </a:xfrm>
          <a:prstGeom prst="rect">
            <a:avLst/>
          </a:prstGeom>
          <a:noFill/>
        </p:spPr>
        <p:txBody>
          <a:bodyPr vert="horz" rtlCol="0">
            <a:spAutoFit/>
          </a:bodyPr>
          <a:lstStyle/>
          <a:p>
            <a:r>
              <a:rPr lang="en-US" sz="1000">
                <a:solidFill>
                  <a:srgbClr val="334155"/>
                </a:solidFill>
                <a:latin typeface="Segoe UI" panose="020B0502040204020203" pitchFamily="34" charset="0"/>
              </a:rPr>
              <a:t>Y học sinh sản và nhân khẩu học</a:t>
            </a:r>
          </a:p>
        </p:txBody>
      </p:sp>
    </p:spTree>
    <p:extLst>
      <p:ext uri="{BB962C8B-B14F-4D97-AF65-F5344CB8AC3E}">
        <p14:creationId xmlns:p14="http://schemas.microsoft.com/office/powerpoint/2010/main" val="952766570"/>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850">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accel="50000" decel="50000" fill="hold" nodeType="clickEffect">
                                  <p:stCondLst>
                                    <p:cond delay="0"/>
                                  </p:stCondLst>
                                  <p:childTnLst>
                                    <p:set>
                                      <p:cBhvr>
                                        <p:cTn id="6" dur="1" fill="hold">
                                          <p:stCondLst>
                                            <p:cond delay="0"/>
                                          </p:stCondLst>
                                        </p:cTn>
                                        <p:tgtEl>
                                          <p:spTgt spid="18"/>
                                        </p:tgtEl>
                                        <p:attrNameLst>
                                          <p:attrName>style.visibility</p:attrName>
                                        </p:attrNameLst>
                                      </p:cBhvr>
                                      <p:to>
                                        <p:strVal val="visible"/>
                                      </p:to>
                                    </p:set>
                                    <p:anim calcmode="lin" valueType="num">
                                      <p:cBhvr additive="base">
                                        <p:cTn id="7" dur="450" fill="hold"/>
                                        <p:tgtEl>
                                          <p:spTgt spid="18"/>
                                        </p:tgtEl>
                                        <p:attrNameLst>
                                          <p:attrName>ppt_x</p:attrName>
                                        </p:attrNameLst>
                                      </p:cBhvr>
                                      <p:tavLst>
                                        <p:tav tm="0">
                                          <p:val>
                                            <p:strVal val="#ppt_x"/>
                                          </p:val>
                                        </p:tav>
                                        <p:tav tm="100000">
                                          <p:val>
                                            <p:strVal val="#ppt_x"/>
                                          </p:val>
                                        </p:tav>
                                      </p:tavLst>
                                    </p:anim>
                                    <p:anim calcmode="lin" valueType="num">
                                      <p:cBhvr additive="base">
                                        <p:cTn id="8" dur="450" fill="hold"/>
                                        <p:tgtEl>
                                          <p:spTgt spid="18"/>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accel="50000" decel="50000" fill="hold" nodeType="clickEffect">
                                  <p:stCondLst>
                                    <p:cond delay="0"/>
                                  </p:stCondLst>
                                  <p:childTnLst>
                                    <p:set>
                                      <p:cBhvr>
                                        <p:cTn id="12" dur="1" fill="hold">
                                          <p:stCondLst>
                                            <p:cond delay="0"/>
                                          </p:stCondLst>
                                        </p:cTn>
                                        <p:tgtEl>
                                          <p:spTgt spid="24"/>
                                        </p:tgtEl>
                                        <p:attrNameLst>
                                          <p:attrName>style.visibility</p:attrName>
                                        </p:attrNameLst>
                                      </p:cBhvr>
                                      <p:to>
                                        <p:strVal val="visible"/>
                                      </p:to>
                                    </p:set>
                                    <p:anim calcmode="lin" valueType="num">
                                      <p:cBhvr additive="base">
                                        <p:cTn id="13" dur="450" fill="hold"/>
                                        <p:tgtEl>
                                          <p:spTgt spid="24"/>
                                        </p:tgtEl>
                                        <p:attrNameLst>
                                          <p:attrName>ppt_x</p:attrName>
                                        </p:attrNameLst>
                                      </p:cBhvr>
                                      <p:tavLst>
                                        <p:tav tm="0">
                                          <p:val>
                                            <p:strVal val="#ppt_x"/>
                                          </p:val>
                                        </p:tav>
                                        <p:tav tm="100000">
                                          <p:val>
                                            <p:strVal val="#ppt_x"/>
                                          </p:val>
                                        </p:tav>
                                      </p:tavLst>
                                    </p:anim>
                                    <p:anim calcmode="lin" valueType="num">
                                      <p:cBhvr additive="base">
                                        <p:cTn id="14" dur="450" fill="hold"/>
                                        <p:tgtEl>
                                          <p:spTgt spid="24"/>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accel="50000" decel="50000" fill="hold" nodeType="clickEffect">
                                  <p:stCondLst>
                                    <p:cond delay="0"/>
                                  </p:stCondLst>
                                  <p:childTnLst>
                                    <p:set>
                                      <p:cBhvr>
                                        <p:cTn id="18" dur="1" fill="hold">
                                          <p:stCondLst>
                                            <p:cond delay="0"/>
                                          </p:stCondLst>
                                        </p:cTn>
                                        <p:tgtEl>
                                          <p:spTgt spid="30"/>
                                        </p:tgtEl>
                                        <p:attrNameLst>
                                          <p:attrName>style.visibility</p:attrName>
                                        </p:attrNameLst>
                                      </p:cBhvr>
                                      <p:to>
                                        <p:strVal val="visible"/>
                                      </p:to>
                                    </p:set>
                                    <p:anim calcmode="lin" valueType="num">
                                      <p:cBhvr additive="base">
                                        <p:cTn id="19" dur="450" fill="hold"/>
                                        <p:tgtEl>
                                          <p:spTgt spid="30"/>
                                        </p:tgtEl>
                                        <p:attrNameLst>
                                          <p:attrName>ppt_x</p:attrName>
                                        </p:attrNameLst>
                                      </p:cBhvr>
                                      <p:tavLst>
                                        <p:tav tm="0">
                                          <p:val>
                                            <p:strVal val="#ppt_x"/>
                                          </p:val>
                                        </p:tav>
                                        <p:tav tm="100000">
                                          <p:val>
                                            <p:strVal val="#ppt_x"/>
                                          </p:val>
                                        </p:tav>
                                      </p:tavLst>
                                    </p:anim>
                                    <p:anim calcmode="lin" valueType="num">
                                      <p:cBhvr additive="base">
                                        <p:cTn id="20" dur="450" fill="hold"/>
                                        <p:tgtEl>
                                          <p:spTgt spid="30"/>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a:xfrm>
          <a:off x="0" y="0"/>
          <a:ext cx="0" cy="0"/>
          <a:chOff x="0" y="0"/>
          <a:chExt cx="0" cy="0"/>
        </a:xfrm>
      </p:grpSpPr>
      <p:sp>
        <p:nvSpPr>
          <p:cNvPr id="2" name="!!Anchor_Kicker_Rail">
            <a:extLst>
              <a:ext uri="{FF2B5EF4-FFF2-40B4-BE49-F238E27FC236}">
                <a16:creationId xmlns:a16="http://schemas.microsoft.com/office/drawing/2014/main" id="{BE3ABD58-D98B-0F63-2664-D5317D6E141A}"/>
              </a:ext>
            </a:extLst>
          </p:cNvPr>
          <p:cNvSpPr txBox="1"/>
          <p:nvPr/>
        </p:nvSpPr>
        <p:spPr>
          <a:xfrm>
            <a:off x="609600" y="457200"/>
            <a:ext cx="9956800" cy="276999"/>
          </a:xfrm>
          <a:prstGeom prst="rect">
            <a:avLst/>
          </a:prstGeom>
          <a:noFill/>
        </p:spPr>
        <p:txBody>
          <a:bodyPr vert="horz" rtlCol="0">
            <a:spAutoFit/>
          </a:bodyPr>
          <a:lstStyle/>
          <a:p>
            <a:r>
              <a:rPr lang="en-US" sz="1200" b="1">
                <a:solidFill>
                  <a:srgbClr val="0284C7"/>
                </a:solidFill>
                <a:latin typeface="Segoe UI" panose="020B0502040204020203" pitchFamily="34" charset="0"/>
              </a:rPr>
              <a:t>YẾU TỐ VĂN HÓA  •  TRỌNG TÂM</a:t>
            </a:r>
          </a:p>
        </p:txBody>
      </p:sp>
      <p:sp>
        <p:nvSpPr>
          <p:cNvPr id="3" name="!!Anchor_Slide_Tracker">
            <a:extLst>
              <a:ext uri="{FF2B5EF4-FFF2-40B4-BE49-F238E27FC236}">
                <a16:creationId xmlns:a16="http://schemas.microsoft.com/office/drawing/2014/main" id="{9ABC3796-454B-5254-EA55-DEBDDB0FD485}"/>
              </a:ext>
            </a:extLst>
          </p:cNvPr>
          <p:cNvSpPr txBox="1"/>
          <p:nvPr/>
        </p:nvSpPr>
        <p:spPr>
          <a:xfrm>
            <a:off x="10820400" y="457200"/>
            <a:ext cx="762000" cy="276999"/>
          </a:xfrm>
          <a:prstGeom prst="rect">
            <a:avLst/>
          </a:prstGeom>
          <a:noFill/>
        </p:spPr>
        <p:txBody>
          <a:bodyPr vert="horz" rtlCol="0">
            <a:spAutoFit/>
          </a:bodyPr>
          <a:lstStyle/>
          <a:p>
            <a:pPr algn="r"/>
            <a:r>
              <a:rPr lang="en-US" sz="1200" b="1">
                <a:solidFill>
                  <a:srgbClr val="334155"/>
                </a:solidFill>
                <a:latin typeface="Bahnschrift" panose="020B0502040204020203" pitchFamily="34" charset="0"/>
              </a:rPr>
              <a:t>10 / 22</a:t>
            </a:r>
          </a:p>
        </p:txBody>
      </p:sp>
      <p:sp>
        <p:nvSpPr>
          <p:cNvPr id="4" name="!!Anchor_Assertion_Title">
            <a:extLst>
              <a:ext uri="{FF2B5EF4-FFF2-40B4-BE49-F238E27FC236}">
                <a16:creationId xmlns:a16="http://schemas.microsoft.com/office/drawing/2014/main" id="{55C96769-E70E-C9F4-4BF1-BD2059CA67E0}"/>
              </a:ext>
            </a:extLst>
          </p:cNvPr>
          <p:cNvSpPr txBox="1"/>
          <p:nvPr/>
        </p:nvSpPr>
        <p:spPr>
          <a:xfrm>
            <a:off x="609600" y="711200"/>
            <a:ext cx="10972800" cy="369332"/>
          </a:xfrm>
          <a:prstGeom prst="rect">
            <a:avLst/>
          </a:prstGeom>
          <a:noFill/>
        </p:spPr>
        <p:txBody>
          <a:bodyPr vert="horz" wrap="square" tIns="0" bIns="0" rtlCol="0">
            <a:spAutoFit/>
          </a:bodyPr>
          <a:lstStyle/>
          <a:p>
            <a:r>
              <a:rPr lang="vi-VN" sz="2400" b="1">
                <a:solidFill>
                  <a:srgbClr val="0F172A"/>
                </a:solidFill>
                <a:latin typeface="Segoe UI" panose="020B0502040204020203" pitchFamily="34" charset="0"/>
              </a:rPr>
              <a:t>Nhóm Yếu Tố Phong Tục Tập Quán Và Tâm Lý Xã Hội Ảnh Hưởng Mức Sinh</a:t>
            </a:r>
            <a:endParaRPr lang="en-US" sz="2400" b="1">
              <a:solidFill>
                <a:srgbClr val="0F172A"/>
              </a:solidFill>
              <a:latin typeface="Segoe UI" panose="020B0502040204020203" pitchFamily="34" charset="0"/>
            </a:endParaRPr>
          </a:p>
        </p:txBody>
      </p:sp>
      <p:grpSp>
        <p:nvGrpSpPr>
          <p:cNvPr id="11" name="!!Stage_Hero_Container">
            <a:extLst>
              <a:ext uri="{FF2B5EF4-FFF2-40B4-BE49-F238E27FC236}">
                <a16:creationId xmlns:a16="http://schemas.microsoft.com/office/drawing/2014/main" id="{ACABBF19-1F62-1FA1-7FF2-C7B5C4DD8159}"/>
              </a:ext>
            </a:extLst>
          </p:cNvPr>
          <p:cNvGrpSpPr/>
          <p:nvPr/>
        </p:nvGrpSpPr>
        <p:grpSpPr>
          <a:xfrm>
            <a:off x="609600" y="1676400"/>
            <a:ext cx="3522133" cy="4521200"/>
            <a:chOff x="609600" y="1676400"/>
            <a:chExt cx="3522133" cy="4521200"/>
          </a:xfrm>
        </p:grpSpPr>
        <p:sp>
          <p:nvSpPr>
            <p:cNvPr id="5" name="Rectangle: Rounded Corners 4">
              <a:extLst>
                <a:ext uri="{FF2B5EF4-FFF2-40B4-BE49-F238E27FC236}">
                  <a16:creationId xmlns:a16="http://schemas.microsoft.com/office/drawing/2014/main" id="{47968F58-A151-93F9-5276-3C646D898432}"/>
                </a:ext>
              </a:extLst>
            </p:cNvPr>
            <p:cNvSpPr/>
            <p:nvPr/>
          </p:nvSpPr>
          <p:spPr>
            <a:xfrm>
              <a:off x="609600" y="1676400"/>
              <a:ext cx="3522133" cy="4521200"/>
            </a:xfrm>
            <a:prstGeom prst="roundRect">
              <a:avLst/>
            </a:prstGeom>
            <a:solidFill>
              <a:srgbClr val="FFFFFF"/>
            </a:solidFill>
            <a:ln w="12700">
              <a:solidFill>
                <a:srgbClr val="CBD5E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a:extLst>
                <a:ext uri="{FF2B5EF4-FFF2-40B4-BE49-F238E27FC236}">
                  <a16:creationId xmlns:a16="http://schemas.microsoft.com/office/drawing/2014/main" id="{A5C1F5B9-55A2-2A42-1169-478363120974}"/>
                </a:ext>
              </a:extLst>
            </p:cNvPr>
            <p:cNvSpPr/>
            <p:nvPr/>
          </p:nvSpPr>
          <p:spPr>
            <a:xfrm>
              <a:off x="812800" y="1879600"/>
              <a:ext cx="457200" cy="38100"/>
            </a:xfrm>
            <a:prstGeom prst="rect">
              <a:avLst/>
            </a:prstGeom>
            <a:solidFill>
              <a:srgbClr val="0284C7"/>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Oval 6">
              <a:extLst>
                <a:ext uri="{FF2B5EF4-FFF2-40B4-BE49-F238E27FC236}">
                  <a16:creationId xmlns:a16="http://schemas.microsoft.com/office/drawing/2014/main" id="{317C7F7B-1205-1453-D743-949F4DADFCB9}"/>
                </a:ext>
              </a:extLst>
            </p:cNvPr>
            <p:cNvSpPr/>
            <p:nvPr/>
          </p:nvSpPr>
          <p:spPr>
            <a:xfrm>
              <a:off x="812800" y="2006600"/>
              <a:ext cx="406400" cy="406400"/>
            </a:xfrm>
            <a:prstGeom prst="ellipse">
              <a:avLst/>
            </a:prstGeom>
            <a:solidFill>
              <a:srgbClr val="E0F2FE"/>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9" name="Graphic 8">
              <a:extLst>
                <a:ext uri="{FF2B5EF4-FFF2-40B4-BE49-F238E27FC236}">
                  <a16:creationId xmlns:a16="http://schemas.microsoft.com/office/drawing/2014/main" id="{041880A0-8EB1-E4EA-DFD8-78795F18588B}"/>
                </a:ext>
              </a:extLst>
            </p:cNvPr>
            <p:cNvPicPr>
              <a:picLocks/>
            </p:cNvPicPr>
            <p:nvPr/>
          </p:nvPicPr>
          <p:blipFill>
            <a:blip>
              <a:extLst>
                <a:ext uri="{96DAC541-7B7A-43D3-8B79-37D633B846F1}">
                  <asvg:svgBlip xmlns:asvg="http://schemas.microsoft.com/office/drawing/2016/SVG/main" r:embed="rId2"/>
                </a:ext>
              </a:extLst>
            </a:blip>
            <a:stretch>
              <a:fillRect/>
            </a:stretch>
          </p:blipFill>
          <p:spPr>
            <a:xfrm>
              <a:off x="876300" y="2070100"/>
              <a:ext cx="279400" cy="279400"/>
            </a:xfrm>
            <a:prstGeom prst="rect">
              <a:avLst/>
            </a:prstGeom>
          </p:spPr>
        </p:pic>
        <p:sp>
          <p:nvSpPr>
            <p:cNvPr id="10" name="TextBox 9">
              <a:extLst>
                <a:ext uri="{FF2B5EF4-FFF2-40B4-BE49-F238E27FC236}">
                  <a16:creationId xmlns:a16="http://schemas.microsoft.com/office/drawing/2014/main" id="{F96EDA1B-5F74-2826-0C46-85B98E2BCB96}"/>
                </a:ext>
              </a:extLst>
            </p:cNvPr>
            <p:cNvSpPr txBox="1"/>
            <p:nvPr/>
          </p:nvSpPr>
          <p:spPr>
            <a:xfrm>
              <a:off x="812800" y="2540000"/>
              <a:ext cx="3115733" cy="1620572"/>
            </a:xfrm>
            <a:prstGeom prst="rect">
              <a:avLst/>
            </a:prstGeom>
            <a:noFill/>
          </p:spPr>
          <p:txBody>
            <a:bodyPr vert="horz" wrap="square" lIns="0" tIns="0" rtlCol="0">
              <a:spAutoFit/>
            </a:bodyPr>
            <a:lstStyle/>
            <a:p>
              <a:pPr>
                <a:lnSpc>
                  <a:spcPct val="125000"/>
                </a:lnSpc>
                <a:spcAft>
                  <a:spcPts val="800"/>
                </a:spcAft>
              </a:pPr>
              <a:r>
                <a:rPr lang="en-US" b="1">
                  <a:solidFill>
                    <a:srgbClr val="0F172A"/>
                  </a:solidFill>
                  <a:latin typeface="Segoe UI" panose="020B0502040204020203" pitchFamily="34" charset="0"/>
                </a:rPr>
                <a:t>Tâm Lý Chuộng Con Trai
</a:t>
              </a:r>
              <a:r>
                <a:rPr lang="vi-VN" sz="1500">
                  <a:solidFill>
                    <a:srgbClr val="334155"/>
                  </a:solidFill>
                  <a:latin typeface="Segoe UI" panose="020B0502040204020203" pitchFamily="34" charset="0"/>
                </a:rPr>
                <a:t>Quan niệm Nho giáo 'nhất nam viết hữu' thúc đẩy các cặp vợ chồng cố sinh cho được con trai, làm gia tăng số con và mất cân bằng SRB.</a:t>
              </a:r>
              <a:endParaRPr lang="en-US" sz="1500">
                <a:solidFill>
                  <a:srgbClr val="334155"/>
                </a:solidFill>
                <a:latin typeface="Segoe UI" panose="020B0502040204020203" pitchFamily="34" charset="0"/>
              </a:endParaRPr>
            </a:p>
          </p:txBody>
        </p:sp>
      </p:grpSp>
      <p:grpSp>
        <p:nvGrpSpPr>
          <p:cNvPr id="18" name="!!Stage_Sub_Card_1">
            <a:extLst>
              <a:ext uri="{FF2B5EF4-FFF2-40B4-BE49-F238E27FC236}">
                <a16:creationId xmlns:a16="http://schemas.microsoft.com/office/drawing/2014/main" id="{3949A2B9-A272-07A3-DC94-DA12964BCA14}"/>
              </a:ext>
            </a:extLst>
          </p:cNvPr>
          <p:cNvGrpSpPr/>
          <p:nvPr/>
        </p:nvGrpSpPr>
        <p:grpSpPr>
          <a:xfrm>
            <a:off x="4334933" y="1676400"/>
            <a:ext cx="3522134" cy="4521200"/>
            <a:chOff x="4334933" y="1676400"/>
            <a:chExt cx="3522134" cy="4521200"/>
          </a:xfrm>
        </p:grpSpPr>
        <p:sp>
          <p:nvSpPr>
            <p:cNvPr id="12" name="Rectangle: Rounded Corners 11">
              <a:extLst>
                <a:ext uri="{FF2B5EF4-FFF2-40B4-BE49-F238E27FC236}">
                  <a16:creationId xmlns:a16="http://schemas.microsoft.com/office/drawing/2014/main" id="{81D4440F-3455-F7CB-8BB7-53D990BEBB64}"/>
                </a:ext>
              </a:extLst>
            </p:cNvPr>
            <p:cNvSpPr/>
            <p:nvPr/>
          </p:nvSpPr>
          <p:spPr>
            <a:xfrm>
              <a:off x="4334933" y="1676400"/>
              <a:ext cx="3522134" cy="4521200"/>
            </a:xfrm>
            <a:prstGeom prst="roundRect">
              <a:avLst/>
            </a:prstGeom>
            <a:solidFill>
              <a:srgbClr val="FFFFFF"/>
            </a:solidFill>
            <a:ln w="12700">
              <a:solidFill>
                <a:srgbClr val="CBD5E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454ED962-BE64-04EA-FB21-7ECE368DCD2D}"/>
                </a:ext>
              </a:extLst>
            </p:cNvPr>
            <p:cNvSpPr/>
            <p:nvPr/>
          </p:nvSpPr>
          <p:spPr>
            <a:xfrm>
              <a:off x="4538133" y="1879600"/>
              <a:ext cx="457200" cy="38100"/>
            </a:xfrm>
            <a:prstGeom prst="rect">
              <a:avLst/>
            </a:prstGeom>
            <a:solidFill>
              <a:srgbClr val="0284C7"/>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Oval 13">
              <a:extLst>
                <a:ext uri="{FF2B5EF4-FFF2-40B4-BE49-F238E27FC236}">
                  <a16:creationId xmlns:a16="http://schemas.microsoft.com/office/drawing/2014/main" id="{FE6FFC39-8BCE-0D6E-C375-E3147EF371B8}"/>
                </a:ext>
              </a:extLst>
            </p:cNvPr>
            <p:cNvSpPr/>
            <p:nvPr/>
          </p:nvSpPr>
          <p:spPr>
            <a:xfrm>
              <a:off x="4538133" y="2006600"/>
              <a:ext cx="406400" cy="406400"/>
            </a:xfrm>
            <a:prstGeom prst="ellipse">
              <a:avLst/>
            </a:prstGeom>
            <a:solidFill>
              <a:srgbClr val="E0F2FE"/>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6" name="Graphic 15">
              <a:extLst>
                <a:ext uri="{FF2B5EF4-FFF2-40B4-BE49-F238E27FC236}">
                  <a16:creationId xmlns:a16="http://schemas.microsoft.com/office/drawing/2014/main" id="{69C0CA05-7346-6D17-4117-C493E091457A}"/>
                </a:ext>
              </a:extLst>
            </p:cNvPr>
            <p:cNvPicPr>
              <a:picLocks/>
            </p:cNvPicPr>
            <p:nvPr/>
          </p:nvPicPr>
          <p:blipFill>
            <a:blip>
              <a:extLst>
                <a:ext uri="{96DAC541-7B7A-43D3-8B79-37D633B846F1}">
                  <asvg:svgBlip xmlns:asvg="http://schemas.microsoft.com/office/drawing/2016/SVG/main" r:embed="rId3"/>
                </a:ext>
              </a:extLst>
            </a:blip>
            <a:stretch>
              <a:fillRect/>
            </a:stretch>
          </p:blipFill>
          <p:spPr>
            <a:xfrm>
              <a:off x="4601633" y="2070100"/>
              <a:ext cx="279400" cy="279400"/>
            </a:xfrm>
            <a:prstGeom prst="rect">
              <a:avLst/>
            </a:prstGeom>
          </p:spPr>
        </p:pic>
        <p:sp>
          <p:nvSpPr>
            <p:cNvPr id="17" name="TextBox 16">
              <a:extLst>
                <a:ext uri="{FF2B5EF4-FFF2-40B4-BE49-F238E27FC236}">
                  <a16:creationId xmlns:a16="http://schemas.microsoft.com/office/drawing/2014/main" id="{C14557AA-F603-356A-FFF6-4576698BCBD1}"/>
                </a:ext>
              </a:extLst>
            </p:cNvPr>
            <p:cNvSpPr txBox="1"/>
            <p:nvPr/>
          </p:nvSpPr>
          <p:spPr>
            <a:xfrm>
              <a:off x="4538133" y="2540000"/>
              <a:ext cx="3115733" cy="1966820"/>
            </a:xfrm>
            <a:prstGeom prst="rect">
              <a:avLst/>
            </a:prstGeom>
            <a:noFill/>
          </p:spPr>
          <p:txBody>
            <a:bodyPr vert="horz" wrap="square" lIns="0" tIns="0" rtlCol="0">
              <a:spAutoFit/>
            </a:bodyPr>
            <a:lstStyle/>
            <a:p>
              <a:pPr>
                <a:lnSpc>
                  <a:spcPct val="125000"/>
                </a:lnSpc>
                <a:spcAft>
                  <a:spcPts val="800"/>
                </a:spcAft>
              </a:pPr>
              <a:r>
                <a:rPr lang="en-US" b="1">
                  <a:solidFill>
                    <a:srgbClr val="0F172A"/>
                  </a:solidFill>
                  <a:latin typeface="Segoe UI" panose="020B0502040204020203" pitchFamily="34" charset="0"/>
                </a:rPr>
                <a:t>Quan Niệm Gia Đình Trẻ Hiện Đại
</a:t>
              </a:r>
              <a:r>
                <a:rPr lang="vi-VN" sz="1500">
                  <a:solidFill>
                    <a:srgbClr val="334155"/>
                  </a:solidFill>
                  <a:latin typeface="Segoe UI" panose="020B0502040204020203" pitchFamily="34" charset="0"/>
                </a:rPr>
                <a:t>Thế hệ trẻ chuyển dịch sang lối sống đề cao tự do cá nhân, ưu tiên thăng tiến nghề nghiệp và giảm số con mong muốn xuống 1-2 con.</a:t>
              </a:r>
              <a:endParaRPr lang="en-US" sz="1500">
                <a:solidFill>
                  <a:srgbClr val="334155"/>
                </a:solidFill>
                <a:latin typeface="Segoe UI" panose="020B0502040204020203" pitchFamily="34" charset="0"/>
              </a:endParaRPr>
            </a:p>
          </p:txBody>
        </p:sp>
      </p:grpSp>
      <p:grpSp>
        <p:nvGrpSpPr>
          <p:cNvPr id="25" name="!!Stage_Sub_Card_2">
            <a:extLst>
              <a:ext uri="{FF2B5EF4-FFF2-40B4-BE49-F238E27FC236}">
                <a16:creationId xmlns:a16="http://schemas.microsoft.com/office/drawing/2014/main" id="{86462086-4D26-0005-88B0-362D16008EFF}"/>
              </a:ext>
            </a:extLst>
          </p:cNvPr>
          <p:cNvGrpSpPr/>
          <p:nvPr/>
        </p:nvGrpSpPr>
        <p:grpSpPr>
          <a:xfrm>
            <a:off x="8060267" y="1676400"/>
            <a:ext cx="3522133" cy="4521200"/>
            <a:chOff x="8060267" y="1676400"/>
            <a:chExt cx="3522133" cy="4521200"/>
          </a:xfrm>
        </p:grpSpPr>
        <p:sp>
          <p:nvSpPr>
            <p:cNvPr id="19" name="Rectangle: Rounded Corners 18">
              <a:extLst>
                <a:ext uri="{FF2B5EF4-FFF2-40B4-BE49-F238E27FC236}">
                  <a16:creationId xmlns:a16="http://schemas.microsoft.com/office/drawing/2014/main" id="{AA6D2E23-C980-DB1D-FC40-EC3A84C777D6}"/>
                </a:ext>
              </a:extLst>
            </p:cNvPr>
            <p:cNvSpPr/>
            <p:nvPr/>
          </p:nvSpPr>
          <p:spPr>
            <a:xfrm>
              <a:off x="8060267" y="1676400"/>
              <a:ext cx="3522133" cy="4521200"/>
            </a:xfrm>
            <a:prstGeom prst="roundRect">
              <a:avLst/>
            </a:prstGeom>
            <a:solidFill>
              <a:srgbClr val="FFFFFF"/>
            </a:solidFill>
            <a:ln w="12700">
              <a:solidFill>
                <a:srgbClr val="CBD5E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Rectangle 19">
              <a:extLst>
                <a:ext uri="{FF2B5EF4-FFF2-40B4-BE49-F238E27FC236}">
                  <a16:creationId xmlns:a16="http://schemas.microsoft.com/office/drawing/2014/main" id="{0F93FF42-0457-1D0E-0AB6-B5D3664780E0}"/>
                </a:ext>
              </a:extLst>
            </p:cNvPr>
            <p:cNvSpPr/>
            <p:nvPr/>
          </p:nvSpPr>
          <p:spPr>
            <a:xfrm>
              <a:off x="8263467" y="1879600"/>
              <a:ext cx="457200" cy="38100"/>
            </a:xfrm>
            <a:prstGeom prst="rect">
              <a:avLst/>
            </a:prstGeom>
            <a:solidFill>
              <a:srgbClr val="0284C7"/>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Oval 20">
              <a:extLst>
                <a:ext uri="{FF2B5EF4-FFF2-40B4-BE49-F238E27FC236}">
                  <a16:creationId xmlns:a16="http://schemas.microsoft.com/office/drawing/2014/main" id="{D08D2AF5-54B1-93F9-B4D8-BFA9DC2CCB1B}"/>
                </a:ext>
              </a:extLst>
            </p:cNvPr>
            <p:cNvSpPr/>
            <p:nvPr/>
          </p:nvSpPr>
          <p:spPr>
            <a:xfrm>
              <a:off x="8263467" y="2006600"/>
              <a:ext cx="406400" cy="406400"/>
            </a:xfrm>
            <a:prstGeom prst="ellipse">
              <a:avLst/>
            </a:prstGeom>
            <a:solidFill>
              <a:srgbClr val="E0F2FE"/>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3" name="Graphic 22">
              <a:extLst>
                <a:ext uri="{FF2B5EF4-FFF2-40B4-BE49-F238E27FC236}">
                  <a16:creationId xmlns:a16="http://schemas.microsoft.com/office/drawing/2014/main" id="{988F6CAA-F01D-CE63-73C5-CA1E2F65841C}"/>
                </a:ext>
              </a:extLst>
            </p:cNvPr>
            <p:cNvPicPr>
              <a:picLocks/>
            </p:cNvPicPr>
            <p:nvPr/>
          </p:nvPicPr>
          <p:blipFill>
            <a:blip>
              <a:extLst>
                <a:ext uri="{96DAC541-7B7A-43D3-8B79-37D633B846F1}">
                  <asvg:svgBlip xmlns:asvg="http://schemas.microsoft.com/office/drawing/2016/SVG/main" r:embed="rId4"/>
                </a:ext>
              </a:extLst>
            </a:blip>
            <a:stretch>
              <a:fillRect/>
            </a:stretch>
          </p:blipFill>
          <p:spPr>
            <a:xfrm>
              <a:off x="8326967" y="2070100"/>
              <a:ext cx="279400" cy="279400"/>
            </a:xfrm>
            <a:prstGeom prst="rect">
              <a:avLst/>
            </a:prstGeom>
          </p:spPr>
        </p:pic>
        <p:sp>
          <p:nvSpPr>
            <p:cNvPr id="24" name="TextBox 23">
              <a:extLst>
                <a:ext uri="{FF2B5EF4-FFF2-40B4-BE49-F238E27FC236}">
                  <a16:creationId xmlns:a16="http://schemas.microsoft.com/office/drawing/2014/main" id="{F5475F0C-4670-0AE3-D7E3-B60DFF24F817}"/>
                </a:ext>
              </a:extLst>
            </p:cNvPr>
            <p:cNvSpPr txBox="1"/>
            <p:nvPr/>
          </p:nvSpPr>
          <p:spPr>
            <a:xfrm>
              <a:off x="8263467" y="2540000"/>
              <a:ext cx="3115733" cy="1966820"/>
            </a:xfrm>
            <a:prstGeom prst="rect">
              <a:avLst/>
            </a:prstGeom>
            <a:noFill/>
          </p:spPr>
          <p:txBody>
            <a:bodyPr vert="horz" wrap="square" lIns="0" tIns="0" rtlCol="0">
              <a:spAutoFit/>
            </a:bodyPr>
            <a:lstStyle/>
            <a:p>
              <a:pPr>
                <a:lnSpc>
                  <a:spcPct val="125000"/>
                </a:lnSpc>
                <a:spcAft>
                  <a:spcPts val="800"/>
                </a:spcAft>
              </a:pPr>
              <a:r>
                <a:rPr lang="en-US" b="1">
                  <a:solidFill>
                    <a:srgbClr val="0F172A"/>
                  </a:solidFill>
                  <a:latin typeface="Segoe UI" panose="020B0502040204020203" pitchFamily="34" charset="0"/>
                </a:rPr>
                <a:t>Tôn Giáo Và Niềm Tin Tâm Linh
</a:t>
              </a:r>
              <a:r>
                <a:rPr lang="en-US" sz="1500">
                  <a:solidFill>
                    <a:srgbClr val="334155"/>
                  </a:solidFill>
                  <a:latin typeface="Segoe UI" panose="020B0502040204020203" pitchFamily="34" charset="0"/>
                </a:rPr>
                <a:t>Các tín điều tôn giáo về hôn nhân, cấm đoán phá thai hoặc quan niệm năm sinh tốt/xấu tạo ra các làn sóng sinh biến động.</a:t>
              </a:r>
            </a:p>
          </p:txBody>
        </p:sp>
      </p:grpSp>
      <p:sp>
        <p:nvSpPr>
          <p:cNvPr id="26" name="!!Anchor_Source_Footer">
            <a:extLst>
              <a:ext uri="{FF2B5EF4-FFF2-40B4-BE49-F238E27FC236}">
                <a16:creationId xmlns:a16="http://schemas.microsoft.com/office/drawing/2014/main" id="{AA7215F5-59F4-AE2C-2F90-1DE9DB8AC40D}"/>
              </a:ext>
            </a:extLst>
          </p:cNvPr>
          <p:cNvSpPr txBox="1"/>
          <p:nvPr/>
        </p:nvSpPr>
        <p:spPr>
          <a:xfrm>
            <a:off x="609600" y="6273800"/>
            <a:ext cx="10972800" cy="246221"/>
          </a:xfrm>
          <a:prstGeom prst="rect">
            <a:avLst/>
          </a:prstGeom>
          <a:noFill/>
        </p:spPr>
        <p:txBody>
          <a:bodyPr vert="horz" rtlCol="0">
            <a:spAutoFit/>
          </a:bodyPr>
          <a:lstStyle/>
          <a:p>
            <a:r>
              <a:rPr lang="en-US" sz="1000">
                <a:solidFill>
                  <a:srgbClr val="334155"/>
                </a:solidFill>
                <a:latin typeface="Segoe UI" panose="020B0502040204020203" pitchFamily="34" charset="0"/>
              </a:rPr>
              <a:t>Xã hội học gia đình và mức sinh</a:t>
            </a:r>
          </a:p>
        </p:txBody>
      </p:sp>
    </p:spTree>
    <p:extLst>
      <p:ext uri="{BB962C8B-B14F-4D97-AF65-F5344CB8AC3E}">
        <p14:creationId xmlns:p14="http://schemas.microsoft.com/office/powerpoint/2010/main" val="4027476020"/>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850">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accel="50000" decel="50000" fill="hold" nodeType="clickEffect">
                                  <p:stCondLst>
                                    <p:cond delay="0"/>
                                  </p:stCondLst>
                                  <p:childTnLst>
                                    <p:set>
                                      <p:cBhvr>
                                        <p:cTn id="6" dur="1" fill="hold">
                                          <p:stCondLst>
                                            <p:cond delay="0"/>
                                          </p:stCondLst>
                                        </p:cTn>
                                        <p:tgtEl>
                                          <p:spTgt spid="18"/>
                                        </p:tgtEl>
                                        <p:attrNameLst>
                                          <p:attrName>style.visibility</p:attrName>
                                        </p:attrNameLst>
                                      </p:cBhvr>
                                      <p:to>
                                        <p:strVal val="visible"/>
                                      </p:to>
                                    </p:set>
                                    <p:anim calcmode="lin" valueType="num">
                                      <p:cBhvr additive="base">
                                        <p:cTn id="7" dur="450" fill="hold"/>
                                        <p:tgtEl>
                                          <p:spTgt spid="18"/>
                                        </p:tgtEl>
                                        <p:attrNameLst>
                                          <p:attrName>ppt_x</p:attrName>
                                        </p:attrNameLst>
                                      </p:cBhvr>
                                      <p:tavLst>
                                        <p:tav tm="0">
                                          <p:val>
                                            <p:strVal val="#ppt_x"/>
                                          </p:val>
                                        </p:tav>
                                        <p:tav tm="100000">
                                          <p:val>
                                            <p:strVal val="#ppt_x"/>
                                          </p:val>
                                        </p:tav>
                                      </p:tavLst>
                                    </p:anim>
                                    <p:anim calcmode="lin" valueType="num">
                                      <p:cBhvr additive="base">
                                        <p:cTn id="8" dur="450" fill="hold"/>
                                        <p:tgtEl>
                                          <p:spTgt spid="18"/>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accel="50000" decel="50000" fill="hold" nodeType="clickEffect">
                                  <p:stCondLst>
                                    <p:cond delay="0"/>
                                  </p:stCondLst>
                                  <p:childTnLst>
                                    <p:set>
                                      <p:cBhvr>
                                        <p:cTn id="12" dur="1" fill="hold">
                                          <p:stCondLst>
                                            <p:cond delay="0"/>
                                          </p:stCondLst>
                                        </p:cTn>
                                        <p:tgtEl>
                                          <p:spTgt spid="25"/>
                                        </p:tgtEl>
                                        <p:attrNameLst>
                                          <p:attrName>style.visibility</p:attrName>
                                        </p:attrNameLst>
                                      </p:cBhvr>
                                      <p:to>
                                        <p:strVal val="visible"/>
                                      </p:to>
                                    </p:set>
                                    <p:anim calcmode="lin" valueType="num">
                                      <p:cBhvr additive="base">
                                        <p:cTn id="13" dur="450" fill="hold"/>
                                        <p:tgtEl>
                                          <p:spTgt spid="25"/>
                                        </p:tgtEl>
                                        <p:attrNameLst>
                                          <p:attrName>ppt_x</p:attrName>
                                        </p:attrNameLst>
                                      </p:cBhvr>
                                      <p:tavLst>
                                        <p:tav tm="0">
                                          <p:val>
                                            <p:strVal val="#ppt_x"/>
                                          </p:val>
                                        </p:tav>
                                        <p:tav tm="100000">
                                          <p:val>
                                            <p:strVal val="#ppt_x"/>
                                          </p:val>
                                        </p:tav>
                                      </p:tavLst>
                                    </p:anim>
                                    <p:anim calcmode="lin" valueType="num">
                                      <p:cBhvr additive="base">
                                        <p:cTn id="14" dur="450" fill="hold"/>
                                        <p:tgtEl>
                                          <p:spTgt spid="2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a:xfrm>
          <a:off x="0" y="0"/>
          <a:ext cx="0" cy="0"/>
          <a:chOff x="0" y="0"/>
          <a:chExt cx="0" cy="0"/>
        </a:xfrm>
      </p:grpSpPr>
      <p:sp>
        <p:nvSpPr>
          <p:cNvPr id="2" name="!!Anchor_Kicker_Rail">
            <a:extLst>
              <a:ext uri="{FF2B5EF4-FFF2-40B4-BE49-F238E27FC236}">
                <a16:creationId xmlns:a16="http://schemas.microsoft.com/office/drawing/2014/main" id="{725778CA-9F2A-C994-CD3F-AF3EF825E486}"/>
              </a:ext>
            </a:extLst>
          </p:cNvPr>
          <p:cNvSpPr txBox="1"/>
          <p:nvPr/>
        </p:nvSpPr>
        <p:spPr>
          <a:xfrm>
            <a:off x="609600" y="457200"/>
            <a:ext cx="9956800" cy="276999"/>
          </a:xfrm>
          <a:prstGeom prst="rect">
            <a:avLst/>
          </a:prstGeom>
          <a:noFill/>
        </p:spPr>
        <p:txBody>
          <a:bodyPr vert="horz" rtlCol="0">
            <a:spAutoFit/>
          </a:bodyPr>
          <a:lstStyle/>
          <a:p>
            <a:r>
              <a:rPr lang="en-US" sz="1200" b="1">
                <a:solidFill>
                  <a:srgbClr val="0284C7"/>
                </a:solidFill>
                <a:latin typeface="Segoe UI" panose="020B0502040204020203" pitchFamily="34" charset="0"/>
              </a:rPr>
              <a:t>YẾU TỐ KINH TẾ  •  TRỌNG TÂM</a:t>
            </a:r>
          </a:p>
        </p:txBody>
      </p:sp>
      <p:sp>
        <p:nvSpPr>
          <p:cNvPr id="3" name="!!Anchor_Slide_Tracker">
            <a:extLst>
              <a:ext uri="{FF2B5EF4-FFF2-40B4-BE49-F238E27FC236}">
                <a16:creationId xmlns:a16="http://schemas.microsoft.com/office/drawing/2014/main" id="{2983E09A-F24D-E740-4C7C-50525E665D83}"/>
              </a:ext>
            </a:extLst>
          </p:cNvPr>
          <p:cNvSpPr txBox="1"/>
          <p:nvPr/>
        </p:nvSpPr>
        <p:spPr>
          <a:xfrm>
            <a:off x="10820400" y="457200"/>
            <a:ext cx="762000" cy="276999"/>
          </a:xfrm>
          <a:prstGeom prst="rect">
            <a:avLst/>
          </a:prstGeom>
          <a:noFill/>
        </p:spPr>
        <p:txBody>
          <a:bodyPr vert="horz" rtlCol="0">
            <a:spAutoFit/>
          </a:bodyPr>
          <a:lstStyle/>
          <a:p>
            <a:pPr algn="r"/>
            <a:r>
              <a:rPr lang="en-US" sz="1200" b="1">
                <a:solidFill>
                  <a:srgbClr val="334155"/>
                </a:solidFill>
                <a:latin typeface="Bahnschrift" panose="020B0502040204020203" pitchFamily="34" charset="0"/>
              </a:rPr>
              <a:t>11 / 22</a:t>
            </a:r>
          </a:p>
        </p:txBody>
      </p:sp>
      <p:sp>
        <p:nvSpPr>
          <p:cNvPr id="4" name="!!Anchor_Assertion_Title">
            <a:extLst>
              <a:ext uri="{FF2B5EF4-FFF2-40B4-BE49-F238E27FC236}">
                <a16:creationId xmlns:a16="http://schemas.microsoft.com/office/drawing/2014/main" id="{52DF93C3-D7B6-4D13-A05B-08F301B4B8D0}"/>
              </a:ext>
            </a:extLst>
          </p:cNvPr>
          <p:cNvSpPr txBox="1"/>
          <p:nvPr/>
        </p:nvSpPr>
        <p:spPr>
          <a:xfrm>
            <a:off x="609600" y="711200"/>
            <a:ext cx="10972800" cy="369332"/>
          </a:xfrm>
          <a:prstGeom prst="rect">
            <a:avLst/>
          </a:prstGeom>
          <a:noFill/>
        </p:spPr>
        <p:txBody>
          <a:bodyPr vert="horz" wrap="square" tIns="0" bIns="0" rtlCol="0">
            <a:spAutoFit/>
          </a:bodyPr>
          <a:lstStyle/>
          <a:p>
            <a:r>
              <a:rPr lang="vi-VN" sz="2400" b="1">
                <a:solidFill>
                  <a:srgbClr val="0F172A"/>
                </a:solidFill>
                <a:latin typeface="Segoe UI" panose="020B0502040204020203" pitchFamily="34" charset="0"/>
              </a:rPr>
              <a:t>Chi Phí Nuôi Dạy Con Cái Và Xu Hướng Giảm Mức Sinh Tại Các Đô Thị</a:t>
            </a:r>
            <a:endParaRPr lang="en-US" sz="2400" b="1">
              <a:solidFill>
                <a:srgbClr val="0F172A"/>
              </a:solidFill>
              <a:latin typeface="Segoe UI" panose="020B0502040204020203" pitchFamily="34" charset="0"/>
            </a:endParaRPr>
          </a:p>
        </p:txBody>
      </p:sp>
      <p:pic>
        <p:nvPicPr>
          <p:cNvPr id="6" name="!!Stage_Hero_Container">
            <a:extLst>
              <a:ext uri="{FF2B5EF4-FFF2-40B4-BE49-F238E27FC236}">
                <a16:creationId xmlns:a16="http://schemas.microsoft.com/office/drawing/2014/main" id="{C88B0771-2B32-AC1F-EF75-E224554C2788}"/>
              </a:ext>
            </a:extLst>
          </p:cNvPr>
          <p:cNvPicPr>
            <a:picLocks/>
          </p:cNvPicPr>
          <p:nvPr/>
        </p:nvPicPr>
        <p:blipFill>
          <a:blip r:embed="rId2">
            <a:extLst>
              <a:ext uri="{28A0092B-C50C-407E-A947-70E740481C1C}">
                <a14:useLocalDpi xmlns:a14="http://schemas.microsoft.com/office/drawing/2010/main" val="0"/>
              </a:ext>
            </a:extLst>
          </a:blip>
          <a:stretch>
            <a:fillRect/>
          </a:stretch>
        </p:blipFill>
        <p:spPr>
          <a:xfrm>
            <a:off x="609600" y="1752600"/>
            <a:ext cx="5705856" cy="4368800"/>
          </a:xfrm>
          <a:prstGeom prst="roundRect">
            <a:avLst/>
          </a:prstGeom>
          <a:ln w="12700">
            <a:solidFill>
              <a:srgbClr val="CBD5E1"/>
            </a:solidFill>
          </a:ln>
        </p:spPr>
      </p:pic>
      <p:grpSp>
        <p:nvGrpSpPr>
          <p:cNvPr id="12" name="!!Stage_Sub_Card_1">
            <a:extLst>
              <a:ext uri="{FF2B5EF4-FFF2-40B4-BE49-F238E27FC236}">
                <a16:creationId xmlns:a16="http://schemas.microsoft.com/office/drawing/2014/main" id="{E2322B3A-6FCF-36E4-7CE7-6A959C2FD3CA}"/>
              </a:ext>
            </a:extLst>
          </p:cNvPr>
          <p:cNvGrpSpPr/>
          <p:nvPr/>
        </p:nvGrpSpPr>
        <p:grpSpPr>
          <a:xfrm>
            <a:off x="6644640" y="1676400"/>
            <a:ext cx="4937760" cy="2184400"/>
            <a:chOff x="6644640" y="1676400"/>
            <a:chExt cx="4937760" cy="2184400"/>
          </a:xfrm>
        </p:grpSpPr>
        <p:sp>
          <p:nvSpPr>
            <p:cNvPr id="7" name="Rectangle: Rounded Corners 6">
              <a:extLst>
                <a:ext uri="{FF2B5EF4-FFF2-40B4-BE49-F238E27FC236}">
                  <a16:creationId xmlns:a16="http://schemas.microsoft.com/office/drawing/2014/main" id="{C80F3724-40DC-3032-ACF5-09C28F5249BC}"/>
                </a:ext>
              </a:extLst>
            </p:cNvPr>
            <p:cNvSpPr/>
            <p:nvPr/>
          </p:nvSpPr>
          <p:spPr>
            <a:xfrm>
              <a:off x="6644640" y="1676400"/>
              <a:ext cx="4937760" cy="2184400"/>
            </a:xfrm>
            <a:prstGeom prst="roundRect">
              <a:avLst/>
            </a:prstGeom>
            <a:solidFill>
              <a:srgbClr val="FFFFFF"/>
            </a:solidFill>
            <a:ln w="19050">
              <a:solidFill>
                <a:srgbClr val="0284C7"/>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Oval 7">
              <a:extLst>
                <a:ext uri="{FF2B5EF4-FFF2-40B4-BE49-F238E27FC236}">
                  <a16:creationId xmlns:a16="http://schemas.microsoft.com/office/drawing/2014/main" id="{D293BA77-38EA-C0D5-5506-38689ED91661}"/>
                </a:ext>
              </a:extLst>
            </p:cNvPr>
            <p:cNvSpPr/>
            <p:nvPr/>
          </p:nvSpPr>
          <p:spPr>
            <a:xfrm>
              <a:off x="6822440" y="1854200"/>
              <a:ext cx="381000" cy="381000"/>
            </a:xfrm>
            <a:prstGeom prst="ellipse">
              <a:avLst/>
            </a:prstGeom>
            <a:solidFill>
              <a:srgbClr val="E0F2FE"/>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0" name="Graphic 9">
              <a:extLst>
                <a:ext uri="{FF2B5EF4-FFF2-40B4-BE49-F238E27FC236}">
                  <a16:creationId xmlns:a16="http://schemas.microsoft.com/office/drawing/2014/main" id="{8D2073B6-51A6-0917-BBB9-1CE0B7EE6E34}"/>
                </a:ext>
              </a:extLst>
            </p:cNvPr>
            <p:cNvPicPr>
              <a:picLocks/>
            </p:cNvPicPr>
            <p:nvPr/>
          </p:nvPicPr>
          <p:blipFill>
            <a:blip>
              <a:extLst>
                <a:ext uri="{96DAC541-7B7A-43D3-8B79-37D633B846F1}">
                  <asvg:svgBlip xmlns:asvg="http://schemas.microsoft.com/office/drawing/2016/SVG/main" r:embed="rId3"/>
                </a:ext>
              </a:extLst>
            </a:blip>
            <a:stretch>
              <a:fillRect/>
            </a:stretch>
          </p:blipFill>
          <p:spPr>
            <a:xfrm>
              <a:off x="6885940" y="1917700"/>
              <a:ext cx="254000" cy="254000"/>
            </a:xfrm>
            <a:prstGeom prst="rect">
              <a:avLst/>
            </a:prstGeom>
          </p:spPr>
        </p:pic>
        <p:sp>
          <p:nvSpPr>
            <p:cNvPr id="11" name="TextBox 10">
              <a:extLst>
                <a:ext uri="{FF2B5EF4-FFF2-40B4-BE49-F238E27FC236}">
                  <a16:creationId xmlns:a16="http://schemas.microsoft.com/office/drawing/2014/main" id="{2FDB65AB-2E0F-A0D0-57AF-37D3DC0F3908}"/>
                </a:ext>
              </a:extLst>
            </p:cNvPr>
            <p:cNvSpPr txBox="1"/>
            <p:nvPr/>
          </p:nvSpPr>
          <p:spPr>
            <a:xfrm>
              <a:off x="7305040" y="1803400"/>
              <a:ext cx="4150360" cy="990015"/>
            </a:xfrm>
            <a:prstGeom prst="rect">
              <a:avLst/>
            </a:prstGeom>
            <a:noFill/>
          </p:spPr>
          <p:txBody>
            <a:bodyPr vert="horz" wrap="square" tIns="0" rtlCol="0">
              <a:spAutoFit/>
            </a:bodyPr>
            <a:lstStyle/>
            <a:p>
              <a:pPr>
                <a:spcAft>
                  <a:spcPts val="400"/>
                </a:spcAft>
              </a:pPr>
              <a:r>
                <a:rPr lang="vi-VN" sz="1600" b="1">
                  <a:solidFill>
                    <a:srgbClr val="0F172A"/>
                  </a:solidFill>
                  <a:latin typeface="Segoe UI" panose="020B0502040204020203" pitchFamily="34" charset="0"/>
                </a:rPr>
                <a:t>Chi Phí Cơ Hội Và Đầu Tư Giáo Dục
</a:t>
              </a:r>
              <a:r>
                <a:rPr lang="vi-VN" sz="1400" b="1">
                  <a:solidFill>
                    <a:srgbClr val="334155"/>
                  </a:solidFill>
                  <a:latin typeface="Segoe UI" panose="020B0502040204020203" pitchFamily="34" charset="0"/>
                </a:rPr>
                <a:t>Giá nhà ở đắt đỏ, chi phí học hành tăng cao cùng chi phí cơ hội việc làm của phụ nữ khiến các gia đình đô thị trì hoãn sinh con.</a:t>
              </a:r>
              <a:endParaRPr lang="en-US" sz="1400" b="1">
                <a:solidFill>
                  <a:srgbClr val="334155"/>
                </a:solidFill>
                <a:latin typeface="Segoe UI" panose="020B0502040204020203" pitchFamily="34" charset="0"/>
              </a:endParaRPr>
            </a:p>
          </p:txBody>
        </p:sp>
      </p:grpSp>
      <p:grpSp>
        <p:nvGrpSpPr>
          <p:cNvPr id="18" name="!!Stage_Sub_Card_2">
            <a:extLst>
              <a:ext uri="{FF2B5EF4-FFF2-40B4-BE49-F238E27FC236}">
                <a16:creationId xmlns:a16="http://schemas.microsoft.com/office/drawing/2014/main" id="{B6269600-73FB-4DC4-DD8D-16ECBB4770A1}"/>
              </a:ext>
            </a:extLst>
          </p:cNvPr>
          <p:cNvGrpSpPr/>
          <p:nvPr/>
        </p:nvGrpSpPr>
        <p:grpSpPr>
          <a:xfrm>
            <a:off x="6644640" y="4013200"/>
            <a:ext cx="4937760" cy="2184400"/>
            <a:chOff x="6644640" y="4013200"/>
            <a:chExt cx="4937760" cy="2184400"/>
          </a:xfrm>
        </p:grpSpPr>
        <p:sp>
          <p:nvSpPr>
            <p:cNvPr id="13" name="Rectangle: Rounded Corners 12">
              <a:extLst>
                <a:ext uri="{FF2B5EF4-FFF2-40B4-BE49-F238E27FC236}">
                  <a16:creationId xmlns:a16="http://schemas.microsoft.com/office/drawing/2014/main" id="{743B281D-4733-5D8E-DADD-66490F4FEF05}"/>
                </a:ext>
              </a:extLst>
            </p:cNvPr>
            <p:cNvSpPr/>
            <p:nvPr/>
          </p:nvSpPr>
          <p:spPr>
            <a:xfrm>
              <a:off x="6644640" y="4013200"/>
              <a:ext cx="4937760" cy="2184400"/>
            </a:xfrm>
            <a:prstGeom prst="roundRect">
              <a:avLst/>
            </a:prstGeom>
            <a:solidFill>
              <a:srgbClr val="FFFFFF"/>
            </a:solidFill>
            <a:ln w="12700">
              <a:solidFill>
                <a:srgbClr val="CBD5E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Oval 13">
              <a:extLst>
                <a:ext uri="{FF2B5EF4-FFF2-40B4-BE49-F238E27FC236}">
                  <a16:creationId xmlns:a16="http://schemas.microsoft.com/office/drawing/2014/main" id="{89FDB378-EC6A-9CED-AA10-B2619ED263DC}"/>
                </a:ext>
              </a:extLst>
            </p:cNvPr>
            <p:cNvSpPr/>
            <p:nvPr/>
          </p:nvSpPr>
          <p:spPr>
            <a:xfrm>
              <a:off x="6822440" y="4191000"/>
              <a:ext cx="381000" cy="381000"/>
            </a:xfrm>
            <a:prstGeom prst="ellipse">
              <a:avLst/>
            </a:prstGeom>
            <a:solidFill>
              <a:srgbClr val="E0F2FE"/>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6" name="Graphic 15">
              <a:extLst>
                <a:ext uri="{FF2B5EF4-FFF2-40B4-BE49-F238E27FC236}">
                  <a16:creationId xmlns:a16="http://schemas.microsoft.com/office/drawing/2014/main" id="{140E3455-34D7-39BE-9D0B-C3E7DDFCE2FF}"/>
                </a:ext>
              </a:extLst>
            </p:cNvPr>
            <p:cNvPicPr>
              <a:picLocks/>
            </p:cNvPicPr>
            <p:nvPr/>
          </p:nvPicPr>
          <p:blipFill>
            <a:blip>
              <a:extLst>
                <a:ext uri="{96DAC541-7B7A-43D3-8B79-37D633B846F1}">
                  <asvg:svgBlip xmlns:asvg="http://schemas.microsoft.com/office/drawing/2016/SVG/main" r:embed="rId4"/>
                </a:ext>
              </a:extLst>
            </a:blip>
            <a:stretch>
              <a:fillRect/>
            </a:stretch>
          </p:blipFill>
          <p:spPr>
            <a:xfrm>
              <a:off x="6885940" y="4254500"/>
              <a:ext cx="254000" cy="254000"/>
            </a:xfrm>
            <a:prstGeom prst="rect">
              <a:avLst/>
            </a:prstGeom>
          </p:spPr>
        </p:pic>
        <p:sp>
          <p:nvSpPr>
            <p:cNvPr id="17" name="TextBox 16">
              <a:extLst>
                <a:ext uri="{FF2B5EF4-FFF2-40B4-BE49-F238E27FC236}">
                  <a16:creationId xmlns:a16="http://schemas.microsoft.com/office/drawing/2014/main" id="{22D2EF49-BE34-EBAB-7530-B309A73B5393}"/>
                </a:ext>
              </a:extLst>
            </p:cNvPr>
            <p:cNvSpPr txBox="1"/>
            <p:nvPr/>
          </p:nvSpPr>
          <p:spPr>
            <a:xfrm>
              <a:off x="7305040" y="4140200"/>
              <a:ext cx="4150360" cy="990015"/>
            </a:xfrm>
            <a:prstGeom prst="rect">
              <a:avLst/>
            </a:prstGeom>
            <a:noFill/>
          </p:spPr>
          <p:txBody>
            <a:bodyPr vert="horz" wrap="square" tIns="0" rtlCol="0">
              <a:spAutoFit/>
            </a:bodyPr>
            <a:lstStyle/>
            <a:p>
              <a:pPr>
                <a:spcAft>
                  <a:spcPts val="400"/>
                </a:spcAft>
              </a:pPr>
              <a:r>
                <a:rPr lang="vi-VN" sz="1600" b="1">
                  <a:solidFill>
                    <a:srgbClr val="0F172A"/>
                  </a:solidFill>
                  <a:latin typeface="Segoe UI" panose="020B0502040204020203" pitchFamily="34" charset="0"/>
                </a:rPr>
                <a:t>Đánh Đổi Số Lượng - Chất Lượng
</a:t>
              </a:r>
              <a:r>
                <a:rPr lang="vi-VN" sz="1400" b="1">
                  <a:solidFill>
                    <a:srgbClr val="334155"/>
                  </a:solidFill>
                  <a:latin typeface="Segoe UI" panose="020B0502040204020203" pitchFamily="34" charset="0"/>
                </a:rPr>
                <a:t>Cha mẹ hiện đại chọn sinh ít con (1-2 con) để tập trung toàn bộ nguồn lực tài chính chăm lo điều kiện phát triển tốt nhất.</a:t>
              </a:r>
              <a:endParaRPr lang="en-US" sz="1400" b="1">
                <a:solidFill>
                  <a:srgbClr val="334155"/>
                </a:solidFill>
                <a:latin typeface="Segoe UI" panose="020B0502040204020203" pitchFamily="34" charset="0"/>
              </a:endParaRPr>
            </a:p>
          </p:txBody>
        </p:sp>
      </p:grpSp>
      <p:sp>
        <p:nvSpPr>
          <p:cNvPr id="19" name="!!Anchor_Source_Footer">
            <a:extLst>
              <a:ext uri="{FF2B5EF4-FFF2-40B4-BE49-F238E27FC236}">
                <a16:creationId xmlns:a16="http://schemas.microsoft.com/office/drawing/2014/main" id="{1F1B145B-9841-C586-FC64-0FA28DB62FBD}"/>
              </a:ext>
            </a:extLst>
          </p:cNvPr>
          <p:cNvSpPr txBox="1"/>
          <p:nvPr/>
        </p:nvSpPr>
        <p:spPr>
          <a:xfrm>
            <a:off x="609600" y="6273800"/>
            <a:ext cx="10972800" cy="246221"/>
          </a:xfrm>
          <a:prstGeom prst="rect">
            <a:avLst/>
          </a:prstGeom>
          <a:noFill/>
        </p:spPr>
        <p:txBody>
          <a:bodyPr vert="horz" rtlCol="0">
            <a:spAutoFit/>
          </a:bodyPr>
          <a:lstStyle/>
          <a:p>
            <a:r>
              <a:rPr lang="en-US" sz="1000">
                <a:solidFill>
                  <a:srgbClr val="334155"/>
                </a:solidFill>
                <a:latin typeface="Segoe UI" panose="020B0502040204020203" pitchFamily="34" charset="0"/>
              </a:rPr>
              <a:t>Kinh tế học nhân khẩu học (Gary Becker Model)</a:t>
            </a:r>
          </a:p>
        </p:txBody>
      </p:sp>
    </p:spTree>
    <p:extLst>
      <p:ext uri="{BB962C8B-B14F-4D97-AF65-F5344CB8AC3E}">
        <p14:creationId xmlns:p14="http://schemas.microsoft.com/office/powerpoint/2010/main" val="536944030"/>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850">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accel="50000" decel="50000" fill="hold" nodeType="clickEffect">
                                  <p:stCondLst>
                                    <p:cond delay="0"/>
                                  </p:stCondLst>
                                  <p:childTnLst>
                                    <p:set>
                                      <p:cBhvr>
                                        <p:cTn id="6" dur="1" fill="hold">
                                          <p:stCondLst>
                                            <p:cond delay="0"/>
                                          </p:stCondLst>
                                        </p:cTn>
                                        <p:tgtEl>
                                          <p:spTgt spid="12"/>
                                        </p:tgtEl>
                                        <p:attrNameLst>
                                          <p:attrName>style.visibility</p:attrName>
                                        </p:attrNameLst>
                                      </p:cBhvr>
                                      <p:to>
                                        <p:strVal val="visible"/>
                                      </p:to>
                                    </p:set>
                                    <p:anim calcmode="lin" valueType="num">
                                      <p:cBhvr additive="base">
                                        <p:cTn id="7" dur="450" fill="hold"/>
                                        <p:tgtEl>
                                          <p:spTgt spid="12"/>
                                        </p:tgtEl>
                                        <p:attrNameLst>
                                          <p:attrName>ppt_x</p:attrName>
                                        </p:attrNameLst>
                                      </p:cBhvr>
                                      <p:tavLst>
                                        <p:tav tm="0">
                                          <p:val>
                                            <p:strVal val="#ppt_x"/>
                                          </p:val>
                                        </p:tav>
                                        <p:tav tm="100000">
                                          <p:val>
                                            <p:strVal val="#ppt_x"/>
                                          </p:val>
                                        </p:tav>
                                      </p:tavLst>
                                    </p:anim>
                                    <p:anim calcmode="lin" valueType="num">
                                      <p:cBhvr additive="base">
                                        <p:cTn id="8" dur="450" fill="hold"/>
                                        <p:tgtEl>
                                          <p:spTgt spid="12"/>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accel="50000" decel="50000" fill="hold" nodeType="clickEffect">
                                  <p:stCondLst>
                                    <p:cond delay="0"/>
                                  </p:stCondLst>
                                  <p:childTnLst>
                                    <p:set>
                                      <p:cBhvr>
                                        <p:cTn id="12" dur="1" fill="hold">
                                          <p:stCondLst>
                                            <p:cond delay="0"/>
                                          </p:stCondLst>
                                        </p:cTn>
                                        <p:tgtEl>
                                          <p:spTgt spid="18"/>
                                        </p:tgtEl>
                                        <p:attrNameLst>
                                          <p:attrName>style.visibility</p:attrName>
                                        </p:attrNameLst>
                                      </p:cBhvr>
                                      <p:to>
                                        <p:strVal val="visible"/>
                                      </p:to>
                                    </p:set>
                                    <p:anim calcmode="lin" valueType="num">
                                      <p:cBhvr additive="base">
                                        <p:cTn id="13" dur="450" fill="hold"/>
                                        <p:tgtEl>
                                          <p:spTgt spid="18"/>
                                        </p:tgtEl>
                                        <p:attrNameLst>
                                          <p:attrName>ppt_x</p:attrName>
                                        </p:attrNameLst>
                                      </p:cBhvr>
                                      <p:tavLst>
                                        <p:tav tm="0">
                                          <p:val>
                                            <p:strVal val="#ppt_x"/>
                                          </p:val>
                                        </p:tav>
                                        <p:tav tm="100000">
                                          <p:val>
                                            <p:strVal val="#ppt_x"/>
                                          </p:val>
                                        </p:tav>
                                      </p:tavLst>
                                    </p:anim>
                                    <p:anim calcmode="lin" valueType="num">
                                      <p:cBhvr additive="base">
                                        <p:cTn id="14" dur="450" fill="hold"/>
                                        <p:tgtEl>
                                          <p:spTgt spid="18"/>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a:xfrm>
          <a:off x="0" y="0"/>
          <a:ext cx="0" cy="0"/>
          <a:chOff x="0" y="0"/>
          <a:chExt cx="0" cy="0"/>
        </a:xfrm>
      </p:grpSpPr>
      <p:sp>
        <p:nvSpPr>
          <p:cNvPr id="2" name="!!Anchor_Kicker_Rail">
            <a:extLst>
              <a:ext uri="{FF2B5EF4-FFF2-40B4-BE49-F238E27FC236}">
                <a16:creationId xmlns:a16="http://schemas.microsoft.com/office/drawing/2014/main" id="{F3D4B9CF-6BA2-70C6-4990-C5B56EE26D2A}"/>
              </a:ext>
            </a:extLst>
          </p:cNvPr>
          <p:cNvSpPr txBox="1"/>
          <p:nvPr/>
        </p:nvSpPr>
        <p:spPr>
          <a:xfrm>
            <a:off x="609600" y="457200"/>
            <a:ext cx="9956800" cy="276999"/>
          </a:xfrm>
          <a:prstGeom prst="rect">
            <a:avLst/>
          </a:prstGeom>
          <a:noFill/>
        </p:spPr>
        <p:txBody>
          <a:bodyPr vert="horz" rtlCol="0">
            <a:spAutoFit/>
          </a:bodyPr>
          <a:lstStyle/>
          <a:p>
            <a:r>
              <a:rPr lang="en-US" sz="1200" b="1">
                <a:solidFill>
                  <a:srgbClr val="0284C7"/>
                </a:solidFill>
                <a:latin typeface="Segoe UI" panose="020B0502040204020203" pitchFamily="34" charset="0"/>
              </a:rPr>
              <a:t>MỨC SINH VIỆT NAM  •  TRỌNG TÂM</a:t>
            </a:r>
          </a:p>
        </p:txBody>
      </p:sp>
      <p:sp>
        <p:nvSpPr>
          <p:cNvPr id="3" name="!!Anchor_Slide_Tracker">
            <a:extLst>
              <a:ext uri="{FF2B5EF4-FFF2-40B4-BE49-F238E27FC236}">
                <a16:creationId xmlns:a16="http://schemas.microsoft.com/office/drawing/2014/main" id="{7BF9EA2B-BFD0-9D46-62FB-736C90E46E1C}"/>
              </a:ext>
            </a:extLst>
          </p:cNvPr>
          <p:cNvSpPr txBox="1"/>
          <p:nvPr/>
        </p:nvSpPr>
        <p:spPr>
          <a:xfrm>
            <a:off x="10820400" y="457200"/>
            <a:ext cx="762000" cy="276999"/>
          </a:xfrm>
          <a:prstGeom prst="rect">
            <a:avLst/>
          </a:prstGeom>
          <a:noFill/>
        </p:spPr>
        <p:txBody>
          <a:bodyPr vert="horz" rtlCol="0">
            <a:spAutoFit/>
          </a:bodyPr>
          <a:lstStyle/>
          <a:p>
            <a:pPr algn="r"/>
            <a:r>
              <a:rPr lang="en-US" sz="1200" b="1">
                <a:solidFill>
                  <a:srgbClr val="334155"/>
                </a:solidFill>
                <a:latin typeface="Bahnschrift" panose="020B0502040204020203" pitchFamily="34" charset="0"/>
              </a:rPr>
              <a:t>12 / 22</a:t>
            </a:r>
          </a:p>
        </p:txBody>
      </p:sp>
      <p:sp>
        <p:nvSpPr>
          <p:cNvPr id="4" name="!!Anchor_Assertion_Title">
            <a:extLst>
              <a:ext uri="{FF2B5EF4-FFF2-40B4-BE49-F238E27FC236}">
                <a16:creationId xmlns:a16="http://schemas.microsoft.com/office/drawing/2014/main" id="{20D5D9E3-1E21-50A6-803A-AC5C65F3E85B}"/>
              </a:ext>
            </a:extLst>
          </p:cNvPr>
          <p:cNvSpPr txBox="1"/>
          <p:nvPr/>
        </p:nvSpPr>
        <p:spPr>
          <a:xfrm>
            <a:off x="609600" y="711200"/>
            <a:ext cx="10972800" cy="738664"/>
          </a:xfrm>
          <a:prstGeom prst="rect">
            <a:avLst/>
          </a:prstGeom>
          <a:noFill/>
        </p:spPr>
        <p:txBody>
          <a:bodyPr vert="horz" wrap="square" tIns="0" bIns="0" rtlCol="0">
            <a:spAutoFit/>
          </a:bodyPr>
          <a:lstStyle/>
          <a:p>
            <a:r>
              <a:rPr lang="vi-VN" sz="2400" b="1">
                <a:solidFill>
                  <a:srgbClr val="0F172A"/>
                </a:solidFill>
                <a:latin typeface="Segoe UI" panose="020B0502040204020203" pitchFamily="34" charset="0"/>
              </a:rPr>
              <a:t>Thực Trạng Mức Sinh Việt Nam: Đạt Thay Thế Toàn Quốc Nhưng Phân Hóa Vùng Miền</a:t>
            </a:r>
            <a:endParaRPr lang="en-US" sz="2400" b="1">
              <a:solidFill>
                <a:srgbClr val="0F172A"/>
              </a:solidFill>
              <a:latin typeface="Segoe UI" panose="020B0502040204020203" pitchFamily="34" charset="0"/>
            </a:endParaRPr>
          </a:p>
        </p:txBody>
      </p:sp>
      <p:grpSp>
        <p:nvGrpSpPr>
          <p:cNvPr id="11" name="!!Stage_Hero_Container">
            <a:extLst>
              <a:ext uri="{FF2B5EF4-FFF2-40B4-BE49-F238E27FC236}">
                <a16:creationId xmlns:a16="http://schemas.microsoft.com/office/drawing/2014/main" id="{0418B38E-87C6-4E96-65F6-77F52A904C29}"/>
              </a:ext>
            </a:extLst>
          </p:cNvPr>
          <p:cNvGrpSpPr/>
          <p:nvPr/>
        </p:nvGrpSpPr>
        <p:grpSpPr>
          <a:xfrm>
            <a:off x="609600" y="1676400"/>
            <a:ext cx="6035040" cy="4521200"/>
            <a:chOff x="609600" y="1676400"/>
            <a:chExt cx="6035040" cy="4521200"/>
          </a:xfrm>
        </p:grpSpPr>
        <p:sp>
          <p:nvSpPr>
            <p:cNvPr id="5" name="Rectangle: Rounded Corners 4">
              <a:extLst>
                <a:ext uri="{FF2B5EF4-FFF2-40B4-BE49-F238E27FC236}">
                  <a16:creationId xmlns:a16="http://schemas.microsoft.com/office/drawing/2014/main" id="{751619FB-D241-1BB3-9449-DC5FD8959CC8}"/>
                </a:ext>
              </a:extLst>
            </p:cNvPr>
            <p:cNvSpPr/>
            <p:nvPr/>
          </p:nvSpPr>
          <p:spPr>
            <a:xfrm>
              <a:off x="609600" y="1676400"/>
              <a:ext cx="6035040" cy="4521200"/>
            </a:xfrm>
            <a:prstGeom prst="roundRect">
              <a:avLst/>
            </a:prstGeom>
            <a:solidFill>
              <a:srgbClr val="FFFFFF"/>
            </a:solidFill>
            <a:ln w="25400">
              <a:solidFill>
                <a:srgbClr val="0284C7"/>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Rounded Corners 5">
              <a:extLst>
                <a:ext uri="{FF2B5EF4-FFF2-40B4-BE49-F238E27FC236}">
                  <a16:creationId xmlns:a16="http://schemas.microsoft.com/office/drawing/2014/main" id="{150162C6-10B3-6FBE-D997-D0991EDFC1E6}"/>
                </a:ext>
              </a:extLst>
            </p:cNvPr>
            <p:cNvSpPr/>
            <p:nvPr/>
          </p:nvSpPr>
          <p:spPr>
            <a:xfrm>
              <a:off x="863600" y="1905000"/>
              <a:ext cx="1524000" cy="279400"/>
            </a:xfrm>
            <a:prstGeom prst="roundRect">
              <a:avLst/>
            </a:prstGeom>
            <a:solidFill>
              <a:srgbClr val="E0F2FE"/>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b="1">
                  <a:solidFill>
                    <a:srgbClr val="0284C7"/>
                  </a:solidFill>
                  <a:latin typeface="Segoe UI" panose="020B0502040204020203" pitchFamily="34" charset="0"/>
                </a:rPr>
                <a:t>TRỌNG TÂM CỐT LÕI</a:t>
              </a:r>
            </a:p>
          </p:txBody>
        </p:sp>
        <p:sp>
          <p:nvSpPr>
            <p:cNvPr id="7" name="Oval 6">
              <a:extLst>
                <a:ext uri="{FF2B5EF4-FFF2-40B4-BE49-F238E27FC236}">
                  <a16:creationId xmlns:a16="http://schemas.microsoft.com/office/drawing/2014/main" id="{18BE1F22-A2CA-06D8-FDE8-BF79170ABC48}"/>
                </a:ext>
              </a:extLst>
            </p:cNvPr>
            <p:cNvSpPr/>
            <p:nvPr/>
          </p:nvSpPr>
          <p:spPr>
            <a:xfrm>
              <a:off x="863600" y="2286000"/>
              <a:ext cx="482600" cy="482600"/>
            </a:xfrm>
            <a:prstGeom prst="ellipse">
              <a:avLst/>
            </a:prstGeom>
            <a:solidFill>
              <a:srgbClr val="E0F2FE"/>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9" name="Graphic 8">
              <a:extLst>
                <a:ext uri="{FF2B5EF4-FFF2-40B4-BE49-F238E27FC236}">
                  <a16:creationId xmlns:a16="http://schemas.microsoft.com/office/drawing/2014/main" id="{9308BA5B-AF3E-BDA3-DAF5-E7F456243BEC}"/>
                </a:ext>
              </a:extLst>
            </p:cNvPr>
            <p:cNvPicPr>
              <a:picLocks/>
            </p:cNvPicPr>
            <p:nvPr/>
          </p:nvPicPr>
          <p:blipFill>
            <a:blip>
              <a:extLst>
                <a:ext uri="{96DAC541-7B7A-43D3-8B79-37D633B846F1}">
                  <asvg:svgBlip xmlns:asvg="http://schemas.microsoft.com/office/drawing/2016/SVG/main" r:embed="rId2"/>
                </a:ext>
              </a:extLst>
            </a:blip>
            <a:stretch>
              <a:fillRect/>
            </a:stretch>
          </p:blipFill>
          <p:spPr>
            <a:xfrm>
              <a:off x="939800" y="2362200"/>
              <a:ext cx="330200" cy="330200"/>
            </a:xfrm>
            <a:prstGeom prst="rect">
              <a:avLst/>
            </a:prstGeom>
          </p:spPr>
        </p:pic>
        <p:sp>
          <p:nvSpPr>
            <p:cNvPr id="10" name="TextBox 9">
              <a:extLst>
                <a:ext uri="{FF2B5EF4-FFF2-40B4-BE49-F238E27FC236}">
                  <a16:creationId xmlns:a16="http://schemas.microsoft.com/office/drawing/2014/main" id="{6B1C72A4-79D6-B4DB-65D4-34049AF4B9BA}"/>
                </a:ext>
              </a:extLst>
            </p:cNvPr>
            <p:cNvSpPr txBox="1"/>
            <p:nvPr/>
          </p:nvSpPr>
          <p:spPr>
            <a:xfrm>
              <a:off x="863600" y="2870200"/>
              <a:ext cx="5527040" cy="1489447"/>
            </a:xfrm>
            <a:prstGeom prst="rect">
              <a:avLst/>
            </a:prstGeom>
            <a:noFill/>
          </p:spPr>
          <p:txBody>
            <a:bodyPr vert="horz" wrap="square" lIns="0" rtlCol="0">
              <a:spAutoFit/>
            </a:bodyPr>
            <a:lstStyle/>
            <a:p>
              <a:pPr>
                <a:lnSpc>
                  <a:spcPct val="130000"/>
                </a:lnSpc>
                <a:spcAft>
                  <a:spcPts val="1000"/>
                </a:spcAft>
              </a:pPr>
              <a:r>
                <a:rPr lang="en-US" sz="2000" b="1">
                  <a:solidFill>
                    <a:srgbClr val="0F172A"/>
                  </a:solidFill>
                  <a:latin typeface="Segoe UI" panose="020B0502040204020203" pitchFamily="34" charset="0"/>
                </a:rPr>
                <a:t>Vùng Đông Nam Bộ Sinh Rất Thấp
</a:t>
              </a:r>
              <a:r>
                <a:rPr lang="vi-VN" sz="1500" b="1">
                  <a:solidFill>
                    <a:srgbClr val="334155"/>
                  </a:solidFill>
                  <a:latin typeface="Segoe UI" panose="020B0502040204020203" pitchFamily="34" charset="0"/>
                </a:rPr>
                <a:t>TFR TP.HCM xuống mức kỷ lục 1.39 con/phụ nữ; Đồng bằng sông Cửu Long chỉ đạt 1.8 con. Nguy cơ thiếu hụt lao động tương lai.</a:t>
              </a:r>
              <a:endParaRPr lang="en-US" sz="1500" b="1">
                <a:solidFill>
                  <a:srgbClr val="334155"/>
                </a:solidFill>
                <a:latin typeface="Segoe UI" panose="020B0502040204020203" pitchFamily="34" charset="0"/>
              </a:endParaRPr>
            </a:p>
          </p:txBody>
        </p:sp>
      </p:grpSp>
      <p:grpSp>
        <p:nvGrpSpPr>
          <p:cNvPr id="18" name="!!Stage_Sub_Card_1">
            <a:extLst>
              <a:ext uri="{FF2B5EF4-FFF2-40B4-BE49-F238E27FC236}">
                <a16:creationId xmlns:a16="http://schemas.microsoft.com/office/drawing/2014/main" id="{FE6828AD-72C4-081F-3E33-47BBD21E09CF}"/>
              </a:ext>
            </a:extLst>
          </p:cNvPr>
          <p:cNvGrpSpPr/>
          <p:nvPr/>
        </p:nvGrpSpPr>
        <p:grpSpPr>
          <a:xfrm>
            <a:off x="6873240" y="1676400"/>
            <a:ext cx="4709160" cy="2171700"/>
            <a:chOff x="6873240" y="1676400"/>
            <a:chExt cx="4709160" cy="2171700"/>
          </a:xfrm>
        </p:grpSpPr>
        <p:sp>
          <p:nvSpPr>
            <p:cNvPr id="12" name="Rectangle: Rounded Corners 11">
              <a:extLst>
                <a:ext uri="{FF2B5EF4-FFF2-40B4-BE49-F238E27FC236}">
                  <a16:creationId xmlns:a16="http://schemas.microsoft.com/office/drawing/2014/main" id="{19EC7998-D167-BB4C-1DEA-EB1FA3DCFF31}"/>
                </a:ext>
              </a:extLst>
            </p:cNvPr>
            <p:cNvSpPr/>
            <p:nvPr/>
          </p:nvSpPr>
          <p:spPr>
            <a:xfrm>
              <a:off x="6873240" y="1676400"/>
              <a:ext cx="4709160" cy="2171700"/>
            </a:xfrm>
            <a:prstGeom prst="roundRect">
              <a:avLst/>
            </a:prstGeom>
            <a:solidFill>
              <a:srgbClr val="FFFFFF"/>
            </a:solidFill>
            <a:ln>
              <a:solidFill>
                <a:srgbClr val="CBD5E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Rounded Corners 12">
              <a:extLst>
                <a:ext uri="{FF2B5EF4-FFF2-40B4-BE49-F238E27FC236}">
                  <a16:creationId xmlns:a16="http://schemas.microsoft.com/office/drawing/2014/main" id="{462B4C2A-731C-29B7-8540-D506EB2DB4FA}"/>
                </a:ext>
              </a:extLst>
            </p:cNvPr>
            <p:cNvSpPr/>
            <p:nvPr/>
          </p:nvSpPr>
          <p:spPr>
            <a:xfrm>
              <a:off x="7076440" y="1854200"/>
              <a:ext cx="1079500" cy="254000"/>
            </a:xfrm>
            <a:prstGeom prst="roundRect">
              <a:avLst/>
            </a:prstGeom>
            <a:solidFill>
              <a:srgbClr val="E0F2FE"/>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900" b="1">
                  <a:solidFill>
                    <a:srgbClr val="0284C7"/>
                  </a:solidFill>
                  <a:latin typeface="Segoe UI" panose="020B0502040204020203" pitchFamily="34" charset="0"/>
                </a:rPr>
                <a:t>TRỌNG ĐIỂM 01</a:t>
              </a:r>
            </a:p>
          </p:txBody>
        </p:sp>
        <p:sp>
          <p:nvSpPr>
            <p:cNvPr id="14" name="Oval 13">
              <a:extLst>
                <a:ext uri="{FF2B5EF4-FFF2-40B4-BE49-F238E27FC236}">
                  <a16:creationId xmlns:a16="http://schemas.microsoft.com/office/drawing/2014/main" id="{77DB75E7-91D9-953E-3721-C8ED0BE270F2}"/>
                </a:ext>
              </a:extLst>
            </p:cNvPr>
            <p:cNvSpPr/>
            <p:nvPr/>
          </p:nvSpPr>
          <p:spPr>
            <a:xfrm>
              <a:off x="7076440" y="2184400"/>
              <a:ext cx="406400" cy="406400"/>
            </a:xfrm>
            <a:prstGeom prst="ellipse">
              <a:avLst/>
            </a:prstGeom>
            <a:solidFill>
              <a:srgbClr val="E0F2FE"/>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6" name="Graphic 15">
              <a:extLst>
                <a:ext uri="{FF2B5EF4-FFF2-40B4-BE49-F238E27FC236}">
                  <a16:creationId xmlns:a16="http://schemas.microsoft.com/office/drawing/2014/main" id="{CA012032-C37A-468A-9DEF-B01CEB8D3BBD}"/>
                </a:ext>
              </a:extLst>
            </p:cNvPr>
            <p:cNvPicPr>
              <a:picLocks/>
            </p:cNvPicPr>
            <p:nvPr/>
          </p:nvPicPr>
          <p:blipFill>
            <a:blip>
              <a:extLst>
                <a:ext uri="{96DAC541-7B7A-43D3-8B79-37D633B846F1}">
                  <asvg:svgBlip xmlns:asvg="http://schemas.microsoft.com/office/drawing/2016/SVG/main" r:embed="rId3"/>
                </a:ext>
              </a:extLst>
            </a:blip>
            <a:stretch>
              <a:fillRect/>
            </a:stretch>
          </p:blipFill>
          <p:spPr>
            <a:xfrm>
              <a:off x="7139940" y="2247900"/>
              <a:ext cx="279400" cy="279400"/>
            </a:xfrm>
            <a:prstGeom prst="rect">
              <a:avLst/>
            </a:prstGeom>
          </p:spPr>
        </p:pic>
        <p:sp>
          <p:nvSpPr>
            <p:cNvPr id="17" name="TextBox 16">
              <a:extLst>
                <a:ext uri="{FF2B5EF4-FFF2-40B4-BE49-F238E27FC236}">
                  <a16:creationId xmlns:a16="http://schemas.microsoft.com/office/drawing/2014/main" id="{98FF9E8B-218D-BFD7-59AC-2F28F54A2536}"/>
                </a:ext>
              </a:extLst>
            </p:cNvPr>
            <p:cNvSpPr txBox="1"/>
            <p:nvPr/>
          </p:nvSpPr>
          <p:spPr>
            <a:xfrm>
              <a:off x="7609840" y="2108200"/>
              <a:ext cx="3820160" cy="990015"/>
            </a:xfrm>
            <a:prstGeom prst="rect">
              <a:avLst/>
            </a:prstGeom>
            <a:noFill/>
          </p:spPr>
          <p:txBody>
            <a:bodyPr vert="horz" wrap="square" tIns="0" rtlCol="0">
              <a:spAutoFit/>
            </a:bodyPr>
            <a:lstStyle/>
            <a:p>
              <a:pPr>
                <a:spcAft>
                  <a:spcPts val="400"/>
                </a:spcAft>
              </a:pPr>
              <a:r>
                <a:rPr lang="en-US" sz="1600" b="1">
                  <a:solidFill>
                    <a:srgbClr val="0F172A"/>
                  </a:solidFill>
                  <a:latin typeface="Segoe UI" panose="020B0502040204020203" pitchFamily="34" charset="0"/>
                </a:rPr>
                <a:t>Vùng Trung Du Miền Núi Sinh Cao
</a:t>
              </a:r>
              <a:r>
                <a:rPr lang="en-US" sz="1400" b="1">
                  <a:solidFill>
                    <a:srgbClr val="334155"/>
                  </a:solidFill>
                  <a:latin typeface="Segoe UI" panose="020B0502040204020203" pitchFamily="34" charset="0"/>
                </a:rPr>
                <a:t>Khu vực Trung du miền núi phía Bắc và Tây Nguyên có mức sinh trên 2.4 con/phụ nữ, gánh nặng nghèo đói và giáo dục còn lớn.</a:t>
              </a:r>
            </a:p>
          </p:txBody>
        </p:sp>
      </p:grpSp>
      <p:grpSp>
        <p:nvGrpSpPr>
          <p:cNvPr id="25" name="!!Stage_Sub_Card_2">
            <a:extLst>
              <a:ext uri="{FF2B5EF4-FFF2-40B4-BE49-F238E27FC236}">
                <a16:creationId xmlns:a16="http://schemas.microsoft.com/office/drawing/2014/main" id="{D64D39AE-46D3-AD43-714F-4AD143F63EC0}"/>
              </a:ext>
            </a:extLst>
          </p:cNvPr>
          <p:cNvGrpSpPr/>
          <p:nvPr/>
        </p:nvGrpSpPr>
        <p:grpSpPr>
          <a:xfrm>
            <a:off x="6873240" y="4025900"/>
            <a:ext cx="4709160" cy="2171700"/>
            <a:chOff x="6873240" y="4025900"/>
            <a:chExt cx="4709160" cy="2171700"/>
          </a:xfrm>
        </p:grpSpPr>
        <p:sp>
          <p:nvSpPr>
            <p:cNvPr id="19" name="Rectangle: Rounded Corners 18">
              <a:extLst>
                <a:ext uri="{FF2B5EF4-FFF2-40B4-BE49-F238E27FC236}">
                  <a16:creationId xmlns:a16="http://schemas.microsoft.com/office/drawing/2014/main" id="{A5200A57-27AA-A2E0-0933-C04C096018FD}"/>
                </a:ext>
              </a:extLst>
            </p:cNvPr>
            <p:cNvSpPr/>
            <p:nvPr/>
          </p:nvSpPr>
          <p:spPr>
            <a:xfrm>
              <a:off x="6873240" y="4025900"/>
              <a:ext cx="4709160" cy="2171700"/>
            </a:xfrm>
            <a:prstGeom prst="roundRect">
              <a:avLst/>
            </a:prstGeom>
            <a:solidFill>
              <a:srgbClr val="FFFFFF"/>
            </a:solidFill>
            <a:ln>
              <a:solidFill>
                <a:srgbClr val="CBD5E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Rectangle: Rounded Corners 19">
              <a:extLst>
                <a:ext uri="{FF2B5EF4-FFF2-40B4-BE49-F238E27FC236}">
                  <a16:creationId xmlns:a16="http://schemas.microsoft.com/office/drawing/2014/main" id="{C3E28EB6-DFF7-32E5-5C15-042537985B23}"/>
                </a:ext>
              </a:extLst>
            </p:cNvPr>
            <p:cNvSpPr/>
            <p:nvPr/>
          </p:nvSpPr>
          <p:spPr>
            <a:xfrm>
              <a:off x="7076440" y="4203700"/>
              <a:ext cx="1079500" cy="254000"/>
            </a:xfrm>
            <a:prstGeom prst="roundRect">
              <a:avLst/>
            </a:prstGeom>
            <a:solidFill>
              <a:srgbClr val="E0F2FE"/>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900" b="1">
                  <a:solidFill>
                    <a:srgbClr val="0284C7"/>
                  </a:solidFill>
                  <a:latin typeface="Segoe UI" panose="020B0502040204020203" pitchFamily="34" charset="0"/>
                </a:rPr>
                <a:t>TRỌNG ĐIỂM 02</a:t>
              </a:r>
            </a:p>
          </p:txBody>
        </p:sp>
        <p:sp>
          <p:nvSpPr>
            <p:cNvPr id="21" name="Oval 20">
              <a:extLst>
                <a:ext uri="{FF2B5EF4-FFF2-40B4-BE49-F238E27FC236}">
                  <a16:creationId xmlns:a16="http://schemas.microsoft.com/office/drawing/2014/main" id="{EC303395-3F56-293B-8561-28FAF43C9985}"/>
                </a:ext>
              </a:extLst>
            </p:cNvPr>
            <p:cNvSpPr/>
            <p:nvPr/>
          </p:nvSpPr>
          <p:spPr>
            <a:xfrm>
              <a:off x="7076440" y="4533900"/>
              <a:ext cx="406400" cy="406400"/>
            </a:xfrm>
            <a:prstGeom prst="ellipse">
              <a:avLst/>
            </a:prstGeom>
            <a:solidFill>
              <a:srgbClr val="E0F2FE"/>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3" name="Graphic 22">
              <a:extLst>
                <a:ext uri="{FF2B5EF4-FFF2-40B4-BE49-F238E27FC236}">
                  <a16:creationId xmlns:a16="http://schemas.microsoft.com/office/drawing/2014/main" id="{295DBCE4-CC8C-CF40-EF37-DD441D97C94B}"/>
                </a:ext>
              </a:extLst>
            </p:cNvPr>
            <p:cNvPicPr>
              <a:picLocks/>
            </p:cNvPicPr>
            <p:nvPr/>
          </p:nvPicPr>
          <p:blipFill>
            <a:blip>
              <a:extLst>
                <a:ext uri="{96DAC541-7B7A-43D3-8B79-37D633B846F1}">
                  <asvg:svgBlip xmlns:asvg="http://schemas.microsoft.com/office/drawing/2016/SVG/main" r:embed="rId4"/>
                </a:ext>
              </a:extLst>
            </a:blip>
            <a:stretch>
              <a:fillRect/>
            </a:stretch>
          </p:blipFill>
          <p:spPr>
            <a:xfrm>
              <a:off x="7139940" y="4597400"/>
              <a:ext cx="279400" cy="279400"/>
            </a:xfrm>
            <a:prstGeom prst="rect">
              <a:avLst/>
            </a:prstGeom>
          </p:spPr>
        </p:pic>
        <p:sp>
          <p:nvSpPr>
            <p:cNvPr id="24" name="TextBox 23">
              <a:extLst>
                <a:ext uri="{FF2B5EF4-FFF2-40B4-BE49-F238E27FC236}">
                  <a16:creationId xmlns:a16="http://schemas.microsoft.com/office/drawing/2014/main" id="{4FF8FBFD-F58C-D9BE-1369-CE34E503F6C5}"/>
                </a:ext>
              </a:extLst>
            </p:cNvPr>
            <p:cNvSpPr txBox="1"/>
            <p:nvPr/>
          </p:nvSpPr>
          <p:spPr>
            <a:xfrm>
              <a:off x="7609840" y="4457700"/>
              <a:ext cx="3820160" cy="1205458"/>
            </a:xfrm>
            <a:prstGeom prst="rect">
              <a:avLst/>
            </a:prstGeom>
            <a:noFill/>
          </p:spPr>
          <p:txBody>
            <a:bodyPr vert="horz" wrap="square" tIns="0" rtlCol="0">
              <a:spAutoFit/>
            </a:bodyPr>
            <a:lstStyle/>
            <a:p>
              <a:pPr>
                <a:spcAft>
                  <a:spcPts val="400"/>
                </a:spcAft>
              </a:pPr>
              <a:r>
                <a:rPr lang="en-US" sz="1600" b="1">
                  <a:solidFill>
                    <a:srgbClr val="0F172A"/>
                  </a:solidFill>
                  <a:latin typeface="Segoe UI" panose="020B0502040204020203" pitchFamily="34" charset="0"/>
                </a:rPr>
                <a:t>Chính Sách Điều Chỉnh Mức Sinh
</a:t>
              </a:r>
              <a:r>
                <a:rPr lang="vi-VN" sz="1400" b="1">
                  <a:solidFill>
                    <a:srgbClr val="334155"/>
                  </a:solidFill>
                  <a:latin typeface="Segoe UI" panose="020B0502040204020203" pitchFamily="34" charset="0"/>
                </a:rPr>
                <a:t>Chuyển từ khẩu hiệu 'mỗi cặp vợ chồng sinh 1-2 con' sang khuyến khích: Nơi sinh cao vận động sinh ít; nơi sinh thấp khuyến khích sinh đủ 2 con.</a:t>
              </a:r>
              <a:endParaRPr lang="en-US" sz="1400" b="1">
                <a:solidFill>
                  <a:srgbClr val="334155"/>
                </a:solidFill>
                <a:latin typeface="Segoe UI" panose="020B0502040204020203" pitchFamily="34" charset="0"/>
              </a:endParaRPr>
            </a:p>
          </p:txBody>
        </p:sp>
      </p:grpSp>
      <p:sp>
        <p:nvSpPr>
          <p:cNvPr id="26" name="!!Anchor_Source_Footer">
            <a:extLst>
              <a:ext uri="{FF2B5EF4-FFF2-40B4-BE49-F238E27FC236}">
                <a16:creationId xmlns:a16="http://schemas.microsoft.com/office/drawing/2014/main" id="{4AAB8CC4-86D7-4AAD-952B-9C6D0869EA55}"/>
              </a:ext>
            </a:extLst>
          </p:cNvPr>
          <p:cNvSpPr txBox="1"/>
          <p:nvPr/>
        </p:nvSpPr>
        <p:spPr>
          <a:xfrm>
            <a:off x="609600" y="6273800"/>
            <a:ext cx="10972800" cy="246221"/>
          </a:xfrm>
          <a:prstGeom prst="rect">
            <a:avLst/>
          </a:prstGeom>
          <a:noFill/>
        </p:spPr>
        <p:txBody>
          <a:bodyPr vert="horz" rtlCol="0">
            <a:spAutoFit/>
          </a:bodyPr>
          <a:lstStyle/>
          <a:p>
            <a:r>
              <a:rPr lang="vi-VN" sz="1000">
                <a:solidFill>
                  <a:srgbClr val="334155"/>
                </a:solidFill>
                <a:latin typeface="Segoe UI" panose="020B0502040204020203" pitchFamily="34" charset="0"/>
              </a:rPr>
              <a:t>Quyết định 588/QĐ-TTg phê duyệt Chương trình điều chỉnh mức sinh</a:t>
            </a:r>
            <a:endParaRPr lang="en-US" sz="1000">
              <a:solidFill>
                <a:srgbClr val="334155"/>
              </a:solidFill>
              <a:latin typeface="Segoe UI" panose="020B0502040204020203" pitchFamily="34" charset="0"/>
            </a:endParaRPr>
          </a:p>
        </p:txBody>
      </p:sp>
    </p:spTree>
    <p:extLst>
      <p:ext uri="{BB962C8B-B14F-4D97-AF65-F5344CB8AC3E}">
        <p14:creationId xmlns:p14="http://schemas.microsoft.com/office/powerpoint/2010/main" val="1041802341"/>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850">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accel="50000" decel="50000" fill="hold" nodeType="clickEffect">
                                  <p:stCondLst>
                                    <p:cond delay="0"/>
                                  </p:stCondLst>
                                  <p:childTnLst>
                                    <p:set>
                                      <p:cBhvr>
                                        <p:cTn id="6" dur="1" fill="hold">
                                          <p:stCondLst>
                                            <p:cond delay="0"/>
                                          </p:stCondLst>
                                        </p:cTn>
                                        <p:tgtEl>
                                          <p:spTgt spid="18"/>
                                        </p:tgtEl>
                                        <p:attrNameLst>
                                          <p:attrName>style.visibility</p:attrName>
                                        </p:attrNameLst>
                                      </p:cBhvr>
                                      <p:to>
                                        <p:strVal val="visible"/>
                                      </p:to>
                                    </p:set>
                                    <p:anim calcmode="lin" valueType="num">
                                      <p:cBhvr additive="base">
                                        <p:cTn id="7" dur="450" fill="hold"/>
                                        <p:tgtEl>
                                          <p:spTgt spid="18"/>
                                        </p:tgtEl>
                                        <p:attrNameLst>
                                          <p:attrName>ppt_x</p:attrName>
                                        </p:attrNameLst>
                                      </p:cBhvr>
                                      <p:tavLst>
                                        <p:tav tm="0">
                                          <p:val>
                                            <p:strVal val="#ppt_x"/>
                                          </p:val>
                                        </p:tav>
                                        <p:tav tm="100000">
                                          <p:val>
                                            <p:strVal val="#ppt_x"/>
                                          </p:val>
                                        </p:tav>
                                      </p:tavLst>
                                    </p:anim>
                                    <p:anim calcmode="lin" valueType="num">
                                      <p:cBhvr additive="base">
                                        <p:cTn id="8" dur="450" fill="hold"/>
                                        <p:tgtEl>
                                          <p:spTgt spid="18"/>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accel="50000" decel="50000" fill="hold" nodeType="clickEffect">
                                  <p:stCondLst>
                                    <p:cond delay="0"/>
                                  </p:stCondLst>
                                  <p:childTnLst>
                                    <p:set>
                                      <p:cBhvr>
                                        <p:cTn id="12" dur="1" fill="hold">
                                          <p:stCondLst>
                                            <p:cond delay="0"/>
                                          </p:stCondLst>
                                        </p:cTn>
                                        <p:tgtEl>
                                          <p:spTgt spid="25"/>
                                        </p:tgtEl>
                                        <p:attrNameLst>
                                          <p:attrName>style.visibility</p:attrName>
                                        </p:attrNameLst>
                                      </p:cBhvr>
                                      <p:to>
                                        <p:strVal val="visible"/>
                                      </p:to>
                                    </p:set>
                                    <p:anim calcmode="lin" valueType="num">
                                      <p:cBhvr additive="base">
                                        <p:cTn id="13" dur="450" fill="hold"/>
                                        <p:tgtEl>
                                          <p:spTgt spid="25"/>
                                        </p:tgtEl>
                                        <p:attrNameLst>
                                          <p:attrName>ppt_x</p:attrName>
                                        </p:attrNameLst>
                                      </p:cBhvr>
                                      <p:tavLst>
                                        <p:tav tm="0">
                                          <p:val>
                                            <p:strVal val="#ppt_x"/>
                                          </p:val>
                                        </p:tav>
                                        <p:tav tm="100000">
                                          <p:val>
                                            <p:strVal val="#ppt_x"/>
                                          </p:val>
                                        </p:tav>
                                      </p:tavLst>
                                    </p:anim>
                                    <p:anim calcmode="lin" valueType="num">
                                      <p:cBhvr additive="base">
                                        <p:cTn id="14" dur="450" fill="hold"/>
                                        <p:tgtEl>
                                          <p:spTgt spid="2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a:xfrm>
          <a:off x="0" y="0"/>
          <a:ext cx="0" cy="0"/>
          <a:chOff x="0" y="0"/>
          <a:chExt cx="0" cy="0"/>
        </a:xfrm>
      </p:grpSpPr>
      <p:sp>
        <p:nvSpPr>
          <p:cNvPr id="2" name="!!Anchor_Kicker_Rail">
            <a:extLst>
              <a:ext uri="{FF2B5EF4-FFF2-40B4-BE49-F238E27FC236}">
                <a16:creationId xmlns:a16="http://schemas.microsoft.com/office/drawing/2014/main" id="{ABFBDADE-9BE3-8C24-81FF-15CB11F15D9C}"/>
              </a:ext>
            </a:extLst>
          </p:cNvPr>
          <p:cNvSpPr txBox="1"/>
          <p:nvPr/>
        </p:nvSpPr>
        <p:spPr>
          <a:xfrm>
            <a:off x="609600" y="457200"/>
            <a:ext cx="9956800" cy="276999"/>
          </a:xfrm>
          <a:prstGeom prst="rect">
            <a:avLst/>
          </a:prstGeom>
          <a:noFill/>
        </p:spPr>
        <p:txBody>
          <a:bodyPr vert="horz" rtlCol="0">
            <a:spAutoFit/>
          </a:bodyPr>
          <a:lstStyle/>
          <a:p>
            <a:r>
              <a:rPr lang="en-US" sz="1200" b="1">
                <a:solidFill>
                  <a:srgbClr val="0284C7"/>
                </a:solidFill>
                <a:latin typeface="Segoe UI" panose="020B0502040204020203" pitchFamily="34" charset="0"/>
              </a:rPr>
              <a:t>MỨC CHẾT  •  TRỌNG TÂM</a:t>
            </a:r>
          </a:p>
        </p:txBody>
      </p:sp>
      <p:sp>
        <p:nvSpPr>
          <p:cNvPr id="3" name="!!Anchor_Slide_Tracker">
            <a:extLst>
              <a:ext uri="{FF2B5EF4-FFF2-40B4-BE49-F238E27FC236}">
                <a16:creationId xmlns:a16="http://schemas.microsoft.com/office/drawing/2014/main" id="{1D5BBC2E-3D49-4A60-9369-9B63A55A1B08}"/>
              </a:ext>
            </a:extLst>
          </p:cNvPr>
          <p:cNvSpPr txBox="1"/>
          <p:nvPr/>
        </p:nvSpPr>
        <p:spPr>
          <a:xfrm>
            <a:off x="10820400" y="457200"/>
            <a:ext cx="762000" cy="276999"/>
          </a:xfrm>
          <a:prstGeom prst="rect">
            <a:avLst/>
          </a:prstGeom>
          <a:noFill/>
        </p:spPr>
        <p:txBody>
          <a:bodyPr vert="horz" rtlCol="0">
            <a:spAutoFit/>
          </a:bodyPr>
          <a:lstStyle/>
          <a:p>
            <a:pPr algn="r"/>
            <a:r>
              <a:rPr lang="en-US" sz="1200" b="1">
                <a:solidFill>
                  <a:srgbClr val="334155"/>
                </a:solidFill>
                <a:latin typeface="Bahnschrift" panose="020B0502040204020203" pitchFamily="34" charset="0"/>
              </a:rPr>
              <a:t>13 / 22</a:t>
            </a:r>
          </a:p>
        </p:txBody>
      </p:sp>
      <p:sp>
        <p:nvSpPr>
          <p:cNvPr id="4" name="!!Anchor_Assertion_Title">
            <a:extLst>
              <a:ext uri="{FF2B5EF4-FFF2-40B4-BE49-F238E27FC236}">
                <a16:creationId xmlns:a16="http://schemas.microsoft.com/office/drawing/2014/main" id="{E2B69B14-503F-8BFA-8099-52C794BD1F0C}"/>
              </a:ext>
            </a:extLst>
          </p:cNvPr>
          <p:cNvSpPr txBox="1"/>
          <p:nvPr/>
        </p:nvSpPr>
        <p:spPr>
          <a:xfrm>
            <a:off x="609600" y="711200"/>
            <a:ext cx="10972800" cy="369332"/>
          </a:xfrm>
          <a:prstGeom prst="rect">
            <a:avLst/>
          </a:prstGeom>
          <a:noFill/>
        </p:spPr>
        <p:txBody>
          <a:bodyPr vert="horz" wrap="square" tIns="0" bIns="0" rtlCol="0">
            <a:spAutoFit/>
          </a:bodyPr>
          <a:lstStyle/>
          <a:p>
            <a:r>
              <a:rPr lang="en-US" sz="2400" b="1">
                <a:solidFill>
                  <a:srgbClr val="0F172A"/>
                </a:solidFill>
                <a:latin typeface="Segoe UI" panose="020B0502040204020203" pitchFamily="34" charset="0"/>
              </a:rPr>
              <a:t>Khái Niệm Mức Chết (Mortality) Và Tỷ Suất Chết Thô (CDR)</a:t>
            </a:r>
          </a:p>
        </p:txBody>
      </p:sp>
      <p:grpSp>
        <p:nvGrpSpPr>
          <p:cNvPr id="8" name="!!Stage_Hero_Container">
            <a:extLst>
              <a:ext uri="{FF2B5EF4-FFF2-40B4-BE49-F238E27FC236}">
                <a16:creationId xmlns:a16="http://schemas.microsoft.com/office/drawing/2014/main" id="{E3BF8505-6938-152D-6B8C-3FB7B2FCC35B}"/>
              </a:ext>
            </a:extLst>
          </p:cNvPr>
          <p:cNvGrpSpPr/>
          <p:nvPr/>
        </p:nvGrpSpPr>
        <p:grpSpPr>
          <a:xfrm>
            <a:off x="609600" y="1676400"/>
            <a:ext cx="10972800" cy="1117600"/>
            <a:chOff x="609600" y="1676400"/>
            <a:chExt cx="10972800" cy="1117600"/>
          </a:xfrm>
        </p:grpSpPr>
        <p:sp>
          <p:nvSpPr>
            <p:cNvPr id="5" name="Rectangle: Rounded Corners 4">
              <a:extLst>
                <a:ext uri="{FF2B5EF4-FFF2-40B4-BE49-F238E27FC236}">
                  <a16:creationId xmlns:a16="http://schemas.microsoft.com/office/drawing/2014/main" id="{E3452CF4-42E1-C4BA-EF32-BC6F30BD772A}"/>
                </a:ext>
              </a:extLst>
            </p:cNvPr>
            <p:cNvSpPr/>
            <p:nvPr/>
          </p:nvSpPr>
          <p:spPr>
            <a:xfrm>
              <a:off x="609600" y="1676400"/>
              <a:ext cx="10972800" cy="1117600"/>
            </a:xfrm>
            <a:prstGeom prst="roundRect">
              <a:avLst/>
            </a:prstGeom>
            <a:solidFill>
              <a:srgbClr val="FFFFFF"/>
            </a:solidFill>
            <a:ln w="25400">
              <a:solidFill>
                <a:srgbClr val="0284C7"/>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Rounded Corners 5">
              <a:extLst>
                <a:ext uri="{FF2B5EF4-FFF2-40B4-BE49-F238E27FC236}">
                  <a16:creationId xmlns:a16="http://schemas.microsoft.com/office/drawing/2014/main" id="{984B02FC-4FCC-FF73-ACD8-261F20D7EC44}"/>
                </a:ext>
              </a:extLst>
            </p:cNvPr>
            <p:cNvSpPr/>
            <p:nvPr/>
          </p:nvSpPr>
          <p:spPr>
            <a:xfrm>
              <a:off x="863600" y="1803400"/>
              <a:ext cx="2413000" cy="254000"/>
            </a:xfrm>
            <a:prstGeom prst="roundRect">
              <a:avLst/>
            </a:prstGeom>
            <a:solidFill>
              <a:srgbClr val="E0F2FE"/>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vi-VN" sz="900" b="1">
                  <a:solidFill>
                    <a:srgbClr val="0284C7"/>
                  </a:solidFill>
                  <a:latin typeface="Segoe UI" panose="020B0502040204020203" pitchFamily="34" charset="0"/>
                </a:rPr>
                <a:t>CÔNG THỨC ĐỊNH LƯỢNG CHUẨN</a:t>
              </a:r>
              <a:endParaRPr lang="en-US" sz="900" b="1">
                <a:solidFill>
                  <a:srgbClr val="0284C7"/>
                </a:solidFill>
                <a:latin typeface="Segoe UI" panose="020B0502040204020203" pitchFamily="34" charset="0"/>
              </a:endParaRPr>
            </a:p>
          </p:txBody>
        </p:sp>
        <p:sp>
          <p:nvSpPr>
            <p:cNvPr id="7" name="TextBox 6">
              <a:extLst>
                <a:ext uri="{FF2B5EF4-FFF2-40B4-BE49-F238E27FC236}">
                  <a16:creationId xmlns:a16="http://schemas.microsoft.com/office/drawing/2014/main" id="{5FDA39FD-F105-40FD-50D6-EB7E2C54506D}"/>
                </a:ext>
              </a:extLst>
            </p:cNvPr>
            <p:cNvSpPr txBox="1"/>
            <p:nvPr/>
          </p:nvSpPr>
          <p:spPr>
            <a:xfrm>
              <a:off x="863600" y="2082800"/>
              <a:ext cx="10464800" cy="461665"/>
            </a:xfrm>
            <a:prstGeom prst="rect">
              <a:avLst/>
            </a:prstGeom>
            <a:noFill/>
          </p:spPr>
          <p:txBody>
            <a:bodyPr vert="horz" rtlCol="0">
              <a:spAutoFit/>
            </a:bodyPr>
            <a:lstStyle/>
            <a:p>
              <a:pPr algn="ctr"/>
              <a:r>
                <a:rPr lang="vi-VN" sz="2400" b="1">
                  <a:solidFill>
                    <a:srgbClr val="0284C7"/>
                  </a:solidFill>
                  <a:latin typeface="Segoe UI" panose="020B0502040204020203" pitchFamily="34" charset="0"/>
                </a:rPr>
                <a:t>CDR = (D / P_tb) * 1,000  (Đơn vị: ‰ - Trên 1.000 dân trung bình)</a:t>
              </a:r>
              <a:endParaRPr lang="en-US" sz="2400" b="1">
                <a:solidFill>
                  <a:srgbClr val="0284C7"/>
                </a:solidFill>
                <a:latin typeface="Segoe UI" panose="020B0502040204020203" pitchFamily="34" charset="0"/>
              </a:endParaRPr>
            </a:p>
          </p:txBody>
        </p:sp>
      </p:grpSp>
      <p:grpSp>
        <p:nvGrpSpPr>
          <p:cNvPr id="14" name="!!Stage_Sub_Card_1">
            <a:extLst>
              <a:ext uri="{FF2B5EF4-FFF2-40B4-BE49-F238E27FC236}">
                <a16:creationId xmlns:a16="http://schemas.microsoft.com/office/drawing/2014/main" id="{4342C577-A441-8109-E166-E2618997B130}"/>
              </a:ext>
            </a:extLst>
          </p:cNvPr>
          <p:cNvGrpSpPr/>
          <p:nvPr/>
        </p:nvGrpSpPr>
        <p:grpSpPr>
          <a:xfrm>
            <a:off x="609600" y="2971800"/>
            <a:ext cx="5384800" cy="3225800"/>
            <a:chOff x="609600" y="2971800"/>
            <a:chExt cx="5384800" cy="3225800"/>
          </a:xfrm>
        </p:grpSpPr>
        <p:sp>
          <p:nvSpPr>
            <p:cNvPr id="9" name="Rectangle: Rounded Corners 8">
              <a:extLst>
                <a:ext uri="{FF2B5EF4-FFF2-40B4-BE49-F238E27FC236}">
                  <a16:creationId xmlns:a16="http://schemas.microsoft.com/office/drawing/2014/main" id="{E642AD55-5037-CA1F-4208-4A2F9B4123DC}"/>
                </a:ext>
              </a:extLst>
            </p:cNvPr>
            <p:cNvSpPr/>
            <p:nvPr/>
          </p:nvSpPr>
          <p:spPr>
            <a:xfrm>
              <a:off x="609600" y="2971800"/>
              <a:ext cx="5384800" cy="3225800"/>
            </a:xfrm>
            <a:prstGeom prst="roundRect">
              <a:avLst/>
            </a:prstGeom>
            <a:solidFill>
              <a:srgbClr val="FFFFFF"/>
            </a:solidFill>
            <a:ln w="12700">
              <a:solidFill>
                <a:srgbClr val="CBD5E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Oval 9">
              <a:extLst>
                <a:ext uri="{FF2B5EF4-FFF2-40B4-BE49-F238E27FC236}">
                  <a16:creationId xmlns:a16="http://schemas.microsoft.com/office/drawing/2014/main" id="{63DF777D-B085-0167-139F-5711813178A7}"/>
                </a:ext>
              </a:extLst>
            </p:cNvPr>
            <p:cNvSpPr/>
            <p:nvPr/>
          </p:nvSpPr>
          <p:spPr>
            <a:xfrm>
              <a:off x="812800" y="3175000"/>
              <a:ext cx="406400" cy="406400"/>
            </a:xfrm>
            <a:prstGeom prst="ellipse">
              <a:avLst/>
            </a:prstGeom>
            <a:solidFill>
              <a:srgbClr val="E0F2FE"/>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2" name="Graphic 11">
              <a:extLst>
                <a:ext uri="{FF2B5EF4-FFF2-40B4-BE49-F238E27FC236}">
                  <a16:creationId xmlns:a16="http://schemas.microsoft.com/office/drawing/2014/main" id="{8DB22442-2B3B-2B70-69D3-8DE002B499B8}"/>
                </a:ext>
              </a:extLst>
            </p:cNvPr>
            <p:cNvPicPr>
              <a:picLocks/>
            </p:cNvPicPr>
            <p:nvPr/>
          </p:nvPicPr>
          <p:blipFill>
            <a:blip>
              <a:extLst>
                <a:ext uri="{96DAC541-7B7A-43D3-8B79-37D633B846F1}">
                  <asvg:svgBlip xmlns:asvg="http://schemas.microsoft.com/office/drawing/2016/SVG/main" r:embed="rId2"/>
                </a:ext>
              </a:extLst>
            </a:blip>
            <a:stretch>
              <a:fillRect/>
            </a:stretch>
          </p:blipFill>
          <p:spPr>
            <a:xfrm>
              <a:off x="876300" y="3238500"/>
              <a:ext cx="279400" cy="279400"/>
            </a:xfrm>
            <a:prstGeom prst="rect">
              <a:avLst/>
            </a:prstGeom>
          </p:spPr>
        </p:pic>
        <p:sp>
          <p:nvSpPr>
            <p:cNvPr id="13" name="TextBox 12">
              <a:extLst>
                <a:ext uri="{FF2B5EF4-FFF2-40B4-BE49-F238E27FC236}">
                  <a16:creationId xmlns:a16="http://schemas.microsoft.com/office/drawing/2014/main" id="{0923106D-12AE-118D-F7A5-D53FEF83C4F5}"/>
                </a:ext>
              </a:extLst>
            </p:cNvPr>
            <p:cNvSpPr txBox="1"/>
            <p:nvPr/>
          </p:nvSpPr>
          <p:spPr>
            <a:xfrm>
              <a:off x="812800" y="3683000"/>
              <a:ext cx="4978400" cy="1184299"/>
            </a:xfrm>
            <a:prstGeom prst="rect">
              <a:avLst/>
            </a:prstGeom>
            <a:noFill/>
          </p:spPr>
          <p:txBody>
            <a:bodyPr vert="horz" wrap="square" lIns="0" tIns="0" rtlCol="0">
              <a:spAutoFit/>
            </a:bodyPr>
            <a:lstStyle/>
            <a:p>
              <a:pPr>
                <a:lnSpc>
                  <a:spcPct val="125000"/>
                </a:lnSpc>
                <a:spcAft>
                  <a:spcPts val="600"/>
                </a:spcAft>
              </a:pPr>
              <a:r>
                <a:rPr lang="en-US" sz="1600" b="1">
                  <a:solidFill>
                    <a:srgbClr val="0F172A"/>
                  </a:solidFill>
                  <a:latin typeface="Segoe UI" panose="020B0502040204020203" pitchFamily="34" charset="0"/>
                </a:rPr>
                <a:t>Công Thức Tỷ Suất Chết Thô (CDR)
</a:t>
              </a:r>
              <a:r>
                <a:rPr lang="vi-VN" sz="1350" b="1">
                  <a:solidFill>
                    <a:srgbClr val="334155"/>
                  </a:solidFill>
                  <a:latin typeface="Segoe UI" panose="020B0502040204020203" pitchFamily="34" charset="0"/>
                </a:rPr>
                <a:t>CDR = (D / P_tb) * 1,000 (đơn vị ‰). Với D là tổng số ca tử vong trong năm, P_tb là dân số trung bình. CDR Việt Nam hiện khoảng 6.1‰.</a:t>
              </a:r>
              <a:endParaRPr lang="en-US" sz="1350" b="1">
                <a:solidFill>
                  <a:srgbClr val="334155"/>
                </a:solidFill>
                <a:latin typeface="Segoe UI" panose="020B0502040204020203" pitchFamily="34" charset="0"/>
              </a:endParaRPr>
            </a:p>
          </p:txBody>
        </p:sp>
      </p:grpSp>
      <p:grpSp>
        <p:nvGrpSpPr>
          <p:cNvPr id="20" name="!!Stage_Sub_Card_2">
            <a:extLst>
              <a:ext uri="{FF2B5EF4-FFF2-40B4-BE49-F238E27FC236}">
                <a16:creationId xmlns:a16="http://schemas.microsoft.com/office/drawing/2014/main" id="{DE5A220E-57DD-665E-7D0D-1C295B35F8C2}"/>
              </a:ext>
            </a:extLst>
          </p:cNvPr>
          <p:cNvGrpSpPr/>
          <p:nvPr/>
        </p:nvGrpSpPr>
        <p:grpSpPr>
          <a:xfrm>
            <a:off x="6197600" y="2971800"/>
            <a:ext cx="5384800" cy="3225800"/>
            <a:chOff x="6197600" y="2971800"/>
            <a:chExt cx="5384800" cy="3225800"/>
          </a:xfrm>
        </p:grpSpPr>
        <p:sp>
          <p:nvSpPr>
            <p:cNvPr id="15" name="Rectangle: Rounded Corners 14">
              <a:extLst>
                <a:ext uri="{FF2B5EF4-FFF2-40B4-BE49-F238E27FC236}">
                  <a16:creationId xmlns:a16="http://schemas.microsoft.com/office/drawing/2014/main" id="{4005707C-CF21-68B3-4919-8DD11C8830EE}"/>
                </a:ext>
              </a:extLst>
            </p:cNvPr>
            <p:cNvSpPr/>
            <p:nvPr/>
          </p:nvSpPr>
          <p:spPr>
            <a:xfrm>
              <a:off x="6197600" y="2971800"/>
              <a:ext cx="5384800" cy="3225800"/>
            </a:xfrm>
            <a:prstGeom prst="roundRect">
              <a:avLst/>
            </a:prstGeom>
            <a:solidFill>
              <a:srgbClr val="FFFFFF"/>
            </a:solidFill>
            <a:ln w="12700">
              <a:solidFill>
                <a:srgbClr val="CBD5E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Oval 15">
              <a:extLst>
                <a:ext uri="{FF2B5EF4-FFF2-40B4-BE49-F238E27FC236}">
                  <a16:creationId xmlns:a16="http://schemas.microsoft.com/office/drawing/2014/main" id="{ABC4943C-9C42-D118-ECF4-6543CACA2AC1}"/>
                </a:ext>
              </a:extLst>
            </p:cNvPr>
            <p:cNvSpPr/>
            <p:nvPr/>
          </p:nvSpPr>
          <p:spPr>
            <a:xfrm>
              <a:off x="6400800" y="3175000"/>
              <a:ext cx="406400" cy="406400"/>
            </a:xfrm>
            <a:prstGeom prst="ellipse">
              <a:avLst/>
            </a:prstGeom>
            <a:solidFill>
              <a:srgbClr val="E0F2FE"/>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8" name="Graphic 17">
              <a:extLst>
                <a:ext uri="{FF2B5EF4-FFF2-40B4-BE49-F238E27FC236}">
                  <a16:creationId xmlns:a16="http://schemas.microsoft.com/office/drawing/2014/main" id="{98FC9459-AC94-176D-8002-14A76F9F0B35}"/>
                </a:ext>
              </a:extLst>
            </p:cNvPr>
            <p:cNvPicPr>
              <a:picLocks/>
            </p:cNvPicPr>
            <p:nvPr/>
          </p:nvPicPr>
          <p:blipFill>
            <a:blip>
              <a:extLst>
                <a:ext uri="{96DAC541-7B7A-43D3-8B79-37D633B846F1}">
                  <asvg:svgBlip xmlns:asvg="http://schemas.microsoft.com/office/drawing/2016/SVG/main" r:embed="rId3"/>
                </a:ext>
              </a:extLst>
            </a:blip>
            <a:stretch>
              <a:fillRect/>
            </a:stretch>
          </p:blipFill>
          <p:spPr>
            <a:xfrm>
              <a:off x="6464300" y="3238500"/>
              <a:ext cx="279400" cy="279400"/>
            </a:xfrm>
            <a:prstGeom prst="rect">
              <a:avLst/>
            </a:prstGeom>
          </p:spPr>
        </p:pic>
        <p:sp>
          <p:nvSpPr>
            <p:cNvPr id="19" name="TextBox 18">
              <a:extLst>
                <a:ext uri="{FF2B5EF4-FFF2-40B4-BE49-F238E27FC236}">
                  <a16:creationId xmlns:a16="http://schemas.microsoft.com/office/drawing/2014/main" id="{66DA50C1-2936-A2EE-104D-5AAE0B4601CB}"/>
                </a:ext>
              </a:extLst>
            </p:cNvPr>
            <p:cNvSpPr txBox="1"/>
            <p:nvPr/>
          </p:nvSpPr>
          <p:spPr>
            <a:xfrm>
              <a:off x="6400800" y="3683000"/>
              <a:ext cx="4978400" cy="1184299"/>
            </a:xfrm>
            <a:prstGeom prst="rect">
              <a:avLst/>
            </a:prstGeom>
            <a:noFill/>
          </p:spPr>
          <p:txBody>
            <a:bodyPr vert="horz" wrap="square" lIns="0" tIns="0" rtlCol="0">
              <a:spAutoFit/>
            </a:bodyPr>
            <a:lstStyle/>
            <a:p>
              <a:pPr>
                <a:lnSpc>
                  <a:spcPct val="125000"/>
                </a:lnSpc>
                <a:spcAft>
                  <a:spcPts val="600"/>
                </a:spcAft>
              </a:pPr>
              <a:r>
                <a:rPr lang="vi-VN" sz="1600" b="1">
                  <a:solidFill>
                    <a:srgbClr val="0F172A"/>
                  </a:solidFill>
                  <a:latin typeface="Segoe UI" panose="020B0502040204020203" pitchFamily="34" charset="0"/>
                </a:rPr>
                <a:t>Nghịch Lý Cơ Cấu Dân Số Già
</a:t>
              </a:r>
              <a:r>
                <a:rPr lang="vi-VN" sz="1350" b="1">
                  <a:solidFill>
                    <a:srgbClr val="334155"/>
                  </a:solidFill>
                  <a:latin typeface="Segoe UI" panose="020B0502040204020203" pitchFamily="34" charset="0"/>
                </a:rPr>
                <a:t>Các nước phát triển có y tế cực tốt nhưng CDR lại cao hơn nước đang phát triển vì tỷ lệ người già trong dân số quá cao.</a:t>
              </a:r>
              <a:endParaRPr lang="en-US" sz="1350" b="1">
                <a:solidFill>
                  <a:srgbClr val="334155"/>
                </a:solidFill>
                <a:latin typeface="Segoe UI" panose="020B0502040204020203" pitchFamily="34" charset="0"/>
              </a:endParaRPr>
            </a:p>
          </p:txBody>
        </p:sp>
      </p:grpSp>
      <p:sp>
        <p:nvSpPr>
          <p:cNvPr id="21" name="!!Anchor_Source_Footer">
            <a:extLst>
              <a:ext uri="{FF2B5EF4-FFF2-40B4-BE49-F238E27FC236}">
                <a16:creationId xmlns:a16="http://schemas.microsoft.com/office/drawing/2014/main" id="{9432A1C5-CC92-87B3-AB76-62D02F769E8E}"/>
              </a:ext>
            </a:extLst>
          </p:cNvPr>
          <p:cNvSpPr txBox="1"/>
          <p:nvPr/>
        </p:nvSpPr>
        <p:spPr>
          <a:xfrm>
            <a:off x="609600" y="6273800"/>
            <a:ext cx="10972800" cy="246221"/>
          </a:xfrm>
          <a:prstGeom prst="rect">
            <a:avLst/>
          </a:prstGeom>
          <a:noFill/>
        </p:spPr>
        <p:txBody>
          <a:bodyPr vert="horz" rtlCol="0">
            <a:spAutoFit/>
          </a:bodyPr>
          <a:lstStyle/>
          <a:p>
            <a:r>
              <a:rPr lang="vi-VN" sz="1000">
                <a:solidFill>
                  <a:srgbClr val="334155"/>
                </a:solidFill>
                <a:latin typeface="Segoe UI" panose="020B0502040204020203" pitchFamily="34" charset="0"/>
              </a:rPr>
              <a:t>Phương pháp thống kê mức chết</a:t>
            </a:r>
            <a:endParaRPr lang="en-US" sz="1000">
              <a:solidFill>
                <a:srgbClr val="334155"/>
              </a:solidFill>
              <a:latin typeface="Segoe UI" panose="020B0502040204020203" pitchFamily="34" charset="0"/>
            </a:endParaRPr>
          </a:p>
        </p:txBody>
      </p:sp>
    </p:spTree>
    <p:extLst>
      <p:ext uri="{BB962C8B-B14F-4D97-AF65-F5344CB8AC3E}">
        <p14:creationId xmlns:p14="http://schemas.microsoft.com/office/powerpoint/2010/main" val="3962256611"/>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850">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accel="50000" decel="50000" fill="hold" nodeType="clickEffect">
                                  <p:stCondLst>
                                    <p:cond delay="0"/>
                                  </p:stCondLst>
                                  <p:childTnLst>
                                    <p:set>
                                      <p:cBhvr>
                                        <p:cTn id="6" dur="1" fill="hold">
                                          <p:stCondLst>
                                            <p:cond delay="0"/>
                                          </p:stCondLst>
                                        </p:cTn>
                                        <p:tgtEl>
                                          <p:spTgt spid="14"/>
                                        </p:tgtEl>
                                        <p:attrNameLst>
                                          <p:attrName>style.visibility</p:attrName>
                                        </p:attrNameLst>
                                      </p:cBhvr>
                                      <p:to>
                                        <p:strVal val="visible"/>
                                      </p:to>
                                    </p:set>
                                    <p:anim calcmode="lin" valueType="num">
                                      <p:cBhvr additive="base">
                                        <p:cTn id="7" dur="450" fill="hold"/>
                                        <p:tgtEl>
                                          <p:spTgt spid="14"/>
                                        </p:tgtEl>
                                        <p:attrNameLst>
                                          <p:attrName>ppt_x</p:attrName>
                                        </p:attrNameLst>
                                      </p:cBhvr>
                                      <p:tavLst>
                                        <p:tav tm="0">
                                          <p:val>
                                            <p:strVal val="#ppt_x"/>
                                          </p:val>
                                        </p:tav>
                                        <p:tav tm="100000">
                                          <p:val>
                                            <p:strVal val="#ppt_x"/>
                                          </p:val>
                                        </p:tav>
                                      </p:tavLst>
                                    </p:anim>
                                    <p:anim calcmode="lin" valueType="num">
                                      <p:cBhvr additive="base">
                                        <p:cTn id="8" dur="450" fill="hold"/>
                                        <p:tgtEl>
                                          <p:spTgt spid="14"/>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accel="50000" decel="50000" fill="hold" nodeType="clickEffect">
                                  <p:stCondLst>
                                    <p:cond delay="0"/>
                                  </p:stCondLst>
                                  <p:childTnLst>
                                    <p:set>
                                      <p:cBhvr>
                                        <p:cTn id="12" dur="1" fill="hold">
                                          <p:stCondLst>
                                            <p:cond delay="0"/>
                                          </p:stCondLst>
                                        </p:cTn>
                                        <p:tgtEl>
                                          <p:spTgt spid="20"/>
                                        </p:tgtEl>
                                        <p:attrNameLst>
                                          <p:attrName>style.visibility</p:attrName>
                                        </p:attrNameLst>
                                      </p:cBhvr>
                                      <p:to>
                                        <p:strVal val="visible"/>
                                      </p:to>
                                    </p:set>
                                    <p:anim calcmode="lin" valueType="num">
                                      <p:cBhvr additive="base">
                                        <p:cTn id="13" dur="450" fill="hold"/>
                                        <p:tgtEl>
                                          <p:spTgt spid="20"/>
                                        </p:tgtEl>
                                        <p:attrNameLst>
                                          <p:attrName>ppt_x</p:attrName>
                                        </p:attrNameLst>
                                      </p:cBhvr>
                                      <p:tavLst>
                                        <p:tav tm="0">
                                          <p:val>
                                            <p:strVal val="#ppt_x"/>
                                          </p:val>
                                        </p:tav>
                                        <p:tav tm="100000">
                                          <p:val>
                                            <p:strVal val="#ppt_x"/>
                                          </p:val>
                                        </p:tav>
                                      </p:tavLst>
                                    </p:anim>
                                    <p:anim calcmode="lin" valueType="num">
                                      <p:cBhvr additive="base">
                                        <p:cTn id="14" dur="450" fill="hold"/>
                                        <p:tgtEl>
                                          <p:spTgt spid="20"/>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a:xfrm>
          <a:off x="0" y="0"/>
          <a:ext cx="0" cy="0"/>
          <a:chOff x="0" y="0"/>
          <a:chExt cx="0" cy="0"/>
        </a:xfrm>
      </p:grpSpPr>
      <p:sp>
        <p:nvSpPr>
          <p:cNvPr id="2" name="!!Anchor_Kicker_Rail">
            <a:extLst>
              <a:ext uri="{FF2B5EF4-FFF2-40B4-BE49-F238E27FC236}">
                <a16:creationId xmlns:a16="http://schemas.microsoft.com/office/drawing/2014/main" id="{1E4C31B1-3C14-E857-E9D8-77400890D6E0}"/>
              </a:ext>
            </a:extLst>
          </p:cNvPr>
          <p:cNvSpPr txBox="1"/>
          <p:nvPr/>
        </p:nvSpPr>
        <p:spPr>
          <a:xfrm>
            <a:off x="609600" y="457200"/>
            <a:ext cx="9956800" cy="276999"/>
          </a:xfrm>
          <a:prstGeom prst="rect">
            <a:avLst/>
          </a:prstGeom>
          <a:noFill/>
        </p:spPr>
        <p:txBody>
          <a:bodyPr vert="horz" rtlCol="0">
            <a:spAutoFit/>
          </a:bodyPr>
          <a:lstStyle/>
          <a:p>
            <a:r>
              <a:rPr lang="en-US" sz="1200" b="1">
                <a:solidFill>
                  <a:srgbClr val="0284C7"/>
                </a:solidFill>
                <a:latin typeface="Segoe UI" panose="020B0502040204020203" pitchFamily="34" charset="0"/>
              </a:rPr>
              <a:t>TỶ SUẤT ASDR  •  TRỌNG TÂM</a:t>
            </a:r>
          </a:p>
        </p:txBody>
      </p:sp>
      <p:sp>
        <p:nvSpPr>
          <p:cNvPr id="3" name="!!Anchor_Slide_Tracker">
            <a:extLst>
              <a:ext uri="{FF2B5EF4-FFF2-40B4-BE49-F238E27FC236}">
                <a16:creationId xmlns:a16="http://schemas.microsoft.com/office/drawing/2014/main" id="{14D3D59E-61AA-AECE-4C70-6D266886F6B4}"/>
              </a:ext>
            </a:extLst>
          </p:cNvPr>
          <p:cNvSpPr txBox="1"/>
          <p:nvPr/>
        </p:nvSpPr>
        <p:spPr>
          <a:xfrm>
            <a:off x="10820400" y="457200"/>
            <a:ext cx="762000" cy="276999"/>
          </a:xfrm>
          <a:prstGeom prst="rect">
            <a:avLst/>
          </a:prstGeom>
          <a:noFill/>
        </p:spPr>
        <p:txBody>
          <a:bodyPr vert="horz" rtlCol="0">
            <a:spAutoFit/>
          </a:bodyPr>
          <a:lstStyle/>
          <a:p>
            <a:pPr algn="r"/>
            <a:r>
              <a:rPr lang="en-US" sz="1200" b="1">
                <a:solidFill>
                  <a:srgbClr val="334155"/>
                </a:solidFill>
                <a:latin typeface="Bahnschrift" panose="020B0502040204020203" pitchFamily="34" charset="0"/>
              </a:rPr>
              <a:t>14 / 22</a:t>
            </a:r>
          </a:p>
        </p:txBody>
      </p:sp>
      <p:sp>
        <p:nvSpPr>
          <p:cNvPr id="4" name="!!Anchor_Assertion_Title">
            <a:extLst>
              <a:ext uri="{FF2B5EF4-FFF2-40B4-BE49-F238E27FC236}">
                <a16:creationId xmlns:a16="http://schemas.microsoft.com/office/drawing/2014/main" id="{8B940701-ED7F-89FB-04D8-C4E5624B05E5}"/>
              </a:ext>
            </a:extLst>
          </p:cNvPr>
          <p:cNvSpPr txBox="1"/>
          <p:nvPr/>
        </p:nvSpPr>
        <p:spPr>
          <a:xfrm>
            <a:off x="609600" y="711200"/>
            <a:ext cx="10972800" cy="369332"/>
          </a:xfrm>
          <a:prstGeom prst="rect">
            <a:avLst/>
          </a:prstGeom>
          <a:noFill/>
        </p:spPr>
        <p:txBody>
          <a:bodyPr vert="horz" wrap="square" tIns="0" bIns="0" rtlCol="0">
            <a:spAutoFit/>
          </a:bodyPr>
          <a:lstStyle/>
          <a:p>
            <a:r>
              <a:rPr lang="vi-VN" sz="2400" b="1">
                <a:solidFill>
                  <a:srgbClr val="0F172A"/>
                </a:solidFill>
                <a:latin typeface="Segoe UI" panose="020B0502040204020203" pitchFamily="34" charset="0"/>
              </a:rPr>
              <a:t>Tỷ Suất Chết Đặc Trưng Theo Tuổi (ASDR) Và Đồ Thị Hình Chữ U</a:t>
            </a:r>
            <a:endParaRPr lang="en-US" sz="2400" b="1">
              <a:solidFill>
                <a:srgbClr val="0F172A"/>
              </a:solidFill>
              <a:latin typeface="Segoe UI" panose="020B0502040204020203" pitchFamily="34" charset="0"/>
            </a:endParaRPr>
          </a:p>
        </p:txBody>
      </p:sp>
      <p:grpSp>
        <p:nvGrpSpPr>
          <p:cNvPr id="8" name="!!Stage_Hero_Container">
            <a:extLst>
              <a:ext uri="{FF2B5EF4-FFF2-40B4-BE49-F238E27FC236}">
                <a16:creationId xmlns:a16="http://schemas.microsoft.com/office/drawing/2014/main" id="{D9EF7668-29DC-85CC-EBD1-93B0662ACD89}"/>
              </a:ext>
            </a:extLst>
          </p:cNvPr>
          <p:cNvGrpSpPr/>
          <p:nvPr/>
        </p:nvGrpSpPr>
        <p:grpSpPr>
          <a:xfrm>
            <a:off x="609600" y="1676400"/>
            <a:ext cx="10972800" cy="1237397"/>
            <a:chOff x="609600" y="1676400"/>
            <a:chExt cx="10972800" cy="1237397"/>
          </a:xfrm>
        </p:grpSpPr>
        <p:sp>
          <p:nvSpPr>
            <p:cNvPr id="5" name="Rectangle: Rounded Corners 4">
              <a:extLst>
                <a:ext uri="{FF2B5EF4-FFF2-40B4-BE49-F238E27FC236}">
                  <a16:creationId xmlns:a16="http://schemas.microsoft.com/office/drawing/2014/main" id="{BC64EFB8-0D21-C745-7666-AAAEE5228978}"/>
                </a:ext>
              </a:extLst>
            </p:cNvPr>
            <p:cNvSpPr/>
            <p:nvPr/>
          </p:nvSpPr>
          <p:spPr>
            <a:xfrm>
              <a:off x="609600" y="1676400"/>
              <a:ext cx="10972800" cy="1117600"/>
            </a:xfrm>
            <a:prstGeom prst="roundRect">
              <a:avLst/>
            </a:prstGeom>
            <a:solidFill>
              <a:srgbClr val="FFFFFF"/>
            </a:solidFill>
            <a:ln w="25400">
              <a:solidFill>
                <a:srgbClr val="0284C7"/>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Rounded Corners 5">
              <a:extLst>
                <a:ext uri="{FF2B5EF4-FFF2-40B4-BE49-F238E27FC236}">
                  <a16:creationId xmlns:a16="http://schemas.microsoft.com/office/drawing/2014/main" id="{5F88C39F-0063-4AC4-F601-CC52F44847A2}"/>
                </a:ext>
              </a:extLst>
            </p:cNvPr>
            <p:cNvSpPr/>
            <p:nvPr/>
          </p:nvSpPr>
          <p:spPr>
            <a:xfrm>
              <a:off x="863600" y="1803400"/>
              <a:ext cx="2413000" cy="254000"/>
            </a:xfrm>
            <a:prstGeom prst="roundRect">
              <a:avLst/>
            </a:prstGeom>
            <a:solidFill>
              <a:srgbClr val="E0F2FE"/>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vi-VN" sz="900" b="1">
                  <a:solidFill>
                    <a:srgbClr val="0284C7"/>
                  </a:solidFill>
                  <a:latin typeface="Segoe UI" panose="020B0502040204020203" pitchFamily="34" charset="0"/>
                </a:rPr>
                <a:t>CÔNG THỨC ĐỊNH LƯỢNG CHUẨN</a:t>
              </a:r>
              <a:endParaRPr lang="en-US" sz="900" b="1">
                <a:solidFill>
                  <a:srgbClr val="0284C7"/>
                </a:solidFill>
                <a:latin typeface="Segoe UI" panose="020B0502040204020203" pitchFamily="34" charset="0"/>
              </a:endParaRPr>
            </a:p>
          </p:txBody>
        </p:sp>
        <p:sp>
          <p:nvSpPr>
            <p:cNvPr id="7" name="TextBox 6">
              <a:extLst>
                <a:ext uri="{FF2B5EF4-FFF2-40B4-BE49-F238E27FC236}">
                  <a16:creationId xmlns:a16="http://schemas.microsoft.com/office/drawing/2014/main" id="{2353EEDF-6E6A-BFCF-61EE-BE31B7A2C337}"/>
                </a:ext>
              </a:extLst>
            </p:cNvPr>
            <p:cNvSpPr txBox="1"/>
            <p:nvPr/>
          </p:nvSpPr>
          <p:spPr>
            <a:xfrm>
              <a:off x="863600" y="2082800"/>
              <a:ext cx="10464800" cy="830997"/>
            </a:xfrm>
            <a:prstGeom prst="rect">
              <a:avLst/>
            </a:prstGeom>
            <a:noFill/>
          </p:spPr>
          <p:txBody>
            <a:bodyPr vert="horz" rtlCol="0">
              <a:spAutoFit/>
            </a:bodyPr>
            <a:lstStyle/>
            <a:p>
              <a:pPr algn="ctr"/>
              <a:r>
                <a:rPr lang="en-US" sz="2400" b="1">
                  <a:solidFill>
                    <a:srgbClr val="0284C7"/>
                  </a:solidFill>
                  <a:latin typeface="Segoe UI" panose="020B0502040204020203" pitchFamily="34" charset="0"/>
                </a:rPr>
                <a:t>ASDR_x = (D_x / P_(x,tb)) * 1,000  (Đồ thị tử vong dạng chữ U kinh điển)</a:t>
              </a:r>
            </a:p>
          </p:txBody>
        </p:sp>
      </p:grpSp>
      <p:grpSp>
        <p:nvGrpSpPr>
          <p:cNvPr id="14" name="!!Stage_Sub_Card_1">
            <a:extLst>
              <a:ext uri="{FF2B5EF4-FFF2-40B4-BE49-F238E27FC236}">
                <a16:creationId xmlns:a16="http://schemas.microsoft.com/office/drawing/2014/main" id="{FB26CCC8-335A-7EFF-8E68-EE7979CDACD2}"/>
              </a:ext>
            </a:extLst>
          </p:cNvPr>
          <p:cNvGrpSpPr/>
          <p:nvPr/>
        </p:nvGrpSpPr>
        <p:grpSpPr>
          <a:xfrm>
            <a:off x="609600" y="2971800"/>
            <a:ext cx="3522133" cy="3225800"/>
            <a:chOff x="609600" y="2971800"/>
            <a:chExt cx="3522133" cy="3225800"/>
          </a:xfrm>
        </p:grpSpPr>
        <p:sp>
          <p:nvSpPr>
            <p:cNvPr id="9" name="Rectangle: Rounded Corners 8">
              <a:extLst>
                <a:ext uri="{FF2B5EF4-FFF2-40B4-BE49-F238E27FC236}">
                  <a16:creationId xmlns:a16="http://schemas.microsoft.com/office/drawing/2014/main" id="{FDE36CC6-74F6-E327-E646-D9741F2A674F}"/>
                </a:ext>
              </a:extLst>
            </p:cNvPr>
            <p:cNvSpPr/>
            <p:nvPr/>
          </p:nvSpPr>
          <p:spPr>
            <a:xfrm>
              <a:off x="609600" y="2971800"/>
              <a:ext cx="3522133" cy="3225800"/>
            </a:xfrm>
            <a:prstGeom prst="roundRect">
              <a:avLst/>
            </a:prstGeom>
            <a:solidFill>
              <a:srgbClr val="FFFFFF"/>
            </a:solidFill>
            <a:ln w="12700">
              <a:solidFill>
                <a:srgbClr val="CBD5E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Oval 9">
              <a:extLst>
                <a:ext uri="{FF2B5EF4-FFF2-40B4-BE49-F238E27FC236}">
                  <a16:creationId xmlns:a16="http://schemas.microsoft.com/office/drawing/2014/main" id="{2073B426-D064-52B3-BADE-737F47F91106}"/>
                </a:ext>
              </a:extLst>
            </p:cNvPr>
            <p:cNvSpPr/>
            <p:nvPr/>
          </p:nvSpPr>
          <p:spPr>
            <a:xfrm>
              <a:off x="812800" y="3175000"/>
              <a:ext cx="406400" cy="406400"/>
            </a:xfrm>
            <a:prstGeom prst="ellipse">
              <a:avLst/>
            </a:prstGeom>
            <a:solidFill>
              <a:srgbClr val="E0F2FE"/>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2" name="Graphic 11">
              <a:extLst>
                <a:ext uri="{FF2B5EF4-FFF2-40B4-BE49-F238E27FC236}">
                  <a16:creationId xmlns:a16="http://schemas.microsoft.com/office/drawing/2014/main" id="{76869126-E6CD-AD45-0D83-D39B2E9299A7}"/>
                </a:ext>
              </a:extLst>
            </p:cNvPr>
            <p:cNvPicPr>
              <a:picLocks/>
            </p:cNvPicPr>
            <p:nvPr/>
          </p:nvPicPr>
          <p:blipFill>
            <a:blip>
              <a:extLst>
                <a:ext uri="{96DAC541-7B7A-43D3-8B79-37D633B846F1}">
                  <asvg:svgBlip xmlns:asvg="http://schemas.microsoft.com/office/drawing/2016/SVG/main" r:embed="rId2"/>
                </a:ext>
              </a:extLst>
            </a:blip>
            <a:stretch>
              <a:fillRect/>
            </a:stretch>
          </p:blipFill>
          <p:spPr>
            <a:xfrm>
              <a:off x="876300" y="3238500"/>
              <a:ext cx="279400" cy="279400"/>
            </a:xfrm>
            <a:prstGeom prst="rect">
              <a:avLst/>
            </a:prstGeom>
          </p:spPr>
        </p:pic>
        <p:sp>
          <p:nvSpPr>
            <p:cNvPr id="13" name="TextBox 12">
              <a:extLst>
                <a:ext uri="{FF2B5EF4-FFF2-40B4-BE49-F238E27FC236}">
                  <a16:creationId xmlns:a16="http://schemas.microsoft.com/office/drawing/2014/main" id="{0E6238E1-1735-4E76-625C-F0269F5A2FFC}"/>
                </a:ext>
              </a:extLst>
            </p:cNvPr>
            <p:cNvSpPr txBox="1"/>
            <p:nvPr/>
          </p:nvSpPr>
          <p:spPr>
            <a:xfrm>
              <a:off x="812800" y="3683000"/>
              <a:ext cx="3115733" cy="1184299"/>
            </a:xfrm>
            <a:prstGeom prst="rect">
              <a:avLst/>
            </a:prstGeom>
            <a:noFill/>
          </p:spPr>
          <p:txBody>
            <a:bodyPr vert="horz" wrap="square" lIns="0" tIns="0" rtlCol="0">
              <a:spAutoFit/>
            </a:bodyPr>
            <a:lstStyle/>
            <a:p>
              <a:pPr>
                <a:lnSpc>
                  <a:spcPct val="125000"/>
                </a:lnSpc>
                <a:spcAft>
                  <a:spcPts val="600"/>
                </a:spcAft>
              </a:pPr>
              <a:r>
                <a:rPr lang="en-US" sz="1600" b="1">
                  <a:solidFill>
                    <a:srgbClr val="0F172A"/>
                  </a:solidFill>
                  <a:latin typeface="Segoe UI" panose="020B0502040204020203" pitchFamily="34" charset="0"/>
                </a:rPr>
                <a:t>Công Thức ASDR_x
</a:t>
              </a:r>
              <a:r>
                <a:rPr lang="vi-VN" sz="1350" b="1">
                  <a:solidFill>
                    <a:srgbClr val="334155"/>
                  </a:solidFill>
                  <a:latin typeface="Segoe UI" panose="020B0502040204020203" pitchFamily="34" charset="0"/>
                </a:rPr>
                <a:t>ASDR_x = (D_x / P_x) * 1,000 (đơn vị ‰). Với D_x là số người chết ở nhóm tuổi x, P_x là dân số nhóm tuổi x.</a:t>
              </a:r>
              <a:endParaRPr lang="en-US" sz="1350" b="1">
                <a:solidFill>
                  <a:srgbClr val="334155"/>
                </a:solidFill>
                <a:latin typeface="Segoe UI" panose="020B0502040204020203" pitchFamily="34" charset="0"/>
              </a:endParaRPr>
            </a:p>
          </p:txBody>
        </p:sp>
      </p:grpSp>
      <p:grpSp>
        <p:nvGrpSpPr>
          <p:cNvPr id="20" name="!!Stage_Sub_Card_2">
            <a:extLst>
              <a:ext uri="{FF2B5EF4-FFF2-40B4-BE49-F238E27FC236}">
                <a16:creationId xmlns:a16="http://schemas.microsoft.com/office/drawing/2014/main" id="{7B9F93C1-4F7D-36C2-5236-893087D7A98F}"/>
              </a:ext>
            </a:extLst>
          </p:cNvPr>
          <p:cNvGrpSpPr/>
          <p:nvPr/>
        </p:nvGrpSpPr>
        <p:grpSpPr>
          <a:xfrm>
            <a:off x="4334933" y="2971800"/>
            <a:ext cx="3522134" cy="3225800"/>
            <a:chOff x="4334933" y="2971800"/>
            <a:chExt cx="3522134" cy="3225800"/>
          </a:xfrm>
        </p:grpSpPr>
        <p:sp>
          <p:nvSpPr>
            <p:cNvPr id="15" name="Rectangle: Rounded Corners 14">
              <a:extLst>
                <a:ext uri="{FF2B5EF4-FFF2-40B4-BE49-F238E27FC236}">
                  <a16:creationId xmlns:a16="http://schemas.microsoft.com/office/drawing/2014/main" id="{42DEB8EB-3565-4E3B-17DC-9BBA32B1D6F0}"/>
                </a:ext>
              </a:extLst>
            </p:cNvPr>
            <p:cNvSpPr/>
            <p:nvPr/>
          </p:nvSpPr>
          <p:spPr>
            <a:xfrm>
              <a:off x="4334933" y="2971800"/>
              <a:ext cx="3522134" cy="3225800"/>
            </a:xfrm>
            <a:prstGeom prst="roundRect">
              <a:avLst/>
            </a:prstGeom>
            <a:solidFill>
              <a:srgbClr val="FFFFFF"/>
            </a:solidFill>
            <a:ln w="12700">
              <a:solidFill>
                <a:srgbClr val="CBD5E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Oval 15">
              <a:extLst>
                <a:ext uri="{FF2B5EF4-FFF2-40B4-BE49-F238E27FC236}">
                  <a16:creationId xmlns:a16="http://schemas.microsoft.com/office/drawing/2014/main" id="{77F0A70C-72CA-12B6-C08B-A69956455CE2}"/>
                </a:ext>
              </a:extLst>
            </p:cNvPr>
            <p:cNvSpPr/>
            <p:nvPr/>
          </p:nvSpPr>
          <p:spPr>
            <a:xfrm>
              <a:off x="4538133" y="3175000"/>
              <a:ext cx="406400" cy="406400"/>
            </a:xfrm>
            <a:prstGeom prst="ellipse">
              <a:avLst/>
            </a:prstGeom>
            <a:solidFill>
              <a:srgbClr val="E0F2FE"/>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8" name="Graphic 17">
              <a:extLst>
                <a:ext uri="{FF2B5EF4-FFF2-40B4-BE49-F238E27FC236}">
                  <a16:creationId xmlns:a16="http://schemas.microsoft.com/office/drawing/2014/main" id="{F45DEFBA-56E8-4357-4E41-9A1C575B2208}"/>
                </a:ext>
              </a:extLst>
            </p:cNvPr>
            <p:cNvPicPr>
              <a:picLocks/>
            </p:cNvPicPr>
            <p:nvPr/>
          </p:nvPicPr>
          <p:blipFill>
            <a:blip>
              <a:extLst>
                <a:ext uri="{96DAC541-7B7A-43D3-8B79-37D633B846F1}">
                  <asvg:svgBlip xmlns:asvg="http://schemas.microsoft.com/office/drawing/2016/SVG/main" r:embed="rId3"/>
                </a:ext>
              </a:extLst>
            </a:blip>
            <a:stretch>
              <a:fillRect/>
            </a:stretch>
          </p:blipFill>
          <p:spPr>
            <a:xfrm>
              <a:off x="4601633" y="3238500"/>
              <a:ext cx="279400" cy="279400"/>
            </a:xfrm>
            <a:prstGeom prst="rect">
              <a:avLst/>
            </a:prstGeom>
          </p:spPr>
        </p:pic>
        <p:sp>
          <p:nvSpPr>
            <p:cNvPr id="19" name="TextBox 18">
              <a:extLst>
                <a:ext uri="{FF2B5EF4-FFF2-40B4-BE49-F238E27FC236}">
                  <a16:creationId xmlns:a16="http://schemas.microsoft.com/office/drawing/2014/main" id="{8C7D61C2-0920-F156-9F8B-B1229A8E3830}"/>
                </a:ext>
              </a:extLst>
            </p:cNvPr>
            <p:cNvSpPr txBox="1"/>
            <p:nvPr/>
          </p:nvSpPr>
          <p:spPr>
            <a:xfrm>
              <a:off x="4538133" y="3683000"/>
              <a:ext cx="3115733" cy="1751762"/>
            </a:xfrm>
            <a:prstGeom prst="rect">
              <a:avLst/>
            </a:prstGeom>
            <a:noFill/>
          </p:spPr>
          <p:txBody>
            <a:bodyPr vert="horz" wrap="square" lIns="0" tIns="0" rtlCol="0">
              <a:spAutoFit/>
            </a:bodyPr>
            <a:lstStyle/>
            <a:p>
              <a:pPr>
                <a:lnSpc>
                  <a:spcPct val="125000"/>
                </a:lnSpc>
                <a:spcAft>
                  <a:spcPts val="600"/>
                </a:spcAft>
              </a:pPr>
              <a:r>
                <a:rPr lang="en-US" sz="1600" b="1">
                  <a:solidFill>
                    <a:srgbClr val="0F172A"/>
                  </a:solidFill>
                  <a:latin typeface="Segoe UI" panose="020B0502040204020203" pitchFamily="34" charset="0"/>
                </a:rPr>
                <a:t>Đồ Thị Dạng Chữ U (U-Shaped Curve)
</a:t>
              </a:r>
              <a:r>
                <a:rPr lang="vi-VN" sz="1350" b="1">
                  <a:solidFill>
                    <a:srgbClr val="334155"/>
                  </a:solidFill>
                  <a:latin typeface="Segoe UI" panose="020B0502040204020203" pitchFamily="34" charset="0"/>
                </a:rPr>
                <a:t>Đường cong ASDR cao ở nhóm 0 tuổi, giảm xuống cực tiểu ở nhóm 10-14 tuổi, sau đó tăng cấp số nhân từ tuổi 50 trở đi.</a:t>
              </a:r>
              <a:endParaRPr lang="en-US" sz="1350" b="1">
                <a:solidFill>
                  <a:srgbClr val="334155"/>
                </a:solidFill>
                <a:latin typeface="Segoe UI" panose="020B0502040204020203" pitchFamily="34" charset="0"/>
              </a:endParaRPr>
            </a:p>
          </p:txBody>
        </p:sp>
      </p:grpSp>
      <p:grpSp>
        <p:nvGrpSpPr>
          <p:cNvPr id="26" name="!!Stage_Sub_Card_3">
            <a:extLst>
              <a:ext uri="{FF2B5EF4-FFF2-40B4-BE49-F238E27FC236}">
                <a16:creationId xmlns:a16="http://schemas.microsoft.com/office/drawing/2014/main" id="{228525D4-3EFF-5FB7-CB92-D656A336EBFE}"/>
              </a:ext>
            </a:extLst>
          </p:cNvPr>
          <p:cNvGrpSpPr/>
          <p:nvPr/>
        </p:nvGrpSpPr>
        <p:grpSpPr>
          <a:xfrm>
            <a:off x="8060267" y="2971800"/>
            <a:ext cx="3522133" cy="3225800"/>
            <a:chOff x="8060267" y="2971800"/>
            <a:chExt cx="3522133" cy="3225800"/>
          </a:xfrm>
        </p:grpSpPr>
        <p:sp>
          <p:nvSpPr>
            <p:cNvPr id="21" name="Rectangle: Rounded Corners 20">
              <a:extLst>
                <a:ext uri="{FF2B5EF4-FFF2-40B4-BE49-F238E27FC236}">
                  <a16:creationId xmlns:a16="http://schemas.microsoft.com/office/drawing/2014/main" id="{6A9ECEFC-92BC-D8BA-C253-1139DF18AA39}"/>
                </a:ext>
              </a:extLst>
            </p:cNvPr>
            <p:cNvSpPr/>
            <p:nvPr/>
          </p:nvSpPr>
          <p:spPr>
            <a:xfrm>
              <a:off x="8060267" y="2971800"/>
              <a:ext cx="3522133" cy="3225800"/>
            </a:xfrm>
            <a:prstGeom prst="roundRect">
              <a:avLst/>
            </a:prstGeom>
            <a:solidFill>
              <a:srgbClr val="FFFFFF"/>
            </a:solidFill>
            <a:ln w="12700">
              <a:solidFill>
                <a:srgbClr val="CBD5E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Oval 21">
              <a:extLst>
                <a:ext uri="{FF2B5EF4-FFF2-40B4-BE49-F238E27FC236}">
                  <a16:creationId xmlns:a16="http://schemas.microsoft.com/office/drawing/2014/main" id="{CB9E61AE-769F-BD2F-CE16-DB7B020F9380}"/>
                </a:ext>
              </a:extLst>
            </p:cNvPr>
            <p:cNvSpPr/>
            <p:nvPr/>
          </p:nvSpPr>
          <p:spPr>
            <a:xfrm>
              <a:off x="8263467" y="3175000"/>
              <a:ext cx="406400" cy="406400"/>
            </a:xfrm>
            <a:prstGeom prst="ellipse">
              <a:avLst/>
            </a:prstGeom>
            <a:solidFill>
              <a:srgbClr val="E0F2FE"/>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4" name="Graphic 23">
              <a:extLst>
                <a:ext uri="{FF2B5EF4-FFF2-40B4-BE49-F238E27FC236}">
                  <a16:creationId xmlns:a16="http://schemas.microsoft.com/office/drawing/2014/main" id="{D8328C22-2769-7B93-6A53-02B811B814BF}"/>
                </a:ext>
              </a:extLst>
            </p:cNvPr>
            <p:cNvPicPr>
              <a:picLocks/>
            </p:cNvPicPr>
            <p:nvPr/>
          </p:nvPicPr>
          <p:blipFill>
            <a:blip>
              <a:extLst>
                <a:ext uri="{96DAC541-7B7A-43D3-8B79-37D633B846F1}">
                  <asvg:svgBlip xmlns:asvg="http://schemas.microsoft.com/office/drawing/2016/SVG/main" r:embed="rId4"/>
                </a:ext>
              </a:extLst>
            </a:blip>
            <a:stretch>
              <a:fillRect/>
            </a:stretch>
          </p:blipFill>
          <p:spPr>
            <a:xfrm>
              <a:off x="8326967" y="3238500"/>
              <a:ext cx="279400" cy="279400"/>
            </a:xfrm>
            <a:prstGeom prst="rect">
              <a:avLst/>
            </a:prstGeom>
          </p:spPr>
        </p:pic>
        <p:sp>
          <p:nvSpPr>
            <p:cNvPr id="25" name="TextBox 24">
              <a:extLst>
                <a:ext uri="{FF2B5EF4-FFF2-40B4-BE49-F238E27FC236}">
                  <a16:creationId xmlns:a16="http://schemas.microsoft.com/office/drawing/2014/main" id="{63EF1BEB-71B3-60F5-B569-869F573E0934}"/>
                </a:ext>
              </a:extLst>
            </p:cNvPr>
            <p:cNvSpPr txBox="1"/>
            <p:nvPr/>
          </p:nvSpPr>
          <p:spPr>
            <a:xfrm>
              <a:off x="8263467" y="3683000"/>
              <a:ext cx="3115733" cy="1443985"/>
            </a:xfrm>
            <a:prstGeom prst="rect">
              <a:avLst/>
            </a:prstGeom>
            <a:noFill/>
          </p:spPr>
          <p:txBody>
            <a:bodyPr vert="horz" wrap="square" lIns="0" tIns="0" rtlCol="0">
              <a:spAutoFit/>
            </a:bodyPr>
            <a:lstStyle/>
            <a:p>
              <a:pPr>
                <a:lnSpc>
                  <a:spcPct val="125000"/>
                </a:lnSpc>
                <a:spcAft>
                  <a:spcPts val="600"/>
                </a:spcAft>
              </a:pPr>
              <a:r>
                <a:rPr lang="en-US" sz="1600" b="1">
                  <a:solidFill>
                    <a:srgbClr val="0F172A"/>
                  </a:solidFill>
                  <a:latin typeface="Segoe UI" panose="020B0502040204020203" pitchFamily="34" charset="0"/>
                </a:rPr>
                <a:t>Khoảng Cách Tử Vong Giới Tính
</a:t>
              </a:r>
              <a:r>
                <a:rPr lang="vi-VN" sz="1350" b="1">
                  <a:solidFill>
                    <a:srgbClr val="334155"/>
                  </a:solidFill>
                  <a:latin typeface="Segoe UI" panose="020B0502040204020203" pitchFamily="34" charset="0"/>
                </a:rPr>
                <a:t>Ở hầu hết mọi lứa tuổi, tỷ suất chết của nam giới luôn cao hơn nữ giới do tai nạn lao động, lối sống và bệnh tim mạch.</a:t>
              </a:r>
              <a:endParaRPr lang="en-US" sz="1350" b="1">
                <a:solidFill>
                  <a:srgbClr val="334155"/>
                </a:solidFill>
                <a:latin typeface="Segoe UI" panose="020B0502040204020203" pitchFamily="34" charset="0"/>
              </a:endParaRPr>
            </a:p>
          </p:txBody>
        </p:sp>
      </p:grpSp>
      <p:sp>
        <p:nvSpPr>
          <p:cNvPr id="27" name="!!Anchor_Source_Footer">
            <a:extLst>
              <a:ext uri="{FF2B5EF4-FFF2-40B4-BE49-F238E27FC236}">
                <a16:creationId xmlns:a16="http://schemas.microsoft.com/office/drawing/2014/main" id="{94EF36E1-F74B-A9B1-DBC6-535CEC10746F}"/>
              </a:ext>
            </a:extLst>
          </p:cNvPr>
          <p:cNvSpPr txBox="1"/>
          <p:nvPr/>
        </p:nvSpPr>
        <p:spPr>
          <a:xfrm>
            <a:off x="609600" y="6273800"/>
            <a:ext cx="10972800" cy="246221"/>
          </a:xfrm>
          <a:prstGeom prst="rect">
            <a:avLst/>
          </a:prstGeom>
          <a:noFill/>
        </p:spPr>
        <p:txBody>
          <a:bodyPr vert="horz" rtlCol="0">
            <a:spAutoFit/>
          </a:bodyPr>
          <a:lstStyle/>
          <a:p>
            <a:r>
              <a:rPr lang="vi-VN" sz="1000">
                <a:solidFill>
                  <a:srgbClr val="334155"/>
                </a:solidFill>
                <a:latin typeface="Segoe UI" panose="020B0502040204020203" pitchFamily="34" charset="0"/>
              </a:rPr>
              <a:t>Giáo trình Dân số học đại cương</a:t>
            </a:r>
            <a:endParaRPr lang="en-US" sz="1000">
              <a:solidFill>
                <a:srgbClr val="334155"/>
              </a:solidFill>
              <a:latin typeface="Segoe UI" panose="020B0502040204020203" pitchFamily="34" charset="0"/>
            </a:endParaRPr>
          </a:p>
        </p:txBody>
      </p:sp>
    </p:spTree>
    <p:extLst>
      <p:ext uri="{BB962C8B-B14F-4D97-AF65-F5344CB8AC3E}">
        <p14:creationId xmlns:p14="http://schemas.microsoft.com/office/powerpoint/2010/main" val="1074511432"/>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850">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accel="50000" decel="50000" fill="hold" nodeType="clickEffect">
                                  <p:stCondLst>
                                    <p:cond delay="0"/>
                                  </p:stCondLst>
                                  <p:childTnLst>
                                    <p:set>
                                      <p:cBhvr>
                                        <p:cTn id="6" dur="1" fill="hold">
                                          <p:stCondLst>
                                            <p:cond delay="0"/>
                                          </p:stCondLst>
                                        </p:cTn>
                                        <p:tgtEl>
                                          <p:spTgt spid="14"/>
                                        </p:tgtEl>
                                        <p:attrNameLst>
                                          <p:attrName>style.visibility</p:attrName>
                                        </p:attrNameLst>
                                      </p:cBhvr>
                                      <p:to>
                                        <p:strVal val="visible"/>
                                      </p:to>
                                    </p:set>
                                    <p:anim calcmode="lin" valueType="num">
                                      <p:cBhvr additive="base">
                                        <p:cTn id="7" dur="450" fill="hold"/>
                                        <p:tgtEl>
                                          <p:spTgt spid="14"/>
                                        </p:tgtEl>
                                        <p:attrNameLst>
                                          <p:attrName>ppt_x</p:attrName>
                                        </p:attrNameLst>
                                      </p:cBhvr>
                                      <p:tavLst>
                                        <p:tav tm="0">
                                          <p:val>
                                            <p:strVal val="#ppt_x"/>
                                          </p:val>
                                        </p:tav>
                                        <p:tav tm="100000">
                                          <p:val>
                                            <p:strVal val="#ppt_x"/>
                                          </p:val>
                                        </p:tav>
                                      </p:tavLst>
                                    </p:anim>
                                    <p:anim calcmode="lin" valueType="num">
                                      <p:cBhvr additive="base">
                                        <p:cTn id="8" dur="450" fill="hold"/>
                                        <p:tgtEl>
                                          <p:spTgt spid="14"/>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accel="50000" decel="50000" fill="hold" nodeType="clickEffect">
                                  <p:stCondLst>
                                    <p:cond delay="0"/>
                                  </p:stCondLst>
                                  <p:childTnLst>
                                    <p:set>
                                      <p:cBhvr>
                                        <p:cTn id="12" dur="1" fill="hold">
                                          <p:stCondLst>
                                            <p:cond delay="0"/>
                                          </p:stCondLst>
                                        </p:cTn>
                                        <p:tgtEl>
                                          <p:spTgt spid="20"/>
                                        </p:tgtEl>
                                        <p:attrNameLst>
                                          <p:attrName>style.visibility</p:attrName>
                                        </p:attrNameLst>
                                      </p:cBhvr>
                                      <p:to>
                                        <p:strVal val="visible"/>
                                      </p:to>
                                    </p:set>
                                    <p:anim calcmode="lin" valueType="num">
                                      <p:cBhvr additive="base">
                                        <p:cTn id="13" dur="450" fill="hold"/>
                                        <p:tgtEl>
                                          <p:spTgt spid="20"/>
                                        </p:tgtEl>
                                        <p:attrNameLst>
                                          <p:attrName>ppt_x</p:attrName>
                                        </p:attrNameLst>
                                      </p:cBhvr>
                                      <p:tavLst>
                                        <p:tav tm="0">
                                          <p:val>
                                            <p:strVal val="#ppt_x"/>
                                          </p:val>
                                        </p:tav>
                                        <p:tav tm="100000">
                                          <p:val>
                                            <p:strVal val="#ppt_x"/>
                                          </p:val>
                                        </p:tav>
                                      </p:tavLst>
                                    </p:anim>
                                    <p:anim calcmode="lin" valueType="num">
                                      <p:cBhvr additive="base">
                                        <p:cTn id="14" dur="450" fill="hold"/>
                                        <p:tgtEl>
                                          <p:spTgt spid="20"/>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accel="50000" decel="50000" fill="hold" nodeType="clickEffect">
                                  <p:stCondLst>
                                    <p:cond delay="0"/>
                                  </p:stCondLst>
                                  <p:childTnLst>
                                    <p:set>
                                      <p:cBhvr>
                                        <p:cTn id="18" dur="1" fill="hold">
                                          <p:stCondLst>
                                            <p:cond delay="0"/>
                                          </p:stCondLst>
                                        </p:cTn>
                                        <p:tgtEl>
                                          <p:spTgt spid="26"/>
                                        </p:tgtEl>
                                        <p:attrNameLst>
                                          <p:attrName>style.visibility</p:attrName>
                                        </p:attrNameLst>
                                      </p:cBhvr>
                                      <p:to>
                                        <p:strVal val="visible"/>
                                      </p:to>
                                    </p:set>
                                    <p:anim calcmode="lin" valueType="num">
                                      <p:cBhvr additive="base">
                                        <p:cTn id="19" dur="450" fill="hold"/>
                                        <p:tgtEl>
                                          <p:spTgt spid="26"/>
                                        </p:tgtEl>
                                        <p:attrNameLst>
                                          <p:attrName>ppt_x</p:attrName>
                                        </p:attrNameLst>
                                      </p:cBhvr>
                                      <p:tavLst>
                                        <p:tav tm="0">
                                          <p:val>
                                            <p:strVal val="#ppt_x"/>
                                          </p:val>
                                        </p:tav>
                                        <p:tav tm="100000">
                                          <p:val>
                                            <p:strVal val="#ppt_x"/>
                                          </p:val>
                                        </p:tav>
                                      </p:tavLst>
                                    </p:anim>
                                    <p:anim calcmode="lin" valueType="num">
                                      <p:cBhvr additive="base">
                                        <p:cTn id="20" dur="450" fill="hold"/>
                                        <p:tgtEl>
                                          <p:spTgt spid="2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a:xfrm>
          <a:off x="0" y="0"/>
          <a:ext cx="0" cy="0"/>
          <a:chOff x="0" y="0"/>
          <a:chExt cx="0" cy="0"/>
        </a:xfrm>
      </p:grpSpPr>
      <p:sp>
        <p:nvSpPr>
          <p:cNvPr id="2" name="!!Anchor_Kicker_Rail">
            <a:extLst>
              <a:ext uri="{FF2B5EF4-FFF2-40B4-BE49-F238E27FC236}">
                <a16:creationId xmlns:a16="http://schemas.microsoft.com/office/drawing/2014/main" id="{C56974D8-A052-E77C-19D2-98DED0A18A34}"/>
              </a:ext>
            </a:extLst>
          </p:cNvPr>
          <p:cNvSpPr txBox="1"/>
          <p:nvPr/>
        </p:nvSpPr>
        <p:spPr>
          <a:xfrm>
            <a:off x="609600" y="457200"/>
            <a:ext cx="9956800" cy="276999"/>
          </a:xfrm>
          <a:prstGeom prst="rect">
            <a:avLst/>
          </a:prstGeom>
          <a:noFill/>
        </p:spPr>
        <p:txBody>
          <a:bodyPr vert="horz" rtlCol="0">
            <a:spAutoFit/>
          </a:bodyPr>
          <a:lstStyle/>
          <a:p>
            <a:r>
              <a:rPr lang="en-US" sz="1200" b="1">
                <a:solidFill>
                  <a:srgbClr val="0284C7"/>
                </a:solidFill>
                <a:latin typeface="Segoe UI" panose="020B0502040204020203" pitchFamily="34" charset="0"/>
              </a:rPr>
              <a:t>TỬ VONG TRẺ EM  •  TRỌNG TÂM</a:t>
            </a:r>
          </a:p>
        </p:txBody>
      </p:sp>
      <p:sp>
        <p:nvSpPr>
          <p:cNvPr id="3" name="!!Anchor_Slide_Tracker">
            <a:extLst>
              <a:ext uri="{FF2B5EF4-FFF2-40B4-BE49-F238E27FC236}">
                <a16:creationId xmlns:a16="http://schemas.microsoft.com/office/drawing/2014/main" id="{E0024C4E-E607-7485-8D10-474D9C345AAE}"/>
              </a:ext>
            </a:extLst>
          </p:cNvPr>
          <p:cNvSpPr txBox="1"/>
          <p:nvPr/>
        </p:nvSpPr>
        <p:spPr>
          <a:xfrm>
            <a:off x="10820400" y="457200"/>
            <a:ext cx="762000" cy="276999"/>
          </a:xfrm>
          <a:prstGeom prst="rect">
            <a:avLst/>
          </a:prstGeom>
          <a:noFill/>
        </p:spPr>
        <p:txBody>
          <a:bodyPr vert="horz" rtlCol="0">
            <a:spAutoFit/>
          </a:bodyPr>
          <a:lstStyle/>
          <a:p>
            <a:pPr algn="r"/>
            <a:r>
              <a:rPr lang="en-US" sz="1200" b="1">
                <a:solidFill>
                  <a:srgbClr val="334155"/>
                </a:solidFill>
                <a:latin typeface="Bahnschrift" panose="020B0502040204020203" pitchFamily="34" charset="0"/>
              </a:rPr>
              <a:t>15 / 22</a:t>
            </a:r>
          </a:p>
        </p:txBody>
      </p:sp>
      <p:sp>
        <p:nvSpPr>
          <p:cNvPr id="4" name="!!Anchor_Assertion_Title">
            <a:extLst>
              <a:ext uri="{FF2B5EF4-FFF2-40B4-BE49-F238E27FC236}">
                <a16:creationId xmlns:a16="http://schemas.microsoft.com/office/drawing/2014/main" id="{76C9A328-2991-DB27-B866-016623C09F00}"/>
              </a:ext>
            </a:extLst>
          </p:cNvPr>
          <p:cNvSpPr txBox="1"/>
          <p:nvPr/>
        </p:nvSpPr>
        <p:spPr>
          <a:xfrm>
            <a:off x="609600" y="711200"/>
            <a:ext cx="10972800" cy="369332"/>
          </a:xfrm>
          <a:prstGeom prst="rect">
            <a:avLst/>
          </a:prstGeom>
          <a:noFill/>
        </p:spPr>
        <p:txBody>
          <a:bodyPr vert="horz" wrap="square" tIns="0" bIns="0" rtlCol="0">
            <a:spAutoFit/>
          </a:bodyPr>
          <a:lstStyle/>
          <a:p>
            <a:r>
              <a:rPr lang="vi-VN" sz="2400" b="1">
                <a:solidFill>
                  <a:srgbClr val="0F172A"/>
                </a:solidFill>
                <a:latin typeface="Segoe UI" panose="020B0502040204020203" pitchFamily="34" charset="0"/>
              </a:rPr>
              <a:t>Đo Lường Tử Vong Trẻ Em: Tỷ Suất IMR Và U5MR Phản Ánh Trình Độ Y Tế</a:t>
            </a:r>
            <a:endParaRPr lang="en-US" sz="2400" b="1">
              <a:solidFill>
                <a:srgbClr val="0F172A"/>
              </a:solidFill>
              <a:latin typeface="Segoe UI" panose="020B0502040204020203" pitchFamily="34" charset="0"/>
            </a:endParaRPr>
          </a:p>
        </p:txBody>
      </p:sp>
      <p:grpSp>
        <p:nvGrpSpPr>
          <p:cNvPr id="8" name="!!Stage_Hero_Container">
            <a:extLst>
              <a:ext uri="{FF2B5EF4-FFF2-40B4-BE49-F238E27FC236}">
                <a16:creationId xmlns:a16="http://schemas.microsoft.com/office/drawing/2014/main" id="{130A3A60-B14B-B439-2D69-E6C74FE2180D}"/>
              </a:ext>
            </a:extLst>
          </p:cNvPr>
          <p:cNvGrpSpPr/>
          <p:nvPr/>
        </p:nvGrpSpPr>
        <p:grpSpPr>
          <a:xfrm>
            <a:off x="609600" y="1676400"/>
            <a:ext cx="10972800" cy="1117600"/>
            <a:chOff x="609600" y="1676400"/>
            <a:chExt cx="10972800" cy="1117600"/>
          </a:xfrm>
        </p:grpSpPr>
        <p:sp>
          <p:nvSpPr>
            <p:cNvPr id="5" name="Rectangle: Rounded Corners 4">
              <a:extLst>
                <a:ext uri="{FF2B5EF4-FFF2-40B4-BE49-F238E27FC236}">
                  <a16:creationId xmlns:a16="http://schemas.microsoft.com/office/drawing/2014/main" id="{6B2EBB00-D624-1BE4-E2FD-796502B8857C}"/>
                </a:ext>
              </a:extLst>
            </p:cNvPr>
            <p:cNvSpPr/>
            <p:nvPr/>
          </p:nvSpPr>
          <p:spPr>
            <a:xfrm>
              <a:off x="609600" y="1676400"/>
              <a:ext cx="10972800" cy="1117600"/>
            </a:xfrm>
            <a:prstGeom prst="roundRect">
              <a:avLst/>
            </a:prstGeom>
            <a:solidFill>
              <a:srgbClr val="FFFFFF"/>
            </a:solidFill>
            <a:ln w="25400">
              <a:solidFill>
                <a:srgbClr val="0284C7"/>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Rounded Corners 5">
              <a:extLst>
                <a:ext uri="{FF2B5EF4-FFF2-40B4-BE49-F238E27FC236}">
                  <a16:creationId xmlns:a16="http://schemas.microsoft.com/office/drawing/2014/main" id="{BB32CDF6-B367-2D9B-48CF-D22E683CA713}"/>
                </a:ext>
              </a:extLst>
            </p:cNvPr>
            <p:cNvSpPr/>
            <p:nvPr/>
          </p:nvSpPr>
          <p:spPr>
            <a:xfrm>
              <a:off x="863600" y="1803400"/>
              <a:ext cx="2413000" cy="254000"/>
            </a:xfrm>
            <a:prstGeom prst="roundRect">
              <a:avLst/>
            </a:prstGeom>
            <a:solidFill>
              <a:srgbClr val="E0F2FE"/>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vi-VN" sz="900" b="1">
                  <a:solidFill>
                    <a:srgbClr val="0284C7"/>
                  </a:solidFill>
                  <a:latin typeface="Segoe UI" panose="020B0502040204020203" pitchFamily="34" charset="0"/>
                </a:rPr>
                <a:t>CÔNG THỨC ĐỊNH LƯỢNG CHUẨN</a:t>
              </a:r>
              <a:endParaRPr lang="en-US" sz="900" b="1">
                <a:solidFill>
                  <a:srgbClr val="0284C7"/>
                </a:solidFill>
                <a:latin typeface="Segoe UI" panose="020B0502040204020203" pitchFamily="34" charset="0"/>
              </a:endParaRPr>
            </a:p>
          </p:txBody>
        </p:sp>
        <p:sp>
          <p:nvSpPr>
            <p:cNvPr id="7" name="TextBox 6">
              <a:extLst>
                <a:ext uri="{FF2B5EF4-FFF2-40B4-BE49-F238E27FC236}">
                  <a16:creationId xmlns:a16="http://schemas.microsoft.com/office/drawing/2014/main" id="{6F49BEA3-69A4-6DA8-6DF1-DC80F1017FE7}"/>
                </a:ext>
              </a:extLst>
            </p:cNvPr>
            <p:cNvSpPr txBox="1"/>
            <p:nvPr/>
          </p:nvSpPr>
          <p:spPr>
            <a:xfrm>
              <a:off x="863600" y="2082800"/>
              <a:ext cx="10464800" cy="461665"/>
            </a:xfrm>
            <a:prstGeom prst="rect">
              <a:avLst/>
            </a:prstGeom>
            <a:noFill/>
          </p:spPr>
          <p:txBody>
            <a:bodyPr vert="horz" rtlCol="0">
              <a:spAutoFit/>
            </a:bodyPr>
            <a:lstStyle/>
            <a:p>
              <a:pPr algn="ctr"/>
              <a:r>
                <a:rPr lang="en-US" sz="2400" b="1">
                  <a:solidFill>
                    <a:srgbClr val="0284C7"/>
                  </a:solidFill>
                  <a:latin typeface="Segoe UI" panose="020B0502040204020203" pitchFamily="34" charset="0"/>
                </a:rPr>
                <a:t>IMR = (D_0 / B) * 1,000  |  U5MR = (D_0-4 / B) * 1,000  (‰)</a:t>
              </a:r>
            </a:p>
          </p:txBody>
        </p:sp>
      </p:grpSp>
      <p:grpSp>
        <p:nvGrpSpPr>
          <p:cNvPr id="14" name="!!Stage_Sub_Card_1">
            <a:extLst>
              <a:ext uri="{FF2B5EF4-FFF2-40B4-BE49-F238E27FC236}">
                <a16:creationId xmlns:a16="http://schemas.microsoft.com/office/drawing/2014/main" id="{4396CDE2-0AE9-BB23-5D6B-90DC365A6830}"/>
              </a:ext>
            </a:extLst>
          </p:cNvPr>
          <p:cNvGrpSpPr/>
          <p:nvPr/>
        </p:nvGrpSpPr>
        <p:grpSpPr>
          <a:xfrm>
            <a:off x="609600" y="2971800"/>
            <a:ext cx="3522133" cy="3225800"/>
            <a:chOff x="609600" y="2971800"/>
            <a:chExt cx="3522133" cy="3225800"/>
          </a:xfrm>
        </p:grpSpPr>
        <p:sp>
          <p:nvSpPr>
            <p:cNvPr id="9" name="Rectangle: Rounded Corners 8">
              <a:extLst>
                <a:ext uri="{FF2B5EF4-FFF2-40B4-BE49-F238E27FC236}">
                  <a16:creationId xmlns:a16="http://schemas.microsoft.com/office/drawing/2014/main" id="{DB375DF7-9376-D9F7-507D-9D7994B71FC2}"/>
                </a:ext>
              </a:extLst>
            </p:cNvPr>
            <p:cNvSpPr/>
            <p:nvPr/>
          </p:nvSpPr>
          <p:spPr>
            <a:xfrm>
              <a:off x="609600" y="2971800"/>
              <a:ext cx="3522133" cy="3225800"/>
            </a:xfrm>
            <a:prstGeom prst="roundRect">
              <a:avLst/>
            </a:prstGeom>
            <a:solidFill>
              <a:srgbClr val="FFFFFF"/>
            </a:solidFill>
            <a:ln w="12700">
              <a:solidFill>
                <a:srgbClr val="CBD5E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Oval 9">
              <a:extLst>
                <a:ext uri="{FF2B5EF4-FFF2-40B4-BE49-F238E27FC236}">
                  <a16:creationId xmlns:a16="http://schemas.microsoft.com/office/drawing/2014/main" id="{D1F7EE3A-D1CC-3079-5924-D8A5B68956CB}"/>
                </a:ext>
              </a:extLst>
            </p:cNvPr>
            <p:cNvSpPr/>
            <p:nvPr/>
          </p:nvSpPr>
          <p:spPr>
            <a:xfrm>
              <a:off x="812800" y="3175000"/>
              <a:ext cx="406400" cy="406400"/>
            </a:xfrm>
            <a:prstGeom prst="ellipse">
              <a:avLst/>
            </a:prstGeom>
            <a:solidFill>
              <a:srgbClr val="E0F2FE"/>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2" name="Graphic 11">
              <a:extLst>
                <a:ext uri="{FF2B5EF4-FFF2-40B4-BE49-F238E27FC236}">
                  <a16:creationId xmlns:a16="http://schemas.microsoft.com/office/drawing/2014/main" id="{3E306359-C6CB-4445-D508-A021DB3A8448}"/>
                </a:ext>
              </a:extLst>
            </p:cNvPr>
            <p:cNvPicPr>
              <a:picLocks/>
            </p:cNvPicPr>
            <p:nvPr/>
          </p:nvPicPr>
          <p:blipFill>
            <a:blip>
              <a:extLst>
                <a:ext uri="{96DAC541-7B7A-43D3-8B79-37D633B846F1}">
                  <asvg:svgBlip xmlns:asvg="http://schemas.microsoft.com/office/drawing/2016/SVG/main" r:embed="rId2"/>
                </a:ext>
              </a:extLst>
            </a:blip>
            <a:stretch>
              <a:fillRect/>
            </a:stretch>
          </p:blipFill>
          <p:spPr>
            <a:xfrm>
              <a:off x="876300" y="3238500"/>
              <a:ext cx="279400" cy="279400"/>
            </a:xfrm>
            <a:prstGeom prst="rect">
              <a:avLst/>
            </a:prstGeom>
          </p:spPr>
        </p:pic>
        <p:sp>
          <p:nvSpPr>
            <p:cNvPr id="13" name="TextBox 12">
              <a:extLst>
                <a:ext uri="{FF2B5EF4-FFF2-40B4-BE49-F238E27FC236}">
                  <a16:creationId xmlns:a16="http://schemas.microsoft.com/office/drawing/2014/main" id="{EF58B075-1D94-9CC8-05A4-15C136763A3B}"/>
                </a:ext>
              </a:extLst>
            </p:cNvPr>
            <p:cNvSpPr txBox="1"/>
            <p:nvPr/>
          </p:nvSpPr>
          <p:spPr>
            <a:xfrm>
              <a:off x="812800" y="3683000"/>
              <a:ext cx="3115733" cy="1443985"/>
            </a:xfrm>
            <a:prstGeom prst="rect">
              <a:avLst/>
            </a:prstGeom>
            <a:noFill/>
          </p:spPr>
          <p:txBody>
            <a:bodyPr vert="horz" wrap="square" lIns="0" tIns="0" rtlCol="0">
              <a:spAutoFit/>
            </a:bodyPr>
            <a:lstStyle/>
            <a:p>
              <a:pPr>
                <a:lnSpc>
                  <a:spcPct val="125000"/>
                </a:lnSpc>
                <a:spcAft>
                  <a:spcPts val="600"/>
                </a:spcAft>
              </a:pPr>
              <a:r>
                <a:rPr lang="vi-VN" sz="1600" b="1">
                  <a:solidFill>
                    <a:srgbClr val="0F172A"/>
                  </a:solidFill>
                  <a:latin typeface="Segoe UI" panose="020B0502040204020203" pitchFamily="34" charset="0"/>
                </a:rPr>
                <a:t>Tử Vong Trẻ Dưới 1 Tuổi (IMR)
</a:t>
              </a:r>
              <a:r>
                <a:rPr lang="vi-VN" sz="1350" b="1">
                  <a:solidFill>
                    <a:srgbClr val="334155"/>
                  </a:solidFill>
                  <a:latin typeface="Segoe UI" panose="020B0502040204020203" pitchFamily="34" charset="0"/>
                </a:rPr>
                <a:t>IMR = (D_0 / B) * 1,000. Đo số trẻ chết trước sinh nhật 1 tuổi trên 1,000 trẻ sinh sống. Việt Nam giảm ấn tượng xuống 11.6‰ (2023).</a:t>
              </a:r>
              <a:endParaRPr lang="en-US" sz="1350" b="1">
                <a:solidFill>
                  <a:srgbClr val="334155"/>
                </a:solidFill>
                <a:latin typeface="Segoe UI" panose="020B0502040204020203" pitchFamily="34" charset="0"/>
              </a:endParaRPr>
            </a:p>
          </p:txBody>
        </p:sp>
      </p:grpSp>
      <p:grpSp>
        <p:nvGrpSpPr>
          <p:cNvPr id="20" name="!!Stage_Sub_Card_2">
            <a:extLst>
              <a:ext uri="{FF2B5EF4-FFF2-40B4-BE49-F238E27FC236}">
                <a16:creationId xmlns:a16="http://schemas.microsoft.com/office/drawing/2014/main" id="{DBBCD287-BF5D-9029-F3CC-5DB3843253A5}"/>
              </a:ext>
            </a:extLst>
          </p:cNvPr>
          <p:cNvGrpSpPr/>
          <p:nvPr/>
        </p:nvGrpSpPr>
        <p:grpSpPr>
          <a:xfrm>
            <a:off x="4334933" y="2971800"/>
            <a:ext cx="3522134" cy="3225800"/>
            <a:chOff x="4334933" y="2971800"/>
            <a:chExt cx="3522134" cy="3225800"/>
          </a:xfrm>
        </p:grpSpPr>
        <p:sp>
          <p:nvSpPr>
            <p:cNvPr id="15" name="Rectangle: Rounded Corners 14">
              <a:extLst>
                <a:ext uri="{FF2B5EF4-FFF2-40B4-BE49-F238E27FC236}">
                  <a16:creationId xmlns:a16="http://schemas.microsoft.com/office/drawing/2014/main" id="{9B245261-F4B0-1B46-09B2-E87449C6D897}"/>
                </a:ext>
              </a:extLst>
            </p:cNvPr>
            <p:cNvSpPr/>
            <p:nvPr/>
          </p:nvSpPr>
          <p:spPr>
            <a:xfrm>
              <a:off x="4334933" y="2971800"/>
              <a:ext cx="3522134" cy="3225800"/>
            </a:xfrm>
            <a:prstGeom prst="roundRect">
              <a:avLst/>
            </a:prstGeom>
            <a:solidFill>
              <a:srgbClr val="FFFFFF"/>
            </a:solidFill>
            <a:ln w="12700">
              <a:solidFill>
                <a:srgbClr val="CBD5E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Oval 15">
              <a:extLst>
                <a:ext uri="{FF2B5EF4-FFF2-40B4-BE49-F238E27FC236}">
                  <a16:creationId xmlns:a16="http://schemas.microsoft.com/office/drawing/2014/main" id="{614ED355-CB44-6C3A-8B30-92179AD61A76}"/>
                </a:ext>
              </a:extLst>
            </p:cNvPr>
            <p:cNvSpPr/>
            <p:nvPr/>
          </p:nvSpPr>
          <p:spPr>
            <a:xfrm>
              <a:off x="4538133" y="3175000"/>
              <a:ext cx="406400" cy="406400"/>
            </a:xfrm>
            <a:prstGeom prst="ellipse">
              <a:avLst/>
            </a:prstGeom>
            <a:solidFill>
              <a:srgbClr val="E0F2FE"/>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8" name="Graphic 17">
              <a:extLst>
                <a:ext uri="{FF2B5EF4-FFF2-40B4-BE49-F238E27FC236}">
                  <a16:creationId xmlns:a16="http://schemas.microsoft.com/office/drawing/2014/main" id="{18472972-9E00-C31C-B89A-02F1C39EACF2}"/>
                </a:ext>
              </a:extLst>
            </p:cNvPr>
            <p:cNvPicPr>
              <a:picLocks/>
            </p:cNvPicPr>
            <p:nvPr/>
          </p:nvPicPr>
          <p:blipFill>
            <a:blip>
              <a:extLst>
                <a:ext uri="{96DAC541-7B7A-43D3-8B79-37D633B846F1}">
                  <asvg:svgBlip xmlns:asvg="http://schemas.microsoft.com/office/drawing/2016/SVG/main" r:embed="rId3"/>
                </a:ext>
              </a:extLst>
            </a:blip>
            <a:stretch>
              <a:fillRect/>
            </a:stretch>
          </p:blipFill>
          <p:spPr>
            <a:xfrm>
              <a:off x="4601633" y="3238500"/>
              <a:ext cx="279400" cy="279400"/>
            </a:xfrm>
            <a:prstGeom prst="rect">
              <a:avLst/>
            </a:prstGeom>
          </p:spPr>
        </p:pic>
        <p:sp>
          <p:nvSpPr>
            <p:cNvPr id="19" name="TextBox 18">
              <a:extLst>
                <a:ext uri="{FF2B5EF4-FFF2-40B4-BE49-F238E27FC236}">
                  <a16:creationId xmlns:a16="http://schemas.microsoft.com/office/drawing/2014/main" id="{2E01173B-A4BB-7B00-9430-FCE39A774E2D}"/>
                </a:ext>
              </a:extLst>
            </p:cNvPr>
            <p:cNvSpPr txBox="1"/>
            <p:nvPr/>
          </p:nvSpPr>
          <p:spPr>
            <a:xfrm>
              <a:off x="4538133" y="3683000"/>
              <a:ext cx="3115733" cy="1492075"/>
            </a:xfrm>
            <a:prstGeom prst="rect">
              <a:avLst/>
            </a:prstGeom>
            <a:noFill/>
          </p:spPr>
          <p:txBody>
            <a:bodyPr vert="horz" wrap="square" lIns="0" tIns="0" rtlCol="0">
              <a:spAutoFit/>
            </a:bodyPr>
            <a:lstStyle/>
            <a:p>
              <a:pPr>
                <a:lnSpc>
                  <a:spcPct val="125000"/>
                </a:lnSpc>
                <a:spcAft>
                  <a:spcPts val="600"/>
                </a:spcAft>
              </a:pPr>
              <a:r>
                <a:rPr lang="vi-VN" sz="1600" b="1">
                  <a:solidFill>
                    <a:srgbClr val="0F172A"/>
                  </a:solidFill>
                  <a:latin typeface="Segoe UI" panose="020B0502040204020203" pitchFamily="34" charset="0"/>
                </a:rPr>
                <a:t>Tử Vong Trẻ Dưới 5 Tuổi (U5MR)
</a:t>
              </a:r>
              <a:r>
                <a:rPr lang="vi-VN" sz="1350" b="1">
                  <a:solidFill>
                    <a:srgbClr val="334155"/>
                  </a:solidFill>
                  <a:latin typeface="Segoe UI" panose="020B0502040204020203" pitchFamily="34" charset="0"/>
                </a:rPr>
                <a:t>U5MR đo lường xác suất một đứa trẻ chết trước khi tròn 5 tuổi. Việt Nam hiện đạt mức khoảng 18.2‰.</a:t>
              </a:r>
              <a:endParaRPr lang="en-US" sz="1350" b="1">
                <a:solidFill>
                  <a:srgbClr val="334155"/>
                </a:solidFill>
                <a:latin typeface="Segoe UI" panose="020B0502040204020203" pitchFamily="34" charset="0"/>
              </a:endParaRPr>
            </a:p>
          </p:txBody>
        </p:sp>
      </p:grpSp>
      <p:grpSp>
        <p:nvGrpSpPr>
          <p:cNvPr id="26" name="!!Stage_Sub_Card_3">
            <a:extLst>
              <a:ext uri="{FF2B5EF4-FFF2-40B4-BE49-F238E27FC236}">
                <a16:creationId xmlns:a16="http://schemas.microsoft.com/office/drawing/2014/main" id="{A8BFC899-6C02-E27A-E0A2-36D28913D712}"/>
              </a:ext>
            </a:extLst>
          </p:cNvPr>
          <p:cNvGrpSpPr/>
          <p:nvPr/>
        </p:nvGrpSpPr>
        <p:grpSpPr>
          <a:xfrm>
            <a:off x="8060267" y="2971800"/>
            <a:ext cx="3522133" cy="3225800"/>
            <a:chOff x="8060267" y="2971800"/>
            <a:chExt cx="3522133" cy="3225800"/>
          </a:xfrm>
        </p:grpSpPr>
        <p:sp>
          <p:nvSpPr>
            <p:cNvPr id="21" name="Rectangle: Rounded Corners 20">
              <a:extLst>
                <a:ext uri="{FF2B5EF4-FFF2-40B4-BE49-F238E27FC236}">
                  <a16:creationId xmlns:a16="http://schemas.microsoft.com/office/drawing/2014/main" id="{93995373-BF6A-EFB0-262B-2B74EE0BF1A5}"/>
                </a:ext>
              </a:extLst>
            </p:cNvPr>
            <p:cNvSpPr/>
            <p:nvPr/>
          </p:nvSpPr>
          <p:spPr>
            <a:xfrm>
              <a:off x="8060267" y="2971800"/>
              <a:ext cx="3522133" cy="3225800"/>
            </a:xfrm>
            <a:prstGeom prst="roundRect">
              <a:avLst/>
            </a:prstGeom>
            <a:solidFill>
              <a:srgbClr val="FFFFFF"/>
            </a:solidFill>
            <a:ln w="12700">
              <a:solidFill>
                <a:srgbClr val="CBD5E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Oval 21">
              <a:extLst>
                <a:ext uri="{FF2B5EF4-FFF2-40B4-BE49-F238E27FC236}">
                  <a16:creationId xmlns:a16="http://schemas.microsoft.com/office/drawing/2014/main" id="{ED091B95-8BD1-D60B-0496-7EB23E55A45D}"/>
                </a:ext>
              </a:extLst>
            </p:cNvPr>
            <p:cNvSpPr/>
            <p:nvPr/>
          </p:nvSpPr>
          <p:spPr>
            <a:xfrm>
              <a:off x="8263467" y="3175000"/>
              <a:ext cx="406400" cy="406400"/>
            </a:xfrm>
            <a:prstGeom prst="ellipse">
              <a:avLst/>
            </a:prstGeom>
            <a:solidFill>
              <a:srgbClr val="E0F2FE"/>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4" name="Graphic 23">
              <a:extLst>
                <a:ext uri="{FF2B5EF4-FFF2-40B4-BE49-F238E27FC236}">
                  <a16:creationId xmlns:a16="http://schemas.microsoft.com/office/drawing/2014/main" id="{AB4DC19F-56FD-393C-409E-0E036378D2DA}"/>
                </a:ext>
              </a:extLst>
            </p:cNvPr>
            <p:cNvPicPr>
              <a:picLocks/>
            </p:cNvPicPr>
            <p:nvPr/>
          </p:nvPicPr>
          <p:blipFill>
            <a:blip>
              <a:extLst>
                <a:ext uri="{96DAC541-7B7A-43D3-8B79-37D633B846F1}">
                  <asvg:svgBlip xmlns:asvg="http://schemas.microsoft.com/office/drawing/2016/SVG/main" r:embed="rId4"/>
                </a:ext>
              </a:extLst>
            </a:blip>
            <a:stretch>
              <a:fillRect/>
            </a:stretch>
          </p:blipFill>
          <p:spPr>
            <a:xfrm>
              <a:off x="8326967" y="3238500"/>
              <a:ext cx="279400" cy="279400"/>
            </a:xfrm>
            <a:prstGeom prst="rect">
              <a:avLst/>
            </a:prstGeom>
          </p:spPr>
        </p:pic>
        <p:sp>
          <p:nvSpPr>
            <p:cNvPr id="25" name="TextBox 24">
              <a:extLst>
                <a:ext uri="{FF2B5EF4-FFF2-40B4-BE49-F238E27FC236}">
                  <a16:creationId xmlns:a16="http://schemas.microsoft.com/office/drawing/2014/main" id="{27CDC6B8-E96A-3519-F7D9-FBE12D39404E}"/>
                </a:ext>
              </a:extLst>
            </p:cNvPr>
            <p:cNvSpPr txBox="1"/>
            <p:nvPr/>
          </p:nvSpPr>
          <p:spPr>
            <a:xfrm>
              <a:off x="8263467" y="3683000"/>
              <a:ext cx="3115733" cy="1751762"/>
            </a:xfrm>
            <a:prstGeom prst="rect">
              <a:avLst/>
            </a:prstGeom>
            <a:noFill/>
          </p:spPr>
          <p:txBody>
            <a:bodyPr vert="horz" wrap="square" lIns="0" tIns="0" rtlCol="0">
              <a:spAutoFit/>
            </a:bodyPr>
            <a:lstStyle/>
            <a:p>
              <a:pPr>
                <a:lnSpc>
                  <a:spcPct val="125000"/>
                </a:lnSpc>
                <a:spcAft>
                  <a:spcPts val="600"/>
                </a:spcAft>
              </a:pPr>
              <a:r>
                <a:rPr lang="en-US" sz="1600" b="1">
                  <a:solidFill>
                    <a:srgbClr val="0F172A"/>
                  </a:solidFill>
                  <a:latin typeface="Segoe UI" panose="020B0502040204020203" pitchFamily="34" charset="0"/>
                </a:rPr>
                <a:t>Mục Tiêu Phát Triển Bền Vững (SDG)
</a:t>
              </a:r>
              <a:r>
                <a:rPr lang="vi-VN" sz="1350" b="1">
                  <a:solidFill>
                    <a:srgbClr val="334155"/>
                  </a:solidFill>
                  <a:latin typeface="Segoe UI" panose="020B0502040204020203" pitchFamily="34" charset="0"/>
                </a:rPr>
                <a:t>Chấm dứt các ca tử vong có thể phòng ngừa được ở trẻ sơ sinh và trẻ nhỏ thông qua tiêm chủng mở rộng và chăm sóc sơ sinh.</a:t>
              </a:r>
              <a:endParaRPr lang="en-US" sz="1350" b="1">
                <a:solidFill>
                  <a:srgbClr val="334155"/>
                </a:solidFill>
                <a:latin typeface="Segoe UI" panose="020B0502040204020203" pitchFamily="34" charset="0"/>
              </a:endParaRPr>
            </a:p>
          </p:txBody>
        </p:sp>
      </p:grpSp>
      <p:sp>
        <p:nvSpPr>
          <p:cNvPr id="27" name="!!Anchor_Source_Footer">
            <a:extLst>
              <a:ext uri="{FF2B5EF4-FFF2-40B4-BE49-F238E27FC236}">
                <a16:creationId xmlns:a16="http://schemas.microsoft.com/office/drawing/2014/main" id="{BC1FF0D4-1259-BE9D-6AFE-4C81BC650F70}"/>
              </a:ext>
            </a:extLst>
          </p:cNvPr>
          <p:cNvSpPr txBox="1"/>
          <p:nvPr/>
        </p:nvSpPr>
        <p:spPr>
          <a:xfrm>
            <a:off x="609600" y="6273800"/>
            <a:ext cx="10972800" cy="246221"/>
          </a:xfrm>
          <a:prstGeom prst="rect">
            <a:avLst/>
          </a:prstGeom>
          <a:noFill/>
        </p:spPr>
        <p:txBody>
          <a:bodyPr vert="horz" rtlCol="0">
            <a:spAutoFit/>
          </a:bodyPr>
          <a:lstStyle/>
          <a:p>
            <a:r>
              <a:rPr lang="en-US" sz="1000">
                <a:solidFill>
                  <a:srgbClr val="334155"/>
                </a:solidFill>
                <a:latin typeface="Segoe UI" panose="020B0502040204020203" pitchFamily="34" charset="0"/>
              </a:rPr>
              <a:t>Báo cáo Mục tiêu Phát triển Bền vững (SDGs) Việt Nam</a:t>
            </a:r>
          </a:p>
        </p:txBody>
      </p:sp>
    </p:spTree>
    <p:extLst>
      <p:ext uri="{BB962C8B-B14F-4D97-AF65-F5344CB8AC3E}">
        <p14:creationId xmlns:p14="http://schemas.microsoft.com/office/powerpoint/2010/main" val="953737621"/>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850">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accel="50000" decel="50000" fill="hold" nodeType="clickEffect">
                                  <p:stCondLst>
                                    <p:cond delay="0"/>
                                  </p:stCondLst>
                                  <p:childTnLst>
                                    <p:set>
                                      <p:cBhvr>
                                        <p:cTn id="6" dur="1" fill="hold">
                                          <p:stCondLst>
                                            <p:cond delay="0"/>
                                          </p:stCondLst>
                                        </p:cTn>
                                        <p:tgtEl>
                                          <p:spTgt spid="14"/>
                                        </p:tgtEl>
                                        <p:attrNameLst>
                                          <p:attrName>style.visibility</p:attrName>
                                        </p:attrNameLst>
                                      </p:cBhvr>
                                      <p:to>
                                        <p:strVal val="visible"/>
                                      </p:to>
                                    </p:set>
                                    <p:anim calcmode="lin" valueType="num">
                                      <p:cBhvr additive="base">
                                        <p:cTn id="7" dur="450" fill="hold"/>
                                        <p:tgtEl>
                                          <p:spTgt spid="14"/>
                                        </p:tgtEl>
                                        <p:attrNameLst>
                                          <p:attrName>ppt_x</p:attrName>
                                        </p:attrNameLst>
                                      </p:cBhvr>
                                      <p:tavLst>
                                        <p:tav tm="0">
                                          <p:val>
                                            <p:strVal val="#ppt_x"/>
                                          </p:val>
                                        </p:tav>
                                        <p:tav tm="100000">
                                          <p:val>
                                            <p:strVal val="#ppt_x"/>
                                          </p:val>
                                        </p:tav>
                                      </p:tavLst>
                                    </p:anim>
                                    <p:anim calcmode="lin" valueType="num">
                                      <p:cBhvr additive="base">
                                        <p:cTn id="8" dur="450" fill="hold"/>
                                        <p:tgtEl>
                                          <p:spTgt spid="14"/>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accel="50000" decel="50000" fill="hold" nodeType="clickEffect">
                                  <p:stCondLst>
                                    <p:cond delay="0"/>
                                  </p:stCondLst>
                                  <p:childTnLst>
                                    <p:set>
                                      <p:cBhvr>
                                        <p:cTn id="12" dur="1" fill="hold">
                                          <p:stCondLst>
                                            <p:cond delay="0"/>
                                          </p:stCondLst>
                                        </p:cTn>
                                        <p:tgtEl>
                                          <p:spTgt spid="20"/>
                                        </p:tgtEl>
                                        <p:attrNameLst>
                                          <p:attrName>style.visibility</p:attrName>
                                        </p:attrNameLst>
                                      </p:cBhvr>
                                      <p:to>
                                        <p:strVal val="visible"/>
                                      </p:to>
                                    </p:set>
                                    <p:anim calcmode="lin" valueType="num">
                                      <p:cBhvr additive="base">
                                        <p:cTn id="13" dur="450" fill="hold"/>
                                        <p:tgtEl>
                                          <p:spTgt spid="20"/>
                                        </p:tgtEl>
                                        <p:attrNameLst>
                                          <p:attrName>ppt_x</p:attrName>
                                        </p:attrNameLst>
                                      </p:cBhvr>
                                      <p:tavLst>
                                        <p:tav tm="0">
                                          <p:val>
                                            <p:strVal val="#ppt_x"/>
                                          </p:val>
                                        </p:tav>
                                        <p:tav tm="100000">
                                          <p:val>
                                            <p:strVal val="#ppt_x"/>
                                          </p:val>
                                        </p:tav>
                                      </p:tavLst>
                                    </p:anim>
                                    <p:anim calcmode="lin" valueType="num">
                                      <p:cBhvr additive="base">
                                        <p:cTn id="14" dur="450" fill="hold"/>
                                        <p:tgtEl>
                                          <p:spTgt spid="20"/>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accel="50000" decel="50000" fill="hold" nodeType="clickEffect">
                                  <p:stCondLst>
                                    <p:cond delay="0"/>
                                  </p:stCondLst>
                                  <p:childTnLst>
                                    <p:set>
                                      <p:cBhvr>
                                        <p:cTn id="18" dur="1" fill="hold">
                                          <p:stCondLst>
                                            <p:cond delay="0"/>
                                          </p:stCondLst>
                                        </p:cTn>
                                        <p:tgtEl>
                                          <p:spTgt spid="26"/>
                                        </p:tgtEl>
                                        <p:attrNameLst>
                                          <p:attrName>style.visibility</p:attrName>
                                        </p:attrNameLst>
                                      </p:cBhvr>
                                      <p:to>
                                        <p:strVal val="visible"/>
                                      </p:to>
                                    </p:set>
                                    <p:anim calcmode="lin" valueType="num">
                                      <p:cBhvr additive="base">
                                        <p:cTn id="19" dur="450" fill="hold"/>
                                        <p:tgtEl>
                                          <p:spTgt spid="26"/>
                                        </p:tgtEl>
                                        <p:attrNameLst>
                                          <p:attrName>ppt_x</p:attrName>
                                        </p:attrNameLst>
                                      </p:cBhvr>
                                      <p:tavLst>
                                        <p:tav tm="0">
                                          <p:val>
                                            <p:strVal val="#ppt_x"/>
                                          </p:val>
                                        </p:tav>
                                        <p:tav tm="100000">
                                          <p:val>
                                            <p:strVal val="#ppt_x"/>
                                          </p:val>
                                        </p:tav>
                                      </p:tavLst>
                                    </p:anim>
                                    <p:anim calcmode="lin" valueType="num">
                                      <p:cBhvr additive="base">
                                        <p:cTn id="20" dur="450" fill="hold"/>
                                        <p:tgtEl>
                                          <p:spTgt spid="2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a:xfrm>
          <a:off x="0" y="0"/>
          <a:ext cx="0" cy="0"/>
          <a:chOff x="0" y="0"/>
          <a:chExt cx="0" cy="0"/>
        </a:xfrm>
      </p:grpSpPr>
      <p:sp>
        <p:nvSpPr>
          <p:cNvPr id="2" name="!!Anchor_Kicker_Rail">
            <a:extLst>
              <a:ext uri="{FF2B5EF4-FFF2-40B4-BE49-F238E27FC236}">
                <a16:creationId xmlns:a16="http://schemas.microsoft.com/office/drawing/2014/main" id="{3D469323-A0E4-A3FC-4047-77DE55523601}"/>
              </a:ext>
            </a:extLst>
          </p:cNvPr>
          <p:cNvSpPr txBox="1"/>
          <p:nvPr/>
        </p:nvSpPr>
        <p:spPr>
          <a:xfrm>
            <a:off x="609600" y="457200"/>
            <a:ext cx="9956800" cy="276999"/>
          </a:xfrm>
          <a:prstGeom prst="rect">
            <a:avLst/>
          </a:prstGeom>
          <a:noFill/>
        </p:spPr>
        <p:txBody>
          <a:bodyPr vert="horz" rtlCol="0">
            <a:spAutoFit/>
          </a:bodyPr>
          <a:lstStyle/>
          <a:p>
            <a:r>
              <a:rPr lang="en-US" sz="1200" b="1">
                <a:solidFill>
                  <a:srgbClr val="0284C7"/>
                </a:solidFill>
                <a:latin typeface="Segoe UI" panose="020B0502040204020203" pitchFamily="34" charset="0"/>
              </a:rPr>
              <a:t>TỬ VONG BÀ MẸ  •  TRỌNG TÂM</a:t>
            </a:r>
          </a:p>
        </p:txBody>
      </p:sp>
      <p:sp>
        <p:nvSpPr>
          <p:cNvPr id="3" name="!!Anchor_Slide_Tracker">
            <a:extLst>
              <a:ext uri="{FF2B5EF4-FFF2-40B4-BE49-F238E27FC236}">
                <a16:creationId xmlns:a16="http://schemas.microsoft.com/office/drawing/2014/main" id="{D36EA56B-CCA1-6E87-25F5-8DA55C716541}"/>
              </a:ext>
            </a:extLst>
          </p:cNvPr>
          <p:cNvSpPr txBox="1"/>
          <p:nvPr/>
        </p:nvSpPr>
        <p:spPr>
          <a:xfrm>
            <a:off x="10820400" y="457200"/>
            <a:ext cx="762000" cy="276999"/>
          </a:xfrm>
          <a:prstGeom prst="rect">
            <a:avLst/>
          </a:prstGeom>
          <a:noFill/>
        </p:spPr>
        <p:txBody>
          <a:bodyPr vert="horz" rtlCol="0">
            <a:spAutoFit/>
          </a:bodyPr>
          <a:lstStyle/>
          <a:p>
            <a:pPr algn="r"/>
            <a:r>
              <a:rPr lang="en-US" sz="1200" b="1">
                <a:solidFill>
                  <a:srgbClr val="334155"/>
                </a:solidFill>
                <a:latin typeface="Bahnschrift" panose="020B0502040204020203" pitchFamily="34" charset="0"/>
              </a:rPr>
              <a:t>16 / 22</a:t>
            </a:r>
          </a:p>
        </p:txBody>
      </p:sp>
      <p:sp>
        <p:nvSpPr>
          <p:cNvPr id="4" name="!!Anchor_Assertion_Title">
            <a:extLst>
              <a:ext uri="{FF2B5EF4-FFF2-40B4-BE49-F238E27FC236}">
                <a16:creationId xmlns:a16="http://schemas.microsoft.com/office/drawing/2014/main" id="{FBC689C5-E3F6-A7DF-0927-0725EDC2E24D}"/>
              </a:ext>
            </a:extLst>
          </p:cNvPr>
          <p:cNvSpPr txBox="1"/>
          <p:nvPr/>
        </p:nvSpPr>
        <p:spPr>
          <a:xfrm>
            <a:off x="609600" y="711200"/>
            <a:ext cx="10972800" cy="369332"/>
          </a:xfrm>
          <a:prstGeom prst="rect">
            <a:avLst/>
          </a:prstGeom>
          <a:noFill/>
        </p:spPr>
        <p:txBody>
          <a:bodyPr vert="horz" wrap="square" tIns="0" bIns="0" rtlCol="0">
            <a:spAutoFit/>
          </a:bodyPr>
          <a:lstStyle/>
          <a:p>
            <a:r>
              <a:rPr lang="en-US" sz="2400" b="1">
                <a:solidFill>
                  <a:srgbClr val="0F172A"/>
                </a:solidFill>
                <a:latin typeface="Segoe UI" panose="020B0502040204020203" pitchFamily="34" charset="0"/>
              </a:rPr>
              <a:t>Tỷ Số Tử Vong Mẹ (MMR) Và Chăm Sóc Sức Khỏe Sinh Sản Phụ Nữ</a:t>
            </a:r>
          </a:p>
        </p:txBody>
      </p:sp>
      <p:grpSp>
        <p:nvGrpSpPr>
          <p:cNvPr id="11" name="!!Stage_Hero_Container">
            <a:extLst>
              <a:ext uri="{FF2B5EF4-FFF2-40B4-BE49-F238E27FC236}">
                <a16:creationId xmlns:a16="http://schemas.microsoft.com/office/drawing/2014/main" id="{76830ACC-5110-B5C3-CB1C-2CE12AB43E68}"/>
              </a:ext>
            </a:extLst>
          </p:cNvPr>
          <p:cNvGrpSpPr/>
          <p:nvPr/>
        </p:nvGrpSpPr>
        <p:grpSpPr>
          <a:xfrm>
            <a:off x="609600" y="1676400"/>
            <a:ext cx="6035040" cy="4521200"/>
            <a:chOff x="609600" y="1676400"/>
            <a:chExt cx="6035040" cy="4521200"/>
          </a:xfrm>
        </p:grpSpPr>
        <p:sp>
          <p:nvSpPr>
            <p:cNvPr id="5" name="Rectangle: Rounded Corners 4">
              <a:extLst>
                <a:ext uri="{FF2B5EF4-FFF2-40B4-BE49-F238E27FC236}">
                  <a16:creationId xmlns:a16="http://schemas.microsoft.com/office/drawing/2014/main" id="{3DF85BF4-0D40-85D6-C508-02830244DF48}"/>
                </a:ext>
              </a:extLst>
            </p:cNvPr>
            <p:cNvSpPr/>
            <p:nvPr/>
          </p:nvSpPr>
          <p:spPr>
            <a:xfrm>
              <a:off x="609600" y="1676400"/>
              <a:ext cx="6035040" cy="4521200"/>
            </a:xfrm>
            <a:prstGeom prst="roundRect">
              <a:avLst/>
            </a:prstGeom>
            <a:solidFill>
              <a:srgbClr val="FFFFFF"/>
            </a:solidFill>
            <a:ln w="25400">
              <a:solidFill>
                <a:srgbClr val="0284C7"/>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Rounded Corners 5">
              <a:extLst>
                <a:ext uri="{FF2B5EF4-FFF2-40B4-BE49-F238E27FC236}">
                  <a16:creationId xmlns:a16="http://schemas.microsoft.com/office/drawing/2014/main" id="{977E5554-429E-3B96-526C-ED7DD75A8F27}"/>
                </a:ext>
              </a:extLst>
            </p:cNvPr>
            <p:cNvSpPr/>
            <p:nvPr/>
          </p:nvSpPr>
          <p:spPr>
            <a:xfrm>
              <a:off x="863600" y="1905000"/>
              <a:ext cx="1524000" cy="279400"/>
            </a:xfrm>
            <a:prstGeom prst="roundRect">
              <a:avLst/>
            </a:prstGeom>
            <a:solidFill>
              <a:srgbClr val="E0F2FE"/>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b="1">
                  <a:solidFill>
                    <a:srgbClr val="0284C7"/>
                  </a:solidFill>
                  <a:latin typeface="Segoe UI" panose="020B0502040204020203" pitchFamily="34" charset="0"/>
                </a:rPr>
                <a:t>TRỌNG TÂM CỐT LÕI</a:t>
              </a:r>
            </a:p>
          </p:txBody>
        </p:sp>
        <p:sp>
          <p:nvSpPr>
            <p:cNvPr id="7" name="Oval 6">
              <a:extLst>
                <a:ext uri="{FF2B5EF4-FFF2-40B4-BE49-F238E27FC236}">
                  <a16:creationId xmlns:a16="http://schemas.microsoft.com/office/drawing/2014/main" id="{292D24B5-E835-F07F-28B2-D15337D83DCE}"/>
                </a:ext>
              </a:extLst>
            </p:cNvPr>
            <p:cNvSpPr/>
            <p:nvPr/>
          </p:nvSpPr>
          <p:spPr>
            <a:xfrm>
              <a:off x="863600" y="2286000"/>
              <a:ext cx="482600" cy="482600"/>
            </a:xfrm>
            <a:prstGeom prst="ellipse">
              <a:avLst/>
            </a:prstGeom>
            <a:solidFill>
              <a:srgbClr val="E0F2FE"/>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9" name="Graphic 8">
              <a:extLst>
                <a:ext uri="{FF2B5EF4-FFF2-40B4-BE49-F238E27FC236}">
                  <a16:creationId xmlns:a16="http://schemas.microsoft.com/office/drawing/2014/main" id="{098C7500-54E5-D225-1AA6-27569FB53CE0}"/>
                </a:ext>
              </a:extLst>
            </p:cNvPr>
            <p:cNvPicPr>
              <a:picLocks/>
            </p:cNvPicPr>
            <p:nvPr/>
          </p:nvPicPr>
          <p:blipFill>
            <a:blip>
              <a:extLst>
                <a:ext uri="{96DAC541-7B7A-43D3-8B79-37D633B846F1}">
                  <asvg:svgBlip xmlns:asvg="http://schemas.microsoft.com/office/drawing/2016/SVG/main" r:embed="rId2"/>
                </a:ext>
              </a:extLst>
            </a:blip>
            <a:stretch>
              <a:fillRect/>
            </a:stretch>
          </p:blipFill>
          <p:spPr>
            <a:xfrm>
              <a:off x="939800" y="2362200"/>
              <a:ext cx="330200" cy="330200"/>
            </a:xfrm>
            <a:prstGeom prst="rect">
              <a:avLst/>
            </a:prstGeom>
          </p:spPr>
        </p:pic>
        <p:sp>
          <p:nvSpPr>
            <p:cNvPr id="10" name="TextBox 9">
              <a:extLst>
                <a:ext uri="{FF2B5EF4-FFF2-40B4-BE49-F238E27FC236}">
                  <a16:creationId xmlns:a16="http://schemas.microsoft.com/office/drawing/2014/main" id="{19C6396B-6621-01A5-B6DE-EA2936F6796D}"/>
                </a:ext>
              </a:extLst>
            </p:cNvPr>
            <p:cNvSpPr txBox="1"/>
            <p:nvPr/>
          </p:nvSpPr>
          <p:spPr>
            <a:xfrm>
              <a:off x="863600" y="2870200"/>
              <a:ext cx="5527040" cy="1489447"/>
            </a:xfrm>
            <a:prstGeom prst="rect">
              <a:avLst/>
            </a:prstGeom>
            <a:noFill/>
          </p:spPr>
          <p:txBody>
            <a:bodyPr vert="horz" wrap="square" lIns="0" rtlCol="0">
              <a:spAutoFit/>
            </a:bodyPr>
            <a:lstStyle/>
            <a:p>
              <a:pPr>
                <a:lnSpc>
                  <a:spcPct val="130000"/>
                </a:lnSpc>
                <a:spcAft>
                  <a:spcPts val="1000"/>
                </a:spcAft>
              </a:pPr>
              <a:r>
                <a:rPr lang="vi-VN" sz="2000" b="1">
                  <a:solidFill>
                    <a:srgbClr val="0F172A"/>
                  </a:solidFill>
                  <a:latin typeface="Segoe UI" panose="020B0502040204020203" pitchFamily="34" charset="0"/>
                </a:rPr>
                <a:t>Công Thức Đo Lường MMR
</a:t>
              </a:r>
              <a:r>
                <a:rPr lang="vi-VN" sz="1500" b="1">
                  <a:solidFill>
                    <a:srgbClr val="334155"/>
                  </a:solidFill>
                  <a:latin typeface="Segoe UI" panose="020B0502040204020203" pitchFamily="34" charset="0"/>
                </a:rPr>
                <a:t>MMR = (Số ca tử vong mẹ do thai sản / Số trẻ sinh sống) * 100,000. Việt Nam giảm xuống khoảng 44 ca / 100,000 ca sinh.</a:t>
              </a:r>
              <a:endParaRPr lang="en-US" sz="1500" b="1">
                <a:solidFill>
                  <a:srgbClr val="334155"/>
                </a:solidFill>
                <a:latin typeface="Segoe UI" panose="020B0502040204020203" pitchFamily="34" charset="0"/>
              </a:endParaRPr>
            </a:p>
          </p:txBody>
        </p:sp>
      </p:grpSp>
      <p:grpSp>
        <p:nvGrpSpPr>
          <p:cNvPr id="18" name="!!Stage_Sub_Card_1">
            <a:extLst>
              <a:ext uri="{FF2B5EF4-FFF2-40B4-BE49-F238E27FC236}">
                <a16:creationId xmlns:a16="http://schemas.microsoft.com/office/drawing/2014/main" id="{34D91CFA-7D45-336F-5FD6-429D1D84381D}"/>
              </a:ext>
            </a:extLst>
          </p:cNvPr>
          <p:cNvGrpSpPr/>
          <p:nvPr/>
        </p:nvGrpSpPr>
        <p:grpSpPr>
          <a:xfrm>
            <a:off x="6873240" y="1676400"/>
            <a:ext cx="4709160" cy="2171700"/>
            <a:chOff x="6873240" y="1676400"/>
            <a:chExt cx="4709160" cy="2171700"/>
          </a:xfrm>
        </p:grpSpPr>
        <p:sp>
          <p:nvSpPr>
            <p:cNvPr id="12" name="Rectangle: Rounded Corners 11">
              <a:extLst>
                <a:ext uri="{FF2B5EF4-FFF2-40B4-BE49-F238E27FC236}">
                  <a16:creationId xmlns:a16="http://schemas.microsoft.com/office/drawing/2014/main" id="{BB2CA6E2-C9F6-6739-21F3-138248535BCB}"/>
                </a:ext>
              </a:extLst>
            </p:cNvPr>
            <p:cNvSpPr/>
            <p:nvPr/>
          </p:nvSpPr>
          <p:spPr>
            <a:xfrm>
              <a:off x="6873240" y="1676400"/>
              <a:ext cx="4709160" cy="2171700"/>
            </a:xfrm>
            <a:prstGeom prst="roundRect">
              <a:avLst/>
            </a:prstGeom>
            <a:solidFill>
              <a:srgbClr val="FFFFFF"/>
            </a:solidFill>
            <a:ln>
              <a:solidFill>
                <a:srgbClr val="CBD5E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Rounded Corners 12">
              <a:extLst>
                <a:ext uri="{FF2B5EF4-FFF2-40B4-BE49-F238E27FC236}">
                  <a16:creationId xmlns:a16="http://schemas.microsoft.com/office/drawing/2014/main" id="{639B0FE8-F91D-9319-CF26-FE54588F997A}"/>
                </a:ext>
              </a:extLst>
            </p:cNvPr>
            <p:cNvSpPr/>
            <p:nvPr/>
          </p:nvSpPr>
          <p:spPr>
            <a:xfrm>
              <a:off x="7076440" y="1854200"/>
              <a:ext cx="1079500" cy="254000"/>
            </a:xfrm>
            <a:prstGeom prst="roundRect">
              <a:avLst/>
            </a:prstGeom>
            <a:solidFill>
              <a:srgbClr val="E0F2FE"/>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900" b="1">
                  <a:solidFill>
                    <a:srgbClr val="0284C7"/>
                  </a:solidFill>
                  <a:latin typeface="Segoe UI" panose="020B0502040204020203" pitchFamily="34" charset="0"/>
                </a:rPr>
                <a:t>TRỌNG ĐIỂM 01</a:t>
              </a:r>
            </a:p>
          </p:txBody>
        </p:sp>
        <p:sp>
          <p:nvSpPr>
            <p:cNvPr id="14" name="Oval 13">
              <a:extLst>
                <a:ext uri="{FF2B5EF4-FFF2-40B4-BE49-F238E27FC236}">
                  <a16:creationId xmlns:a16="http://schemas.microsoft.com/office/drawing/2014/main" id="{8E4C5B50-32AB-8592-9560-D5980D18CE30}"/>
                </a:ext>
              </a:extLst>
            </p:cNvPr>
            <p:cNvSpPr/>
            <p:nvPr/>
          </p:nvSpPr>
          <p:spPr>
            <a:xfrm>
              <a:off x="7076440" y="2184400"/>
              <a:ext cx="406400" cy="406400"/>
            </a:xfrm>
            <a:prstGeom prst="ellipse">
              <a:avLst/>
            </a:prstGeom>
            <a:solidFill>
              <a:srgbClr val="E0F2FE"/>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6" name="Graphic 15">
              <a:extLst>
                <a:ext uri="{FF2B5EF4-FFF2-40B4-BE49-F238E27FC236}">
                  <a16:creationId xmlns:a16="http://schemas.microsoft.com/office/drawing/2014/main" id="{819320D4-4E1F-F821-4207-4EA2793E7FDA}"/>
                </a:ext>
              </a:extLst>
            </p:cNvPr>
            <p:cNvPicPr>
              <a:picLocks/>
            </p:cNvPicPr>
            <p:nvPr/>
          </p:nvPicPr>
          <p:blipFill>
            <a:blip>
              <a:extLst>
                <a:ext uri="{96DAC541-7B7A-43D3-8B79-37D633B846F1}">
                  <asvg:svgBlip xmlns:asvg="http://schemas.microsoft.com/office/drawing/2016/SVG/main" r:embed="rId3"/>
                </a:ext>
              </a:extLst>
            </a:blip>
            <a:stretch>
              <a:fillRect/>
            </a:stretch>
          </p:blipFill>
          <p:spPr>
            <a:xfrm>
              <a:off x="7139940" y="2247900"/>
              <a:ext cx="279400" cy="279400"/>
            </a:xfrm>
            <a:prstGeom prst="rect">
              <a:avLst/>
            </a:prstGeom>
          </p:spPr>
        </p:pic>
        <p:sp>
          <p:nvSpPr>
            <p:cNvPr id="17" name="TextBox 16">
              <a:extLst>
                <a:ext uri="{FF2B5EF4-FFF2-40B4-BE49-F238E27FC236}">
                  <a16:creationId xmlns:a16="http://schemas.microsoft.com/office/drawing/2014/main" id="{9CB94521-6854-77A9-1613-818C9BABD487}"/>
                </a:ext>
              </a:extLst>
            </p:cNvPr>
            <p:cNvSpPr txBox="1"/>
            <p:nvPr/>
          </p:nvSpPr>
          <p:spPr>
            <a:xfrm>
              <a:off x="7609840" y="2108200"/>
              <a:ext cx="3820160" cy="990015"/>
            </a:xfrm>
            <a:prstGeom prst="rect">
              <a:avLst/>
            </a:prstGeom>
            <a:noFill/>
          </p:spPr>
          <p:txBody>
            <a:bodyPr vert="horz" wrap="square" tIns="0" rtlCol="0">
              <a:spAutoFit/>
            </a:bodyPr>
            <a:lstStyle/>
            <a:p>
              <a:pPr>
                <a:spcAft>
                  <a:spcPts val="400"/>
                </a:spcAft>
              </a:pPr>
              <a:r>
                <a:rPr lang="en-US" sz="1600" b="1">
                  <a:solidFill>
                    <a:srgbClr val="0F172A"/>
                  </a:solidFill>
                  <a:latin typeface="Segoe UI" panose="020B0502040204020203" pitchFamily="34" charset="0"/>
                </a:rPr>
                <a:t>Các Nguyên Nhân Sản Khoa Chính
</a:t>
              </a:r>
              <a:r>
                <a:rPr lang="en-US" sz="1400" b="1">
                  <a:solidFill>
                    <a:srgbClr val="334155"/>
                  </a:solidFill>
                  <a:latin typeface="Segoe UI" panose="020B0502040204020203" pitchFamily="34" charset="0"/>
                </a:rPr>
                <a:t>Băng huyết sau sinh, tiền sản giật, nhiễm trùng hậu sản và tai biến sản khoa tại các vùng sâu vùng xa giao thông chia cắt.</a:t>
              </a:r>
            </a:p>
          </p:txBody>
        </p:sp>
      </p:grpSp>
      <p:grpSp>
        <p:nvGrpSpPr>
          <p:cNvPr id="25" name="!!Stage_Sub_Card_2">
            <a:extLst>
              <a:ext uri="{FF2B5EF4-FFF2-40B4-BE49-F238E27FC236}">
                <a16:creationId xmlns:a16="http://schemas.microsoft.com/office/drawing/2014/main" id="{3F363D9E-73C7-3B6D-B86D-6B1228E44854}"/>
              </a:ext>
            </a:extLst>
          </p:cNvPr>
          <p:cNvGrpSpPr/>
          <p:nvPr/>
        </p:nvGrpSpPr>
        <p:grpSpPr>
          <a:xfrm>
            <a:off x="6873240" y="4025900"/>
            <a:ext cx="4709160" cy="2171700"/>
            <a:chOff x="6873240" y="4025900"/>
            <a:chExt cx="4709160" cy="2171700"/>
          </a:xfrm>
        </p:grpSpPr>
        <p:sp>
          <p:nvSpPr>
            <p:cNvPr id="19" name="Rectangle: Rounded Corners 18">
              <a:extLst>
                <a:ext uri="{FF2B5EF4-FFF2-40B4-BE49-F238E27FC236}">
                  <a16:creationId xmlns:a16="http://schemas.microsoft.com/office/drawing/2014/main" id="{22CCEAE6-59D6-DEF9-2FCF-83378A1CA5A4}"/>
                </a:ext>
              </a:extLst>
            </p:cNvPr>
            <p:cNvSpPr/>
            <p:nvPr/>
          </p:nvSpPr>
          <p:spPr>
            <a:xfrm>
              <a:off x="6873240" y="4025900"/>
              <a:ext cx="4709160" cy="2171700"/>
            </a:xfrm>
            <a:prstGeom prst="roundRect">
              <a:avLst/>
            </a:prstGeom>
            <a:solidFill>
              <a:srgbClr val="FFFFFF"/>
            </a:solidFill>
            <a:ln>
              <a:solidFill>
                <a:srgbClr val="CBD5E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Rectangle: Rounded Corners 19">
              <a:extLst>
                <a:ext uri="{FF2B5EF4-FFF2-40B4-BE49-F238E27FC236}">
                  <a16:creationId xmlns:a16="http://schemas.microsoft.com/office/drawing/2014/main" id="{9926409D-14E3-4AC1-ECED-EBCEECA847A9}"/>
                </a:ext>
              </a:extLst>
            </p:cNvPr>
            <p:cNvSpPr/>
            <p:nvPr/>
          </p:nvSpPr>
          <p:spPr>
            <a:xfrm>
              <a:off x="7076440" y="4203700"/>
              <a:ext cx="1079500" cy="254000"/>
            </a:xfrm>
            <a:prstGeom prst="roundRect">
              <a:avLst/>
            </a:prstGeom>
            <a:solidFill>
              <a:srgbClr val="E0F2FE"/>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900" b="1">
                  <a:solidFill>
                    <a:srgbClr val="0284C7"/>
                  </a:solidFill>
                  <a:latin typeface="Segoe UI" panose="020B0502040204020203" pitchFamily="34" charset="0"/>
                </a:rPr>
                <a:t>TRỌNG ĐIỂM 02</a:t>
              </a:r>
            </a:p>
          </p:txBody>
        </p:sp>
        <p:sp>
          <p:nvSpPr>
            <p:cNvPr id="21" name="Oval 20">
              <a:extLst>
                <a:ext uri="{FF2B5EF4-FFF2-40B4-BE49-F238E27FC236}">
                  <a16:creationId xmlns:a16="http://schemas.microsoft.com/office/drawing/2014/main" id="{2EBF1873-ABF9-6F19-CB1A-87433ECC4ADC}"/>
                </a:ext>
              </a:extLst>
            </p:cNvPr>
            <p:cNvSpPr/>
            <p:nvPr/>
          </p:nvSpPr>
          <p:spPr>
            <a:xfrm>
              <a:off x="7076440" y="4533900"/>
              <a:ext cx="406400" cy="406400"/>
            </a:xfrm>
            <a:prstGeom prst="ellipse">
              <a:avLst/>
            </a:prstGeom>
            <a:solidFill>
              <a:srgbClr val="E0F2FE"/>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3" name="Graphic 22">
              <a:extLst>
                <a:ext uri="{FF2B5EF4-FFF2-40B4-BE49-F238E27FC236}">
                  <a16:creationId xmlns:a16="http://schemas.microsoft.com/office/drawing/2014/main" id="{4124C73E-9368-6A39-1D3D-BF0BF5CD1CD4}"/>
                </a:ext>
              </a:extLst>
            </p:cNvPr>
            <p:cNvPicPr>
              <a:picLocks/>
            </p:cNvPicPr>
            <p:nvPr/>
          </p:nvPicPr>
          <p:blipFill>
            <a:blip>
              <a:extLst>
                <a:ext uri="{96DAC541-7B7A-43D3-8B79-37D633B846F1}">
                  <asvg:svgBlip xmlns:asvg="http://schemas.microsoft.com/office/drawing/2016/SVG/main" r:embed="rId4"/>
                </a:ext>
              </a:extLst>
            </a:blip>
            <a:stretch>
              <a:fillRect/>
            </a:stretch>
          </p:blipFill>
          <p:spPr>
            <a:xfrm>
              <a:off x="7139940" y="4597400"/>
              <a:ext cx="279400" cy="279400"/>
            </a:xfrm>
            <a:prstGeom prst="rect">
              <a:avLst/>
            </a:prstGeom>
          </p:spPr>
        </p:pic>
        <p:sp>
          <p:nvSpPr>
            <p:cNvPr id="24" name="TextBox 23">
              <a:extLst>
                <a:ext uri="{FF2B5EF4-FFF2-40B4-BE49-F238E27FC236}">
                  <a16:creationId xmlns:a16="http://schemas.microsoft.com/office/drawing/2014/main" id="{891F3354-2E86-EFB5-2401-DCE71A9C052F}"/>
                </a:ext>
              </a:extLst>
            </p:cNvPr>
            <p:cNvSpPr txBox="1"/>
            <p:nvPr/>
          </p:nvSpPr>
          <p:spPr>
            <a:xfrm>
              <a:off x="7609840" y="4457700"/>
              <a:ext cx="3820160" cy="990015"/>
            </a:xfrm>
            <a:prstGeom prst="rect">
              <a:avLst/>
            </a:prstGeom>
            <a:noFill/>
          </p:spPr>
          <p:txBody>
            <a:bodyPr vert="horz" wrap="square" tIns="0" rtlCol="0">
              <a:spAutoFit/>
            </a:bodyPr>
            <a:lstStyle/>
            <a:p>
              <a:pPr>
                <a:spcAft>
                  <a:spcPts val="400"/>
                </a:spcAft>
              </a:pPr>
              <a:r>
                <a:rPr lang="vi-VN" sz="1600" b="1">
                  <a:solidFill>
                    <a:srgbClr val="0F172A"/>
                  </a:solidFill>
                  <a:latin typeface="Segoe UI" panose="020B0502040204020203" pitchFamily="34" charset="0"/>
                </a:rPr>
                <a:t>Giải Pháp Mạng Lưới Sản Nhi
</a:t>
              </a:r>
              <a:r>
                <a:rPr lang="vi-VN" sz="1400" b="1">
                  <a:solidFill>
                    <a:srgbClr val="334155"/>
                  </a:solidFill>
                  <a:latin typeface="Segoe UI" panose="020B0502040204020203" pitchFamily="34" charset="0"/>
                </a:rPr>
                <a:t>Đào tạo cô đỡ thôn bản, nâng cấp trang thiết bị y tế tuyến huyện và triển khai hỗ trợ cấp cứu sản khoa từ xa (Telemedicine).</a:t>
              </a:r>
              <a:endParaRPr lang="en-US" sz="1400" b="1">
                <a:solidFill>
                  <a:srgbClr val="334155"/>
                </a:solidFill>
                <a:latin typeface="Segoe UI" panose="020B0502040204020203" pitchFamily="34" charset="0"/>
              </a:endParaRPr>
            </a:p>
          </p:txBody>
        </p:sp>
      </p:grpSp>
      <p:sp>
        <p:nvSpPr>
          <p:cNvPr id="26" name="!!Anchor_Source_Footer">
            <a:extLst>
              <a:ext uri="{FF2B5EF4-FFF2-40B4-BE49-F238E27FC236}">
                <a16:creationId xmlns:a16="http://schemas.microsoft.com/office/drawing/2014/main" id="{D36E5401-DED8-D324-F78D-287B7FB01B60}"/>
              </a:ext>
            </a:extLst>
          </p:cNvPr>
          <p:cNvSpPr txBox="1"/>
          <p:nvPr/>
        </p:nvSpPr>
        <p:spPr>
          <a:xfrm>
            <a:off x="609600" y="6273800"/>
            <a:ext cx="10972800" cy="246221"/>
          </a:xfrm>
          <a:prstGeom prst="rect">
            <a:avLst/>
          </a:prstGeom>
          <a:noFill/>
        </p:spPr>
        <p:txBody>
          <a:bodyPr vert="horz" rtlCol="0">
            <a:spAutoFit/>
          </a:bodyPr>
          <a:lstStyle/>
          <a:p>
            <a:r>
              <a:rPr lang="en-US" sz="1000">
                <a:solidFill>
                  <a:srgbClr val="334155"/>
                </a:solidFill>
                <a:latin typeface="Segoe UI" panose="020B0502040204020203" pitchFamily="34" charset="0"/>
              </a:rPr>
              <a:t>Bộ Y tế - Báo cáo Sức khỏe Sinh sản</a:t>
            </a:r>
          </a:p>
        </p:txBody>
      </p:sp>
    </p:spTree>
    <p:extLst>
      <p:ext uri="{BB962C8B-B14F-4D97-AF65-F5344CB8AC3E}">
        <p14:creationId xmlns:p14="http://schemas.microsoft.com/office/powerpoint/2010/main" val="4169352128"/>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850">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accel="50000" decel="50000" fill="hold" nodeType="clickEffect">
                                  <p:stCondLst>
                                    <p:cond delay="0"/>
                                  </p:stCondLst>
                                  <p:childTnLst>
                                    <p:set>
                                      <p:cBhvr>
                                        <p:cTn id="6" dur="1" fill="hold">
                                          <p:stCondLst>
                                            <p:cond delay="0"/>
                                          </p:stCondLst>
                                        </p:cTn>
                                        <p:tgtEl>
                                          <p:spTgt spid="18"/>
                                        </p:tgtEl>
                                        <p:attrNameLst>
                                          <p:attrName>style.visibility</p:attrName>
                                        </p:attrNameLst>
                                      </p:cBhvr>
                                      <p:to>
                                        <p:strVal val="visible"/>
                                      </p:to>
                                    </p:set>
                                    <p:anim calcmode="lin" valueType="num">
                                      <p:cBhvr additive="base">
                                        <p:cTn id="7" dur="450" fill="hold"/>
                                        <p:tgtEl>
                                          <p:spTgt spid="18"/>
                                        </p:tgtEl>
                                        <p:attrNameLst>
                                          <p:attrName>ppt_x</p:attrName>
                                        </p:attrNameLst>
                                      </p:cBhvr>
                                      <p:tavLst>
                                        <p:tav tm="0">
                                          <p:val>
                                            <p:strVal val="#ppt_x"/>
                                          </p:val>
                                        </p:tav>
                                        <p:tav tm="100000">
                                          <p:val>
                                            <p:strVal val="#ppt_x"/>
                                          </p:val>
                                        </p:tav>
                                      </p:tavLst>
                                    </p:anim>
                                    <p:anim calcmode="lin" valueType="num">
                                      <p:cBhvr additive="base">
                                        <p:cTn id="8" dur="450" fill="hold"/>
                                        <p:tgtEl>
                                          <p:spTgt spid="18"/>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accel="50000" decel="50000" fill="hold" nodeType="clickEffect">
                                  <p:stCondLst>
                                    <p:cond delay="0"/>
                                  </p:stCondLst>
                                  <p:childTnLst>
                                    <p:set>
                                      <p:cBhvr>
                                        <p:cTn id="12" dur="1" fill="hold">
                                          <p:stCondLst>
                                            <p:cond delay="0"/>
                                          </p:stCondLst>
                                        </p:cTn>
                                        <p:tgtEl>
                                          <p:spTgt spid="25"/>
                                        </p:tgtEl>
                                        <p:attrNameLst>
                                          <p:attrName>style.visibility</p:attrName>
                                        </p:attrNameLst>
                                      </p:cBhvr>
                                      <p:to>
                                        <p:strVal val="visible"/>
                                      </p:to>
                                    </p:set>
                                    <p:anim calcmode="lin" valueType="num">
                                      <p:cBhvr additive="base">
                                        <p:cTn id="13" dur="450" fill="hold"/>
                                        <p:tgtEl>
                                          <p:spTgt spid="25"/>
                                        </p:tgtEl>
                                        <p:attrNameLst>
                                          <p:attrName>ppt_x</p:attrName>
                                        </p:attrNameLst>
                                      </p:cBhvr>
                                      <p:tavLst>
                                        <p:tav tm="0">
                                          <p:val>
                                            <p:strVal val="#ppt_x"/>
                                          </p:val>
                                        </p:tav>
                                        <p:tav tm="100000">
                                          <p:val>
                                            <p:strVal val="#ppt_x"/>
                                          </p:val>
                                        </p:tav>
                                      </p:tavLst>
                                    </p:anim>
                                    <p:anim calcmode="lin" valueType="num">
                                      <p:cBhvr additive="base">
                                        <p:cTn id="14" dur="450" fill="hold"/>
                                        <p:tgtEl>
                                          <p:spTgt spid="2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a:xfrm>
          <a:off x="0" y="0"/>
          <a:ext cx="0" cy="0"/>
          <a:chOff x="0" y="0"/>
          <a:chExt cx="0" cy="0"/>
        </a:xfrm>
      </p:grpSpPr>
      <p:sp>
        <p:nvSpPr>
          <p:cNvPr id="2" name="!!Anchor_Kicker_Rail">
            <a:extLst>
              <a:ext uri="{FF2B5EF4-FFF2-40B4-BE49-F238E27FC236}">
                <a16:creationId xmlns:a16="http://schemas.microsoft.com/office/drawing/2014/main" id="{0C1096F2-80BE-84C2-B589-25D95BB5F3FE}"/>
              </a:ext>
            </a:extLst>
          </p:cNvPr>
          <p:cNvSpPr txBox="1"/>
          <p:nvPr/>
        </p:nvSpPr>
        <p:spPr>
          <a:xfrm>
            <a:off x="609600" y="457200"/>
            <a:ext cx="9956800" cy="276999"/>
          </a:xfrm>
          <a:prstGeom prst="rect">
            <a:avLst/>
          </a:prstGeom>
          <a:noFill/>
        </p:spPr>
        <p:txBody>
          <a:bodyPr vert="horz" rtlCol="0">
            <a:spAutoFit/>
          </a:bodyPr>
          <a:lstStyle/>
          <a:p>
            <a:r>
              <a:rPr lang="en-US" sz="1200" b="1">
                <a:solidFill>
                  <a:srgbClr val="0284C7"/>
                </a:solidFill>
                <a:latin typeface="Segoe UI" panose="020B0502040204020203" pitchFamily="34" charset="0"/>
              </a:rPr>
              <a:t>BẢNG SỐNG  •  TRỌNG TÂM</a:t>
            </a:r>
          </a:p>
        </p:txBody>
      </p:sp>
      <p:sp>
        <p:nvSpPr>
          <p:cNvPr id="3" name="!!Anchor_Slide_Tracker">
            <a:extLst>
              <a:ext uri="{FF2B5EF4-FFF2-40B4-BE49-F238E27FC236}">
                <a16:creationId xmlns:a16="http://schemas.microsoft.com/office/drawing/2014/main" id="{65A65935-BF2C-A720-2212-9A594C50D97E}"/>
              </a:ext>
            </a:extLst>
          </p:cNvPr>
          <p:cNvSpPr txBox="1"/>
          <p:nvPr/>
        </p:nvSpPr>
        <p:spPr>
          <a:xfrm>
            <a:off x="10820400" y="457200"/>
            <a:ext cx="762000" cy="276999"/>
          </a:xfrm>
          <a:prstGeom prst="rect">
            <a:avLst/>
          </a:prstGeom>
          <a:noFill/>
        </p:spPr>
        <p:txBody>
          <a:bodyPr vert="horz" rtlCol="0">
            <a:spAutoFit/>
          </a:bodyPr>
          <a:lstStyle/>
          <a:p>
            <a:pPr algn="r"/>
            <a:r>
              <a:rPr lang="en-US" sz="1200" b="1">
                <a:solidFill>
                  <a:srgbClr val="334155"/>
                </a:solidFill>
                <a:latin typeface="Bahnschrift" panose="020B0502040204020203" pitchFamily="34" charset="0"/>
              </a:rPr>
              <a:t>17 / 22</a:t>
            </a:r>
          </a:p>
        </p:txBody>
      </p:sp>
      <p:sp>
        <p:nvSpPr>
          <p:cNvPr id="4" name="!!Anchor_Assertion_Title">
            <a:extLst>
              <a:ext uri="{FF2B5EF4-FFF2-40B4-BE49-F238E27FC236}">
                <a16:creationId xmlns:a16="http://schemas.microsoft.com/office/drawing/2014/main" id="{A8A02967-5EFD-EA67-B378-F8F95917015E}"/>
              </a:ext>
            </a:extLst>
          </p:cNvPr>
          <p:cNvSpPr txBox="1"/>
          <p:nvPr/>
        </p:nvSpPr>
        <p:spPr>
          <a:xfrm>
            <a:off x="609600" y="711200"/>
            <a:ext cx="10972800" cy="369332"/>
          </a:xfrm>
          <a:prstGeom prst="rect">
            <a:avLst/>
          </a:prstGeom>
          <a:noFill/>
        </p:spPr>
        <p:txBody>
          <a:bodyPr vert="horz" wrap="square" tIns="0" bIns="0" rtlCol="0">
            <a:spAutoFit/>
          </a:bodyPr>
          <a:lstStyle/>
          <a:p>
            <a:r>
              <a:rPr lang="en-US" sz="2400" b="1">
                <a:solidFill>
                  <a:srgbClr val="0F172A"/>
                </a:solidFill>
                <a:latin typeface="Segoe UI" panose="020B0502040204020203" pitchFamily="34" charset="0"/>
              </a:rPr>
              <a:t>Bảng Sống (Life Table) Và Kỳ Vọng Sống Khi Sinh (Life Expectancy)</a:t>
            </a:r>
          </a:p>
        </p:txBody>
      </p:sp>
      <p:graphicFrame>
        <p:nvGraphicFramePr>
          <p:cNvPr id="5" name="!!Stage_Hero_Container">
            <a:extLst>
              <a:ext uri="{FF2B5EF4-FFF2-40B4-BE49-F238E27FC236}">
                <a16:creationId xmlns:a16="http://schemas.microsoft.com/office/drawing/2014/main" id="{39A76B26-1D01-1D5A-FAE2-0E7F5A249C5A}"/>
              </a:ext>
            </a:extLst>
          </p:cNvPr>
          <p:cNvGraphicFramePr>
            <a:graphicFrameLocks noGrp="1"/>
          </p:cNvGraphicFramePr>
          <p:nvPr>
            <p:extLst>
              <p:ext uri="{D42A27DB-BD31-4B8C-83A1-F6EECF244321}">
                <p14:modId xmlns:p14="http://schemas.microsoft.com/office/powerpoint/2010/main" val="4002842540"/>
              </p:ext>
            </p:extLst>
          </p:nvPr>
        </p:nvGraphicFramePr>
        <p:xfrm>
          <a:off x="609600" y="1676400"/>
          <a:ext cx="10972800" cy="4521200"/>
        </p:xfrm>
        <a:graphic>
          <a:graphicData uri="http://schemas.openxmlformats.org/drawingml/2006/table">
            <a:tbl>
              <a:tblPr firstRow="1" bandRow="1">
                <a:tableStyleId>{5C22544A-7EE6-4342-B048-85BDC9FD1C3A}</a:tableStyleId>
              </a:tblPr>
              <a:tblGrid>
                <a:gridCol w="2194560">
                  <a:extLst>
                    <a:ext uri="{9D8B030D-6E8A-4147-A177-3AD203B41FA5}">
                      <a16:colId xmlns:a16="http://schemas.microsoft.com/office/drawing/2014/main" val="474213376"/>
                    </a:ext>
                  </a:extLst>
                </a:gridCol>
                <a:gridCol w="2194560">
                  <a:extLst>
                    <a:ext uri="{9D8B030D-6E8A-4147-A177-3AD203B41FA5}">
                      <a16:colId xmlns:a16="http://schemas.microsoft.com/office/drawing/2014/main" val="3270089069"/>
                    </a:ext>
                  </a:extLst>
                </a:gridCol>
                <a:gridCol w="2194560">
                  <a:extLst>
                    <a:ext uri="{9D8B030D-6E8A-4147-A177-3AD203B41FA5}">
                      <a16:colId xmlns:a16="http://schemas.microsoft.com/office/drawing/2014/main" val="2785105112"/>
                    </a:ext>
                  </a:extLst>
                </a:gridCol>
                <a:gridCol w="2194560">
                  <a:extLst>
                    <a:ext uri="{9D8B030D-6E8A-4147-A177-3AD203B41FA5}">
                      <a16:colId xmlns:a16="http://schemas.microsoft.com/office/drawing/2014/main" val="3377059136"/>
                    </a:ext>
                  </a:extLst>
                </a:gridCol>
                <a:gridCol w="2194560">
                  <a:extLst>
                    <a:ext uri="{9D8B030D-6E8A-4147-A177-3AD203B41FA5}">
                      <a16:colId xmlns:a16="http://schemas.microsoft.com/office/drawing/2014/main" val="3177964830"/>
                    </a:ext>
                  </a:extLst>
                </a:gridCol>
              </a:tblGrid>
              <a:tr h="645886">
                <a:tc>
                  <a:txBody>
                    <a:bodyPr/>
                    <a:lstStyle/>
                    <a:p>
                      <a:pPr algn="l"/>
                      <a:r>
                        <a:rPr lang="en-US" sz="1300" b="1">
                          <a:solidFill>
                            <a:srgbClr val="FFFFFF"/>
                          </a:solidFill>
                          <a:latin typeface="Segoe UI" panose="020B0502040204020203" pitchFamily="34" charset="0"/>
                        </a:rPr>
                        <a:t>ĐỘ TUỔI (X)</a:t>
                      </a:r>
                    </a:p>
                  </a:txBody>
                  <a:tcPr marT="76200" marB="76200" anchor="ctr">
                    <a:solidFill>
                      <a:srgbClr val="0284C7"/>
                    </a:solidFill>
                  </a:tcPr>
                </a:tc>
                <a:tc>
                  <a:txBody>
                    <a:bodyPr/>
                    <a:lstStyle/>
                    <a:p>
                      <a:pPr algn="ctr"/>
                      <a:r>
                        <a:rPr lang="en-US" sz="1300" b="1">
                          <a:solidFill>
                            <a:srgbClr val="FFFFFF"/>
                          </a:solidFill>
                          <a:latin typeface="Segoe UI" panose="020B0502040204020203" pitchFamily="34" charset="0"/>
                        </a:rPr>
                        <a:t>SỐ SỐNG SÓT (LX)</a:t>
                      </a:r>
                    </a:p>
                  </a:txBody>
                  <a:tcPr marT="76200" marB="76200" anchor="ctr">
                    <a:solidFill>
                      <a:srgbClr val="0284C7"/>
                    </a:solidFill>
                  </a:tcPr>
                </a:tc>
                <a:tc>
                  <a:txBody>
                    <a:bodyPr/>
                    <a:lstStyle/>
                    <a:p>
                      <a:pPr algn="ctr"/>
                      <a:r>
                        <a:rPr lang="nn-NO" sz="1300" b="1">
                          <a:solidFill>
                            <a:srgbClr val="FFFFFF"/>
                          </a:solidFill>
                          <a:latin typeface="Segoe UI" panose="020B0502040204020203" pitchFamily="34" charset="0"/>
                        </a:rPr>
                        <a:t>SỐ CA TỬ VONG (DX)</a:t>
                      </a:r>
                      <a:endParaRPr lang="en-US" sz="1300" b="1">
                        <a:solidFill>
                          <a:srgbClr val="FFFFFF"/>
                        </a:solidFill>
                        <a:latin typeface="Segoe UI" panose="020B0502040204020203" pitchFamily="34" charset="0"/>
                      </a:endParaRPr>
                    </a:p>
                  </a:txBody>
                  <a:tcPr marT="76200" marB="76200" anchor="ctr">
                    <a:solidFill>
                      <a:srgbClr val="0284C7"/>
                    </a:solidFill>
                  </a:tcPr>
                </a:tc>
                <a:tc>
                  <a:txBody>
                    <a:bodyPr/>
                    <a:lstStyle/>
                    <a:p>
                      <a:pPr algn="ctr"/>
                      <a:r>
                        <a:rPr lang="en-US" sz="1300" b="1">
                          <a:solidFill>
                            <a:srgbClr val="FFFFFF"/>
                          </a:solidFill>
                          <a:latin typeface="Segoe UI" panose="020B0502040204020203" pitchFamily="34" charset="0"/>
                        </a:rPr>
                        <a:t>XÁC SUẤT CHẾT (QX)</a:t>
                      </a:r>
                    </a:p>
                  </a:txBody>
                  <a:tcPr marT="76200" marB="76200" anchor="ctr">
                    <a:solidFill>
                      <a:srgbClr val="0284C7"/>
                    </a:solidFill>
                  </a:tcPr>
                </a:tc>
                <a:tc>
                  <a:txBody>
                    <a:bodyPr/>
                    <a:lstStyle/>
                    <a:p>
                      <a:pPr algn="ctr"/>
                      <a:r>
                        <a:rPr lang="en-US" sz="1300" b="1">
                          <a:solidFill>
                            <a:srgbClr val="FFFFFF"/>
                          </a:solidFill>
                          <a:latin typeface="Segoe UI" panose="020B0502040204020203" pitchFamily="34" charset="0"/>
                        </a:rPr>
                        <a:t>KỲ VỌNG SỐNG (EX)</a:t>
                      </a:r>
                    </a:p>
                  </a:txBody>
                  <a:tcPr marT="76200" marB="76200" anchor="ctr">
                    <a:solidFill>
                      <a:srgbClr val="0284C7"/>
                    </a:solidFill>
                  </a:tcPr>
                </a:tc>
                <a:extLst>
                  <a:ext uri="{0D108BD9-81ED-4DB2-BD59-A6C34878D82A}">
                    <a16:rowId xmlns:a16="http://schemas.microsoft.com/office/drawing/2014/main" val="2040513048"/>
                  </a:ext>
                </a:extLst>
              </a:tr>
              <a:tr h="645886">
                <a:tc>
                  <a:txBody>
                    <a:bodyPr/>
                    <a:lstStyle/>
                    <a:p>
                      <a:pPr algn="l"/>
                      <a:r>
                        <a:rPr lang="vi-VN" sz="1200" b="1">
                          <a:solidFill>
                            <a:srgbClr val="0F172A"/>
                          </a:solidFill>
                          <a:latin typeface="Segoe UI" panose="020B0502040204020203" pitchFamily="34" charset="0"/>
                        </a:rPr>
                        <a:t>0 (Sơ sinh)</a:t>
                      </a:r>
                      <a:endParaRPr lang="en-US" sz="1200" b="1">
                        <a:solidFill>
                          <a:srgbClr val="0F172A"/>
                        </a:solidFill>
                        <a:latin typeface="Segoe UI" panose="020B0502040204020203" pitchFamily="34" charset="0"/>
                      </a:endParaRPr>
                    </a:p>
                  </a:txBody>
                  <a:tcPr marT="76200" marB="76200" anchor="ctr">
                    <a:solidFill>
                      <a:srgbClr val="F1F5F9"/>
                    </a:solidFill>
                  </a:tcPr>
                </a:tc>
                <a:tc>
                  <a:txBody>
                    <a:bodyPr/>
                    <a:lstStyle/>
                    <a:p>
                      <a:pPr algn="ctr"/>
                      <a:r>
                        <a:rPr lang="en-US" sz="1200" b="0">
                          <a:solidFill>
                            <a:srgbClr val="0F172A"/>
                          </a:solidFill>
                          <a:latin typeface="Segoe UI" panose="020B0502040204020203" pitchFamily="34" charset="0"/>
                        </a:rPr>
                        <a:t>100,000</a:t>
                      </a:r>
                    </a:p>
                  </a:txBody>
                  <a:tcPr marT="76200" marB="76200" anchor="ctr">
                    <a:solidFill>
                      <a:srgbClr val="F1F5F9"/>
                    </a:solidFill>
                  </a:tcPr>
                </a:tc>
                <a:tc>
                  <a:txBody>
                    <a:bodyPr/>
                    <a:lstStyle/>
                    <a:p>
                      <a:pPr algn="ctr"/>
                      <a:r>
                        <a:rPr lang="en-US" sz="1200" b="0">
                          <a:solidFill>
                            <a:srgbClr val="0F172A"/>
                          </a:solidFill>
                          <a:latin typeface="Segoe UI" panose="020B0502040204020203" pitchFamily="34" charset="0"/>
                        </a:rPr>
                        <a:t>1,160</a:t>
                      </a:r>
                    </a:p>
                  </a:txBody>
                  <a:tcPr marT="76200" marB="76200" anchor="ctr">
                    <a:solidFill>
                      <a:srgbClr val="F1F5F9"/>
                    </a:solidFill>
                  </a:tcPr>
                </a:tc>
                <a:tc>
                  <a:txBody>
                    <a:bodyPr/>
                    <a:lstStyle/>
                    <a:p>
                      <a:pPr algn="ctr"/>
                      <a:r>
                        <a:rPr lang="en-US" sz="1200" b="0">
                          <a:solidFill>
                            <a:srgbClr val="0F172A"/>
                          </a:solidFill>
                          <a:latin typeface="Segoe UI" panose="020B0502040204020203" pitchFamily="34" charset="0"/>
                        </a:rPr>
                        <a:t>0.0116</a:t>
                      </a:r>
                    </a:p>
                  </a:txBody>
                  <a:tcPr marT="76200" marB="76200" anchor="ctr">
                    <a:solidFill>
                      <a:srgbClr val="F1F5F9"/>
                    </a:solidFill>
                  </a:tcPr>
                </a:tc>
                <a:tc>
                  <a:txBody>
                    <a:bodyPr/>
                    <a:lstStyle/>
                    <a:p>
                      <a:pPr algn="ctr"/>
                      <a:r>
                        <a:rPr lang="en-US" sz="1200" b="0">
                          <a:solidFill>
                            <a:srgbClr val="0F172A"/>
                          </a:solidFill>
                          <a:latin typeface="Segoe UI" panose="020B0502040204020203" pitchFamily="34" charset="0"/>
                        </a:rPr>
                        <a:t>73.7 năm</a:t>
                      </a:r>
                    </a:p>
                  </a:txBody>
                  <a:tcPr marT="76200" marB="76200" anchor="ctr">
                    <a:solidFill>
                      <a:srgbClr val="F1F5F9"/>
                    </a:solidFill>
                  </a:tcPr>
                </a:tc>
                <a:extLst>
                  <a:ext uri="{0D108BD9-81ED-4DB2-BD59-A6C34878D82A}">
                    <a16:rowId xmlns:a16="http://schemas.microsoft.com/office/drawing/2014/main" val="256046623"/>
                  </a:ext>
                </a:extLst>
              </a:tr>
              <a:tr h="645886">
                <a:tc>
                  <a:txBody>
                    <a:bodyPr/>
                    <a:lstStyle/>
                    <a:p>
                      <a:pPr algn="l"/>
                      <a:r>
                        <a:rPr lang="en-US" sz="1200" b="1">
                          <a:solidFill>
                            <a:srgbClr val="0F172A"/>
                          </a:solidFill>
                          <a:latin typeface="Segoe UI" panose="020B0502040204020203" pitchFamily="34" charset="0"/>
                        </a:rPr>
                        <a:t>1 - 4 tuổi</a:t>
                      </a:r>
                    </a:p>
                  </a:txBody>
                  <a:tcPr marT="76200" marB="76200" anchor="ctr">
                    <a:solidFill>
                      <a:srgbClr val="FFFFFF"/>
                    </a:solidFill>
                  </a:tcPr>
                </a:tc>
                <a:tc>
                  <a:txBody>
                    <a:bodyPr/>
                    <a:lstStyle/>
                    <a:p>
                      <a:pPr algn="ctr"/>
                      <a:r>
                        <a:rPr lang="en-US" sz="1200" b="0">
                          <a:solidFill>
                            <a:srgbClr val="0F172A"/>
                          </a:solidFill>
                          <a:latin typeface="Segoe UI" panose="020B0502040204020203" pitchFamily="34" charset="0"/>
                        </a:rPr>
                        <a:t>98,840</a:t>
                      </a:r>
                    </a:p>
                  </a:txBody>
                  <a:tcPr marT="76200" marB="76200" anchor="ctr">
                    <a:solidFill>
                      <a:srgbClr val="FFFFFF"/>
                    </a:solidFill>
                  </a:tcPr>
                </a:tc>
                <a:tc>
                  <a:txBody>
                    <a:bodyPr/>
                    <a:lstStyle/>
                    <a:p>
                      <a:pPr algn="ctr"/>
                      <a:r>
                        <a:rPr lang="en-US" sz="1200" b="0">
                          <a:solidFill>
                            <a:srgbClr val="0F172A"/>
                          </a:solidFill>
                          <a:latin typeface="Segoe UI" panose="020B0502040204020203" pitchFamily="34" charset="0"/>
                        </a:rPr>
                        <a:t>660</a:t>
                      </a:r>
                    </a:p>
                  </a:txBody>
                  <a:tcPr marT="76200" marB="76200" anchor="ctr">
                    <a:solidFill>
                      <a:srgbClr val="FFFFFF"/>
                    </a:solidFill>
                  </a:tcPr>
                </a:tc>
                <a:tc>
                  <a:txBody>
                    <a:bodyPr/>
                    <a:lstStyle/>
                    <a:p>
                      <a:pPr algn="ctr"/>
                      <a:r>
                        <a:rPr lang="en-US" sz="1200" b="0">
                          <a:solidFill>
                            <a:srgbClr val="0F172A"/>
                          </a:solidFill>
                          <a:latin typeface="Segoe UI" panose="020B0502040204020203" pitchFamily="34" charset="0"/>
                        </a:rPr>
                        <a:t>0.0067</a:t>
                      </a:r>
                    </a:p>
                  </a:txBody>
                  <a:tcPr marT="76200" marB="76200" anchor="ctr">
                    <a:solidFill>
                      <a:srgbClr val="FFFFFF"/>
                    </a:solidFill>
                  </a:tcPr>
                </a:tc>
                <a:tc>
                  <a:txBody>
                    <a:bodyPr/>
                    <a:lstStyle/>
                    <a:p>
                      <a:pPr algn="ctr"/>
                      <a:r>
                        <a:rPr lang="en-US" sz="1200" b="0">
                          <a:solidFill>
                            <a:srgbClr val="0F172A"/>
                          </a:solidFill>
                          <a:latin typeface="Segoe UI" panose="020B0502040204020203" pitchFamily="34" charset="0"/>
                        </a:rPr>
                        <a:t>73.6 năm</a:t>
                      </a:r>
                    </a:p>
                  </a:txBody>
                  <a:tcPr marT="76200" marB="76200" anchor="ctr">
                    <a:solidFill>
                      <a:srgbClr val="FFFFFF"/>
                    </a:solidFill>
                  </a:tcPr>
                </a:tc>
                <a:extLst>
                  <a:ext uri="{0D108BD9-81ED-4DB2-BD59-A6C34878D82A}">
                    <a16:rowId xmlns:a16="http://schemas.microsoft.com/office/drawing/2014/main" val="4102811509"/>
                  </a:ext>
                </a:extLst>
              </a:tr>
              <a:tr h="645886">
                <a:tc>
                  <a:txBody>
                    <a:bodyPr/>
                    <a:lstStyle/>
                    <a:p>
                      <a:pPr algn="l"/>
                      <a:r>
                        <a:rPr lang="en-US" sz="1200" b="1">
                          <a:solidFill>
                            <a:srgbClr val="0F172A"/>
                          </a:solidFill>
                          <a:latin typeface="Segoe UI" panose="020B0502040204020203" pitchFamily="34" charset="0"/>
                        </a:rPr>
                        <a:t>5 - 14 tuổi</a:t>
                      </a:r>
                    </a:p>
                  </a:txBody>
                  <a:tcPr marT="76200" marB="76200" anchor="ctr">
                    <a:solidFill>
                      <a:srgbClr val="F1F5F9"/>
                    </a:solidFill>
                  </a:tcPr>
                </a:tc>
                <a:tc>
                  <a:txBody>
                    <a:bodyPr/>
                    <a:lstStyle/>
                    <a:p>
                      <a:pPr algn="ctr"/>
                      <a:r>
                        <a:rPr lang="en-US" sz="1200" b="0">
                          <a:solidFill>
                            <a:srgbClr val="0F172A"/>
                          </a:solidFill>
                          <a:latin typeface="Segoe UI" panose="020B0502040204020203" pitchFamily="34" charset="0"/>
                        </a:rPr>
                        <a:t>98,180</a:t>
                      </a:r>
                    </a:p>
                  </a:txBody>
                  <a:tcPr marT="76200" marB="76200" anchor="ctr">
                    <a:solidFill>
                      <a:srgbClr val="F1F5F9"/>
                    </a:solidFill>
                  </a:tcPr>
                </a:tc>
                <a:tc>
                  <a:txBody>
                    <a:bodyPr/>
                    <a:lstStyle/>
                    <a:p>
                      <a:pPr algn="ctr"/>
                      <a:r>
                        <a:rPr lang="en-US" sz="1200" b="0">
                          <a:solidFill>
                            <a:srgbClr val="0F172A"/>
                          </a:solidFill>
                          <a:latin typeface="Segoe UI" panose="020B0502040204020203" pitchFamily="34" charset="0"/>
                        </a:rPr>
                        <a:t>390</a:t>
                      </a:r>
                    </a:p>
                  </a:txBody>
                  <a:tcPr marT="76200" marB="76200" anchor="ctr">
                    <a:solidFill>
                      <a:srgbClr val="F1F5F9"/>
                    </a:solidFill>
                  </a:tcPr>
                </a:tc>
                <a:tc>
                  <a:txBody>
                    <a:bodyPr/>
                    <a:lstStyle/>
                    <a:p>
                      <a:pPr algn="ctr"/>
                      <a:r>
                        <a:rPr lang="en-US" sz="1200" b="0">
                          <a:solidFill>
                            <a:srgbClr val="0F172A"/>
                          </a:solidFill>
                          <a:latin typeface="Segoe UI" panose="020B0502040204020203" pitchFamily="34" charset="0"/>
                        </a:rPr>
                        <a:t>0.0040</a:t>
                      </a:r>
                    </a:p>
                  </a:txBody>
                  <a:tcPr marT="76200" marB="76200" anchor="ctr">
                    <a:solidFill>
                      <a:srgbClr val="F1F5F9"/>
                    </a:solidFill>
                  </a:tcPr>
                </a:tc>
                <a:tc>
                  <a:txBody>
                    <a:bodyPr/>
                    <a:lstStyle/>
                    <a:p>
                      <a:pPr algn="ctr"/>
                      <a:r>
                        <a:rPr lang="en-US" sz="1200" b="0">
                          <a:solidFill>
                            <a:srgbClr val="0F172A"/>
                          </a:solidFill>
                          <a:latin typeface="Segoe UI" panose="020B0502040204020203" pitchFamily="34" charset="0"/>
                        </a:rPr>
                        <a:t>69.8 năm</a:t>
                      </a:r>
                    </a:p>
                  </a:txBody>
                  <a:tcPr marT="76200" marB="76200" anchor="ctr">
                    <a:solidFill>
                      <a:srgbClr val="F1F5F9"/>
                    </a:solidFill>
                  </a:tcPr>
                </a:tc>
                <a:extLst>
                  <a:ext uri="{0D108BD9-81ED-4DB2-BD59-A6C34878D82A}">
                    <a16:rowId xmlns:a16="http://schemas.microsoft.com/office/drawing/2014/main" val="1311823059"/>
                  </a:ext>
                </a:extLst>
              </a:tr>
              <a:tr h="645886">
                <a:tc>
                  <a:txBody>
                    <a:bodyPr/>
                    <a:lstStyle/>
                    <a:p>
                      <a:pPr algn="l"/>
                      <a:r>
                        <a:rPr lang="en-US" sz="1200" b="1">
                          <a:solidFill>
                            <a:srgbClr val="0F172A"/>
                          </a:solidFill>
                          <a:latin typeface="Segoe UI" panose="020B0502040204020203" pitchFamily="34" charset="0"/>
                        </a:rPr>
                        <a:t>15 - 59 tuổi</a:t>
                      </a:r>
                    </a:p>
                  </a:txBody>
                  <a:tcPr marT="76200" marB="76200" anchor="ctr">
                    <a:solidFill>
                      <a:srgbClr val="FFFFFF"/>
                    </a:solidFill>
                  </a:tcPr>
                </a:tc>
                <a:tc>
                  <a:txBody>
                    <a:bodyPr/>
                    <a:lstStyle/>
                    <a:p>
                      <a:pPr algn="ctr"/>
                      <a:r>
                        <a:rPr lang="en-US" sz="1200" b="0">
                          <a:solidFill>
                            <a:srgbClr val="0F172A"/>
                          </a:solidFill>
                          <a:latin typeface="Segoe UI" panose="020B0502040204020203" pitchFamily="34" charset="0"/>
                        </a:rPr>
                        <a:t>97,790</a:t>
                      </a:r>
                    </a:p>
                  </a:txBody>
                  <a:tcPr marT="76200" marB="76200" anchor="ctr">
                    <a:solidFill>
                      <a:srgbClr val="FFFFFF"/>
                    </a:solidFill>
                  </a:tcPr>
                </a:tc>
                <a:tc>
                  <a:txBody>
                    <a:bodyPr/>
                    <a:lstStyle/>
                    <a:p>
                      <a:pPr algn="ctr"/>
                      <a:r>
                        <a:rPr lang="en-US" sz="1200" b="0">
                          <a:solidFill>
                            <a:srgbClr val="0F172A"/>
                          </a:solidFill>
                          <a:latin typeface="Segoe UI" panose="020B0502040204020203" pitchFamily="34" charset="0"/>
                        </a:rPr>
                        <a:t>12,450</a:t>
                      </a:r>
                    </a:p>
                  </a:txBody>
                  <a:tcPr marT="76200" marB="76200" anchor="ctr">
                    <a:solidFill>
                      <a:srgbClr val="FFFFFF"/>
                    </a:solidFill>
                  </a:tcPr>
                </a:tc>
                <a:tc>
                  <a:txBody>
                    <a:bodyPr/>
                    <a:lstStyle/>
                    <a:p>
                      <a:pPr algn="ctr"/>
                      <a:r>
                        <a:rPr lang="en-US" sz="1200" b="0">
                          <a:solidFill>
                            <a:srgbClr val="0F172A"/>
                          </a:solidFill>
                          <a:latin typeface="Segoe UI" panose="020B0502040204020203" pitchFamily="34" charset="0"/>
                        </a:rPr>
                        <a:t>0.1273</a:t>
                      </a:r>
                    </a:p>
                  </a:txBody>
                  <a:tcPr marT="76200" marB="76200" anchor="ctr">
                    <a:solidFill>
                      <a:srgbClr val="FFFFFF"/>
                    </a:solidFill>
                  </a:tcPr>
                </a:tc>
                <a:tc>
                  <a:txBody>
                    <a:bodyPr/>
                    <a:lstStyle/>
                    <a:p>
                      <a:pPr algn="ctr"/>
                      <a:r>
                        <a:rPr lang="en-US" sz="1200" b="0">
                          <a:solidFill>
                            <a:srgbClr val="0F172A"/>
                          </a:solidFill>
                          <a:latin typeface="Segoe UI" panose="020B0502040204020203" pitchFamily="34" charset="0"/>
                        </a:rPr>
                        <a:t>60.1 năm</a:t>
                      </a:r>
                    </a:p>
                  </a:txBody>
                  <a:tcPr marT="76200" marB="76200" anchor="ctr">
                    <a:solidFill>
                      <a:srgbClr val="FFFFFF"/>
                    </a:solidFill>
                  </a:tcPr>
                </a:tc>
                <a:extLst>
                  <a:ext uri="{0D108BD9-81ED-4DB2-BD59-A6C34878D82A}">
                    <a16:rowId xmlns:a16="http://schemas.microsoft.com/office/drawing/2014/main" val="1069091234"/>
                  </a:ext>
                </a:extLst>
              </a:tr>
              <a:tr h="645886">
                <a:tc>
                  <a:txBody>
                    <a:bodyPr/>
                    <a:lstStyle/>
                    <a:p>
                      <a:pPr algn="l"/>
                      <a:r>
                        <a:rPr lang="en-US" sz="1200" b="1">
                          <a:solidFill>
                            <a:srgbClr val="0F172A"/>
                          </a:solidFill>
                          <a:latin typeface="Segoe UI" panose="020B0502040204020203" pitchFamily="34" charset="0"/>
                        </a:rPr>
                        <a:t>60 - 79 tuổi</a:t>
                      </a:r>
                    </a:p>
                  </a:txBody>
                  <a:tcPr marT="76200" marB="76200" anchor="ctr">
                    <a:solidFill>
                      <a:srgbClr val="F1F5F9"/>
                    </a:solidFill>
                  </a:tcPr>
                </a:tc>
                <a:tc>
                  <a:txBody>
                    <a:bodyPr/>
                    <a:lstStyle/>
                    <a:p>
                      <a:pPr algn="ctr"/>
                      <a:r>
                        <a:rPr lang="en-US" sz="1200" b="0">
                          <a:solidFill>
                            <a:srgbClr val="0F172A"/>
                          </a:solidFill>
                          <a:latin typeface="Segoe UI" panose="020B0502040204020203" pitchFamily="34" charset="0"/>
                        </a:rPr>
                        <a:t>85,340</a:t>
                      </a:r>
                    </a:p>
                  </a:txBody>
                  <a:tcPr marT="76200" marB="76200" anchor="ctr">
                    <a:solidFill>
                      <a:srgbClr val="F1F5F9"/>
                    </a:solidFill>
                  </a:tcPr>
                </a:tc>
                <a:tc>
                  <a:txBody>
                    <a:bodyPr/>
                    <a:lstStyle/>
                    <a:p>
                      <a:pPr algn="ctr"/>
                      <a:r>
                        <a:rPr lang="en-US" sz="1200" b="0">
                          <a:solidFill>
                            <a:srgbClr val="0F172A"/>
                          </a:solidFill>
                          <a:latin typeface="Segoe UI" panose="020B0502040204020203" pitchFamily="34" charset="0"/>
                        </a:rPr>
                        <a:t>42,800</a:t>
                      </a:r>
                    </a:p>
                  </a:txBody>
                  <a:tcPr marT="76200" marB="76200" anchor="ctr">
                    <a:solidFill>
                      <a:srgbClr val="F1F5F9"/>
                    </a:solidFill>
                  </a:tcPr>
                </a:tc>
                <a:tc>
                  <a:txBody>
                    <a:bodyPr/>
                    <a:lstStyle/>
                    <a:p>
                      <a:pPr algn="ctr"/>
                      <a:r>
                        <a:rPr lang="en-US" sz="1200" b="0">
                          <a:solidFill>
                            <a:srgbClr val="0F172A"/>
                          </a:solidFill>
                          <a:latin typeface="Segoe UI" panose="020B0502040204020203" pitchFamily="34" charset="0"/>
                        </a:rPr>
                        <a:t>0.5015</a:t>
                      </a:r>
                    </a:p>
                  </a:txBody>
                  <a:tcPr marT="76200" marB="76200" anchor="ctr">
                    <a:solidFill>
                      <a:srgbClr val="F1F5F9"/>
                    </a:solidFill>
                  </a:tcPr>
                </a:tc>
                <a:tc>
                  <a:txBody>
                    <a:bodyPr/>
                    <a:lstStyle/>
                    <a:p>
                      <a:pPr algn="ctr"/>
                      <a:r>
                        <a:rPr lang="en-US" sz="1200" b="0">
                          <a:solidFill>
                            <a:srgbClr val="0F172A"/>
                          </a:solidFill>
                          <a:latin typeface="Segoe UI" panose="020B0502040204020203" pitchFamily="34" charset="0"/>
                        </a:rPr>
                        <a:t>20.4 năm</a:t>
                      </a:r>
                    </a:p>
                  </a:txBody>
                  <a:tcPr marT="76200" marB="76200" anchor="ctr">
                    <a:solidFill>
                      <a:srgbClr val="F1F5F9"/>
                    </a:solidFill>
                  </a:tcPr>
                </a:tc>
                <a:extLst>
                  <a:ext uri="{0D108BD9-81ED-4DB2-BD59-A6C34878D82A}">
                    <a16:rowId xmlns:a16="http://schemas.microsoft.com/office/drawing/2014/main" val="2361339849"/>
                  </a:ext>
                </a:extLst>
              </a:tr>
              <a:tr h="645886">
                <a:tc>
                  <a:txBody>
                    <a:bodyPr/>
                    <a:lstStyle/>
                    <a:p>
                      <a:pPr algn="l"/>
                      <a:r>
                        <a:rPr lang="en-US" sz="1200" b="1">
                          <a:solidFill>
                            <a:srgbClr val="0F172A"/>
                          </a:solidFill>
                          <a:latin typeface="Segoe UI" panose="020B0502040204020203" pitchFamily="34" charset="0"/>
                        </a:rPr>
                        <a:t>80 tuổi trở lên</a:t>
                      </a:r>
                    </a:p>
                  </a:txBody>
                  <a:tcPr marT="76200" marB="76200" anchor="ctr">
                    <a:solidFill>
                      <a:srgbClr val="FFFFFF"/>
                    </a:solidFill>
                  </a:tcPr>
                </a:tc>
                <a:tc>
                  <a:txBody>
                    <a:bodyPr/>
                    <a:lstStyle/>
                    <a:p>
                      <a:pPr algn="ctr"/>
                      <a:r>
                        <a:rPr lang="en-US" sz="1200" b="0">
                          <a:solidFill>
                            <a:srgbClr val="0F172A"/>
                          </a:solidFill>
                          <a:latin typeface="Segoe UI" panose="020B0502040204020203" pitchFamily="34" charset="0"/>
                        </a:rPr>
                        <a:t>42,540</a:t>
                      </a:r>
                    </a:p>
                  </a:txBody>
                  <a:tcPr marT="76200" marB="76200" anchor="ctr">
                    <a:solidFill>
                      <a:srgbClr val="FFFFFF"/>
                    </a:solidFill>
                  </a:tcPr>
                </a:tc>
                <a:tc>
                  <a:txBody>
                    <a:bodyPr/>
                    <a:lstStyle/>
                    <a:p>
                      <a:pPr algn="ctr"/>
                      <a:r>
                        <a:rPr lang="en-US" sz="1200" b="0">
                          <a:solidFill>
                            <a:srgbClr val="0F172A"/>
                          </a:solidFill>
                          <a:latin typeface="Segoe UI" panose="020B0502040204020203" pitchFamily="34" charset="0"/>
                        </a:rPr>
                        <a:t>42,540</a:t>
                      </a:r>
                    </a:p>
                  </a:txBody>
                  <a:tcPr marT="76200" marB="76200" anchor="ctr">
                    <a:solidFill>
                      <a:srgbClr val="FFFFFF"/>
                    </a:solidFill>
                  </a:tcPr>
                </a:tc>
                <a:tc>
                  <a:txBody>
                    <a:bodyPr/>
                    <a:lstStyle/>
                    <a:p>
                      <a:pPr algn="ctr"/>
                      <a:r>
                        <a:rPr lang="en-US" sz="1200" b="0">
                          <a:solidFill>
                            <a:srgbClr val="0F172A"/>
                          </a:solidFill>
                          <a:latin typeface="Segoe UI" panose="020B0502040204020203" pitchFamily="34" charset="0"/>
                        </a:rPr>
                        <a:t>1.0000</a:t>
                      </a:r>
                    </a:p>
                  </a:txBody>
                  <a:tcPr marT="76200" marB="76200" anchor="ctr">
                    <a:solidFill>
                      <a:srgbClr val="FFFFFF"/>
                    </a:solidFill>
                  </a:tcPr>
                </a:tc>
                <a:tc>
                  <a:txBody>
                    <a:bodyPr/>
                    <a:lstStyle/>
                    <a:p>
                      <a:pPr algn="ctr"/>
                      <a:r>
                        <a:rPr lang="en-US" sz="1200" b="0">
                          <a:solidFill>
                            <a:srgbClr val="0F172A"/>
                          </a:solidFill>
                          <a:latin typeface="Segoe UI" panose="020B0502040204020203" pitchFamily="34" charset="0"/>
                        </a:rPr>
                        <a:t>7.8 năm</a:t>
                      </a:r>
                    </a:p>
                  </a:txBody>
                  <a:tcPr marT="76200" marB="76200" anchor="ctr">
                    <a:solidFill>
                      <a:srgbClr val="FFFFFF"/>
                    </a:solidFill>
                  </a:tcPr>
                </a:tc>
                <a:extLst>
                  <a:ext uri="{0D108BD9-81ED-4DB2-BD59-A6C34878D82A}">
                    <a16:rowId xmlns:a16="http://schemas.microsoft.com/office/drawing/2014/main" val="2564978343"/>
                  </a:ext>
                </a:extLst>
              </a:tr>
            </a:tbl>
          </a:graphicData>
        </a:graphic>
      </p:graphicFrame>
      <p:sp>
        <p:nvSpPr>
          <p:cNvPr id="6" name="!!Anchor_Source_Footer">
            <a:extLst>
              <a:ext uri="{FF2B5EF4-FFF2-40B4-BE49-F238E27FC236}">
                <a16:creationId xmlns:a16="http://schemas.microsoft.com/office/drawing/2014/main" id="{05A9850E-776A-E889-8F16-A2C8DE3B3F66}"/>
              </a:ext>
            </a:extLst>
          </p:cNvPr>
          <p:cNvSpPr txBox="1"/>
          <p:nvPr/>
        </p:nvSpPr>
        <p:spPr>
          <a:xfrm>
            <a:off x="609600" y="6273800"/>
            <a:ext cx="10972800" cy="246221"/>
          </a:xfrm>
          <a:prstGeom prst="rect">
            <a:avLst/>
          </a:prstGeom>
          <a:noFill/>
        </p:spPr>
        <p:txBody>
          <a:bodyPr vert="horz" rtlCol="0">
            <a:spAutoFit/>
          </a:bodyPr>
          <a:lstStyle/>
          <a:p>
            <a:r>
              <a:rPr lang="en-US" sz="1000">
                <a:solidFill>
                  <a:srgbClr val="334155"/>
                </a:solidFill>
                <a:latin typeface="Segoe UI" panose="020B0502040204020203" pitchFamily="34" charset="0"/>
              </a:rPr>
              <a:t>Nguyên lý lập Bảng sống nhân khẩu học</a:t>
            </a:r>
          </a:p>
        </p:txBody>
      </p:sp>
    </p:spTree>
    <p:extLst>
      <p:ext uri="{BB962C8B-B14F-4D97-AF65-F5344CB8AC3E}">
        <p14:creationId xmlns:p14="http://schemas.microsoft.com/office/powerpoint/2010/main" val="2755185368"/>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850">
        <p159:morph option="byObject"/>
      </p:transition>
    </mc:Choice>
    <mc:Fallback>
      <p:transition spd="slow">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a:xfrm>
          <a:off x="0" y="0"/>
          <a:ext cx="0" cy="0"/>
          <a:chOff x="0" y="0"/>
          <a:chExt cx="0" cy="0"/>
        </a:xfrm>
      </p:grpSpPr>
      <p:sp>
        <p:nvSpPr>
          <p:cNvPr id="2" name="!!Anchor_Kicker_Rail">
            <a:extLst>
              <a:ext uri="{FF2B5EF4-FFF2-40B4-BE49-F238E27FC236}">
                <a16:creationId xmlns:a16="http://schemas.microsoft.com/office/drawing/2014/main" id="{04A335DC-FA54-78C0-4575-EAA5B59626AD}"/>
              </a:ext>
            </a:extLst>
          </p:cNvPr>
          <p:cNvSpPr txBox="1"/>
          <p:nvPr/>
        </p:nvSpPr>
        <p:spPr>
          <a:xfrm>
            <a:off x="609600" y="457200"/>
            <a:ext cx="9956800" cy="276999"/>
          </a:xfrm>
          <a:prstGeom prst="rect">
            <a:avLst/>
          </a:prstGeom>
          <a:noFill/>
        </p:spPr>
        <p:txBody>
          <a:bodyPr vert="horz" rtlCol="0">
            <a:spAutoFit/>
          </a:bodyPr>
          <a:lstStyle/>
          <a:p>
            <a:r>
              <a:rPr lang="vi-VN" sz="1200" b="1">
                <a:solidFill>
                  <a:srgbClr val="0284C7"/>
                </a:solidFill>
                <a:latin typeface="Segoe UI" panose="020B0502040204020203" pitchFamily="34" charset="0"/>
              </a:rPr>
              <a:t>YẾU TỐ ẢNH HƯỞNG CHẾT  •  TRỌNG TÂM</a:t>
            </a:r>
            <a:endParaRPr lang="en-US" sz="1200" b="1">
              <a:solidFill>
                <a:srgbClr val="0284C7"/>
              </a:solidFill>
              <a:latin typeface="Segoe UI" panose="020B0502040204020203" pitchFamily="34" charset="0"/>
            </a:endParaRPr>
          </a:p>
        </p:txBody>
      </p:sp>
      <p:sp>
        <p:nvSpPr>
          <p:cNvPr id="3" name="!!Anchor_Slide_Tracker">
            <a:extLst>
              <a:ext uri="{FF2B5EF4-FFF2-40B4-BE49-F238E27FC236}">
                <a16:creationId xmlns:a16="http://schemas.microsoft.com/office/drawing/2014/main" id="{552CB1D7-9485-59D5-7CD1-E50E6511C9FB}"/>
              </a:ext>
            </a:extLst>
          </p:cNvPr>
          <p:cNvSpPr txBox="1"/>
          <p:nvPr/>
        </p:nvSpPr>
        <p:spPr>
          <a:xfrm>
            <a:off x="10820400" y="457200"/>
            <a:ext cx="762000" cy="276999"/>
          </a:xfrm>
          <a:prstGeom prst="rect">
            <a:avLst/>
          </a:prstGeom>
          <a:noFill/>
        </p:spPr>
        <p:txBody>
          <a:bodyPr vert="horz" rtlCol="0">
            <a:spAutoFit/>
          </a:bodyPr>
          <a:lstStyle/>
          <a:p>
            <a:pPr algn="r"/>
            <a:r>
              <a:rPr lang="en-US" sz="1200" b="1">
                <a:solidFill>
                  <a:srgbClr val="334155"/>
                </a:solidFill>
                <a:latin typeface="Bahnschrift" panose="020B0502040204020203" pitchFamily="34" charset="0"/>
              </a:rPr>
              <a:t>18 / 22</a:t>
            </a:r>
          </a:p>
        </p:txBody>
      </p:sp>
      <p:sp>
        <p:nvSpPr>
          <p:cNvPr id="4" name="!!Anchor_Assertion_Title">
            <a:extLst>
              <a:ext uri="{FF2B5EF4-FFF2-40B4-BE49-F238E27FC236}">
                <a16:creationId xmlns:a16="http://schemas.microsoft.com/office/drawing/2014/main" id="{9D18971E-4036-E02F-1C67-6E6BAFDC4274}"/>
              </a:ext>
            </a:extLst>
          </p:cNvPr>
          <p:cNvSpPr txBox="1"/>
          <p:nvPr/>
        </p:nvSpPr>
        <p:spPr>
          <a:xfrm>
            <a:off x="609600" y="711200"/>
            <a:ext cx="10972800" cy="369332"/>
          </a:xfrm>
          <a:prstGeom prst="rect">
            <a:avLst/>
          </a:prstGeom>
          <a:noFill/>
        </p:spPr>
        <p:txBody>
          <a:bodyPr vert="horz" wrap="square" tIns="0" bIns="0" rtlCol="0">
            <a:spAutoFit/>
          </a:bodyPr>
          <a:lstStyle/>
          <a:p>
            <a:r>
              <a:rPr lang="vi-VN" sz="2400" b="1">
                <a:solidFill>
                  <a:srgbClr val="0F172A"/>
                </a:solidFill>
                <a:latin typeface="Segoe UI" panose="020B0502040204020203" pitchFamily="34" charset="0"/>
              </a:rPr>
              <a:t>Bốn Nhóm Yếu Tố Tác Động Đến Xu Hướng Giảm Mức Chết Toàn Cầu</a:t>
            </a:r>
            <a:endParaRPr lang="en-US" sz="2400" b="1">
              <a:solidFill>
                <a:srgbClr val="0F172A"/>
              </a:solidFill>
              <a:latin typeface="Segoe UI" panose="020B0502040204020203" pitchFamily="34" charset="0"/>
            </a:endParaRPr>
          </a:p>
        </p:txBody>
      </p:sp>
      <p:grpSp>
        <p:nvGrpSpPr>
          <p:cNvPr id="11" name="!!Stage_Hero_Container">
            <a:extLst>
              <a:ext uri="{FF2B5EF4-FFF2-40B4-BE49-F238E27FC236}">
                <a16:creationId xmlns:a16="http://schemas.microsoft.com/office/drawing/2014/main" id="{C0EAF8A8-8D41-2269-D8B5-9A18A2A27DBD}"/>
              </a:ext>
            </a:extLst>
          </p:cNvPr>
          <p:cNvGrpSpPr/>
          <p:nvPr/>
        </p:nvGrpSpPr>
        <p:grpSpPr>
          <a:xfrm>
            <a:off x="609600" y="1676400"/>
            <a:ext cx="3522133" cy="4521200"/>
            <a:chOff x="609600" y="1676400"/>
            <a:chExt cx="3522133" cy="4521200"/>
          </a:xfrm>
        </p:grpSpPr>
        <p:sp>
          <p:nvSpPr>
            <p:cNvPr id="5" name="Rectangle: Rounded Corners 4">
              <a:extLst>
                <a:ext uri="{FF2B5EF4-FFF2-40B4-BE49-F238E27FC236}">
                  <a16:creationId xmlns:a16="http://schemas.microsoft.com/office/drawing/2014/main" id="{DA01D8D3-5E29-EE69-57CF-106C201A256B}"/>
                </a:ext>
              </a:extLst>
            </p:cNvPr>
            <p:cNvSpPr/>
            <p:nvPr/>
          </p:nvSpPr>
          <p:spPr>
            <a:xfrm>
              <a:off x="609600" y="1676400"/>
              <a:ext cx="3522133" cy="4521200"/>
            </a:xfrm>
            <a:prstGeom prst="roundRect">
              <a:avLst/>
            </a:prstGeom>
            <a:solidFill>
              <a:srgbClr val="FFFFFF"/>
            </a:solidFill>
            <a:ln w="12700">
              <a:solidFill>
                <a:srgbClr val="CBD5E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a:extLst>
                <a:ext uri="{FF2B5EF4-FFF2-40B4-BE49-F238E27FC236}">
                  <a16:creationId xmlns:a16="http://schemas.microsoft.com/office/drawing/2014/main" id="{381079F9-9B12-0900-2D45-6357DA1AD719}"/>
                </a:ext>
              </a:extLst>
            </p:cNvPr>
            <p:cNvSpPr/>
            <p:nvPr/>
          </p:nvSpPr>
          <p:spPr>
            <a:xfrm>
              <a:off x="812800" y="1879600"/>
              <a:ext cx="457200" cy="38100"/>
            </a:xfrm>
            <a:prstGeom prst="rect">
              <a:avLst/>
            </a:prstGeom>
            <a:solidFill>
              <a:srgbClr val="0284C7"/>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Oval 6">
              <a:extLst>
                <a:ext uri="{FF2B5EF4-FFF2-40B4-BE49-F238E27FC236}">
                  <a16:creationId xmlns:a16="http://schemas.microsoft.com/office/drawing/2014/main" id="{3B28BD94-692D-D5B5-000F-E767648230F2}"/>
                </a:ext>
              </a:extLst>
            </p:cNvPr>
            <p:cNvSpPr/>
            <p:nvPr/>
          </p:nvSpPr>
          <p:spPr>
            <a:xfrm>
              <a:off x="812800" y="2006600"/>
              <a:ext cx="406400" cy="406400"/>
            </a:xfrm>
            <a:prstGeom prst="ellipse">
              <a:avLst/>
            </a:prstGeom>
            <a:solidFill>
              <a:srgbClr val="E0F2FE"/>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9" name="Graphic 8">
              <a:extLst>
                <a:ext uri="{FF2B5EF4-FFF2-40B4-BE49-F238E27FC236}">
                  <a16:creationId xmlns:a16="http://schemas.microsoft.com/office/drawing/2014/main" id="{34DCC345-786C-D8CA-F1DB-50CA64170A26}"/>
                </a:ext>
              </a:extLst>
            </p:cNvPr>
            <p:cNvPicPr>
              <a:picLocks/>
            </p:cNvPicPr>
            <p:nvPr/>
          </p:nvPicPr>
          <p:blipFill>
            <a:blip>
              <a:extLst>
                <a:ext uri="{96DAC541-7B7A-43D3-8B79-37D633B846F1}">
                  <asvg:svgBlip xmlns:asvg="http://schemas.microsoft.com/office/drawing/2016/SVG/main" r:embed="rId2"/>
                </a:ext>
              </a:extLst>
            </a:blip>
            <a:stretch>
              <a:fillRect/>
            </a:stretch>
          </p:blipFill>
          <p:spPr>
            <a:xfrm>
              <a:off x="876300" y="2070100"/>
              <a:ext cx="279400" cy="279400"/>
            </a:xfrm>
            <a:prstGeom prst="rect">
              <a:avLst/>
            </a:prstGeom>
          </p:spPr>
        </p:pic>
        <p:sp>
          <p:nvSpPr>
            <p:cNvPr id="10" name="TextBox 9">
              <a:extLst>
                <a:ext uri="{FF2B5EF4-FFF2-40B4-BE49-F238E27FC236}">
                  <a16:creationId xmlns:a16="http://schemas.microsoft.com/office/drawing/2014/main" id="{CC0C80A2-2D89-4D0B-53B2-6905AB15F0C1}"/>
                </a:ext>
              </a:extLst>
            </p:cNvPr>
            <p:cNvSpPr txBox="1"/>
            <p:nvPr/>
          </p:nvSpPr>
          <p:spPr>
            <a:xfrm>
              <a:off x="812800" y="2540000"/>
              <a:ext cx="3115733" cy="1620572"/>
            </a:xfrm>
            <a:prstGeom prst="rect">
              <a:avLst/>
            </a:prstGeom>
            <a:noFill/>
          </p:spPr>
          <p:txBody>
            <a:bodyPr vert="horz" wrap="square" lIns="0" tIns="0" rtlCol="0">
              <a:spAutoFit/>
            </a:bodyPr>
            <a:lstStyle/>
            <a:p>
              <a:pPr>
                <a:lnSpc>
                  <a:spcPct val="125000"/>
                </a:lnSpc>
                <a:spcAft>
                  <a:spcPts val="800"/>
                </a:spcAft>
              </a:pPr>
              <a:r>
                <a:rPr lang="en-US" b="1">
                  <a:solidFill>
                    <a:srgbClr val="0F172A"/>
                  </a:solidFill>
                  <a:latin typeface="Segoe UI" panose="020B0502040204020203" pitchFamily="34" charset="0"/>
                </a:rPr>
                <a:t>Tiến Bộ Y Học &amp; Vắc-xin
</a:t>
              </a:r>
              <a:r>
                <a:rPr lang="vi-VN" sz="1500">
                  <a:solidFill>
                    <a:srgbClr val="334155"/>
                  </a:solidFill>
                  <a:latin typeface="Segoe UI" panose="020B0502040204020203" pitchFamily="34" charset="0"/>
                </a:rPr>
                <a:t>Phát minh kháng sinh, chương trình tiêm chủng mở rộng và kỹ thuật phẫu thuật hiện đại xóa bỏ đại dịch truyền nhiễm.</a:t>
              </a:r>
              <a:endParaRPr lang="en-US" sz="1500">
                <a:solidFill>
                  <a:srgbClr val="334155"/>
                </a:solidFill>
                <a:latin typeface="Segoe UI" panose="020B0502040204020203" pitchFamily="34" charset="0"/>
              </a:endParaRPr>
            </a:p>
          </p:txBody>
        </p:sp>
      </p:grpSp>
      <p:grpSp>
        <p:nvGrpSpPr>
          <p:cNvPr id="18" name="!!Stage_Sub_Card_1">
            <a:extLst>
              <a:ext uri="{FF2B5EF4-FFF2-40B4-BE49-F238E27FC236}">
                <a16:creationId xmlns:a16="http://schemas.microsoft.com/office/drawing/2014/main" id="{10883D62-5ED8-C387-D2E6-F14F8B2CCD55}"/>
              </a:ext>
            </a:extLst>
          </p:cNvPr>
          <p:cNvGrpSpPr/>
          <p:nvPr/>
        </p:nvGrpSpPr>
        <p:grpSpPr>
          <a:xfrm>
            <a:off x="4334933" y="1676400"/>
            <a:ext cx="3522134" cy="4521200"/>
            <a:chOff x="4334933" y="1676400"/>
            <a:chExt cx="3522134" cy="4521200"/>
          </a:xfrm>
        </p:grpSpPr>
        <p:sp>
          <p:nvSpPr>
            <p:cNvPr id="12" name="Rectangle: Rounded Corners 11">
              <a:extLst>
                <a:ext uri="{FF2B5EF4-FFF2-40B4-BE49-F238E27FC236}">
                  <a16:creationId xmlns:a16="http://schemas.microsoft.com/office/drawing/2014/main" id="{847988F1-CE50-B571-12E3-2FFEEF6F5523}"/>
                </a:ext>
              </a:extLst>
            </p:cNvPr>
            <p:cNvSpPr/>
            <p:nvPr/>
          </p:nvSpPr>
          <p:spPr>
            <a:xfrm>
              <a:off x="4334933" y="1676400"/>
              <a:ext cx="3522134" cy="4521200"/>
            </a:xfrm>
            <a:prstGeom prst="roundRect">
              <a:avLst/>
            </a:prstGeom>
            <a:solidFill>
              <a:srgbClr val="FFFFFF"/>
            </a:solidFill>
            <a:ln w="12700">
              <a:solidFill>
                <a:srgbClr val="CBD5E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EBBEAFAA-F6CB-7D2A-2091-D8CEF25E89BD}"/>
                </a:ext>
              </a:extLst>
            </p:cNvPr>
            <p:cNvSpPr/>
            <p:nvPr/>
          </p:nvSpPr>
          <p:spPr>
            <a:xfrm>
              <a:off x="4538133" y="1879600"/>
              <a:ext cx="457200" cy="38100"/>
            </a:xfrm>
            <a:prstGeom prst="rect">
              <a:avLst/>
            </a:prstGeom>
            <a:solidFill>
              <a:srgbClr val="0284C7"/>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Oval 13">
              <a:extLst>
                <a:ext uri="{FF2B5EF4-FFF2-40B4-BE49-F238E27FC236}">
                  <a16:creationId xmlns:a16="http://schemas.microsoft.com/office/drawing/2014/main" id="{A1981D93-E158-0B61-4234-39DBDA08C3CA}"/>
                </a:ext>
              </a:extLst>
            </p:cNvPr>
            <p:cNvSpPr/>
            <p:nvPr/>
          </p:nvSpPr>
          <p:spPr>
            <a:xfrm>
              <a:off x="4538133" y="2006600"/>
              <a:ext cx="406400" cy="406400"/>
            </a:xfrm>
            <a:prstGeom prst="ellipse">
              <a:avLst/>
            </a:prstGeom>
            <a:solidFill>
              <a:srgbClr val="E0F2FE"/>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6" name="Graphic 15">
              <a:extLst>
                <a:ext uri="{FF2B5EF4-FFF2-40B4-BE49-F238E27FC236}">
                  <a16:creationId xmlns:a16="http://schemas.microsoft.com/office/drawing/2014/main" id="{079EB060-5BE0-4C75-5744-DC9626043F55}"/>
                </a:ext>
              </a:extLst>
            </p:cNvPr>
            <p:cNvPicPr>
              <a:picLocks/>
            </p:cNvPicPr>
            <p:nvPr/>
          </p:nvPicPr>
          <p:blipFill>
            <a:blip>
              <a:extLst>
                <a:ext uri="{96DAC541-7B7A-43D3-8B79-37D633B846F1}">
                  <asvg:svgBlip xmlns:asvg="http://schemas.microsoft.com/office/drawing/2016/SVG/main" r:embed="rId3"/>
                </a:ext>
              </a:extLst>
            </a:blip>
            <a:stretch>
              <a:fillRect/>
            </a:stretch>
          </p:blipFill>
          <p:spPr>
            <a:xfrm>
              <a:off x="4601633" y="2070100"/>
              <a:ext cx="279400" cy="279400"/>
            </a:xfrm>
            <a:prstGeom prst="rect">
              <a:avLst/>
            </a:prstGeom>
          </p:spPr>
        </p:pic>
        <p:sp>
          <p:nvSpPr>
            <p:cNvPr id="17" name="TextBox 16">
              <a:extLst>
                <a:ext uri="{FF2B5EF4-FFF2-40B4-BE49-F238E27FC236}">
                  <a16:creationId xmlns:a16="http://schemas.microsoft.com/office/drawing/2014/main" id="{D2B34A3E-3A2B-9239-B216-4E0C22F29D05}"/>
                </a:ext>
              </a:extLst>
            </p:cNvPr>
            <p:cNvSpPr txBox="1"/>
            <p:nvPr/>
          </p:nvSpPr>
          <p:spPr>
            <a:xfrm>
              <a:off x="4538133" y="2540000"/>
              <a:ext cx="3115733" cy="1966820"/>
            </a:xfrm>
            <a:prstGeom prst="rect">
              <a:avLst/>
            </a:prstGeom>
            <a:noFill/>
          </p:spPr>
          <p:txBody>
            <a:bodyPr vert="horz" wrap="square" lIns="0" tIns="0" rtlCol="0">
              <a:spAutoFit/>
            </a:bodyPr>
            <a:lstStyle/>
            <a:p>
              <a:pPr>
                <a:lnSpc>
                  <a:spcPct val="125000"/>
                </a:lnSpc>
                <a:spcAft>
                  <a:spcPts val="800"/>
                </a:spcAft>
              </a:pPr>
              <a:r>
                <a:rPr lang="vi-VN" b="1">
                  <a:solidFill>
                    <a:srgbClr val="0F172A"/>
                  </a:solidFill>
                  <a:latin typeface="Segoe UI" panose="020B0502040204020203" pitchFamily="34" charset="0"/>
                </a:rPr>
                <a:t>Nước Sạch &amp; Môi Trường Vệ Sinh
</a:t>
              </a:r>
              <a:r>
                <a:rPr lang="vi-VN" sz="1500">
                  <a:solidFill>
                    <a:srgbClr val="334155"/>
                  </a:solidFill>
                  <a:latin typeface="Segoe UI" panose="020B0502040204020203" pitchFamily="34" charset="0"/>
                </a:rPr>
                <a:t>Xử lý nước thải, cung cấp nước sạch sinh hoạt và vệ sinh an toàn thực phẩm ngăn ngừa các bệnh tiêu chảy chết người.</a:t>
              </a:r>
              <a:endParaRPr lang="en-US" sz="1500">
                <a:solidFill>
                  <a:srgbClr val="334155"/>
                </a:solidFill>
                <a:latin typeface="Segoe UI" panose="020B0502040204020203" pitchFamily="34" charset="0"/>
              </a:endParaRPr>
            </a:p>
          </p:txBody>
        </p:sp>
      </p:grpSp>
      <p:grpSp>
        <p:nvGrpSpPr>
          <p:cNvPr id="25" name="!!Stage_Sub_Card_2">
            <a:extLst>
              <a:ext uri="{FF2B5EF4-FFF2-40B4-BE49-F238E27FC236}">
                <a16:creationId xmlns:a16="http://schemas.microsoft.com/office/drawing/2014/main" id="{C46CC2BD-6828-B163-67B4-592071FB59B5}"/>
              </a:ext>
            </a:extLst>
          </p:cNvPr>
          <p:cNvGrpSpPr/>
          <p:nvPr/>
        </p:nvGrpSpPr>
        <p:grpSpPr>
          <a:xfrm>
            <a:off x="8060267" y="1676400"/>
            <a:ext cx="3522133" cy="4521200"/>
            <a:chOff x="8060267" y="1676400"/>
            <a:chExt cx="3522133" cy="4521200"/>
          </a:xfrm>
        </p:grpSpPr>
        <p:sp>
          <p:nvSpPr>
            <p:cNvPr id="19" name="Rectangle: Rounded Corners 18">
              <a:extLst>
                <a:ext uri="{FF2B5EF4-FFF2-40B4-BE49-F238E27FC236}">
                  <a16:creationId xmlns:a16="http://schemas.microsoft.com/office/drawing/2014/main" id="{9D75D5D4-6354-9099-7A62-3FDEB533954F}"/>
                </a:ext>
              </a:extLst>
            </p:cNvPr>
            <p:cNvSpPr/>
            <p:nvPr/>
          </p:nvSpPr>
          <p:spPr>
            <a:xfrm>
              <a:off x="8060267" y="1676400"/>
              <a:ext cx="3522133" cy="4521200"/>
            </a:xfrm>
            <a:prstGeom prst="roundRect">
              <a:avLst/>
            </a:prstGeom>
            <a:solidFill>
              <a:srgbClr val="FFFFFF"/>
            </a:solidFill>
            <a:ln w="12700">
              <a:solidFill>
                <a:srgbClr val="CBD5E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Rectangle 19">
              <a:extLst>
                <a:ext uri="{FF2B5EF4-FFF2-40B4-BE49-F238E27FC236}">
                  <a16:creationId xmlns:a16="http://schemas.microsoft.com/office/drawing/2014/main" id="{FFD08EF9-4CF9-4225-7CBF-7F6633BCFB2C}"/>
                </a:ext>
              </a:extLst>
            </p:cNvPr>
            <p:cNvSpPr/>
            <p:nvPr/>
          </p:nvSpPr>
          <p:spPr>
            <a:xfrm>
              <a:off x="8263467" y="1879600"/>
              <a:ext cx="457200" cy="38100"/>
            </a:xfrm>
            <a:prstGeom prst="rect">
              <a:avLst/>
            </a:prstGeom>
            <a:solidFill>
              <a:srgbClr val="0284C7"/>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Oval 20">
              <a:extLst>
                <a:ext uri="{FF2B5EF4-FFF2-40B4-BE49-F238E27FC236}">
                  <a16:creationId xmlns:a16="http://schemas.microsoft.com/office/drawing/2014/main" id="{30233E8E-98F1-8D1F-D069-DE2E6EC1FD09}"/>
                </a:ext>
              </a:extLst>
            </p:cNvPr>
            <p:cNvSpPr/>
            <p:nvPr/>
          </p:nvSpPr>
          <p:spPr>
            <a:xfrm>
              <a:off x="8263467" y="2006600"/>
              <a:ext cx="406400" cy="406400"/>
            </a:xfrm>
            <a:prstGeom prst="ellipse">
              <a:avLst/>
            </a:prstGeom>
            <a:solidFill>
              <a:srgbClr val="E0F2FE"/>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3" name="Graphic 22">
              <a:extLst>
                <a:ext uri="{FF2B5EF4-FFF2-40B4-BE49-F238E27FC236}">
                  <a16:creationId xmlns:a16="http://schemas.microsoft.com/office/drawing/2014/main" id="{EB067E95-DE78-517F-2A4D-BFDE066E7110}"/>
                </a:ext>
              </a:extLst>
            </p:cNvPr>
            <p:cNvPicPr>
              <a:picLocks/>
            </p:cNvPicPr>
            <p:nvPr/>
          </p:nvPicPr>
          <p:blipFill>
            <a:blip>
              <a:extLst>
                <a:ext uri="{96DAC541-7B7A-43D3-8B79-37D633B846F1}">
                  <asvg:svgBlip xmlns:asvg="http://schemas.microsoft.com/office/drawing/2016/SVG/main" r:embed="rId4"/>
                </a:ext>
              </a:extLst>
            </a:blip>
            <a:stretch>
              <a:fillRect/>
            </a:stretch>
          </p:blipFill>
          <p:spPr>
            <a:xfrm>
              <a:off x="8326967" y="2070100"/>
              <a:ext cx="279400" cy="279400"/>
            </a:xfrm>
            <a:prstGeom prst="rect">
              <a:avLst/>
            </a:prstGeom>
          </p:spPr>
        </p:pic>
        <p:sp>
          <p:nvSpPr>
            <p:cNvPr id="24" name="TextBox 23">
              <a:extLst>
                <a:ext uri="{FF2B5EF4-FFF2-40B4-BE49-F238E27FC236}">
                  <a16:creationId xmlns:a16="http://schemas.microsoft.com/office/drawing/2014/main" id="{04E30458-56A3-89A1-440B-C3DDCB4F82BE}"/>
                </a:ext>
              </a:extLst>
            </p:cNvPr>
            <p:cNvSpPr txBox="1"/>
            <p:nvPr/>
          </p:nvSpPr>
          <p:spPr>
            <a:xfrm>
              <a:off x="8263467" y="2540000"/>
              <a:ext cx="3115733" cy="1966820"/>
            </a:xfrm>
            <a:prstGeom prst="rect">
              <a:avLst/>
            </a:prstGeom>
            <a:noFill/>
          </p:spPr>
          <p:txBody>
            <a:bodyPr vert="horz" wrap="square" lIns="0" tIns="0" rtlCol="0">
              <a:spAutoFit/>
            </a:bodyPr>
            <a:lstStyle/>
            <a:p>
              <a:pPr>
                <a:lnSpc>
                  <a:spcPct val="125000"/>
                </a:lnSpc>
                <a:spcAft>
                  <a:spcPts val="800"/>
                </a:spcAft>
              </a:pPr>
              <a:r>
                <a:rPr lang="vi-VN" b="1">
                  <a:solidFill>
                    <a:srgbClr val="0F172A"/>
                  </a:solidFill>
                  <a:latin typeface="Segoe UI" panose="020B0502040204020203" pitchFamily="34" charset="0"/>
                </a:rPr>
                <a:t>Nâng Cao Thu Nhập &amp; Dinh Dưỡng
</a:t>
              </a:r>
              <a:r>
                <a:rPr lang="vi-VN" sz="1500">
                  <a:solidFill>
                    <a:srgbClr val="334155"/>
                  </a:solidFill>
                  <a:latin typeface="Segoe UI" panose="020B0502040204020203" pitchFamily="34" charset="0"/>
                </a:rPr>
                <a:t>Xóa đói giảm nghèo bảo đảm chế độ calo và vi chất dinh dưỡng đầy đủ, gia tăng sức đề kháng tự nhiên của cơ thể.</a:t>
              </a:r>
              <a:endParaRPr lang="en-US" sz="1500">
                <a:solidFill>
                  <a:srgbClr val="334155"/>
                </a:solidFill>
                <a:latin typeface="Segoe UI" panose="020B0502040204020203" pitchFamily="34" charset="0"/>
              </a:endParaRPr>
            </a:p>
          </p:txBody>
        </p:sp>
      </p:grpSp>
      <p:sp>
        <p:nvSpPr>
          <p:cNvPr id="26" name="!!Anchor_Source_Footer">
            <a:extLst>
              <a:ext uri="{FF2B5EF4-FFF2-40B4-BE49-F238E27FC236}">
                <a16:creationId xmlns:a16="http://schemas.microsoft.com/office/drawing/2014/main" id="{2D0B1995-AFA5-4F2D-1492-28FA070C5AD5}"/>
              </a:ext>
            </a:extLst>
          </p:cNvPr>
          <p:cNvSpPr txBox="1"/>
          <p:nvPr/>
        </p:nvSpPr>
        <p:spPr>
          <a:xfrm>
            <a:off x="609600" y="6273800"/>
            <a:ext cx="10972800" cy="246221"/>
          </a:xfrm>
          <a:prstGeom prst="rect">
            <a:avLst/>
          </a:prstGeom>
          <a:noFill/>
        </p:spPr>
        <p:txBody>
          <a:bodyPr vert="horz" rtlCol="0">
            <a:spAutoFit/>
          </a:bodyPr>
          <a:lstStyle/>
          <a:p>
            <a:r>
              <a:rPr lang="en-US" sz="1000">
                <a:solidFill>
                  <a:srgbClr val="334155"/>
                </a:solidFill>
                <a:latin typeface="Segoe UI" panose="020B0502040204020203" pitchFamily="34" charset="0"/>
              </a:rPr>
              <a:t>Lịch sử dịch tễ học và y tế công cộng</a:t>
            </a:r>
          </a:p>
        </p:txBody>
      </p:sp>
    </p:spTree>
    <p:extLst>
      <p:ext uri="{BB962C8B-B14F-4D97-AF65-F5344CB8AC3E}">
        <p14:creationId xmlns:p14="http://schemas.microsoft.com/office/powerpoint/2010/main" val="1583880686"/>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850">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accel="50000" decel="50000" fill="hold" nodeType="clickEffect">
                                  <p:stCondLst>
                                    <p:cond delay="0"/>
                                  </p:stCondLst>
                                  <p:childTnLst>
                                    <p:set>
                                      <p:cBhvr>
                                        <p:cTn id="6" dur="1" fill="hold">
                                          <p:stCondLst>
                                            <p:cond delay="0"/>
                                          </p:stCondLst>
                                        </p:cTn>
                                        <p:tgtEl>
                                          <p:spTgt spid="18"/>
                                        </p:tgtEl>
                                        <p:attrNameLst>
                                          <p:attrName>style.visibility</p:attrName>
                                        </p:attrNameLst>
                                      </p:cBhvr>
                                      <p:to>
                                        <p:strVal val="visible"/>
                                      </p:to>
                                    </p:set>
                                    <p:anim calcmode="lin" valueType="num">
                                      <p:cBhvr additive="base">
                                        <p:cTn id="7" dur="450" fill="hold"/>
                                        <p:tgtEl>
                                          <p:spTgt spid="18"/>
                                        </p:tgtEl>
                                        <p:attrNameLst>
                                          <p:attrName>ppt_x</p:attrName>
                                        </p:attrNameLst>
                                      </p:cBhvr>
                                      <p:tavLst>
                                        <p:tav tm="0">
                                          <p:val>
                                            <p:strVal val="#ppt_x"/>
                                          </p:val>
                                        </p:tav>
                                        <p:tav tm="100000">
                                          <p:val>
                                            <p:strVal val="#ppt_x"/>
                                          </p:val>
                                        </p:tav>
                                      </p:tavLst>
                                    </p:anim>
                                    <p:anim calcmode="lin" valueType="num">
                                      <p:cBhvr additive="base">
                                        <p:cTn id="8" dur="450" fill="hold"/>
                                        <p:tgtEl>
                                          <p:spTgt spid="18"/>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accel="50000" decel="50000" fill="hold" nodeType="clickEffect">
                                  <p:stCondLst>
                                    <p:cond delay="0"/>
                                  </p:stCondLst>
                                  <p:childTnLst>
                                    <p:set>
                                      <p:cBhvr>
                                        <p:cTn id="12" dur="1" fill="hold">
                                          <p:stCondLst>
                                            <p:cond delay="0"/>
                                          </p:stCondLst>
                                        </p:cTn>
                                        <p:tgtEl>
                                          <p:spTgt spid="25"/>
                                        </p:tgtEl>
                                        <p:attrNameLst>
                                          <p:attrName>style.visibility</p:attrName>
                                        </p:attrNameLst>
                                      </p:cBhvr>
                                      <p:to>
                                        <p:strVal val="visible"/>
                                      </p:to>
                                    </p:set>
                                    <p:anim calcmode="lin" valueType="num">
                                      <p:cBhvr additive="base">
                                        <p:cTn id="13" dur="450" fill="hold"/>
                                        <p:tgtEl>
                                          <p:spTgt spid="25"/>
                                        </p:tgtEl>
                                        <p:attrNameLst>
                                          <p:attrName>ppt_x</p:attrName>
                                        </p:attrNameLst>
                                      </p:cBhvr>
                                      <p:tavLst>
                                        <p:tav tm="0">
                                          <p:val>
                                            <p:strVal val="#ppt_x"/>
                                          </p:val>
                                        </p:tav>
                                        <p:tav tm="100000">
                                          <p:val>
                                            <p:strVal val="#ppt_x"/>
                                          </p:val>
                                        </p:tav>
                                      </p:tavLst>
                                    </p:anim>
                                    <p:anim calcmode="lin" valueType="num">
                                      <p:cBhvr additive="base">
                                        <p:cTn id="14" dur="450" fill="hold"/>
                                        <p:tgtEl>
                                          <p:spTgt spid="2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a:xfrm>
          <a:off x="0" y="0"/>
          <a:ext cx="0" cy="0"/>
          <a:chOff x="0" y="0"/>
          <a:chExt cx="0" cy="0"/>
        </a:xfrm>
      </p:grpSpPr>
      <p:sp>
        <p:nvSpPr>
          <p:cNvPr id="2" name="!!Anchor_Kicker_Rail">
            <a:extLst>
              <a:ext uri="{FF2B5EF4-FFF2-40B4-BE49-F238E27FC236}">
                <a16:creationId xmlns:a16="http://schemas.microsoft.com/office/drawing/2014/main" id="{ADC9756F-B7C8-9450-BEBD-EB440F3060AA}"/>
              </a:ext>
            </a:extLst>
          </p:cNvPr>
          <p:cNvSpPr txBox="1"/>
          <p:nvPr/>
        </p:nvSpPr>
        <p:spPr>
          <a:xfrm>
            <a:off x="609600" y="457200"/>
            <a:ext cx="9956800" cy="276999"/>
          </a:xfrm>
          <a:prstGeom prst="rect">
            <a:avLst/>
          </a:prstGeom>
          <a:noFill/>
        </p:spPr>
        <p:txBody>
          <a:bodyPr vert="horz" rtlCol="0">
            <a:spAutoFit/>
          </a:bodyPr>
          <a:lstStyle/>
          <a:p>
            <a:r>
              <a:rPr lang="en-US" sz="1200" b="1">
                <a:solidFill>
                  <a:srgbClr val="0284C7"/>
                </a:solidFill>
                <a:latin typeface="Segoe UI" panose="020B0502040204020203" pitchFamily="34" charset="0"/>
              </a:rPr>
              <a:t>TUỔI THỌ VIỆT NAM  •  TRỌNG TÂM</a:t>
            </a:r>
          </a:p>
        </p:txBody>
      </p:sp>
      <p:sp>
        <p:nvSpPr>
          <p:cNvPr id="3" name="!!Anchor_Slide_Tracker">
            <a:extLst>
              <a:ext uri="{FF2B5EF4-FFF2-40B4-BE49-F238E27FC236}">
                <a16:creationId xmlns:a16="http://schemas.microsoft.com/office/drawing/2014/main" id="{E637ECFC-64F1-F4AA-2004-3445B46AFC33}"/>
              </a:ext>
            </a:extLst>
          </p:cNvPr>
          <p:cNvSpPr txBox="1"/>
          <p:nvPr/>
        </p:nvSpPr>
        <p:spPr>
          <a:xfrm>
            <a:off x="10820400" y="457200"/>
            <a:ext cx="762000" cy="276999"/>
          </a:xfrm>
          <a:prstGeom prst="rect">
            <a:avLst/>
          </a:prstGeom>
          <a:noFill/>
        </p:spPr>
        <p:txBody>
          <a:bodyPr vert="horz" rtlCol="0">
            <a:spAutoFit/>
          </a:bodyPr>
          <a:lstStyle/>
          <a:p>
            <a:pPr algn="r"/>
            <a:r>
              <a:rPr lang="en-US" sz="1200" b="1">
                <a:solidFill>
                  <a:srgbClr val="334155"/>
                </a:solidFill>
                <a:latin typeface="Bahnschrift" panose="020B0502040204020203" pitchFamily="34" charset="0"/>
              </a:rPr>
              <a:t>19 / 22</a:t>
            </a:r>
          </a:p>
        </p:txBody>
      </p:sp>
      <p:sp>
        <p:nvSpPr>
          <p:cNvPr id="4" name="!!Anchor_Assertion_Title">
            <a:extLst>
              <a:ext uri="{FF2B5EF4-FFF2-40B4-BE49-F238E27FC236}">
                <a16:creationId xmlns:a16="http://schemas.microsoft.com/office/drawing/2014/main" id="{029C5084-7CFD-AE12-E477-6F1EB4E8C844}"/>
              </a:ext>
            </a:extLst>
          </p:cNvPr>
          <p:cNvSpPr txBox="1"/>
          <p:nvPr/>
        </p:nvSpPr>
        <p:spPr>
          <a:xfrm>
            <a:off x="609600" y="711200"/>
            <a:ext cx="10972800" cy="369332"/>
          </a:xfrm>
          <a:prstGeom prst="rect">
            <a:avLst/>
          </a:prstGeom>
          <a:noFill/>
        </p:spPr>
        <p:txBody>
          <a:bodyPr vert="horz" wrap="square" tIns="0" bIns="0" rtlCol="0">
            <a:spAutoFit/>
          </a:bodyPr>
          <a:lstStyle/>
          <a:p>
            <a:r>
              <a:rPr lang="en-US" sz="2400" b="1">
                <a:solidFill>
                  <a:srgbClr val="0F172A"/>
                </a:solidFill>
                <a:latin typeface="Segoe UI" panose="020B0502040204020203" pitchFamily="34" charset="0"/>
              </a:rPr>
              <a:t>Thành Tựu Tăng Tuổi Thọ Bình Quân Của Dân Số Việt Nam Đạt 73.7 Tuổi</a:t>
            </a:r>
          </a:p>
        </p:txBody>
      </p:sp>
      <p:pic>
        <p:nvPicPr>
          <p:cNvPr id="6" name="!!Stage_Hero_Container">
            <a:extLst>
              <a:ext uri="{FF2B5EF4-FFF2-40B4-BE49-F238E27FC236}">
                <a16:creationId xmlns:a16="http://schemas.microsoft.com/office/drawing/2014/main" id="{382EE1DF-544C-200D-D955-3E2A7E4212C8}"/>
              </a:ext>
            </a:extLst>
          </p:cNvPr>
          <p:cNvPicPr>
            <a:picLocks/>
          </p:cNvPicPr>
          <p:nvPr/>
        </p:nvPicPr>
        <p:blipFill>
          <a:blip r:embed="rId2">
            <a:extLst>
              <a:ext uri="{28A0092B-C50C-407E-A947-70E740481C1C}">
                <a14:useLocalDpi xmlns:a14="http://schemas.microsoft.com/office/drawing/2010/main" val="0"/>
              </a:ext>
            </a:extLst>
          </a:blip>
          <a:stretch>
            <a:fillRect/>
          </a:stretch>
        </p:blipFill>
        <p:spPr>
          <a:xfrm>
            <a:off x="609600" y="1752600"/>
            <a:ext cx="5705856" cy="4368800"/>
          </a:xfrm>
          <a:prstGeom prst="roundRect">
            <a:avLst/>
          </a:prstGeom>
          <a:ln w="12700">
            <a:solidFill>
              <a:srgbClr val="CBD5E1"/>
            </a:solidFill>
          </a:ln>
        </p:spPr>
      </p:pic>
      <p:grpSp>
        <p:nvGrpSpPr>
          <p:cNvPr id="12" name="!!Stage_Sub_Card_1">
            <a:extLst>
              <a:ext uri="{FF2B5EF4-FFF2-40B4-BE49-F238E27FC236}">
                <a16:creationId xmlns:a16="http://schemas.microsoft.com/office/drawing/2014/main" id="{8EE2729A-FBAD-FDC8-00C7-184B65EB422B}"/>
              </a:ext>
            </a:extLst>
          </p:cNvPr>
          <p:cNvGrpSpPr/>
          <p:nvPr/>
        </p:nvGrpSpPr>
        <p:grpSpPr>
          <a:xfrm>
            <a:off x="6644640" y="1676400"/>
            <a:ext cx="4937760" cy="1405467"/>
            <a:chOff x="6644640" y="1676400"/>
            <a:chExt cx="4937760" cy="1405467"/>
          </a:xfrm>
        </p:grpSpPr>
        <p:sp>
          <p:nvSpPr>
            <p:cNvPr id="7" name="Rectangle: Rounded Corners 6">
              <a:extLst>
                <a:ext uri="{FF2B5EF4-FFF2-40B4-BE49-F238E27FC236}">
                  <a16:creationId xmlns:a16="http://schemas.microsoft.com/office/drawing/2014/main" id="{15C1DE4E-4D43-9888-ACEF-48D39CF4FD91}"/>
                </a:ext>
              </a:extLst>
            </p:cNvPr>
            <p:cNvSpPr/>
            <p:nvPr/>
          </p:nvSpPr>
          <p:spPr>
            <a:xfrm>
              <a:off x="6644640" y="1676400"/>
              <a:ext cx="4937760" cy="1405467"/>
            </a:xfrm>
            <a:prstGeom prst="roundRect">
              <a:avLst/>
            </a:prstGeom>
            <a:solidFill>
              <a:srgbClr val="FFFFFF"/>
            </a:solidFill>
            <a:ln w="19050">
              <a:solidFill>
                <a:srgbClr val="0284C7"/>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Oval 7">
              <a:extLst>
                <a:ext uri="{FF2B5EF4-FFF2-40B4-BE49-F238E27FC236}">
                  <a16:creationId xmlns:a16="http://schemas.microsoft.com/office/drawing/2014/main" id="{F7519E01-89D2-339A-B104-03111BA128A8}"/>
                </a:ext>
              </a:extLst>
            </p:cNvPr>
            <p:cNvSpPr/>
            <p:nvPr/>
          </p:nvSpPr>
          <p:spPr>
            <a:xfrm>
              <a:off x="6822440" y="1854200"/>
              <a:ext cx="381000" cy="381000"/>
            </a:xfrm>
            <a:prstGeom prst="ellipse">
              <a:avLst/>
            </a:prstGeom>
            <a:solidFill>
              <a:srgbClr val="E0F2FE"/>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0" name="Graphic 9">
              <a:extLst>
                <a:ext uri="{FF2B5EF4-FFF2-40B4-BE49-F238E27FC236}">
                  <a16:creationId xmlns:a16="http://schemas.microsoft.com/office/drawing/2014/main" id="{B63C5D9E-3419-5F15-2ACA-3309B0BCCAA7}"/>
                </a:ext>
              </a:extLst>
            </p:cNvPr>
            <p:cNvPicPr>
              <a:picLocks/>
            </p:cNvPicPr>
            <p:nvPr/>
          </p:nvPicPr>
          <p:blipFill>
            <a:blip>
              <a:extLst>
                <a:ext uri="{96DAC541-7B7A-43D3-8B79-37D633B846F1}">
                  <asvg:svgBlip xmlns:asvg="http://schemas.microsoft.com/office/drawing/2016/SVG/main" r:embed="rId3"/>
                </a:ext>
              </a:extLst>
            </a:blip>
            <a:stretch>
              <a:fillRect/>
            </a:stretch>
          </p:blipFill>
          <p:spPr>
            <a:xfrm>
              <a:off x="6885940" y="1917700"/>
              <a:ext cx="254000" cy="254000"/>
            </a:xfrm>
            <a:prstGeom prst="rect">
              <a:avLst/>
            </a:prstGeom>
          </p:spPr>
        </p:pic>
        <p:sp>
          <p:nvSpPr>
            <p:cNvPr id="11" name="TextBox 10">
              <a:extLst>
                <a:ext uri="{FF2B5EF4-FFF2-40B4-BE49-F238E27FC236}">
                  <a16:creationId xmlns:a16="http://schemas.microsoft.com/office/drawing/2014/main" id="{67E86E74-A8DC-72CB-3D7C-4DD937FE21FF}"/>
                </a:ext>
              </a:extLst>
            </p:cNvPr>
            <p:cNvSpPr txBox="1"/>
            <p:nvPr/>
          </p:nvSpPr>
          <p:spPr>
            <a:xfrm>
              <a:off x="7305040" y="1803400"/>
              <a:ext cx="4150360" cy="990015"/>
            </a:xfrm>
            <a:prstGeom prst="rect">
              <a:avLst/>
            </a:prstGeom>
            <a:noFill/>
          </p:spPr>
          <p:txBody>
            <a:bodyPr vert="horz" wrap="square" tIns="0" rtlCol="0">
              <a:spAutoFit/>
            </a:bodyPr>
            <a:lstStyle/>
            <a:p>
              <a:pPr>
                <a:spcAft>
                  <a:spcPts val="400"/>
                </a:spcAft>
              </a:pPr>
              <a:r>
                <a:rPr lang="en-US" sz="1600" b="1">
                  <a:solidFill>
                    <a:srgbClr val="0F172A"/>
                  </a:solidFill>
                  <a:latin typeface="Segoe UI" panose="020B0502040204020203" pitchFamily="34" charset="0"/>
                </a:rPr>
                <a:t>Tuổi Thọ Bình Quân: 73.7 Tuổi
</a:t>
              </a:r>
              <a:r>
                <a:rPr lang="vi-VN" sz="1400" b="1">
                  <a:solidFill>
                    <a:srgbClr val="334155"/>
                  </a:solidFill>
                  <a:latin typeface="Segoe UI" panose="020B0502040204020203" pitchFamily="34" charset="0"/>
                </a:rPr>
                <a:t>Nam giới đạt 71.1 tuổi, Nữ giới đạt 76.5 tuổi. Việt Nam có tuổi thọ cao hơn mức trung bình của các nước có cùng thu nhập.</a:t>
              </a:r>
              <a:endParaRPr lang="en-US" sz="1400" b="1">
                <a:solidFill>
                  <a:srgbClr val="334155"/>
                </a:solidFill>
                <a:latin typeface="Segoe UI" panose="020B0502040204020203" pitchFamily="34" charset="0"/>
              </a:endParaRPr>
            </a:p>
          </p:txBody>
        </p:sp>
      </p:grpSp>
      <p:grpSp>
        <p:nvGrpSpPr>
          <p:cNvPr id="18" name="!!Stage_Sub_Card_2">
            <a:extLst>
              <a:ext uri="{FF2B5EF4-FFF2-40B4-BE49-F238E27FC236}">
                <a16:creationId xmlns:a16="http://schemas.microsoft.com/office/drawing/2014/main" id="{F4CC290D-04F0-A557-FC46-38AA100EDE64}"/>
              </a:ext>
            </a:extLst>
          </p:cNvPr>
          <p:cNvGrpSpPr/>
          <p:nvPr/>
        </p:nvGrpSpPr>
        <p:grpSpPr>
          <a:xfrm>
            <a:off x="6644640" y="3234267"/>
            <a:ext cx="4937760" cy="1405466"/>
            <a:chOff x="6644640" y="3234267"/>
            <a:chExt cx="4937760" cy="1405466"/>
          </a:xfrm>
        </p:grpSpPr>
        <p:sp>
          <p:nvSpPr>
            <p:cNvPr id="13" name="Rectangle: Rounded Corners 12">
              <a:extLst>
                <a:ext uri="{FF2B5EF4-FFF2-40B4-BE49-F238E27FC236}">
                  <a16:creationId xmlns:a16="http://schemas.microsoft.com/office/drawing/2014/main" id="{935518EC-6EC9-95DD-6F8A-7527285D6882}"/>
                </a:ext>
              </a:extLst>
            </p:cNvPr>
            <p:cNvSpPr/>
            <p:nvPr/>
          </p:nvSpPr>
          <p:spPr>
            <a:xfrm>
              <a:off x="6644640" y="3234267"/>
              <a:ext cx="4937760" cy="1405466"/>
            </a:xfrm>
            <a:prstGeom prst="roundRect">
              <a:avLst/>
            </a:prstGeom>
            <a:solidFill>
              <a:srgbClr val="FFFFFF"/>
            </a:solidFill>
            <a:ln w="12700">
              <a:solidFill>
                <a:srgbClr val="CBD5E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Oval 13">
              <a:extLst>
                <a:ext uri="{FF2B5EF4-FFF2-40B4-BE49-F238E27FC236}">
                  <a16:creationId xmlns:a16="http://schemas.microsoft.com/office/drawing/2014/main" id="{C3C1A314-5FFB-0F59-A1C3-64517AE30905}"/>
                </a:ext>
              </a:extLst>
            </p:cNvPr>
            <p:cNvSpPr/>
            <p:nvPr/>
          </p:nvSpPr>
          <p:spPr>
            <a:xfrm>
              <a:off x="6822440" y="3412067"/>
              <a:ext cx="381000" cy="381000"/>
            </a:xfrm>
            <a:prstGeom prst="ellipse">
              <a:avLst/>
            </a:prstGeom>
            <a:solidFill>
              <a:srgbClr val="E0F2FE"/>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6" name="Graphic 15">
              <a:extLst>
                <a:ext uri="{FF2B5EF4-FFF2-40B4-BE49-F238E27FC236}">
                  <a16:creationId xmlns:a16="http://schemas.microsoft.com/office/drawing/2014/main" id="{4F0BB66C-A0EF-16EE-919C-8BB9196FE659}"/>
                </a:ext>
              </a:extLst>
            </p:cNvPr>
            <p:cNvPicPr>
              <a:picLocks/>
            </p:cNvPicPr>
            <p:nvPr/>
          </p:nvPicPr>
          <p:blipFill>
            <a:blip>
              <a:extLst>
                <a:ext uri="{96DAC541-7B7A-43D3-8B79-37D633B846F1}">
                  <asvg:svgBlip xmlns:asvg="http://schemas.microsoft.com/office/drawing/2016/SVG/main" r:embed="rId4"/>
                </a:ext>
              </a:extLst>
            </a:blip>
            <a:stretch>
              <a:fillRect/>
            </a:stretch>
          </p:blipFill>
          <p:spPr>
            <a:xfrm>
              <a:off x="6885940" y="3475567"/>
              <a:ext cx="254000" cy="254000"/>
            </a:xfrm>
            <a:prstGeom prst="rect">
              <a:avLst/>
            </a:prstGeom>
          </p:spPr>
        </p:pic>
        <p:sp>
          <p:nvSpPr>
            <p:cNvPr id="17" name="TextBox 16">
              <a:extLst>
                <a:ext uri="{FF2B5EF4-FFF2-40B4-BE49-F238E27FC236}">
                  <a16:creationId xmlns:a16="http://schemas.microsoft.com/office/drawing/2014/main" id="{0D1772E6-2393-0F9F-126C-8D6AC819301E}"/>
                </a:ext>
              </a:extLst>
            </p:cNvPr>
            <p:cNvSpPr txBox="1"/>
            <p:nvPr/>
          </p:nvSpPr>
          <p:spPr>
            <a:xfrm>
              <a:off x="7305040" y="3361267"/>
              <a:ext cx="4150360" cy="990015"/>
            </a:xfrm>
            <a:prstGeom prst="rect">
              <a:avLst/>
            </a:prstGeom>
            <a:noFill/>
          </p:spPr>
          <p:txBody>
            <a:bodyPr vert="horz" wrap="square" tIns="0" rtlCol="0">
              <a:spAutoFit/>
            </a:bodyPr>
            <a:lstStyle/>
            <a:p>
              <a:pPr>
                <a:spcAft>
                  <a:spcPts val="400"/>
                </a:spcAft>
              </a:pPr>
              <a:r>
                <a:rPr lang="en-US" sz="1600" b="1">
                  <a:solidFill>
                    <a:srgbClr val="0F172A"/>
                  </a:solidFill>
                  <a:latin typeface="Segoe UI" panose="020B0502040204020203" pitchFamily="34" charset="0"/>
                </a:rPr>
                <a:t>Chênh Lệch Giới Tính 5.4 Năm
</a:t>
              </a:r>
              <a:r>
                <a:rPr lang="vi-VN" sz="1400" b="1">
                  <a:solidFill>
                    <a:srgbClr val="334155"/>
                  </a:solidFill>
                  <a:latin typeface="Segoe UI" panose="020B0502040204020203" pitchFamily="34" charset="0"/>
                </a:rPr>
                <a:t>Nữ giới sống thọ hơn nam phản ánh ưu thế sinh học và tỷ lệ tử vong do tai nạn, rượu bia thuốc lá ở nam giới cao hơn.</a:t>
              </a:r>
              <a:endParaRPr lang="en-US" sz="1400" b="1">
                <a:solidFill>
                  <a:srgbClr val="334155"/>
                </a:solidFill>
                <a:latin typeface="Segoe UI" panose="020B0502040204020203" pitchFamily="34" charset="0"/>
              </a:endParaRPr>
            </a:p>
          </p:txBody>
        </p:sp>
      </p:grpSp>
      <p:grpSp>
        <p:nvGrpSpPr>
          <p:cNvPr id="24" name="!!Stage_Sub_Card_3">
            <a:extLst>
              <a:ext uri="{FF2B5EF4-FFF2-40B4-BE49-F238E27FC236}">
                <a16:creationId xmlns:a16="http://schemas.microsoft.com/office/drawing/2014/main" id="{A0A83EC5-2CD1-CC8C-F9BD-D9556616AD94}"/>
              </a:ext>
            </a:extLst>
          </p:cNvPr>
          <p:cNvGrpSpPr/>
          <p:nvPr/>
        </p:nvGrpSpPr>
        <p:grpSpPr>
          <a:xfrm>
            <a:off x="6644640" y="4792133"/>
            <a:ext cx="4937760" cy="1405467"/>
            <a:chOff x="6644640" y="4792133"/>
            <a:chExt cx="4937760" cy="1405467"/>
          </a:xfrm>
        </p:grpSpPr>
        <p:sp>
          <p:nvSpPr>
            <p:cNvPr id="19" name="Rectangle: Rounded Corners 18">
              <a:extLst>
                <a:ext uri="{FF2B5EF4-FFF2-40B4-BE49-F238E27FC236}">
                  <a16:creationId xmlns:a16="http://schemas.microsoft.com/office/drawing/2014/main" id="{DC6E70E1-8DC8-5BD2-7DC5-E39779959249}"/>
                </a:ext>
              </a:extLst>
            </p:cNvPr>
            <p:cNvSpPr/>
            <p:nvPr/>
          </p:nvSpPr>
          <p:spPr>
            <a:xfrm>
              <a:off x="6644640" y="4792133"/>
              <a:ext cx="4937760" cy="1405467"/>
            </a:xfrm>
            <a:prstGeom prst="roundRect">
              <a:avLst/>
            </a:prstGeom>
            <a:solidFill>
              <a:srgbClr val="FFFFFF"/>
            </a:solidFill>
            <a:ln w="12700">
              <a:solidFill>
                <a:srgbClr val="CBD5E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Oval 19">
              <a:extLst>
                <a:ext uri="{FF2B5EF4-FFF2-40B4-BE49-F238E27FC236}">
                  <a16:creationId xmlns:a16="http://schemas.microsoft.com/office/drawing/2014/main" id="{37269698-CAEC-DD1F-39B5-2671FA386B0B}"/>
                </a:ext>
              </a:extLst>
            </p:cNvPr>
            <p:cNvSpPr/>
            <p:nvPr/>
          </p:nvSpPr>
          <p:spPr>
            <a:xfrm>
              <a:off x="6822440" y="4969933"/>
              <a:ext cx="381000" cy="381000"/>
            </a:xfrm>
            <a:prstGeom prst="ellipse">
              <a:avLst/>
            </a:prstGeom>
            <a:solidFill>
              <a:srgbClr val="E0F2FE"/>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2" name="Graphic 21">
              <a:extLst>
                <a:ext uri="{FF2B5EF4-FFF2-40B4-BE49-F238E27FC236}">
                  <a16:creationId xmlns:a16="http://schemas.microsoft.com/office/drawing/2014/main" id="{F46029BD-2B5A-CCA5-F931-768D2100F4FD}"/>
                </a:ext>
              </a:extLst>
            </p:cNvPr>
            <p:cNvPicPr>
              <a:picLocks/>
            </p:cNvPicPr>
            <p:nvPr/>
          </p:nvPicPr>
          <p:blipFill>
            <a:blip>
              <a:extLst>
                <a:ext uri="{96DAC541-7B7A-43D3-8B79-37D633B846F1}">
                  <asvg:svgBlip xmlns:asvg="http://schemas.microsoft.com/office/drawing/2016/SVG/main" r:embed="rId5"/>
                </a:ext>
              </a:extLst>
            </a:blip>
            <a:stretch>
              <a:fillRect/>
            </a:stretch>
          </p:blipFill>
          <p:spPr>
            <a:xfrm>
              <a:off x="6885940" y="5033433"/>
              <a:ext cx="254000" cy="254000"/>
            </a:xfrm>
            <a:prstGeom prst="rect">
              <a:avLst/>
            </a:prstGeom>
          </p:spPr>
        </p:pic>
        <p:sp>
          <p:nvSpPr>
            <p:cNvPr id="23" name="TextBox 22">
              <a:extLst>
                <a:ext uri="{FF2B5EF4-FFF2-40B4-BE49-F238E27FC236}">
                  <a16:creationId xmlns:a16="http://schemas.microsoft.com/office/drawing/2014/main" id="{951E2910-96F5-0231-FE60-CCD36256F22A}"/>
                </a:ext>
              </a:extLst>
            </p:cNvPr>
            <p:cNvSpPr txBox="1"/>
            <p:nvPr/>
          </p:nvSpPr>
          <p:spPr>
            <a:xfrm>
              <a:off x="7305040" y="4919133"/>
              <a:ext cx="4150360" cy="990015"/>
            </a:xfrm>
            <a:prstGeom prst="rect">
              <a:avLst/>
            </a:prstGeom>
            <a:noFill/>
          </p:spPr>
          <p:txBody>
            <a:bodyPr vert="horz" wrap="square" tIns="0" rtlCol="0">
              <a:spAutoFit/>
            </a:bodyPr>
            <a:lstStyle/>
            <a:p>
              <a:pPr>
                <a:spcAft>
                  <a:spcPts val="400"/>
                </a:spcAft>
              </a:pPr>
              <a:r>
                <a:rPr lang="en-US" sz="1600" b="1">
                  <a:solidFill>
                    <a:srgbClr val="0F172A"/>
                  </a:solidFill>
                  <a:latin typeface="Segoe UI" panose="020B0502040204020203" pitchFamily="34" charset="0"/>
                </a:rPr>
                <a:t>Khoảng Trống Tuổi Thọ Khỏe Mạnh
</a:t>
              </a:r>
              <a:r>
                <a:rPr lang="vi-VN" sz="1400" b="1">
                  <a:solidFill>
                    <a:srgbClr val="334155"/>
                  </a:solidFill>
                  <a:latin typeface="Segoe UI" panose="020B0502040204020203" pitchFamily="34" charset="0"/>
                </a:rPr>
                <a:t>Kỳ vọng sống khỏe mạnh chỉ đạt khoảng 64 tuổi; người cao tuổi Việt Nam gánh chịu trung bình 8-9 năm ốm đau bệnh tật.</a:t>
              </a:r>
              <a:endParaRPr lang="en-US" sz="1400" b="1">
                <a:solidFill>
                  <a:srgbClr val="334155"/>
                </a:solidFill>
                <a:latin typeface="Segoe UI" panose="020B0502040204020203" pitchFamily="34" charset="0"/>
              </a:endParaRPr>
            </a:p>
          </p:txBody>
        </p:sp>
      </p:grpSp>
      <p:sp>
        <p:nvSpPr>
          <p:cNvPr id="25" name="!!Anchor_Source_Footer">
            <a:extLst>
              <a:ext uri="{FF2B5EF4-FFF2-40B4-BE49-F238E27FC236}">
                <a16:creationId xmlns:a16="http://schemas.microsoft.com/office/drawing/2014/main" id="{182626DF-9647-847E-0BD4-AADDCFE1A95A}"/>
              </a:ext>
            </a:extLst>
          </p:cNvPr>
          <p:cNvSpPr txBox="1"/>
          <p:nvPr/>
        </p:nvSpPr>
        <p:spPr>
          <a:xfrm>
            <a:off x="609600" y="6273800"/>
            <a:ext cx="10972800" cy="246221"/>
          </a:xfrm>
          <a:prstGeom prst="rect">
            <a:avLst/>
          </a:prstGeom>
          <a:noFill/>
        </p:spPr>
        <p:txBody>
          <a:bodyPr vert="horz" rtlCol="0">
            <a:spAutoFit/>
          </a:bodyPr>
          <a:lstStyle/>
          <a:p>
            <a:r>
              <a:rPr lang="en-US" sz="1000">
                <a:solidFill>
                  <a:srgbClr val="334155"/>
                </a:solidFill>
                <a:latin typeface="Segoe UI" panose="020B0502040204020203" pitchFamily="34" charset="0"/>
              </a:rPr>
              <a:t>Tổng cục Thống kê - Báo cáo Tình hình Dân số</a:t>
            </a:r>
          </a:p>
        </p:txBody>
      </p:sp>
    </p:spTree>
    <p:extLst>
      <p:ext uri="{BB962C8B-B14F-4D97-AF65-F5344CB8AC3E}">
        <p14:creationId xmlns:p14="http://schemas.microsoft.com/office/powerpoint/2010/main" val="827912700"/>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850">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accel="50000" decel="50000" fill="hold" nodeType="clickEffect">
                                  <p:stCondLst>
                                    <p:cond delay="0"/>
                                  </p:stCondLst>
                                  <p:childTnLst>
                                    <p:set>
                                      <p:cBhvr>
                                        <p:cTn id="6" dur="1" fill="hold">
                                          <p:stCondLst>
                                            <p:cond delay="0"/>
                                          </p:stCondLst>
                                        </p:cTn>
                                        <p:tgtEl>
                                          <p:spTgt spid="12"/>
                                        </p:tgtEl>
                                        <p:attrNameLst>
                                          <p:attrName>style.visibility</p:attrName>
                                        </p:attrNameLst>
                                      </p:cBhvr>
                                      <p:to>
                                        <p:strVal val="visible"/>
                                      </p:to>
                                    </p:set>
                                    <p:anim calcmode="lin" valueType="num">
                                      <p:cBhvr additive="base">
                                        <p:cTn id="7" dur="450" fill="hold"/>
                                        <p:tgtEl>
                                          <p:spTgt spid="12"/>
                                        </p:tgtEl>
                                        <p:attrNameLst>
                                          <p:attrName>ppt_x</p:attrName>
                                        </p:attrNameLst>
                                      </p:cBhvr>
                                      <p:tavLst>
                                        <p:tav tm="0">
                                          <p:val>
                                            <p:strVal val="#ppt_x"/>
                                          </p:val>
                                        </p:tav>
                                        <p:tav tm="100000">
                                          <p:val>
                                            <p:strVal val="#ppt_x"/>
                                          </p:val>
                                        </p:tav>
                                      </p:tavLst>
                                    </p:anim>
                                    <p:anim calcmode="lin" valueType="num">
                                      <p:cBhvr additive="base">
                                        <p:cTn id="8" dur="450" fill="hold"/>
                                        <p:tgtEl>
                                          <p:spTgt spid="12"/>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accel="50000" decel="50000" fill="hold" nodeType="clickEffect">
                                  <p:stCondLst>
                                    <p:cond delay="0"/>
                                  </p:stCondLst>
                                  <p:childTnLst>
                                    <p:set>
                                      <p:cBhvr>
                                        <p:cTn id="12" dur="1" fill="hold">
                                          <p:stCondLst>
                                            <p:cond delay="0"/>
                                          </p:stCondLst>
                                        </p:cTn>
                                        <p:tgtEl>
                                          <p:spTgt spid="18"/>
                                        </p:tgtEl>
                                        <p:attrNameLst>
                                          <p:attrName>style.visibility</p:attrName>
                                        </p:attrNameLst>
                                      </p:cBhvr>
                                      <p:to>
                                        <p:strVal val="visible"/>
                                      </p:to>
                                    </p:set>
                                    <p:anim calcmode="lin" valueType="num">
                                      <p:cBhvr additive="base">
                                        <p:cTn id="13" dur="450" fill="hold"/>
                                        <p:tgtEl>
                                          <p:spTgt spid="18"/>
                                        </p:tgtEl>
                                        <p:attrNameLst>
                                          <p:attrName>ppt_x</p:attrName>
                                        </p:attrNameLst>
                                      </p:cBhvr>
                                      <p:tavLst>
                                        <p:tav tm="0">
                                          <p:val>
                                            <p:strVal val="#ppt_x"/>
                                          </p:val>
                                        </p:tav>
                                        <p:tav tm="100000">
                                          <p:val>
                                            <p:strVal val="#ppt_x"/>
                                          </p:val>
                                        </p:tav>
                                      </p:tavLst>
                                    </p:anim>
                                    <p:anim calcmode="lin" valueType="num">
                                      <p:cBhvr additive="base">
                                        <p:cTn id="14" dur="450" fill="hold"/>
                                        <p:tgtEl>
                                          <p:spTgt spid="18"/>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accel="50000" decel="50000" fill="hold" nodeType="clickEffect">
                                  <p:stCondLst>
                                    <p:cond delay="0"/>
                                  </p:stCondLst>
                                  <p:childTnLst>
                                    <p:set>
                                      <p:cBhvr>
                                        <p:cTn id="18" dur="1" fill="hold">
                                          <p:stCondLst>
                                            <p:cond delay="0"/>
                                          </p:stCondLst>
                                        </p:cTn>
                                        <p:tgtEl>
                                          <p:spTgt spid="24"/>
                                        </p:tgtEl>
                                        <p:attrNameLst>
                                          <p:attrName>style.visibility</p:attrName>
                                        </p:attrNameLst>
                                      </p:cBhvr>
                                      <p:to>
                                        <p:strVal val="visible"/>
                                      </p:to>
                                    </p:set>
                                    <p:anim calcmode="lin" valueType="num">
                                      <p:cBhvr additive="base">
                                        <p:cTn id="19" dur="450" fill="hold"/>
                                        <p:tgtEl>
                                          <p:spTgt spid="24"/>
                                        </p:tgtEl>
                                        <p:attrNameLst>
                                          <p:attrName>ppt_x</p:attrName>
                                        </p:attrNameLst>
                                      </p:cBhvr>
                                      <p:tavLst>
                                        <p:tav tm="0">
                                          <p:val>
                                            <p:strVal val="#ppt_x"/>
                                          </p:val>
                                        </p:tav>
                                        <p:tav tm="100000">
                                          <p:val>
                                            <p:strVal val="#ppt_x"/>
                                          </p:val>
                                        </p:tav>
                                      </p:tavLst>
                                    </p:anim>
                                    <p:anim calcmode="lin" valueType="num">
                                      <p:cBhvr additive="base">
                                        <p:cTn id="20" dur="450" fill="hold"/>
                                        <p:tgtEl>
                                          <p:spTgt spid="2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a:xfrm>
          <a:off x="0" y="0"/>
          <a:ext cx="0" cy="0"/>
          <a:chOff x="0" y="0"/>
          <a:chExt cx="0" cy="0"/>
        </a:xfrm>
      </p:grpSpPr>
      <p:sp>
        <p:nvSpPr>
          <p:cNvPr id="2" name="!!Anchor_Kicker_Rail">
            <a:extLst>
              <a:ext uri="{FF2B5EF4-FFF2-40B4-BE49-F238E27FC236}">
                <a16:creationId xmlns:a16="http://schemas.microsoft.com/office/drawing/2014/main" id="{4F567A9A-4129-2565-7E2B-86C920908FB6}"/>
              </a:ext>
            </a:extLst>
          </p:cNvPr>
          <p:cNvSpPr txBox="1"/>
          <p:nvPr/>
        </p:nvSpPr>
        <p:spPr>
          <a:xfrm>
            <a:off x="609600" y="457200"/>
            <a:ext cx="9956800" cy="276999"/>
          </a:xfrm>
          <a:prstGeom prst="rect">
            <a:avLst/>
          </a:prstGeom>
          <a:noFill/>
        </p:spPr>
        <p:txBody>
          <a:bodyPr vert="horz" rtlCol="0">
            <a:spAutoFit/>
          </a:bodyPr>
          <a:lstStyle/>
          <a:p>
            <a:r>
              <a:rPr lang="en-US" sz="1200" b="1">
                <a:solidFill>
                  <a:srgbClr val="0284C7"/>
                </a:solidFill>
                <a:latin typeface="Segoe UI" panose="020B0502040204020203" pitchFamily="34" charset="0"/>
              </a:rPr>
              <a:t>GIA TĂNG TỰ NHIÊN  •  TRỌNG TÂM</a:t>
            </a:r>
          </a:p>
        </p:txBody>
      </p:sp>
      <p:sp>
        <p:nvSpPr>
          <p:cNvPr id="3" name="!!Anchor_Slide_Tracker">
            <a:extLst>
              <a:ext uri="{FF2B5EF4-FFF2-40B4-BE49-F238E27FC236}">
                <a16:creationId xmlns:a16="http://schemas.microsoft.com/office/drawing/2014/main" id="{FD0C05CA-1F94-E67C-2BE5-1A733F7909A6}"/>
              </a:ext>
            </a:extLst>
          </p:cNvPr>
          <p:cNvSpPr txBox="1"/>
          <p:nvPr/>
        </p:nvSpPr>
        <p:spPr>
          <a:xfrm>
            <a:off x="10820400" y="457200"/>
            <a:ext cx="762000" cy="276999"/>
          </a:xfrm>
          <a:prstGeom prst="rect">
            <a:avLst/>
          </a:prstGeom>
          <a:noFill/>
        </p:spPr>
        <p:txBody>
          <a:bodyPr vert="horz" rtlCol="0">
            <a:spAutoFit/>
          </a:bodyPr>
          <a:lstStyle/>
          <a:p>
            <a:pPr algn="r"/>
            <a:r>
              <a:rPr lang="en-US" sz="1200" b="1">
                <a:solidFill>
                  <a:srgbClr val="334155"/>
                </a:solidFill>
                <a:latin typeface="Bahnschrift" panose="020B0502040204020203" pitchFamily="34" charset="0"/>
              </a:rPr>
              <a:t>20 / 22</a:t>
            </a:r>
          </a:p>
        </p:txBody>
      </p:sp>
      <p:sp>
        <p:nvSpPr>
          <p:cNvPr id="4" name="!!Anchor_Assertion_Title">
            <a:extLst>
              <a:ext uri="{FF2B5EF4-FFF2-40B4-BE49-F238E27FC236}">
                <a16:creationId xmlns:a16="http://schemas.microsoft.com/office/drawing/2014/main" id="{CF6FF6D8-401E-AD0F-0FD8-25386F189C02}"/>
              </a:ext>
            </a:extLst>
          </p:cNvPr>
          <p:cNvSpPr txBox="1"/>
          <p:nvPr/>
        </p:nvSpPr>
        <p:spPr>
          <a:xfrm>
            <a:off x="609600" y="711200"/>
            <a:ext cx="10972800" cy="369332"/>
          </a:xfrm>
          <a:prstGeom prst="rect">
            <a:avLst/>
          </a:prstGeom>
          <a:noFill/>
        </p:spPr>
        <p:txBody>
          <a:bodyPr vert="horz" wrap="square" tIns="0" bIns="0" rtlCol="0">
            <a:spAutoFit/>
          </a:bodyPr>
          <a:lstStyle/>
          <a:p>
            <a:r>
              <a:rPr lang="vi-VN" sz="2400" b="1">
                <a:solidFill>
                  <a:srgbClr val="0F172A"/>
                </a:solidFill>
                <a:latin typeface="Segoe UI" panose="020B0502040204020203" pitchFamily="34" charset="0"/>
              </a:rPr>
              <a:t>Tỷ Suất Tăng Tự Nhiên (NIR) Và Phương Trình Cân Bằng Sinh - Tử</a:t>
            </a:r>
            <a:endParaRPr lang="en-US" sz="2400" b="1">
              <a:solidFill>
                <a:srgbClr val="0F172A"/>
              </a:solidFill>
              <a:latin typeface="Segoe UI" panose="020B0502040204020203" pitchFamily="34" charset="0"/>
            </a:endParaRPr>
          </a:p>
        </p:txBody>
      </p:sp>
      <p:pic>
        <p:nvPicPr>
          <p:cNvPr id="6" name="!!Stage_Hero_Container">
            <a:extLst>
              <a:ext uri="{FF2B5EF4-FFF2-40B4-BE49-F238E27FC236}">
                <a16:creationId xmlns:a16="http://schemas.microsoft.com/office/drawing/2014/main" id="{AC319111-A619-5774-563D-FEFAAAF54741}"/>
              </a:ext>
            </a:extLst>
          </p:cNvPr>
          <p:cNvPicPr>
            <a:picLocks/>
          </p:cNvPicPr>
          <p:nvPr/>
        </p:nvPicPr>
        <p:blipFill>
          <a:blip r:embed="rId2">
            <a:extLst>
              <a:ext uri="{28A0092B-C50C-407E-A947-70E740481C1C}">
                <a14:useLocalDpi xmlns:a14="http://schemas.microsoft.com/office/drawing/2010/main" val="0"/>
              </a:ext>
            </a:extLst>
          </a:blip>
          <a:stretch>
            <a:fillRect/>
          </a:stretch>
        </p:blipFill>
        <p:spPr>
          <a:xfrm>
            <a:off x="609600" y="1752600"/>
            <a:ext cx="5705856" cy="4368800"/>
          </a:xfrm>
          <a:prstGeom prst="roundRect">
            <a:avLst/>
          </a:prstGeom>
          <a:ln w="12700">
            <a:solidFill>
              <a:srgbClr val="CBD5E1"/>
            </a:solidFill>
          </a:ln>
        </p:spPr>
      </p:pic>
      <p:grpSp>
        <p:nvGrpSpPr>
          <p:cNvPr id="12" name="!!Stage_Sub_Card_1">
            <a:extLst>
              <a:ext uri="{FF2B5EF4-FFF2-40B4-BE49-F238E27FC236}">
                <a16:creationId xmlns:a16="http://schemas.microsoft.com/office/drawing/2014/main" id="{9AD8EB90-5112-114A-B95E-0A6ED523595F}"/>
              </a:ext>
            </a:extLst>
          </p:cNvPr>
          <p:cNvGrpSpPr/>
          <p:nvPr/>
        </p:nvGrpSpPr>
        <p:grpSpPr>
          <a:xfrm>
            <a:off x="6644640" y="1676400"/>
            <a:ext cx="4937760" cy="2184400"/>
            <a:chOff x="6644640" y="1676400"/>
            <a:chExt cx="4937760" cy="2184400"/>
          </a:xfrm>
        </p:grpSpPr>
        <p:sp>
          <p:nvSpPr>
            <p:cNvPr id="7" name="Rectangle: Rounded Corners 6">
              <a:extLst>
                <a:ext uri="{FF2B5EF4-FFF2-40B4-BE49-F238E27FC236}">
                  <a16:creationId xmlns:a16="http://schemas.microsoft.com/office/drawing/2014/main" id="{47F5309E-7E4B-9906-10EC-C26EDE1FCF9D}"/>
                </a:ext>
              </a:extLst>
            </p:cNvPr>
            <p:cNvSpPr/>
            <p:nvPr/>
          </p:nvSpPr>
          <p:spPr>
            <a:xfrm>
              <a:off x="6644640" y="1676400"/>
              <a:ext cx="4937760" cy="2184400"/>
            </a:xfrm>
            <a:prstGeom prst="roundRect">
              <a:avLst/>
            </a:prstGeom>
            <a:solidFill>
              <a:srgbClr val="FFFFFF"/>
            </a:solidFill>
            <a:ln w="19050">
              <a:solidFill>
                <a:srgbClr val="0284C7"/>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Oval 7">
              <a:extLst>
                <a:ext uri="{FF2B5EF4-FFF2-40B4-BE49-F238E27FC236}">
                  <a16:creationId xmlns:a16="http://schemas.microsoft.com/office/drawing/2014/main" id="{3347E8E2-40BD-9864-2BCD-E0F468C86A61}"/>
                </a:ext>
              </a:extLst>
            </p:cNvPr>
            <p:cNvSpPr/>
            <p:nvPr/>
          </p:nvSpPr>
          <p:spPr>
            <a:xfrm>
              <a:off x="6822440" y="1854200"/>
              <a:ext cx="381000" cy="381000"/>
            </a:xfrm>
            <a:prstGeom prst="ellipse">
              <a:avLst/>
            </a:prstGeom>
            <a:solidFill>
              <a:srgbClr val="E0F2FE"/>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0" name="Graphic 9">
              <a:extLst>
                <a:ext uri="{FF2B5EF4-FFF2-40B4-BE49-F238E27FC236}">
                  <a16:creationId xmlns:a16="http://schemas.microsoft.com/office/drawing/2014/main" id="{73EC1AFD-8E62-1F41-0B58-8C83F5AB0B81}"/>
                </a:ext>
              </a:extLst>
            </p:cNvPr>
            <p:cNvPicPr>
              <a:picLocks/>
            </p:cNvPicPr>
            <p:nvPr/>
          </p:nvPicPr>
          <p:blipFill>
            <a:blip>
              <a:extLst>
                <a:ext uri="{96DAC541-7B7A-43D3-8B79-37D633B846F1}">
                  <asvg:svgBlip xmlns:asvg="http://schemas.microsoft.com/office/drawing/2016/SVG/main" r:embed="rId3"/>
                </a:ext>
              </a:extLst>
            </a:blip>
            <a:stretch>
              <a:fillRect/>
            </a:stretch>
          </p:blipFill>
          <p:spPr>
            <a:xfrm>
              <a:off x="6885940" y="1917700"/>
              <a:ext cx="254000" cy="254000"/>
            </a:xfrm>
            <a:prstGeom prst="rect">
              <a:avLst/>
            </a:prstGeom>
          </p:spPr>
        </p:pic>
        <p:sp>
          <p:nvSpPr>
            <p:cNvPr id="11" name="TextBox 10">
              <a:extLst>
                <a:ext uri="{FF2B5EF4-FFF2-40B4-BE49-F238E27FC236}">
                  <a16:creationId xmlns:a16="http://schemas.microsoft.com/office/drawing/2014/main" id="{35091A6B-5A22-8242-57B2-5DAC04A644A7}"/>
                </a:ext>
              </a:extLst>
            </p:cNvPr>
            <p:cNvSpPr txBox="1"/>
            <p:nvPr/>
          </p:nvSpPr>
          <p:spPr>
            <a:xfrm>
              <a:off x="7305040" y="1803400"/>
              <a:ext cx="4150360" cy="1205458"/>
            </a:xfrm>
            <a:prstGeom prst="rect">
              <a:avLst/>
            </a:prstGeom>
            <a:noFill/>
          </p:spPr>
          <p:txBody>
            <a:bodyPr vert="horz" wrap="square" tIns="0" rtlCol="0">
              <a:spAutoFit/>
            </a:bodyPr>
            <a:lstStyle/>
            <a:p>
              <a:pPr>
                <a:spcAft>
                  <a:spcPts val="400"/>
                </a:spcAft>
              </a:pPr>
              <a:r>
                <a:rPr lang="en-US" sz="1600" b="1">
                  <a:solidFill>
                    <a:srgbClr val="0F172A"/>
                  </a:solidFill>
                  <a:latin typeface="Segoe UI" panose="020B0502040204020203" pitchFamily="34" charset="0"/>
                </a:rPr>
                <a:t>Công Thức Tính NIR
</a:t>
              </a:r>
              <a:r>
                <a:rPr lang="vi-VN" sz="1400" b="1">
                  <a:solidFill>
                    <a:srgbClr val="334155"/>
                  </a:solidFill>
                  <a:latin typeface="Segoe UI" panose="020B0502040204020203" pitchFamily="34" charset="0"/>
                </a:rPr>
                <a:t>NIR = CBR - CDR (tính theo đơn vị ‰) hoặc NIR(%) = (CBR - CDR) / 10. Ở Việt Nam hiện nay CBR ~14.5‰, CDR ~6.1‰ -&gt; NIR ~0.84%/năm.</a:t>
              </a:r>
              <a:endParaRPr lang="en-US" sz="1400" b="1">
                <a:solidFill>
                  <a:srgbClr val="334155"/>
                </a:solidFill>
                <a:latin typeface="Segoe UI" panose="020B0502040204020203" pitchFamily="34" charset="0"/>
              </a:endParaRPr>
            </a:p>
          </p:txBody>
        </p:sp>
      </p:grpSp>
      <p:grpSp>
        <p:nvGrpSpPr>
          <p:cNvPr id="18" name="!!Stage_Sub_Card_2">
            <a:extLst>
              <a:ext uri="{FF2B5EF4-FFF2-40B4-BE49-F238E27FC236}">
                <a16:creationId xmlns:a16="http://schemas.microsoft.com/office/drawing/2014/main" id="{2BE6F1CD-38A7-25BC-2907-DA52BF5D05EC}"/>
              </a:ext>
            </a:extLst>
          </p:cNvPr>
          <p:cNvGrpSpPr/>
          <p:nvPr/>
        </p:nvGrpSpPr>
        <p:grpSpPr>
          <a:xfrm>
            <a:off x="6644640" y="4013200"/>
            <a:ext cx="4937760" cy="2184400"/>
            <a:chOff x="6644640" y="4013200"/>
            <a:chExt cx="4937760" cy="2184400"/>
          </a:xfrm>
        </p:grpSpPr>
        <p:sp>
          <p:nvSpPr>
            <p:cNvPr id="13" name="Rectangle: Rounded Corners 12">
              <a:extLst>
                <a:ext uri="{FF2B5EF4-FFF2-40B4-BE49-F238E27FC236}">
                  <a16:creationId xmlns:a16="http://schemas.microsoft.com/office/drawing/2014/main" id="{9F36F60C-EC5B-565C-4892-A10A8FC90392}"/>
                </a:ext>
              </a:extLst>
            </p:cNvPr>
            <p:cNvSpPr/>
            <p:nvPr/>
          </p:nvSpPr>
          <p:spPr>
            <a:xfrm>
              <a:off x="6644640" y="4013200"/>
              <a:ext cx="4937760" cy="2184400"/>
            </a:xfrm>
            <a:prstGeom prst="roundRect">
              <a:avLst/>
            </a:prstGeom>
            <a:solidFill>
              <a:srgbClr val="FFFFFF"/>
            </a:solidFill>
            <a:ln w="12700">
              <a:solidFill>
                <a:srgbClr val="CBD5E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Oval 13">
              <a:extLst>
                <a:ext uri="{FF2B5EF4-FFF2-40B4-BE49-F238E27FC236}">
                  <a16:creationId xmlns:a16="http://schemas.microsoft.com/office/drawing/2014/main" id="{F88D765A-95FC-BE28-FC1B-08043B3407F6}"/>
                </a:ext>
              </a:extLst>
            </p:cNvPr>
            <p:cNvSpPr/>
            <p:nvPr/>
          </p:nvSpPr>
          <p:spPr>
            <a:xfrm>
              <a:off x="6822440" y="4191000"/>
              <a:ext cx="381000" cy="381000"/>
            </a:xfrm>
            <a:prstGeom prst="ellipse">
              <a:avLst/>
            </a:prstGeom>
            <a:solidFill>
              <a:srgbClr val="E0F2FE"/>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6" name="Graphic 15">
              <a:extLst>
                <a:ext uri="{FF2B5EF4-FFF2-40B4-BE49-F238E27FC236}">
                  <a16:creationId xmlns:a16="http://schemas.microsoft.com/office/drawing/2014/main" id="{85CC7879-1E97-A1E3-0F16-FB052B9EB39D}"/>
                </a:ext>
              </a:extLst>
            </p:cNvPr>
            <p:cNvPicPr>
              <a:picLocks/>
            </p:cNvPicPr>
            <p:nvPr/>
          </p:nvPicPr>
          <p:blipFill>
            <a:blip>
              <a:extLst>
                <a:ext uri="{96DAC541-7B7A-43D3-8B79-37D633B846F1}">
                  <asvg:svgBlip xmlns:asvg="http://schemas.microsoft.com/office/drawing/2016/SVG/main" r:embed="rId4"/>
                </a:ext>
              </a:extLst>
            </a:blip>
            <a:stretch>
              <a:fillRect/>
            </a:stretch>
          </p:blipFill>
          <p:spPr>
            <a:xfrm>
              <a:off x="6885940" y="4254500"/>
              <a:ext cx="254000" cy="254000"/>
            </a:xfrm>
            <a:prstGeom prst="rect">
              <a:avLst/>
            </a:prstGeom>
          </p:spPr>
        </p:pic>
        <p:sp>
          <p:nvSpPr>
            <p:cNvPr id="17" name="TextBox 16">
              <a:extLst>
                <a:ext uri="{FF2B5EF4-FFF2-40B4-BE49-F238E27FC236}">
                  <a16:creationId xmlns:a16="http://schemas.microsoft.com/office/drawing/2014/main" id="{65DB5113-E500-CE19-1CE6-F5AB78A2E96F}"/>
                </a:ext>
              </a:extLst>
            </p:cNvPr>
            <p:cNvSpPr txBox="1"/>
            <p:nvPr/>
          </p:nvSpPr>
          <p:spPr>
            <a:xfrm>
              <a:off x="7305040" y="4140200"/>
              <a:ext cx="4150360" cy="990015"/>
            </a:xfrm>
            <a:prstGeom prst="rect">
              <a:avLst/>
            </a:prstGeom>
            <a:noFill/>
          </p:spPr>
          <p:txBody>
            <a:bodyPr vert="horz" wrap="square" tIns="0" rtlCol="0">
              <a:spAutoFit/>
            </a:bodyPr>
            <a:lstStyle/>
            <a:p>
              <a:pPr>
                <a:spcAft>
                  <a:spcPts val="400"/>
                </a:spcAft>
              </a:pPr>
              <a:r>
                <a:rPr lang="en-US" sz="1600" b="1">
                  <a:solidFill>
                    <a:srgbClr val="0F172A"/>
                  </a:solidFill>
                  <a:latin typeface="Segoe UI" panose="020B0502040204020203" pitchFamily="34" charset="0"/>
                </a:rPr>
                <a:t>Quy Luật Thu Hẹp Khoảng Cách
</a:t>
              </a:r>
              <a:r>
                <a:rPr lang="vi-VN" sz="1400" b="1">
                  <a:solidFill>
                    <a:srgbClr val="334155"/>
                  </a:solidFill>
                  <a:latin typeface="Segoe UI" panose="020B0502040204020203" pitchFamily="34" charset="0"/>
                </a:rPr>
                <a:t>Khi mức sinh giảm dần về mức thay thế trong khi mức chết chạm đáy và hơi tăng do già hóa, NIR sẽ dần tiến về 0%.</a:t>
              </a:r>
              <a:endParaRPr lang="en-US" sz="1400" b="1">
                <a:solidFill>
                  <a:srgbClr val="334155"/>
                </a:solidFill>
                <a:latin typeface="Segoe UI" panose="020B0502040204020203" pitchFamily="34" charset="0"/>
              </a:endParaRPr>
            </a:p>
          </p:txBody>
        </p:sp>
      </p:grpSp>
      <p:sp>
        <p:nvSpPr>
          <p:cNvPr id="19" name="!!Anchor_Source_Footer">
            <a:extLst>
              <a:ext uri="{FF2B5EF4-FFF2-40B4-BE49-F238E27FC236}">
                <a16:creationId xmlns:a16="http://schemas.microsoft.com/office/drawing/2014/main" id="{55677F30-40B8-A716-3DAB-549A7A7749C0}"/>
              </a:ext>
            </a:extLst>
          </p:cNvPr>
          <p:cNvSpPr txBox="1"/>
          <p:nvPr/>
        </p:nvSpPr>
        <p:spPr>
          <a:xfrm>
            <a:off x="609600" y="6273800"/>
            <a:ext cx="10972800" cy="246221"/>
          </a:xfrm>
          <a:prstGeom prst="rect">
            <a:avLst/>
          </a:prstGeom>
          <a:noFill/>
        </p:spPr>
        <p:txBody>
          <a:bodyPr vert="horz" rtlCol="0">
            <a:spAutoFit/>
          </a:bodyPr>
          <a:lstStyle/>
          <a:p>
            <a:r>
              <a:rPr lang="vi-VN" sz="1000">
                <a:solidFill>
                  <a:srgbClr val="334155"/>
                </a:solidFill>
                <a:latin typeface="Segoe UI" panose="020B0502040204020203" pitchFamily="34" charset="0"/>
              </a:rPr>
              <a:t>Giáo trình Dân số học đại cương</a:t>
            </a:r>
            <a:endParaRPr lang="en-US" sz="1000">
              <a:solidFill>
                <a:srgbClr val="334155"/>
              </a:solidFill>
              <a:latin typeface="Segoe UI" panose="020B0502040204020203" pitchFamily="34" charset="0"/>
            </a:endParaRPr>
          </a:p>
        </p:txBody>
      </p:sp>
    </p:spTree>
    <p:extLst>
      <p:ext uri="{BB962C8B-B14F-4D97-AF65-F5344CB8AC3E}">
        <p14:creationId xmlns:p14="http://schemas.microsoft.com/office/powerpoint/2010/main" val="3249381011"/>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850">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accel="50000" decel="50000" fill="hold" nodeType="clickEffect">
                                  <p:stCondLst>
                                    <p:cond delay="0"/>
                                  </p:stCondLst>
                                  <p:childTnLst>
                                    <p:set>
                                      <p:cBhvr>
                                        <p:cTn id="6" dur="1" fill="hold">
                                          <p:stCondLst>
                                            <p:cond delay="0"/>
                                          </p:stCondLst>
                                        </p:cTn>
                                        <p:tgtEl>
                                          <p:spTgt spid="12"/>
                                        </p:tgtEl>
                                        <p:attrNameLst>
                                          <p:attrName>style.visibility</p:attrName>
                                        </p:attrNameLst>
                                      </p:cBhvr>
                                      <p:to>
                                        <p:strVal val="visible"/>
                                      </p:to>
                                    </p:set>
                                    <p:anim calcmode="lin" valueType="num">
                                      <p:cBhvr additive="base">
                                        <p:cTn id="7" dur="450" fill="hold"/>
                                        <p:tgtEl>
                                          <p:spTgt spid="12"/>
                                        </p:tgtEl>
                                        <p:attrNameLst>
                                          <p:attrName>ppt_x</p:attrName>
                                        </p:attrNameLst>
                                      </p:cBhvr>
                                      <p:tavLst>
                                        <p:tav tm="0">
                                          <p:val>
                                            <p:strVal val="#ppt_x"/>
                                          </p:val>
                                        </p:tav>
                                        <p:tav tm="100000">
                                          <p:val>
                                            <p:strVal val="#ppt_x"/>
                                          </p:val>
                                        </p:tav>
                                      </p:tavLst>
                                    </p:anim>
                                    <p:anim calcmode="lin" valueType="num">
                                      <p:cBhvr additive="base">
                                        <p:cTn id="8" dur="450" fill="hold"/>
                                        <p:tgtEl>
                                          <p:spTgt spid="12"/>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accel="50000" decel="50000" fill="hold" nodeType="clickEffect">
                                  <p:stCondLst>
                                    <p:cond delay="0"/>
                                  </p:stCondLst>
                                  <p:childTnLst>
                                    <p:set>
                                      <p:cBhvr>
                                        <p:cTn id="12" dur="1" fill="hold">
                                          <p:stCondLst>
                                            <p:cond delay="0"/>
                                          </p:stCondLst>
                                        </p:cTn>
                                        <p:tgtEl>
                                          <p:spTgt spid="18"/>
                                        </p:tgtEl>
                                        <p:attrNameLst>
                                          <p:attrName>style.visibility</p:attrName>
                                        </p:attrNameLst>
                                      </p:cBhvr>
                                      <p:to>
                                        <p:strVal val="visible"/>
                                      </p:to>
                                    </p:set>
                                    <p:anim calcmode="lin" valueType="num">
                                      <p:cBhvr additive="base">
                                        <p:cTn id="13" dur="450" fill="hold"/>
                                        <p:tgtEl>
                                          <p:spTgt spid="18"/>
                                        </p:tgtEl>
                                        <p:attrNameLst>
                                          <p:attrName>ppt_x</p:attrName>
                                        </p:attrNameLst>
                                      </p:cBhvr>
                                      <p:tavLst>
                                        <p:tav tm="0">
                                          <p:val>
                                            <p:strVal val="#ppt_x"/>
                                          </p:val>
                                        </p:tav>
                                        <p:tav tm="100000">
                                          <p:val>
                                            <p:strVal val="#ppt_x"/>
                                          </p:val>
                                        </p:tav>
                                      </p:tavLst>
                                    </p:anim>
                                    <p:anim calcmode="lin" valueType="num">
                                      <p:cBhvr additive="base">
                                        <p:cTn id="14" dur="450" fill="hold"/>
                                        <p:tgtEl>
                                          <p:spTgt spid="18"/>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a:xfrm>
          <a:off x="0" y="0"/>
          <a:ext cx="0" cy="0"/>
          <a:chOff x="0" y="0"/>
          <a:chExt cx="0" cy="0"/>
        </a:xfrm>
      </p:grpSpPr>
      <p:sp>
        <p:nvSpPr>
          <p:cNvPr id="2" name="!!Anchor_Kicker_Rail">
            <a:extLst>
              <a:ext uri="{FF2B5EF4-FFF2-40B4-BE49-F238E27FC236}">
                <a16:creationId xmlns:a16="http://schemas.microsoft.com/office/drawing/2014/main" id="{3ABDA2E2-72BC-97C7-ECCB-7552F3315865}"/>
              </a:ext>
            </a:extLst>
          </p:cNvPr>
          <p:cNvSpPr txBox="1"/>
          <p:nvPr/>
        </p:nvSpPr>
        <p:spPr>
          <a:xfrm>
            <a:off x="609600" y="457200"/>
            <a:ext cx="9956800" cy="276999"/>
          </a:xfrm>
          <a:prstGeom prst="rect">
            <a:avLst/>
          </a:prstGeom>
          <a:noFill/>
        </p:spPr>
        <p:txBody>
          <a:bodyPr vert="horz" rtlCol="0">
            <a:spAutoFit/>
          </a:bodyPr>
          <a:lstStyle/>
          <a:p>
            <a:r>
              <a:rPr lang="en-US" sz="1200" b="1">
                <a:solidFill>
                  <a:srgbClr val="0284C7"/>
                </a:solidFill>
                <a:latin typeface="Segoe UI" panose="020B0502040204020203" pitchFamily="34" charset="0"/>
              </a:rPr>
              <a:t>QUÁ ĐỘ DÂN SỐ  •  TRỌNG TÂM</a:t>
            </a:r>
          </a:p>
        </p:txBody>
      </p:sp>
      <p:sp>
        <p:nvSpPr>
          <p:cNvPr id="3" name="!!Anchor_Slide_Tracker">
            <a:extLst>
              <a:ext uri="{FF2B5EF4-FFF2-40B4-BE49-F238E27FC236}">
                <a16:creationId xmlns:a16="http://schemas.microsoft.com/office/drawing/2014/main" id="{310681CD-0B67-AE9A-38BA-899157ABE4CC}"/>
              </a:ext>
            </a:extLst>
          </p:cNvPr>
          <p:cNvSpPr txBox="1"/>
          <p:nvPr/>
        </p:nvSpPr>
        <p:spPr>
          <a:xfrm>
            <a:off x="10820400" y="457200"/>
            <a:ext cx="762000" cy="276999"/>
          </a:xfrm>
          <a:prstGeom prst="rect">
            <a:avLst/>
          </a:prstGeom>
          <a:noFill/>
        </p:spPr>
        <p:txBody>
          <a:bodyPr vert="horz" rtlCol="0">
            <a:spAutoFit/>
          </a:bodyPr>
          <a:lstStyle/>
          <a:p>
            <a:pPr algn="r"/>
            <a:r>
              <a:rPr lang="en-US" sz="1200" b="1">
                <a:solidFill>
                  <a:srgbClr val="334155"/>
                </a:solidFill>
                <a:latin typeface="Bahnschrift" panose="020B0502040204020203" pitchFamily="34" charset="0"/>
              </a:rPr>
              <a:t>21 / 22</a:t>
            </a:r>
          </a:p>
        </p:txBody>
      </p:sp>
      <p:sp>
        <p:nvSpPr>
          <p:cNvPr id="4" name="!!Anchor_Assertion_Title">
            <a:extLst>
              <a:ext uri="{FF2B5EF4-FFF2-40B4-BE49-F238E27FC236}">
                <a16:creationId xmlns:a16="http://schemas.microsoft.com/office/drawing/2014/main" id="{729B50C9-81D6-2F57-7E63-82B23C3DD70F}"/>
              </a:ext>
            </a:extLst>
          </p:cNvPr>
          <p:cNvSpPr txBox="1"/>
          <p:nvPr/>
        </p:nvSpPr>
        <p:spPr>
          <a:xfrm>
            <a:off x="609600" y="711200"/>
            <a:ext cx="10972800" cy="369332"/>
          </a:xfrm>
          <a:prstGeom prst="rect">
            <a:avLst/>
          </a:prstGeom>
          <a:noFill/>
        </p:spPr>
        <p:txBody>
          <a:bodyPr vert="horz" wrap="square" tIns="0" bIns="0" rtlCol="0">
            <a:spAutoFit/>
          </a:bodyPr>
          <a:lstStyle/>
          <a:p>
            <a:r>
              <a:rPr lang="en-US" sz="2400" b="1">
                <a:solidFill>
                  <a:srgbClr val="0F172A"/>
                </a:solidFill>
                <a:latin typeface="Segoe UI" panose="020B0502040204020203" pitchFamily="34" charset="0"/>
              </a:rPr>
              <a:t>Mô Hình Chuyển Tiếp Dân Số Bốn Giai Đoạn (Demographic Transition)</a:t>
            </a:r>
          </a:p>
        </p:txBody>
      </p:sp>
      <p:pic>
        <p:nvPicPr>
          <p:cNvPr id="6" name="!!Stage_Hero_Container">
            <a:extLst>
              <a:ext uri="{FF2B5EF4-FFF2-40B4-BE49-F238E27FC236}">
                <a16:creationId xmlns:a16="http://schemas.microsoft.com/office/drawing/2014/main" id="{FEA9DCDE-FC6C-BB1B-AB8A-161EA3CA60B6}"/>
              </a:ext>
            </a:extLst>
          </p:cNvPr>
          <p:cNvPicPr>
            <a:picLocks/>
          </p:cNvPicPr>
          <p:nvPr/>
        </p:nvPicPr>
        <p:blipFill>
          <a:blip r:embed="rId2">
            <a:extLst>
              <a:ext uri="{28A0092B-C50C-407E-A947-70E740481C1C}">
                <a14:useLocalDpi xmlns:a14="http://schemas.microsoft.com/office/drawing/2010/main" val="0"/>
              </a:ext>
            </a:extLst>
          </a:blip>
          <a:stretch>
            <a:fillRect/>
          </a:stretch>
        </p:blipFill>
        <p:spPr>
          <a:xfrm>
            <a:off x="609600" y="1752600"/>
            <a:ext cx="5705856" cy="4368800"/>
          </a:xfrm>
          <a:prstGeom prst="roundRect">
            <a:avLst/>
          </a:prstGeom>
          <a:ln w="12700">
            <a:solidFill>
              <a:srgbClr val="CBD5E1"/>
            </a:solidFill>
          </a:ln>
        </p:spPr>
      </p:pic>
      <p:grpSp>
        <p:nvGrpSpPr>
          <p:cNvPr id="12" name="!!Stage_Sub_Card_1">
            <a:extLst>
              <a:ext uri="{FF2B5EF4-FFF2-40B4-BE49-F238E27FC236}">
                <a16:creationId xmlns:a16="http://schemas.microsoft.com/office/drawing/2014/main" id="{B0A8C8DF-124A-5EF1-54FC-4C8C18BABD8B}"/>
              </a:ext>
            </a:extLst>
          </p:cNvPr>
          <p:cNvGrpSpPr/>
          <p:nvPr/>
        </p:nvGrpSpPr>
        <p:grpSpPr>
          <a:xfrm>
            <a:off x="6644640" y="1676400"/>
            <a:ext cx="4937760" cy="1405467"/>
            <a:chOff x="6644640" y="1676400"/>
            <a:chExt cx="4937760" cy="1405467"/>
          </a:xfrm>
        </p:grpSpPr>
        <p:sp>
          <p:nvSpPr>
            <p:cNvPr id="7" name="Rectangle: Rounded Corners 6">
              <a:extLst>
                <a:ext uri="{FF2B5EF4-FFF2-40B4-BE49-F238E27FC236}">
                  <a16:creationId xmlns:a16="http://schemas.microsoft.com/office/drawing/2014/main" id="{9514A83A-3599-104E-EE26-D5A98BC3FA1E}"/>
                </a:ext>
              </a:extLst>
            </p:cNvPr>
            <p:cNvSpPr/>
            <p:nvPr/>
          </p:nvSpPr>
          <p:spPr>
            <a:xfrm>
              <a:off x="6644640" y="1676400"/>
              <a:ext cx="4937760" cy="1405467"/>
            </a:xfrm>
            <a:prstGeom prst="roundRect">
              <a:avLst/>
            </a:prstGeom>
            <a:solidFill>
              <a:srgbClr val="FFFFFF"/>
            </a:solidFill>
            <a:ln w="19050">
              <a:solidFill>
                <a:srgbClr val="0284C7"/>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Oval 7">
              <a:extLst>
                <a:ext uri="{FF2B5EF4-FFF2-40B4-BE49-F238E27FC236}">
                  <a16:creationId xmlns:a16="http://schemas.microsoft.com/office/drawing/2014/main" id="{01E3C84C-45D7-BBD0-356A-1F7843FBCEC5}"/>
                </a:ext>
              </a:extLst>
            </p:cNvPr>
            <p:cNvSpPr/>
            <p:nvPr/>
          </p:nvSpPr>
          <p:spPr>
            <a:xfrm>
              <a:off x="6822440" y="1854200"/>
              <a:ext cx="381000" cy="381000"/>
            </a:xfrm>
            <a:prstGeom prst="ellipse">
              <a:avLst/>
            </a:prstGeom>
            <a:solidFill>
              <a:srgbClr val="E0F2FE"/>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0" name="Graphic 9">
              <a:extLst>
                <a:ext uri="{FF2B5EF4-FFF2-40B4-BE49-F238E27FC236}">
                  <a16:creationId xmlns:a16="http://schemas.microsoft.com/office/drawing/2014/main" id="{A040D1EC-9CF3-1972-E3CA-7883641A0774}"/>
                </a:ext>
              </a:extLst>
            </p:cNvPr>
            <p:cNvPicPr>
              <a:picLocks/>
            </p:cNvPicPr>
            <p:nvPr/>
          </p:nvPicPr>
          <p:blipFill>
            <a:blip>
              <a:extLst>
                <a:ext uri="{96DAC541-7B7A-43D3-8B79-37D633B846F1}">
                  <asvg:svgBlip xmlns:asvg="http://schemas.microsoft.com/office/drawing/2016/SVG/main" r:embed="rId3"/>
                </a:ext>
              </a:extLst>
            </a:blip>
            <a:stretch>
              <a:fillRect/>
            </a:stretch>
          </p:blipFill>
          <p:spPr>
            <a:xfrm>
              <a:off x="6885940" y="1917700"/>
              <a:ext cx="254000" cy="254000"/>
            </a:xfrm>
            <a:prstGeom prst="rect">
              <a:avLst/>
            </a:prstGeom>
          </p:spPr>
        </p:pic>
        <p:sp>
          <p:nvSpPr>
            <p:cNvPr id="11" name="TextBox 10">
              <a:extLst>
                <a:ext uri="{FF2B5EF4-FFF2-40B4-BE49-F238E27FC236}">
                  <a16:creationId xmlns:a16="http://schemas.microsoft.com/office/drawing/2014/main" id="{EDE6A9AA-1434-D85B-ACC0-1E6D41AE2770}"/>
                </a:ext>
              </a:extLst>
            </p:cNvPr>
            <p:cNvSpPr txBox="1"/>
            <p:nvPr/>
          </p:nvSpPr>
          <p:spPr>
            <a:xfrm>
              <a:off x="7305040" y="1803400"/>
              <a:ext cx="4150360" cy="990015"/>
            </a:xfrm>
            <a:prstGeom prst="rect">
              <a:avLst/>
            </a:prstGeom>
            <a:noFill/>
          </p:spPr>
          <p:txBody>
            <a:bodyPr vert="horz" wrap="square" tIns="0" rtlCol="0">
              <a:spAutoFit/>
            </a:bodyPr>
            <a:lstStyle/>
            <a:p>
              <a:pPr>
                <a:spcAft>
                  <a:spcPts val="400"/>
                </a:spcAft>
              </a:pPr>
              <a:r>
                <a:rPr lang="en-US" sz="1600" b="1">
                  <a:solidFill>
                    <a:srgbClr val="0F172A"/>
                  </a:solidFill>
                  <a:latin typeface="Segoe UI" panose="020B0502040204020203" pitchFamily="34" charset="0"/>
                </a:rPr>
                <a:t>Giai Đoạn 1: Tiền Chuyển Tiếp
</a:t>
              </a:r>
              <a:r>
                <a:rPr lang="vi-VN" sz="1400" b="1">
                  <a:solidFill>
                    <a:srgbClr val="334155"/>
                  </a:solidFill>
                  <a:latin typeface="Segoe UI" panose="020B0502040204020203" pitchFamily="34" charset="0"/>
                </a:rPr>
                <a:t>Sinh cao và chết cao. Quy mô dân số tăng trưởng rất chậm chạp, thường xuyên gặp dịch bệnh và nạn đói.</a:t>
              </a:r>
              <a:endParaRPr lang="en-US" sz="1400" b="1">
                <a:solidFill>
                  <a:srgbClr val="334155"/>
                </a:solidFill>
                <a:latin typeface="Segoe UI" panose="020B0502040204020203" pitchFamily="34" charset="0"/>
              </a:endParaRPr>
            </a:p>
          </p:txBody>
        </p:sp>
      </p:grpSp>
      <p:grpSp>
        <p:nvGrpSpPr>
          <p:cNvPr id="18" name="!!Stage_Sub_Card_2">
            <a:extLst>
              <a:ext uri="{FF2B5EF4-FFF2-40B4-BE49-F238E27FC236}">
                <a16:creationId xmlns:a16="http://schemas.microsoft.com/office/drawing/2014/main" id="{8C676C63-AA76-A68D-74FD-1B98A9749D28}"/>
              </a:ext>
            </a:extLst>
          </p:cNvPr>
          <p:cNvGrpSpPr/>
          <p:nvPr/>
        </p:nvGrpSpPr>
        <p:grpSpPr>
          <a:xfrm>
            <a:off x="6644640" y="3234267"/>
            <a:ext cx="4937760" cy="1405466"/>
            <a:chOff x="6644640" y="3234267"/>
            <a:chExt cx="4937760" cy="1405466"/>
          </a:xfrm>
        </p:grpSpPr>
        <p:sp>
          <p:nvSpPr>
            <p:cNvPr id="13" name="Rectangle: Rounded Corners 12">
              <a:extLst>
                <a:ext uri="{FF2B5EF4-FFF2-40B4-BE49-F238E27FC236}">
                  <a16:creationId xmlns:a16="http://schemas.microsoft.com/office/drawing/2014/main" id="{6DC3A827-B1BA-17D8-5BDB-81D03BBD94F9}"/>
                </a:ext>
              </a:extLst>
            </p:cNvPr>
            <p:cNvSpPr/>
            <p:nvPr/>
          </p:nvSpPr>
          <p:spPr>
            <a:xfrm>
              <a:off x="6644640" y="3234267"/>
              <a:ext cx="4937760" cy="1405466"/>
            </a:xfrm>
            <a:prstGeom prst="roundRect">
              <a:avLst/>
            </a:prstGeom>
            <a:solidFill>
              <a:srgbClr val="FFFFFF"/>
            </a:solidFill>
            <a:ln w="12700">
              <a:solidFill>
                <a:srgbClr val="CBD5E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Oval 13">
              <a:extLst>
                <a:ext uri="{FF2B5EF4-FFF2-40B4-BE49-F238E27FC236}">
                  <a16:creationId xmlns:a16="http://schemas.microsoft.com/office/drawing/2014/main" id="{9620E332-E7F3-049E-800F-7F374CD0A8D7}"/>
                </a:ext>
              </a:extLst>
            </p:cNvPr>
            <p:cNvSpPr/>
            <p:nvPr/>
          </p:nvSpPr>
          <p:spPr>
            <a:xfrm>
              <a:off x="6822440" y="3412067"/>
              <a:ext cx="381000" cy="381000"/>
            </a:xfrm>
            <a:prstGeom prst="ellipse">
              <a:avLst/>
            </a:prstGeom>
            <a:solidFill>
              <a:srgbClr val="E0F2FE"/>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6" name="Graphic 15">
              <a:extLst>
                <a:ext uri="{FF2B5EF4-FFF2-40B4-BE49-F238E27FC236}">
                  <a16:creationId xmlns:a16="http://schemas.microsoft.com/office/drawing/2014/main" id="{445C8D51-A9E9-74F3-6D0D-42B27E8CCB9A}"/>
                </a:ext>
              </a:extLst>
            </p:cNvPr>
            <p:cNvPicPr>
              <a:picLocks/>
            </p:cNvPicPr>
            <p:nvPr/>
          </p:nvPicPr>
          <p:blipFill>
            <a:blip>
              <a:extLst>
                <a:ext uri="{96DAC541-7B7A-43D3-8B79-37D633B846F1}">
                  <asvg:svgBlip xmlns:asvg="http://schemas.microsoft.com/office/drawing/2016/SVG/main" r:embed="rId4"/>
                </a:ext>
              </a:extLst>
            </a:blip>
            <a:stretch>
              <a:fillRect/>
            </a:stretch>
          </p:blipFill>
          <p:spPr>
            <a:xfrm>
              <a:off x="6885940" y="3475567"/>
              <a:ext cx="254000" cy="254000"/>
            </a:xfrm>
            <a:prstGeom prst="rect">
              <a:avLst/>
            </a:prstGeom>
          </p:spPr>
        </p:pic>
        <p:sp>
          <p:nvSpPr>
            <p:cNvPr id="17" name="TextBox 16">
              <a:extLst>
                <a:ext uri="{FF2B5EF4-FFF2-40B4-BE49-F238E27FC236}">
                  <a16:creationId xmlns:a16="http://schemas.microsoft.com/office/drawing/2014/main" id="{D4B7A719-D93D-E8DE-8ED9-88451A232DF7}"/>
                </a:ext>
              </a:extLst>
            </p:cNvPr>
            <p:cNvSpPr txBox="1"/>
            <p:nvPr/>
          </p:nvSpPr>
          <p:spPr>
            <a:xfrm>
              <a:off x="7305040" y="3361267"/>
              <a:ext cx="4150360" cy="990015"/>
            </a:xfrm>
            <a:prstGeom prst="rect">
              <a:avLst/>
            </a:prstGeom>
            <a:noFill/>
          </p:spPr>
          <p:txBody>
            <a:bodyPr vert="horz" wrap="square" tIns="0" rtlCol="0">
              <a:spAutoFit/>
            </a:bodyPr>
            <a:lstStyle/>
            <a:p>
              <a:pPr>
                <a:spcAft>
                  <a:spcPts val="400"/>
                </a:spcAft>
              </a:pPr>
              <a:r>
                <a:rPr lang="en-US" sz="1600" b="1">
                  <a:solidFill>
                    <a:srgbClr val="0F172A"/>
                  </a:solidFill>
                  <a:latin typeface="Segoe UI" panose="020B0502040204020203" pitchFamily="34" charset="0"/>
                </a:rPr>
                <a:t>Giai Đoạn 2: Bùng Nổ Dân Số
</a:t>
              </a:r>
              <a:r>
                <a:rPr lang="en-US" sz="1400" b="1">
                  <a:solidFill>
                    <a:srgbClr val="334155"/>
                  </a:solidFill>
                  <a:latin typeface="Segoe UI" panose="020B0502040204020203" pitchFamily="34" charset="0"/>
                </a:rPr>
                <a:t>Mức chết giảm mạnh nhờ tiến bộ y tế trong khi mức sinh vẫn giữ ở mức cao. Dân số tăng vọt đột biến.</a:t>
              </a:r>
            </a:p>
          </p:txBody>
        </p:sp>
      </p:grpSp>
      <p:grpSp>
        <p:nvGrpSpPr>
          <p:cNvPr id="24" name="!!Stage_Sub_Card_3">
            <a:extLst>
              <a:ext uri="{FF2B5EF4-FFF2-40B4-BE49-F238E27FC236}">
                <a16:creationId xmlns:a16="http://schemas.microsoft.com/office/drawing/2014/main" id="{9381F578-969F-7FD6-5282-DCBB1FE38BD9}"/>
              </a:ext>
            </a:extLst>
          </p:cNvPr>
          <p:cNvGrpSpPr/>
          <p:nvPr/>
        </p:nvGrpSpPr>
        <p:grpSpPr>
          <a:xfrm>
            <a:off x="6644640" y="4792133"/>
            <a:ext cx="4937760" cy="1405467"/>
            <a:chOff x="6644640" y="4792133"/>
            <a:chExt cx="4937760" cy="1405467"/>
          </a:xfrm>
        </p:grpSpPr>
        <p:sp>
          <p:nvSpPr>
            <p:cNvPr id="19" name="Rectangle: Rounded Corners 18">
              <a:extLst>
                <a:ext uri="{FF2B5EF4-FFF2-40B4-BE49-F238E27FC236}">
                  <a16:creationId xmlns:a16="http://schemas.microsoft.com/office/drawing/2014/main" id="{FF9843E5-5EE5-6429-7F46-66A74B365F44}"/>
                </a:ext>
              </a:extLst>
            </p:cNvPr>
            <p:cNvSpPr/>
            <p:nvPr/>
          </p:nvSpPr>
          <p:spPr>
            <a:xfrm>
              <a:off x="6644640" y="4792133"/>
              <a:ext cx="4937760" cy="1405467"/>
            </a:xfrm>
            <a:prstGeom prst="roundRect">
              <a:avLst/>
            </a:prstGeom>
            <a:solidFill>
              <a:srgbClr val="FFFFFF"/>
            </a:solidFill>
            <a:ln w="12700">
              <a:solidFill>
                <a:srgbClr val="CBD5E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Oval 19">
              <a:extLst>
                <a:ext uri="{FF2B5EF4-FFF2-40B4-BE49-F238E27FC236}">
                  <a16:creationId xmlns:a16="http://schemas.microsoft.com/office/drawing/2014/main" id="{2DCDB18F-AE5E-0C6E-A320-E19CDF8D6947}"/>
                </a:ext>
              </a:extLst>
            </p:cNvPr>
            <p:cNvSpPr/>
            <p:nvPr/>
          </p:nvSpPr>
          <p:spPr>
            <a:xfrm>
              <a:off x="6822440" y="4969933"/>
              <a:ext cx="381000" cy="381000"/>
            </a:xfrm>
            <a:prstGeom prst="ellipse">
              <a:avLst/>
            </a:prstGeom>
            <a:solidFill>
              <a:srgbClr val="E0F2FE"/>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2" name="Graphic 21">
              <a:extLst>
                <a:ext uri="{FF2B5EF4-FFF2-40B4-BE49-F238E27FC236}">
                  <a16:creationId xmlns:a16="http://schemas.microsoft.com/office/drawing/2014/main" id="{478A899A-6A93-9BB9-CA75-DBA69D488EF5}"/>
                </a:ext>
              </a:extLst>
            </p:cNvPr>
            <p:cNvPicPr>
              <a:picLocks/>
            </p:cNvPicPr>
            <p:nvPr/>
          </p:nvPicPr>
          <p:blipFill>
            <a:blip>
              <a:extLst>
                <a:ext uri="{96DAC541-7B7A-43D3-8B79-37D633B846F1}">
                  <asvg:svgBlip xmlns:asvg="http://schemas.microsoft.com/office/drawing/2016/SVG/main" r:embed="rId5"/>
                </a:ext>
              </a:extLst>
            </a:blip>
            <a:stretch>
              <a:fillRect/>
            </a:stretch>
          </p:blipFill>
          <p:spPr>
            <a:xfrm>
              <a:off x="6885940" y="5033433"/>
              <a:ext cx="254000" cy="254000"/>
            </a:xfrm>
            <a:prstGeom prst="rect">
              <a:avLst/>
            </a:prstGeom>
          </p:spPr>
        </p:pic>
        <p:sp>
          <p:nvSpPr>
            <p:cNvPr id="23" name="TextBox 22">
              <a:extLst>
                <a:ext uri="{FF2B5EF4-FFF2-40B4-BE49-F238E27FC236}">
                  <a16:creationId xmlns:a16="http://schemas.microsoft.com/office/drawing/2014/main" id="{798108D4-31FF-D1D7-2A04-54B1CDC83B65}"/>
                </a:ext>
              </a:extLst>
            </p:cNvPr>
            <p:cNvSpPr txBox="1"/>
            <p:nvPr/>
          </p:nvSpPr>
          <p:spPr>
            <a:xfrm>
              <a:off x="7305040" y="4919133"/>
              <a:ext cx="4150360" cy="990015"/>
            </a:xfrm>
            <a:prstGeom prst="rect">
              <a:avLst/>
            </a:prstGeom>
            <a:noFill/>
          </p:spPr>
          <p:txBody>
            <a:bodyPr vert="horz" wrap="square" tIns="0" rtlCol="0">
              <a:spAutoFit/>
            </a:bodyPr>
            <a:lstStyle/>
            <a:p>
              <a:pPr>
                <a:spcAft>
                  <a:spcPts val="400"/>
                </a:spcAft>
              </a:pPr>
              <a:r>
                <a:rPr lang="en-US" sz="1600" b="1">
                  <a:solidFill>
                    <a:srgbClr val="0F172A"/>
                  </a:solidFill>
                  <a:latin typeface="Segoe UI" panose="020B0502040204020203" pitchFamily="34" charset="0"/>
                </a:rPr>
                <a:t>Giai Đoạn 3: Suy Giảm Mức Sinh
</a:t>
              </a:r>
              <a:r>
                <a:rPr lang="vi-VN" sz="1400" b="1">
                  <a:solidFill>
                    <a:srgbClr val="334155"/>
                  </a:solidFill>
                  <a:latin typeface="Segoe UI" panose="020B0502040204020203" pitchFamily="34" charset="0"/>
                </a:rPr>
                <a:t>Đô thị hóa và chi phí nuôi dạy con khiến mức sinh giảm nhanh. Tốc độ tăng trưởng dân số chậm dần.</a:t>
              </a:r>
              <a:endParaRPr lang="en-US" sz="1400" b="1">
                <a:solidFill>
                  <a:srgbClr val="334155"/>
                </a:solidFill>
                <a:latin typeface="Segoe UI" panose="020B0502040204020203" pitchFamily="34" charset="0"/>
              </a:endParaRPr>
            </a:p>
          </p:txBody>
        </p:sp>
      </p:grpSp>
      <p:sp>
        <p:nvSpPr>
          <p:cNvPr id="25" name="!!Anchor_Source_Footer">
            <a:extLst>
              <a:ext uri="{FF2B5EF4-FFF2-40B4-BE49-F238E27FC236}">
                <a16:creationId xmlns:a16="http://schemas.microsoft.com/office/drawing/2014/main" id="{391CF992-E6D6-E919-0A09-5357F8E0DD8B}"/>
              </a:ext>
            </a:extLst>
          </p:cNvPr>
          <p:cNvSpPr txBox="1"/>
          <p:nvPr/>
        </p:nvSpPr>
        <p:spPr>
          <a:xfrm>
            <a:off x="609600" y="6273800"/>
            <a:ext cx="10972800" cy="246221"/>
          </a:xfrm>
          <a:prstGeom prst="rect">
            <a:avLst/>
          </a:prstGeom>
          <a:noFill/>
        </p:spPr>
        <p:txBody>
          <a:bodyPr vert="horz" rtlCol="0">
            <a:spAutoFit/>
          </a:bodyPr>
          <a:lstStyle/>
          <a:p>
            <a:r>
              <a:rPr lang="en-US" sz="1000">
                <a:solidFill>
                  <a:srgbClr val="334155"/>
                </a:solidFill>
                <a:latin typeface="Segoe UI" panose="020B0502040204020203" pitchFamily="34" charset="0"/>
              </a:rPr>
              <a:t>Lý thuyết chuyển tiếp dân số (Frank Notestein Model)</a:t>
            </a:r>
          </a:p>
        </p:txBody>
      </p:sp>
    </p:spTree>
    <p:extLst>
      <p:ext uri="{BB962C8B-B14F-4D97-AF65-F5344CB8AC3E}">
        <p14:creationId xmlns:p14="http://schemas.microsoft.com/office/powerpoint/2010/main" val="1238765431"/>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850">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accel="50000" decel="50000" fill="hold" nodeType="clickEffect">
                                  <p:stCondLst>
                                    <p:cond delay="0"/>
                                  </p:stCondLst>
                                  <p:childTnLst>
                                    <p:set>
                                      <p:cBhvr>
                                        <p:cTn id="6" dur="1" fill="hold">
                                          <p:stCondLst>
                                            <p:cond delay="0"/>
                                          </p:stCondLst>
                                        </p:cTn>
                                        <p:tgtEl>
                                          <p:spTgt spid="12"/>
                                        </p:tgtEl>
                                        <p:attrNameLst>
                                          <p:attrName>style.visibility</p:attrName>
                                        </p:attrNameLst>
                                      </p:cBhvr>
                                      <p:to>
                                        <p:strVal val="visible"/>
                                      </p:to>
                                    </p:set>
                                    <p:anim calcmode="lin" valueType="num">
                                      <p:cBhvr additive="base">
                                        <p:cTn id="7" dur="450" fill="hold"/>
                                        <p:tgtEl>
                                          <p:spTgt spid="12"/>
                                        </p:tgtEl>
                                        <p:attrNameLst>
                                          <p:attrName>ppt_x</p:attrName>
                                        </p:attrNameLst>
                                      </p:cBhvr>
                                      <p:tavLst>
                                        <p:tav tm="0">
                                          <p:val>
                                            <p:strVal val="#ppt_x"/>
                                          </p:val>
                                        </p:tav>
                                        <p:tav tm="100000">
                                          <p:val>
                                            <p:strVal val="#ppt_x"/>
                                          </p:val>
                                        </p:tav>
                                      </p:tavLst>
                                    </p:anim>
                                    <p:anim calcmode="lin" valueType="num">
                                      <p:cBhvr additive="base">
                                        <p:cTn id="8" dur="450" fill="hold"/>
                                        <p:tgtEl>
                                          <p:spTgt spid="12"/>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accel="50000" decel="50000" fill="hold" nodeType="clickEffect">
                                  <p:stCondLst>
                                    <p:cond delay="0"/>
                                  </p:stCondLst>
                                  <p:childTnLst>
                                    <p:set>
                                      <p:cBhvr>
                                        <p:cTn id="12" dur="1" fill="hold">
                                          <p:stCondLst>
                                            <p:cond delay="0"/>
                                          </p:stCondLst>
                                        </p:cTn>
                                        <p:tgtEl>
                                          <p:spTgt spid="18"/>
                                        </p:tgtEl>
                                        <p:attrNameLst>
                                          <p:attrName>style.visibility</p:attrName>
                                        </p:attrNameLst>
                                      </p:cBhvr>
                                      <p:to>
                                        <p:strVal val="visible"/>
                                      </p:to>
                                    </p:set>
                                    <p:anim calcmode="lin" valueType="num">
                                      <p:cBhvr additive="base">
                                        <p:cTn id="13" dur="450" fill="hold"/>
                                        <p:tgtEl>
                                          <p:spTgt spid="18"/>
                                        </p:tgtEl>
                                        <p:attrNameLst>
                                          <p:attrName>ppt_x</p:attrName>
                                        </p:attrNameLst>
                                      </p:cBhvr>
                                      <p:tavLst>
                                        <p:tav tm="0">
                                          <p:val>
                                            <p:strVal val="#ppt_x"/>
                                          </p:val>
                                        </p:tav>
                                        <p:tav tm="100000">
                                          <p:val>
                                            <p:strVal val="#ppt_x"/>
                                          </p:val>
                                        </p:tav>
                                      </p:tavLst>
                                    </p:anim>
                                    <p:anim calcmode="lin" valueType="num">
                                      <p:cBhvr additive="base">
                                        <p:cTn id="14" dur="450" fill="hold"/>
                                        <p:tgtEl>
                                          <p:spTgt spid="18"/>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accel="50000" decel="50000" fill="hold" nodeType="clickEffect">
                                  <p:stCondLst>
                                    <p:cond delay="0"/>
                                  </p:stCondLst>
                                  <p:childTnLst>
                                    <p:set>
                                      <p:cBhvr>
                                        <p:cTn id="18" dur="1" fill="hold">
                                          <p:stCondLst>
                                            <p:cond delay="0"/>
                                          </p:stCondLst>
                                        </p:cTn>
                                        <p:tgtEl>
                                          <p:spTgt spid="24"/>
                                        </p:tgtEl>
                                        <p:attrNameLst>
                                          <p:attrName>style.visibility</p:attrName>
                                        </p:attrNameLst>
                                      </p:cBhvr>
                                      <p:to>
                                        <p:strVal val="visible"/>
                                      </p:to>
                                    </p:set>
                                    <p:anim calcmode="lin" valueType="num">
                                      <p:cBhvr additive="base">
                                        <p:cTn id="19" dur="450" fill="hold"/>
                                        <p:tgtEl>
                                          <p:spTgt spid="24"/>
                                        </p:tgtEl>
                                        <p:attrNameLst>
                                          <p:attrName>ppt_x</p:attrName>
                                        </p:attrNameLst>
                                      </p:cBhvr>
                                      <p:tavLst>
                                        <p:tav tm="0">
                                          <p:val>
                                            <p:strVal val="#ppt_x"/>
                                          </p:val>
                                        </p:tav>
                                        <p:tav tm="100000">
                                          <p:val>
                                            <p:strVal val="#ppt_x"/>
                                          </p:val>
                                        </p:tav>
                                      </p:tavLst>
                                    </p:anim>
                                    <p:anim calcmode="lin" valueType="num">
                                      <p:cBhvr additive="base">
                                        <p:cTn id="20" dur="450" fill="hold"/>
                                        <p:tgtEl>
                                          <p:spTgt spid="2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a:xfrm>
          <a:off x="0" y="0"/>
          <a:ext cx="0" cy="0"/>
          <a:chOff x="0" y="0"/>
          <a:chExt cx="0" cy="0"/>
        </a:xfrm>
      </p:grpSpPr>
      <p:sp>
        <p:nvSpPr>
          <p:cNvPr id="2" name="!!Anchor_Kicker_Rail">
            <a:extLst>
              <a:ext uri="{FF2B5EF4-FFF2-40B4-BE49-F238E27FC236}">
                <a16:creationId xmlns:a16="http://schemas.microsoft.com/office/drawing/2014/main" id="{8DB3CE69-3C67-E520-A188-B36F2960521B}"/>
              </a:ext>
            </a:extLst>
          </p:cNvPr>
          <p:cNvSpPr txBox="1"/>
          <p:nvPr/>
        </p:nvSpPr>
        <p:spPr>
          <a:xfrm>
            <a:off x="609600" y="457200"/>
            <a:ext cx="9956800" cy="276999"/>
          </a:xfrm>
          <a:prstGeom prst="rect">
            <a:avLst/>
          </a:prstGeom>
          <a:noFill/>
        </p:spPr>
        <p:txBody>
          <a:bodyPr vert="horz" rtlCol="0">
            <a:spAutoFit/>
          </a:bodyPr>
          <a:lstStyle/>
          <a:p>
            <a:r>
              <a:rPr lang="en-US" sz="1200" b="1">
                <a:solidFill>
                  <a:srgbClr val="0284C7"/>
                </a:solidFill>
                <a:latin typeface="Segoe UI" panose="020B0502040204020203" pitchFamily="34" charset="0"/>
              </a:rPr>
              <a:t>TỔNG KẾT BÀI HỌC  •  TRỌNG TÂM</a:t>
            </a:r>
          </a:p>
        </p:txBody>
      </p:sp>
      <p:sp>
        <p:nvSpPr>
          <p:cNvPr id="3" name="!!Anchor_Slide_Tracker">
            <a:extLst>
              <a:ext uri="{FF2B5EF4-FFF2-40B4-BE49-F238E27FC236}">
                <a16:creationId xmlns:a16="http://schemas.microsoft.com/office/drawing/2014/main" id="{DADAFA83-1F5D-0B46-B5B0-7ED1AAF032B9}"/>
              </a:ext>
            </a:extLst>
          </p:cNvPr>
          <p:cNvSpPr txBox="1"/>
          <p:nvPr/>
        </p:nvSpPr>
        <p:spPr>
          <a:xfrm>
            <a:off x="10820400" y="457200"/>
            <a:ext cx="762000" cy="276999"/>
          </a:xfrm>
          <a:prstGeom prst="rect">
            <a:avLst/>
          </a:prstGeom>
          <a:noFill/>
        </p:spPr>
        <p:txBody>
          <a:bodyPr vert="horz" rtlCol="0">
            <a:spAutoFit/>
          </a:bodyPr>
          <a:lstStyle/>
          <a:p>
            <a:pPr algn="r"/>
            <a:r>
              <a:rPr lang="en-US" sz="1200" b="1">
                <a:solidFill>
                  <a:srgbClr val="334155"/>
                </a:solidFill>
                <a:latin typeface="Bahnschrift" panose="020B0502040204020203" pitchFamily="34" charset="0"/>
              </a:rPr>
              <a:t>22 / 22</a:t>
            </a:r>
          </a:p>
        </p:txBody>
      </p:sp>
      <p:sp>
        <p:nvSpPr>
          <p:cNvPr id="4" name="!!Anchor_Assertion_Title">
            <a:extLst>
              <a:ext uri="{FF2B5EF4-FFF2-40B4-BE49-F238E27FC236}">
                <a16:creationId xmlns:a16="http://schemas.microsoft.com/office/drawing/2014/main" id="{1F857002-FF4D-BF4E-1A87-36D35A437447}"/>
              </a:ext>
            </a:extLst>
          </p:cNvPr>
          <p:cNvSpPr txBox="1"/>
          <p:nvPr/>
        </p:nvSpPr>
        <p:spPr>
          <a:xfrm>
            <a:off x="609600" y="711200"/>
            <a:ext cx="10972800" cy="369332"/>
          </a:xfrm>
          <a:prstGeom prst="rect">
            <a:avLst/>
          </a:prstGeom>
          <a:noFill/>
        </p:spPr>
        <p:txBody>
          <a:bodyPr vert="horz" wrap="square" tIns="0" bIns="0" rtlCol="0">
            <a:spAutoFit/>
          </a:bodyPr>
          <a:lstStyle/>
          <a:p>
            <a:r>
              <a:rPr lang="en-US" sz="2400" b="1">
                <a:solidFill>
                  <a:srgbClr val="0F172A"/>
                </a:solidFill>
                <a:latin typeface="Segoe UI" panose="020B0502040204020203" pitchFamily="34" charset="0"/>
              </a:rPr>
              <a:t>Tổng Kết Chuyên Đề Và Bài Tập Phân Tích Mức Sinh - Mức Chết</a:t>
            </a:r>
          </a:p>
        </p:txBody>
      </p:sp>
      <p:grpSp>
        <p:nvGrpSpPr>
          <p:cNvPr id="11" name="!!Stage_Hero_Container">
            <a:extLst>
              <a:ext uri="{FF2B5EF4-FFF2-40B4-BE49-F238E27FC236}">
                <a16:creationId xmlns:a16="http://schemas.microsoft.com/office/drawing/2014/main" id="{C947F703-92E4-38CF-0375-74E7586B3751}"/>
              </a:ext>
            </a:extLst>
          </p:cNvPr>
          <p:cNvGrpSpPr/>
          <p:nvPr/>
        </p:nvGrpSpPr>
        <p:grpSpPr>
          <a:xfrm>
            <a:off x="609600" y="1676400"/>
            <a:ext cx="3522133" cy="4521200"/>
            <a:chOff x="609600" y="1676400"/>
            <a:chExt cx="3522133" cy="4521200"/>
          </a:xfrm>
        </p:grpSpPr>
        <p:sp>
          <p:nvSpPr>
            <p:cNvPr id="5" name="Rectangle: Rounded Corners 4">
              <a:extLst>
                <a:ext uri="{FF2B5EF4-FFF2-40B4-BE49-F238E27FC236}">
                  <a16:creationId xmlns:a16="http://schemas.microsoft.com/office/drawing/2014/main" id="{65616071-2AFB-E94F-3862-1BA8660561AF}"/>
                </a:ext>
              </a:extLst>
            </p:cNvPr>
            <p:cNvSpPr/>
            <p:nvPr/>
          </p:nvSpPr>
          <p:spPr>
            <a:xfrm>
              <a:off x="609600" y="1676400"/>
              <a:ext cx="3522133" cy="4521200"/>
            </a:xfrm>
            <a:prstGeom prst="roundRect">
              <a:avLst/>
            </a:prstGeom>
            <a:solidFill>
              <a:srgbClr val="FFFFFF"/>
            </a:solidFill>
            <a:ln w="12700">
              <a:solidFill>
                <a:srgbClr val="CBD5E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a:extLst>
                <a:ext uri="{FF2B5EF4-FFF2-40B4-BE49-F238E27FC236}">
                  <a16:creationId xmlns:a16="http://schemas.microsoft.com/office/drawing/2014/main" id="{62B8F22C-205B-F6B0-113E-397C58C00A65}"/>
                </a:ext>
              </a:extLst>
            </p:cNvPr>
            <p:cNvSpPr/>
            <p:nvPr/>
          </p:nvSpPr>
          <p:spPr>
            <a:xfrm>
              <a:off x="812800" y="1879600"/>
              <a:ext cx="457200" cy="38100"/>
            </a:xfrm>
            <a:prstGeom prst="rect">
              <a:avLst/>
            </a:prstGeom>
            <a:solidFill>
              <a:srgbClr val="0284C7"/>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Oval 6">
              <a:extLst>
                <a:ext uri="{FF2B5EF4-FFF2-40B4-BE49-F238E27FC236}">
                  <a16:creationId xmlns:a16="http://schemas.microsoft.com/office/drawing/2014/main" id="{A2D2F369-C830-8FE6-EE28-7F8241B613E9}"/>
                </a:ext>
              </a:extLst>
            </p:cNvPr>
            <p:cNvSpPr/>
            <p:nvPr/>
          </p:nvSpPr>
          <p:spPr>
            <a:xfrm>
              <a:off x="812800" y="2006600"/>
              <a:ext cx="406400" cy="406400"/>
            </a:xfrm>
            <a:prstGeom prst="ellipse">
              <a:avLst/>
            </a:prstGeom>
            <a:solidFill>
              <a:srgbClr val="E0F2FE"/>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9" name="Graphic 8">
              <a:extLst>
                <a:ext uri="{FF2B5EF4-FFF2-40B4-BE49-F238E27FC236}">
                  <a16:creationId xmlns:a16="http://schemas.microsoft.com/office/drawing/2014/main" id="{A9A84B3F-7561-3580-2B37-ED793C4BD51E}"/>
                </a:ext>
              </a:extLst>
            </p:cNvPr>
            <p:cNvPicPr>
              <a:picLocks/>
            </p:cNvPicPr>
            <p:nvPr/>
          </p:nvPicPr>
          <p:blipFill>
            <a:blip>
              <a:extLst>
                <a:ext uri="{96DAC541-7B7A-43D3-8B79-37D633B846F1}">
                  <asvg:svgBlip xmlns:asvg="http://schemas.microsoft.com/office/drawing/2016/SVG/main" r:embed="rId2"/>
                </a:ext>
              </a:extLst>
            </a:blip>
            <a:stretch>
              <a:fillRect/>
            </a:stretch>
          </p:blipFill>
          <p:spPr>
            <a:xfrm>
              <a:off x="876300" y="2070100"/>
              <a:ext cx="279400" cy="279400"/>
            </a:xfrm>
            <a:prstGeom prst="rect">
              <a:avLst/>
            </a:prstGeom>
          </p:spPr>
        </p:pic>
        <p:sp>
          <p:nvSpPr>
            <p:cNvPr id="10" name="TextBox 9">
              <a:extLst>
                <a:ext uri="{FF2B5EF4-FFF2-40B4-BE49-F238E27FC236}">
                  <a16:creationId xmlns:a16="http://schemas.microsoft.com/office/drawing/2014/main" id="{4C7AA6B1-5088-4EB7-6D27-D72E6A7FA64E}"/>
                </a:ext>
              </a:extLst>
            </p:cNvPr>
            <p:cNvSpPr txBox="1"/>
            <p:nvPr/>
          </p:nvSpPr>
          <p:spPr>
            <a:xfrm>
              <a:off x="812800" y="2540000"/>
              <a:ext cx="3115733" cy="1620572"/>
            </a:xfrm>
            <a:prstGeom prst="rect">
              <a:avLst/>
            </a:prstGeom>
            <a:noFill/>
          </p:spPr>
          <p:txBody>
            <a:bodyPr vert="horz" wrap="square" lIns="0" tIns="0" rtlCol="0">
              <a:spAutoFit/>
            </a:bodyPr>
            <a:lstStyle/>
            <a:p>
              <a:pPr>
                <a:lnSpc>
                  <a:spcPct val="125000"/>
                </a:lnSpc>
                <a:spcAft>
                  <a:spcPts val="800"/>
                </a:spcAft>
              </a:pPr>
              <a:r>
                <a:rPr lang="en-US" b="1">
                  <a:solidFill>
                    <a:srgbClr val="0F172A"/>
                  </a:solidFill>
                  <a:latin typeface="Segoe UI" panose="020B0502040204020203" pitchFamily="34" charset="0"/>
                </a:rPr>
                <a:t>Bài Tập Tính TFR
</a:t>
              </a:r>
              <a:r>
                <a:rPr lang="vi-VN" sz="1500">
                  <a:solidFill>
                    <a:srgbClr val="334155"/>
                  </a:solidFill>
                  <a:latin typeface="Segoe UI" panose="020B0502040204020203" pitchFamily="34" charset="0"/>
                </a:rPr>
                <a:t>Cho chuỗi tỷ suất sinh đặc trưng theo tuổi ASFR (nhóm 15-49). Hãy tính Tổng tỷ suất sinh TFR và rút ra kết luận mức sinh.</a:t>
              </a:r>
              <a:endParaRPr lang="en-US" sz="1500">
                <a:solidFill>
                  <a:srgbClr val="334155"/>
                </a:solidFill>
                <a:latin typeface="Segoe UI" panose="020B0502040204020203" pitchFamily="34" charset="0"/>
              </a:endParaRPr>
            </a:p>
          </p:txBody>
        </p:sp>
      </p:grpSp>
      <p:grpSp>
        <p:nvGrpSpPr>
          <p:cNvPr id="18" name="!!Stage_Sub_Card_1">
            <a:extLst>
              <a:ext uri="{FF2B5EF4-FFF2-40B4-BE49-F238E27FC236}">
                <a16:creationId xmlns:a16="http://schemas.microsoft.com/office/drawing/2014/main" id="{AB342477-40C2-C958-5E83-4F7CC2DE49BF}"/>
              </a:ext>
            </a:extLst>
          </p:cNvPr>
          <p:cNvGrpSpPr/>
          <p:nvPr/>
        </p:nvGrpSpPr>
        <p:grpSpPr>
          <a:xfrm>
            <a:off x="4334933" y="1676400"/>
            <a:ext cx="3522134" cy="4521200"/>
            <a:chOff x="4334933" y="1676400"/>
            <a:chExt cx="3522134" cy="4521200"/>
          </a:xfrm>
        </p:grpSpPr>
        <p:sp>
          <p:nvSpPr>
            <p:cNvPr id="12" name="Rectangle: Rounded Corners 11">
              <a:extLst>
                <a:ext uri="{FF2B5EF4-FFF2-40B4-BE49-F238E27FC236}">
                  <a16:creationId xmlns:a16="http://schemas.microsoft.com/office/drawing/2014/main" id="{C2EA3616-1E49-85C8-6C22-90BA05B77EDA}"/>
                </a:ext>
              </a:extLst>
            </p:cNvPr>
            <p:cNvSpPr/>
            <p:nvPr/>
          </p:nvSpPr>
          <p:spPr>
            <a:xfrm>
              <a:off x="4334933" y="1676400"/>
              <a:ext cx="3522134" cy="4521200"/>
            </a:xfrm>
            <a:prstGeom prst="roundRect">
              <a:avLst/>
            </a:prstGeom>
            <a:solidFill>
              <a:srgbClr val="FFFFFF"/>
            </a:solidFill>
            <a:ln w="12700">
              <a:solidFill>
                <a:srgbClr val="CBD5E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CF03C09F-0640-B5A5-CAC1-C565CD92AD57}"/>
                </a:ext>
              </a:extLst>
            </p:cNvPr>
            <p:cNvSpPr/>
            <p:nvPr/>
          </p:nvSpPr>
          <p:spPr>
            <a:xfrm>
              <a:off x="4538133" y="1879600"/>
              <a:ext cx="457200" cy="38100"/>
            </a:xfrm>
            <a:prstGeom prst="rect">
              <a:avLst/>
            </a:prstGeom>
            <a:solidFill>
              <a:srgbClr val="0284C7"/>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Oval 13">
              <a:extLst>
                <a:ext uri="{FF2B5EF4-FFF2-40B4-BE49-F238E27FC236}">
                  <a16:creationId xmlns:a16="http://schemas.microsoft.com/office/drawing/2014/main" id="{12C4F734-CE5A-FF96-748D-E3B5D8348A21}"/>
                </a:ext>
              </a:extLst>
            </p:cNvPr>
            <p:cNvSpPr/>
            <p:nvPr/>
          </p:nvSpPr>
          <p:spPr>
            <a:xfrm>
              <a:off x="4538133" y="2006600"/>
              <a:ext cx="406400" cy="406400"/>
            </a:xfrm>
            <a:prstGeom prst="ellipse">
              <a:avLst/>
            </a:prstGeom>
            <a:solidFill>
              <a:srgbClr val="E0F2FE"/>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6" name="Graphic 15">
              <a:extLst>
                <a:ext uri="{FF2B5EF4-FFF2-40B4-BE49-F238E27FC236}">
                  <a16:creationId xmlns:a16="http://schemas.microsoft.com/office/drawing/2014/main" id="{945BB8F1-960C-FC75-2DB6-D836BE783EF7}"/>
                </a:ext>
              </a:extLst>
            </p:cNvPr>
            <p:cNvPicPr>
              <a:picLocks/>
            </p:cNvPicPr>
            <p:nvPr/>
          </p:nvPicPr>
          <p:blipFill>
            <a:blip>
              <a:extLst>
                <a:ext uri="{96DAC541-7B7A-43D3-8B79-37D633B846F1}">
                  <asvg:svgBlip xmlns:asvg="http://schemas.microsoft.com/office/drawing/2016/SVG/main" r:embed="rId3"/>
                </a:ext>
              </a:extLst>
            </a:blip>
            <a:stretch>
              <a:fillRect/>
            </a:stretch>
          </p:blipFill>
          <p:spPr>
            <a:xfrm>
              <a:off x="4601633" y="2070100"/>
              <a:ext cx="279400" cy="279400"/>
            </a:xfrm>
            <a:prstGeom prst="rect">
              <a:avLst/>
            </a:prstGeom>
          </p:spPr>
        </p:pic>
        <p:sp>
          <p:nvSpPr>
            <p:cNvPr id="17" name="TextBox 16">
              <a:extLst>
                <a:ext uri="{FF2B5EF4-FFF2-40B4-BE49-F238E27FC236}">
                  <a16:creationId xmlns:a16="http://schemas.microsoft.com/office/drawing/2014/main" id="{AAEDCB55-7E8B-AFAA-F3C9-31CC470F3F99}"/>
                </a:ext>
              </a:extLst>
            </p:cNvPr>
            <p:cNvSpPr txBox="1"/>
            <p:nvPr/>
          </p:nvSpPr>
          <p:spPr>
            <a:xfrm>
              <a:off x="4538133" y="2540000"/>
              <a:ext cx="3115733" cy="1966820"/>
            </a:xfrm>
            <a:prstGeom prst="rect">
              <a:avLst/>
            </a:prstGeom>
            <a:noFill/>
          </p:spPr>
          <p:txBody>
            <a:bodyPr vert="horz" wrap="square" lIns="0" tIns="0" rtlCol="0">
              <a:spAutoFit/>
            </a:bodyPr>
            <a:lstStyle/>
            <a:p>
              <a:pPr>
                <a:lnSpc>
                  <a:spcPct val="125000"/>
                </a:lnSpc>
                <a:spcAft>
                  <a:spcPts val="800"/>
                </a:spcAft>
              </a:pPr>
              <a:r>
                <a:rPr lang="en-US" b="1">
                  <a:solidFill>
                    <a:srgbClr val="0F172A"/>
                  </a:solidFill>
                  <a:latin typeface="Segoe UI" panose="020B0502040204020203" pitchFamily="34" charset="0"/>
                </a:rPr>
                <a:t>Bài Tập Phân Tích Bảng Sống
</a:t>
              </a:r>
              <a:r>
                <a:rPr lang="en-US" sz="1500">
                  <a:solidFill>
                    <a:srgbClr val="334155"/>
                  </a:solidFill>
                  <a:latin typeface="Segoe UI" panose="020B0502040204020203" pitchFamily="34" charset="0"/>
                </a:rPr>
                <a:t>Dựa vào bảng sống rút gọn, tính toán kỳ vọng sống còn lại ở độ tuổi 60 (e_60) để phục vụ tính toán quỹ bảo hiểm xã hội.</a:t>
              </a:r>
            </a:p>
          </p:txBody>
        </p:sp>
      </p:grpSp>
      <p:grpSp>
        <p:nvGrpSpPr>
          <p:cNvPr id="25" name="!!Stage_Sub_Card_2">
            <a:extLst>
              <a:ext uri="{FF2B5EF4-FFF2-40B4-BE49-F238E27FC236}">
                <a16:creationId xmlns:a16="http://schemas.microsoft.com/office/drawing/2014/main" id="{8FE78985-50F6-F8B7-1580-403AE4512109}"/>
              </a:ext>
            </a:extLst>
          </p:cNvPr>
          <p:cNvGrpSpPr/>
          <p:nvPr/>
        </p:nvGrpSpPr>
        <p:grpSpPr>
          <a:xfrm>
            <a:off x="8060267" y="1676400"/>
            <a:ext cx="3522133" cy="4521200"/>
            <a:chOff x="8060267" y="1676400"/>
            <a:chExt cx="3522133" cy="4521200"/>
          </a:xfrm>
        </p:grpSpPr>
        <p:sp>
          <p:nvSpPr>
            <p:cNvPr id="19" name="Rectangle: Rounded Corners 18">
              <a:extLst>
                <a:ext uri="{FF2B5EF4-FFF2-40B4-BE49-F238E27FC236}">
                  <a16:creationId xmlns:a16="http://schemas.microsoft.com/office/drawing/2014/main" id="{177FA774-59A0-BE2B-50B2-7CFCC588C459}"/>
                </a:ext>
              </a:extLst>
            </p:cNvPr>
            <p:cNvSpPr/>
            <p:nvPr/>
          </p:nvSpPr>
          <p:spPr>
            <a:xfrm>
              <a:off x="8060267" y="1676400"/>
              <a:ext cx="3522133" cy="4521200"/>
            </a:xfrm>
            <a:prstGeom prst="roundRect">
              <a:avLst/>
            </a:prstGeom>
            <a:solidFill>
              <a:srgbClr val="FFFFFF"/>
            </a:solidFill>
            <a:ln w="12700">
              <a:solidFill>
                <a:srgbClr val="CBD5E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Rectangle 19">
              <a:extLst>
                <a:ext uri="{FF2B5EF4-FFF2-40B4-BE49-F238E27FC236}">
                  <a16:creationId xmlns:a16="http://schemas.microsoft.com/office/drawing/2014/main" id="{CD2F56EF-AF77-39BA-5874-134C7BF9D5FE}"/>
                </a:ext>
              </a:extLst>
            </p:cNvPr>
            <p:cNvSpPr/>
            <p:nvPr/>
          </p:nvSpPr>
          <p:spPr>
            <a:xfrm>
              <a:off x="8263467" y="1879600"/>
              <a:ext cx="457200" cy="38100"/>
            </a:xfrm>
            <a:prstGeom prst="rect">
              <a:avLst/>
            </a:prstGeom>
            <a:solidFill>
              <a:srgbClr val="0284C7"/>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Oval 20">
              <a:extLst>
                <a:ext uri="{FF2B5EF4-FFF2-40B4-BE49-F238E27FC236}">
                  <a16:creationId xmlns:a16="http://schemas.microsoft.com/office/drawing/2014/main" id="{5ED585B4-2489-C5A6-2D11-27C00CE5E58B}"/>
                </a:ext>
              </a:extLst>
            </p:cNvPr>
            <p:cNvSpPr/>
            <p:nvPr/>
          </p:nvSpPr>
          <p:spPr>
            <a:xfrm>
              <a:off x="8263467" y="2006600"/>
              <a:ext cx="406400" cy="406400"/>
            </a:xfrm>
            <a:prstGeom prst="ellipse">
              <a:avLst/>
            </a:prstGeom>
            <a:solidFill>
              <a:srgbClr val="E0F2FE"/>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3" name="Graphic 22">
              <a:extLst>
                <a:ext uri="{FF2B5EF4-FFF2-40B4-BE49-F238E27FC236}">
                  <a16:creationId xmlns:a16="http://schemas.microsoft.com/office/drawing/2014/main" id="{7F962093-F928-9B96-90FF-9BC0E2A22546}"/>
                </a:ext>
              </a:extLst>
            </p:cNvPr>
            <p:cNvPicPr>
              <a:picLocks/>
            </p:cNvPicPr>
            <p:nvPr/>
          </p:nvPicPr>
          <p:blipFill>
            <a:blip>
              <a:extLst>
                <a:ext uri="{96DAC541-7B7A-43D3-8B79-37D633B846F1}">
                  <asvg:svgBlip xmlns:asvg="http://schemas.microsoft.com/office/drawing/2016/SVG/main" r:embed="rId4"/>
                </a:ext>
              </a:extLst>
            </a:blip>
            <a:stretch>
              <a:fillRect/>
            </a:stretch>
          </p:blipFill>
          <p:spPr>
            <a:xfrm>
              <a:off x="8326967" y="2070100"/>
              <a:ext cx="279400" cy="279400"/>
            </a:xfrm>
            <a:prstGeom prst="rect">
              <a:avLst/>
            </a:prstGeom>
          </p:spPr>
        </p:pic>
        <p:sp>
          <p:nvSpPr>
            <p:cNvPr id="24" name="TextBox 23">
              <a:extLst>
                <a:ext uri="{FF2B5EF4-FFF2-40B4-BE49-F238E27FC236}">
                  <a16:creationId xmlns:a16="http://schemas.microsoft.com/office/drawing/2014/main" id="{97B1B6D2-CD6A-7464-189A-CA106117B50B}"/>
                </a:ext>
              </a:extLst>
            </p:cNvPr>
            <p:cNvSpPr txBox="1"/>
            <p:nvPr/>
          </p:nvSpPr>
          <p:spPr>
            <a:xfrm>
              <a:off x="8263467" y="2540000"/>
              <a:ext cx="3115733" cy="1966820"/>
            </a:xfrm>
            <a:prstGeom prst="rect">
              <a:avLst/>
            </a:prstGeom>
            <a:noFill/>
          </p:spPr>
          <p:txBody>
            <a:bodyPr vert="horz" wrap="square" lIns="0" tIns="0" rtlCol="0">
              <a:spAutoFit/>
            </a:bodyPr>
            <a:lstStyle/>
            <a:p>
              <a:pPr>
                <a:lnSpc>
                  <a:spcPct val="125000"/>
                </a:lnSpc>
                <a:spcAft>
                  <a:spcPts val="800"/>
                </a:spcAft>
              </a:pPr>
              <a:r>
                <a:rPr lang="en-US" b="1">
                  <a:solidFill>
                    <a:srgbClr val="0F172A"/>
                  </a:solidFill>
                  <a:latin typeface="Segoe UI" panose="020B0502040204020203" pitchFamily="34" charset="0"/>
                </a:rPr>
                <a:t>Câu Hỏi Thảo Luận Chính Sách
</a:t>
              </a:r>
              <a:r>
                <a:rPr lang="en-US" sz="1500">
                  <a:solidFill>
                    <a:srgbClr val="334155"/>
                  </a:solidFill>
                  <a:latin typeface="Segoe UI" panose="020B0502040204020203" pitchFamily="34" charset="0"/>
                </a:rPr>
                <a:t>Tại sao các chính sách khuyến sinh ở Hàn Quốc, Singapore ít hiệu quả? Bài học nào cho các đô thị lớn tại Việt Nam?</a:t>
              </a:r>
            </a:p>
          </p:txBody>
        </p:sp>
      </p:grpSp>
      <p:sp>
        <p:nvSpPr>
          <p:cNvPr id="26" name="!!Anchor_Source_Footer">
            <a:extLst>
              <a:ext uri="{FF2B5EF4-FFF2-40B4-BE49-F238E27FC236}">
                <a16:creationId xmlns:a16="http://schemas.microsoft.com/office/drawing/2014/main" id="{0601E926-D105-E3D4-5D68-BC194A27A36B}"/>
              </a:ext>
            </a:extLst>
          </p:cNvPr>
          <p:cNvSpPr txBox="1"/>
          <p:nvPr/>
        </p:nvSpPr>
        <p:spPr>
          <a:xfrm>
            <a:off x="609600" y="6273800"/>
            <a:ext cx="10972800" cy="246221"/>
          </a:xfrm>
          <a:prstGeom prst="rect">
            <a:avLst/>
          </a:prstGeom>
          <a:noFill/>
        </p:spPr>
        <p:txBody>
          <a:bodyPr vert="horz" rtlCol="0">
            <a:spAutoFit/>
          </a:bodyPr>
          <a:lstStyle/>
          <a:p>
            <a:r>
              <a:rPr lang="en-US" sz="1000">
                <a:solidFill>
                  <a:srgbClr val="334155"/>
                </a:solidFill>
                <a:latin typeface="Segoe UI" panose="020B0502040204020203" pitchFamily="34" charset="0"/>
              </a:rPr>
              <a:t>Tài liệu đào tạo Dân số học chuẩn quốc gia</a:t>
            </a:r>
          </a:p>
        </p:txBody>
      </p:sp>
    </p:spTree>
    <p:extLst>
      <p:ext uri="{BB962C8B-B14F-4D97-AF65-F5344CB8AC3E}">
        <p14:creationId xmlns:p14="http://schemas.microsoft.com/office/powerpoint/2010/main" val="1479792215"/>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850">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accel="50000" decel="50000" fill="hold" nodeType="clickEffect">
                                  <p:stCondLst>
                                    <p:cond delay="0"/>
                                  </p:stCondLst>
                                  <p:childTnLst>
                                    <p:set>
                                      <p:cBhvr>
                                        <p:cTn id="6" dur="1" fill="hold">
                                          <p:stCondLst>
                                            <p:cond delay="0"/>
                                          </p:stCondLst>
                                        </p:cTn>
                                        <p:tgtEl>
                                          <p:spTgt spid="18"/>
                                        </p:tgtEl>
                                        <p:attrNameLst>
                                          <p:attrName>style.visibility</p:attrName>
                                        </p:attrNameLst>
                                      </p:cBhvr>
                                      <p:to>
                                        <p:strVal val="visible"/>
                                      </p:to>
                                    </p:set>
                                    <p:anim calcmode="lin" valueType="num">
                                      <p:cBhvr additive="base">
                                        <p:cTn id="7" dur="450" fill="hold"/>
                                        <p:tgtEl>
                                          <p:spTgt spid="18"/>
                                        </p:tgtEl>
                                        <p:attrNameLst>
                                          <p:attrName>ppt_x</p:attrName>
                                        </p:attrNameLst>
                                      </p:cBhvr>
                                      <p:tavLst>
                                        <p:tav tm="0">
                                          <p:val>
                                            <p:strVal val="#ppt_x"/>
                                          </p:val>
                                        </p:tav>
                                        <p:tav tm="100000">
                                          <p:val>
                                            <p:strVal val="#ppt_x"/>
                                          </p:val>
                                        </p:tav>
                                      </p:tavLst>
                                    </p:anim>
                                    <p:anim calcmode="lin" valueType="num">
                                      <p:cBhvr additive="base">
                                        <p:cTn id="8" dur="450" fill="hold"/>
                                        <p:tgtEl>
                                          <p:spTgt spid="18"/>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accel="50000" decel="50000" fill="hold" nodeType="clickEffect">
                                  <p:stCondLst>
                                    <p:cond delay="0"/>
                                  </p:stCondLst>
                                  <p:childTnLst>
                                    <p:set>
                                      <p:cBhvr>
                                        <p:cTn id="12" dur="1" fill="hold">
                                          <p:stCondLst>
                                            <p:cond delay="0"/>
                                          </p:stCondLst>
                                        </p:cTn>
                                        <p:tgtEl>
                                          <p:spTgt spid="25"/>
                                        </p:tgtEl>
                                        <p:attrNameLst>
                                          <p:attrName>style.visibility</p:attrName>
                                        </p:attrNameLst>
                                      </p:cBhvr>
                                      <p:to>
                                        <p:strVal val="visible"/>
                                      </p:to>
                                    </p:set>
                                    <p:anim calcmode="lin" valueType="num">
                                      <p:cBhvr additive="base">
                                        <p:cTn id="13" dur="450" fill="hold"/>
                                        <p:tgtEl>
                                          <p:spTgt spid="25"/>
                                        </p:tgtEl>
                                        <p:attrNameLst>
                                          <p:attrName>ppt_x</p:attrName>
                                        </p:attrNameLst>
                                      </p:cBhvr>
                                      <p:tavLst>
                                        <p:tav tm="0">
                                          <p:val>
                                            <p:strVal val="#ppt_x"/>
                                          </p:val>
                                        </p:tav>
                                        <p:tav tm="100000">
                                          <p:val>
                                            <p:strVal val="#ppt_x"/>
                                          </p:val>
                                        </p:tav>
                                      </p:tavLst>
                                    </p:anim>
                                    <p:anim calcmode="lin" valueType="num">
                                      <p:cBhvr additive="base">
                                        <p:cTn id="14" dur="450" fill="hold"/>
                                        <p:tgtEl>
                                          <p:spTgt spid="2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3230</Words>
  <Application>Microsoft Office PowerPoint</Application>
  <PresentationFormat>Custom</PresentationFormat>
  <Paragraphs>200</Paragraphs>
  <Slides>22</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22</vt:i4>
      </vt:variant>
    </vt:vector>
  </HeadingPairs>
  <TitlesOfParts>
    <vt:vector size="28" baseType="lpstr">
      <vt:lpstr>Arial</vt:lpstr>
      <vt:lpstr>Bahnschrift</vt:lpstr>
      <vt:lpstr>Calibri</vt:lpstr>
      <vt:lpstr>Calibri Light</vt:lpstr>
      <vt:lpstr>Segoe UI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Thanh Ninh Bui</dc:creator>
  <cp:lastModifiedBy>Thanh Ninh Bui</cp:lastModifiedBy>
  <cp:revision>1</cp:revision>
  <dcterms:created xsi:type="dcterms:W3CDTF">2026-09-18T09:15:44Z</dcterms:created>
  <dcterms:modified xsi:type="dcterms:W3CDTF">2026-09-18T09:15:44Z</dcterms:modified>
</cp:coreProperties>
</file>