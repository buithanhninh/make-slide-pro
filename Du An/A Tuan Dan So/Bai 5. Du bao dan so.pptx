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B4754-EC7D-57B6-3C57-65E534DCD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E8B6A-8D67-DF51-5710-6F332B7B8C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9C20C-81D7-7F17-4C2B-2740D98F5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18EEAD-061D-09AF-4EB8-1A154476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E43E4-E70C-981C-13C4-65905F672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409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D1CFE-ECB4-DDA7-CA70-5BE3AE8C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DB2C3-889F-9079-2336-B46841DD50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E932C-E191-0003-F586-C46D99CA0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A86CBE-3B06-92EB-EC1D-F334F776A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5CF935-E9CB-FFFF-88FA-66901846C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31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B4057-B96D-58FD-9A6D-64EC16428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419EE5-45C1-24C0-F8CE-BFC0D94A76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9B1F3-0020-AA1A-C3D6-FE514F79C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1E754-0D05-1F88-12F1-1CA1ECD73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FE3DBF-980B-4B54-057E-3F57629AF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5492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6EEF7-3E72-CD51-C382-0BC0165D5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BEDDA6-BDDB-9830-2476-A8492E5F13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7AD53B-A3B3-53C9-C470-8D13D4F81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1BE3FE-57D7-DE3C-A5AF-E0FE9AD1D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437DD-8E74-A8D4-96B0-C3911B6FE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2285E4-8FF7-273C-89B2-FE6685D50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82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6AEFD-8831-072D-4D90-CD0347B4E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6892A-7874-1BF8-08DF-EE17E9CCB2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E8E7A-AF42-F86C-0B2D-6F74E7E64A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E07D4C-6FFE-9BFE-F2CF-A508A93A1B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581AAD-FE12-6CF3-FC9F-9B5394D74C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2A7867-6717-B71A-20EE-2F5FC385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7034ED-4CB6-FABF-F29B-C9ADE82BE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CC3DCA-BFC5-626E-0502-20238B121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6389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01AB-2932-5E35-1916-02E150175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848938-904D-BF5C-2B63-0EF21FC82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9F9A29-0914-0D56-8632-1A0FA5C0D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08342-3DC4-D003-0E8B-03D7C62E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36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81F45F-17EE-8AF5-43C0-73E02DA8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259167-DBA4-2A04-8754-3BEE5B1B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315C4B-B3BF-505C-729B-D622B223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1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20CB0-D246-C860-3C84-49ED13157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4AF754-2B3C-BE04-F2C7-4A69BA6385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76B6A-B6C5-2183-5AA4-0C47BD407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6FE443-AA0E-9A62-320B-B89D9F536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646FA7-3BC4-D733-F4A1-6D8E48F89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3CA6DF-8D48-78F0-7CE4-FDA5F0AC9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37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B3ED5-2AE6-8A2C-1BCB-E09DC30CB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53A01-47FF-412B-A8F8-4314C25033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276360-D5BC-8744-13FC-4E7A97A1D8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593C3-E427-F9A3-0A14-0FD9B50B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3391A6-684F-584E-5C97-08DEF0D12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28727-9A2A-156A-A703-0BF461BA3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39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D5D9-179C-67EA-A2B3-8E663E076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32564F-DAF8-E5A3-9B16-9656E46689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E6FAC0-D5AA-DA4C-450E-B333FEF35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1886-7ED9-6BAC-D9B3-0DECE6D8D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704A9-D18B-59F9-44C2-433116C4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46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EE12D32-1C19-2222-C66A-AEDA8C86CB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EF3CBC-D127-490A-0C3B-8B9A829581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F6DED7-F752-FE68-965A-BA320A1D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617A-6BCF-B6A1-693F-E1A372187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981BB-2B38-A0FD-DB00-8EB8828F2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422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33A3AD-DCE1-4795-5B78-96BD566B1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E65C86-F693-2CB4-0A36-6A098455B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002F4-0196-F25D-B6B5-8EF3DF208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91012-AAC8-460C-8AC9-0C967DB21329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38D77E-71AF-012C-F5AE-2F4D2182E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6F9F5-3F9C-3AED-D078-2166CC39C2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0CF5E-CE22-4E94-ACE9-FB7349EAAE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21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4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svg"/><Relationship Id="rId4" Type="http://schemas.openxmlformats.org/officeDocument/2006/relationships/image" Target="../media/image2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svg"/><Relationship Id="rId4" Type="http://schemas.openxmlformats.org/officeDocument/2006/relationships/image" Target="../media/image30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svg"/><Relationship Id="rId4" Type="http://schemas.openxmlformats.org/officeDocument/2006/relationships/image" Target="../media/image1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svg"/><Relationship Id="rId4" Type="http://schemas.openxmlformats.org/officeDocument/2006/relationships/image" Target="../media/image26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59EEC-90AC-258E-2898-11D80A9CC295}"/>
              </a:ext>
            </a:extLst>
          </p:cNvPr>
          <p:cNvSpPr/>
          <p:nvPr/>
        </p:nvSpPr>
        <p:spPr>
          <a:xfrm>
            <a:off x="609600" y="838200"/>
            <a:ext cx="609600" cy="63500"/>
          </a:xfrm>
          <a:prstGeom prst="rect">
            <a:avLst/>
          </a:prstGeom>
          <a:solidFill>
            <a:srgbClr val="0284C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4972C-AD1E-F18B-B54C-BD2B4F10939A}"/>
              </a:ext>
            </a:extLst>
          </p:cNvPr>
          <p:cNvSpPr txBox="1"/>
          <p:nvPr/>
        </p:nvSpPr>
        <p:spPr>
          <a:xfrm>
            <a:off x="609600" y="1041400"/>
            <a:ext cx="5266944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10B981"/>
                </a:solidFill>
                <a:latin typeface="Segoe UI" panose="020B0502040204020203" pitchFamily="34" charset="0"/>
              </a:rPr>
              <a:t>CHƯƠNG TRÌNH ĐÀO TẠO DÂN SỐ HỌC  •  TỔNG QUAN CHUYÊN ĐỀ</a:t>
            </a:r>
            <a:endParaRPr lang="en-US" sz="1200" b="1">
              <a:solidFill>
                <a:srgbClr val="10B981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C0E7AB-1707-CBEB-69BF-DCEA116DC48D}"/>
              </a:ext>
            </a:extLst>
          </p:cNvPr>
          <p:cNvSpPr txBox="1"/>
          <p:nvPr/>
        </p:nvSpPr>
        <p:spPr>
          <a:xfrm>
            <a:off x="609600" y="1447800"/>
            <a:ext cx="5266944" cy="1661993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3400" b="1">
                <a:solidFill>
                  <a:srgbClr val="FFFFFF"/>
                </a:solidFill>
                <a:latin typeface="Segoe UI" panose="020B0502040204020203" pitchFamily="34" charset="0"/>
              </a:rPr>
              <a:t>BÀI 5: DỰ BÁO DÂN SỐ: PHƯƠNG PHÁP LUẬN VÀ ỨNG DỤNG</a:t>
            </a:r>
            <a:endParaRPr lang="en-US" sz="3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5FDABE-C2ED-E726-EAD2-5031B8478EDB}"/>
              </a:ext>
            </a:extLst>
          </p:cNvPr>
          <p:cNvSpPr txBox="1"/>
          <p:nvPr/>
        </p:nvSpPr>
        <p:spPr>
          <a:xfrm>
            <a:off x="609600" y="3187700"/>
            <a:ext cx="5266944" cy="830997"/>
          </a:xfrm>
          <a:prstGeom prst="rect">
            <a:avLst/>
          </a:prstGeom>
          <a:noFill/>
        </p:spPr>
        <p:txBody>
          <a:bodyPr vert="horz" wrap="square" lIns="0" rtlCol="0">
            <a:spAutoFit/>
          </a:bodyPr>
          <a:lstStyle/>
          <a:p>
            <a:r>
              <a:rPr lang="vi-VN" sz="1600">
                <a:solidFill>
                  <a:srgbClr val="CBD5E1"/>
                </a:solidFill>
                <a:latin typeface="Segoe UI" panose="020B0502040204020203" pitchFamily="34" charset="0"/>
              </a:rPr>
              <a:t>Phương pháp luận khoa học, kỹ thuật mô hình hóa thành phần nhân khẩu và ứng dụng dự báo dân số trong hoạch định tương lai.</a:t>
            </a:r>
            <a:endParaRPr lang="en-US" sz="16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E14C8D-7DF6-A4D5-BA28-C7CCF9B9B2E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344" y="1333500"/>
            <a:ext cx="5401056" cy="3014980"/>
          </a:xfrm>
          <a:prstGeom prst="roundRect">
            <a:avLst/>
          </a:prstGeom>
          <a:ln w="19050">
            <a:solidFill>
              <a:srgbClr val="0284C7"/>
            </a:solidFill>
          </a:ln>
        </p:spPr>
      </p:pic>
    </p:spTree>
    <p:extLst>
      <p:ext uri="{BB962C8B-B14F-4D97-AF65-F5344CB8AC3E}">
        <p14:creationId xmlns:p14="http://schemas.microsoft.com/office/powerpoint/2010/main" val="29890874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F9856F0-4A7C-C462-5E01-C7D3FDE2FE13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MỤC TIÊU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5750D87-22B0-80F4-9F44-F292FDC57C08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02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37789442-D569-73C2-1667-4670EC8EFDBA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Năng Lực Xây Dựng Giả Thiết Và Mô Hình Dự Báo Dân Số Khoa Học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9815B89-FE51-3B72-3378-82615976448A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22BED00-8177-670E-7C0F-A755C39BC190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F8DCC13-E12E-BF28-92E9-41D6820FCC54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F3C6D27-7232-AC40-2AA3-0F4BD771E81D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3A9B927-660B-5526-1A7E-5870A115E45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0D494A6-5EE3-5345-18C3-C98E2ABA6A52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189365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Làm Chủ Các Phương Pháp Dự Báo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Nắm vững kỹ thuật ngoại suy hàm số toán học và phương pháp thành phần nhân khẩu (Cohort Component Method).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64BE7AB1-163E-C4CD-1C5E-FA609B0BA10A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572EF99-A13F-F63C-8F59-009762B41630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94D344D-7291-732B-097B-3A4595C6F146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B63C2DB-DA48-2A0A-55B0-69A145996D8B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620136D-BF56-F979-CDA6-E61550A1B50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813F19-0264-078F-E63B-F03ECD5820D5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Kỹ Năng Xây Dựng Giả Thiết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Xây dựng các giả thiết khoa học về mức sinh, mức chết và di cư cho các kịch bản dự báo thấp, trung bình và cao.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42430F0C-1C8A-2F0E-6722-430D344048FA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08BE5B5-ADBF-E234-A24B-E22219B2F04F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CCB56A21-7A9C-EB05-706B-E7B7F3AB8225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MỤC TIÊU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C1167E98-6CD2-9791-21AD-9A005F98C64F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283BAB61-D9D3-B1CB-AC63-9195A1ECE6AC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E04B98E-16C4-D9E9-8427-986F3BDFB607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Ứng Dụng Hoạch Định Chính Sách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Vận dụng kết quả dự báo dân số để tính toán nhu cầu trường học, bệnh viện, quỹ hưu trí và định hướng chiến lược đến 2045.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DB02DA4D-D66E-33CE-B26A-2F74ED563879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Khung chuẩn đầu ra chuyên đề</a:t>
            </a:r>
          </a:p>
        </p:txBody>
      </p:sp>
    </p:spTree>
    <p:extLst>
      <p:ext uri="{BB962C8B-B14F-4D97-AF65-F5344CB8AC3E}">
        <p14:creationId xmlns:p14="http://schemas.microsoft.com/office/powerpoint/2010/main" val="1846292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CDAD7E41-0C58-693C-9D82-4E6CC3B8012D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Ý NGHĨA DỰ BÁO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48949F14-B962-7354-D634-0C7F077745A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03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7DC53759-0F14-7FBC-D69D-6381CD45528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Khái Niệm, Mục Đích Và Ý Nghĩa Sống Còn Của Dự Báo Dân Số</a:t>
            </a: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BDB8F8E7-1E46-53E5-62FE-EDE19A49A4C6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FFB3418-69AD-9A6C-F73E-2A647F369916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E9073AF-D8B6-5547-24BB-38292E820396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0CFF7FF-3C91-9C84-4C78-6F69A7B94796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0E33EA39-7183-D163-5AB3-73146C5FFCF4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78054D-4013-C81D-78C9-ABCB6D2D206D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7280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Dự báo dân số là cơ sở khoa học đầu tiên để lập quy hoạch phát triển kinh tế - xã hội, bảo đảm cung cấp dịch vụ công.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976DEBF5-7344-6696-B9E8-903C6F15EFFD}"/>
              </a:ext>
            </a:extLst>
          </p:cNvPr>
          <p:cNvGrpSpPr/>
          <p:nvPr/>
        </p:nvGrpSpPr>
        <p:grpSpPr>
          <a:xfrm>
            <a:off x="6214872" y="1676400"/>
            <a:ext cx="5367528" cy="2184400"/>
            <a:chOff x="6214872" y="1676400"/>
            <a:chExt cx="5367528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828BFB80-59FE-E86B-D1D6-5765AB2BF978}"/>
                </a:ext>
              </a:extLst>
            </p:cNvPr>
            <p:cNvSpPr/>
            <p:nvPr/>
          </p:nvSpPr>
          <p:spPr>
            <a:xfrm>
              <a:off x="6214872" y="16764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0252DCD-8B96-E690-F48A-39603F531DBE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F6B36A5-F660-34C9-7CE0-6F5EBC8F0E8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3B02F9C-C8E0-227E-B5E0-C49ADDE06F83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Khái Niệm Dự Báo Dân Số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Tính toán quy mô và cơ cấu dân số trong tương lai dựa trên dữ liệu hiện tại và các giả thiết khoa học về sinh, tử, di cư.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BA767A10-A446-00EF-0CE8-EBAC78AB7BF9}"/>
              </a:ext>
            </a:extLst>
          </p:cNvPr>
          <p:cNvGrpSpPr/>
          <p:nvPr/>
        </p:nvGrpSpPr>
        <p:grpSpPr>
          <a:xfrm>
            <a:off x="6214872" y="4013200"/>
            <a:ext cx="5367528" cy="2184400"/>
            <a:chOff x="6214872" y="4013200"/>
            <a:chExt cx="5367528" cy="21844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6DC146E-2708-F5FD-56E6-F933C8C7DF8F}"/>
                </a:ext>
              </a:extLst>
            </p:cNvPr>
            <p:cNvSpPr/>
            <p:nvPr/>
          </p:nvSpPr>
          <p:spPr>
            <a:xfrm>
              <a:off x="6214872" y="4013200"/>
              <a:ext cx="5367528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27985C6-6EB0-9AAE-71B7-0D6781528A7C}"/>
                </a:ext>
              </a:extLst>
            </p:cNvPr>
            <p:cNvSpPr/>
            <p:nvPr/>
          </p:nvSpPr>
          <p:spPr>
            <a:xfrm>
              <a:off x="6392672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CB567DA9-DBE8-D309-1416-5E61B04C424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4254500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8745B85-A570-E59E-3B17-78D0640AD974}"/>
                </a:ext>
              </a:extLst>
            </p:cNvPr>
            <p:cNvSpPr txBox="1"/>
            <p:nvPr/>
          </p:nvSpPr>
          <p:spPr>
            <a:xfrm>
              <a:off x="6875272" y="41402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Mục Tiêu Quy Hoạch Xã Hội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Xác định trước nhu cầu về số lượng giáo viên, số giường bệnh, diện tích nhà ở và cân đối quỹ bảo hiểm xã hội tương lai.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34B368BB-9E24-A3DC-9E9F-4C785160BFD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Giáo trình Dự báo nhân khẩu học</a:t>
            </a:r>
          </a:p>
        </p:txBody>
      </p:sp>
    </p:spTree>
    <p:extLst>
      <p:ext uri="{BB962C8B-B14F-4D97-AF65-F5344CB8AC3E}">
        <p14:creationId xmlns:p14="http://schemas.microsoft.com/office/powerpoint/2010/main" val="611669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B7FA9E3-2325-7331-C30C-EB6A786B8861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PHÂN LOẠI DỰ BÁO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59888175-CC98-AD20-48E8-0D3FDC790AB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04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32DFCA7-884B-8870-B612-A2CB36D800D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Phân Loại Dự Báo Dân Số Theo Tầm Thời Gian Và Phạm Vi Lãnh Thổ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34421BFD-5F26-E2E6-E09E-B7C1440EA09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7E3CDD6-53B0-F2FA-41C0-35DD61ABF7E9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8D1BD9C-6253-FBD3-5974-3435C5C61AFC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E5E33FA-E08C-0470-CB0B-AB6D8C777B3C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9A0FD6E7-5A03-DD4F-50CB-D2BF08FBB1E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B45BC94-8E49-3E59-54A5-8B5D255CCBB5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Dự Báo Ngắn Hạn (&lt; 5 Năm)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Độ chính xác rất cao vì cơ cấu tuổi đã định hình sẵn; phục vụ lập kế hoạch ngân sách và phân bổ chỉ tiêu hàng năm.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709F9BA-53C6-D6DE-66F0-B19F1FCE05F3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98170820-54FA-57AD-BDF3-C1DE89D18BED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4DE880E-B793-48A4-13C7-E0DBAA4FDD99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3EF4FA05-83AD-02FA-E1DB-10C439F69F14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C7949B6-390F-311C-CB33-F59D3C20DEA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D7442DE-D342-4301-B769-67DBB43B10FE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Dự Báo Trung Hạn (5 - 15 Năm)
</a:t>
              </a:r>
              <a:r>
                <a:rPr lang="en-US" sz="1500">
                  <a:solidFill>
                    <a:srgbClr val="CBD5E1"/>
                  </a:solidFill>
                  <a:latin typeface="Segoe UI" panose="020B0502040204020203" pitchFamily="34" charset="0"/>
                </a:rPr>
                <a:t>Phục vụ các kế hoạch phát triển kinh tế - xã hội 5 năm, 10 năm của quốc gia và các quy hoạch phát triển ngành.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73F85F72-1777-B1E2-47EF-6CF75982A5E3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11BB21DA-B6EE-3882-3BC9-22058FF9DC70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BE52EFD-29DB-4B25-218C-992ADA14838B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F39DDC6-DB92-02EF-4F4F-DEFEA8387DC9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F9B4654C-5669-DFA0-3B0B-B5522761493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349609C-A5AF-B6C8-7282-87E9D798ECBB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Dự Báo Dài Hạn (15 - 50 Năm)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Định hướng chiến lược an ninh lương thực, ứng phó già hóa, quỹ bảo hiểm hưu trí và tầm nhìn phát triển thế kỷ.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2D1EACB1-78D7-8D76-CF40-2944DCB26B5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Phương pháp luận dự báo kinh tế xã hội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1461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68040D9-AAAB-B57D-4475-2A24BB293EA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NGOẠI SUY TOÁN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6CDBEB62-B730-E065-B0DB-611D44B168F7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05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95B5EAA8-6EE4-6192-8E87-A18CB8C1F931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Các Phương Pháp Ngoại Suy Toán Học Tuyến Tính Và Đa Thức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396308AD-61A6-9F84-1CF6-3F8FC3BC506A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0CEB3F50-95BD-1DD5-1189-4D599C7C421E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09F4FD11-9EF5-535E-BD80-D50B5CFCC72B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E8E84A5-CA1B-F6C7-A575-AF1DBFD37337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US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P_t = P_0 * (1 + r*t)  |  P_t = P_0 * (1 + r)^t  (Ngoại suy ngắn hạn)</a:t>
              </a: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B636AC3F-E8B6-48DE-63CE-DA03EBC210D0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240FA9B-AA00-A4EF-719A-63B5C7BACB20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52D4A69-3685-ACBF-6DFF-F709C009EA2F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85C2803F-D16E-E5B8-8122-529F34A0A22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C98DC5-4CAF-7FCA-8A85-B2FF9FF9105E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Mô Hình Tuyến Tính (Linear Model)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P_t = P_0 + b*t. Giả định dân số gia tăng một lượng tuyệt đối không đổi hàng năm. Chỉ phù hợp trong thời gian rất ngắn.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02929E3C-CA75-424A-9406-A642FEAD3936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75DFEA2-4BAA-8C84-0507-BFE5E6B300D4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1B6417E-42EF-CE86-2346-DB029D371E41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2A0AAAB8-3333-89AC-6E9C-26C4C382F9C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6F23E24-F666-FBB0-751B-AE59A0B2E7C8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492075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Mô Hình Hình Học (Geometric Model)
</a:t>
              </a:r>
              <a:r>
                <a:rPr lang="en-US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P_t = P_0 * (1 + r)^t. Giả định dân số tăng theo tỷ lệ phần trăm cố định mỗi năm (lãi kép gián đoạn).</a:t>
              </a: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C4977E7A-0ED7-D437-A036-7BD16317FF4E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1397A5D2-FD65-1546-4725-5AAC46F47932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6CE32CD-D178-F8AD-AE86-9EFFF6ACD6AC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F959EE03-E544-7A94-77B0-91BC21CDD77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87B8862-6896-D4C5-C614-2268E4FE48C7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Ưu Nhược Điểm Cơ Bản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Dễ tính toán chỉ cần số liệu 2 kỳ; nhưng nhược điểm lớn là không thể bóc tách cơ cấu tuổi và giới tính.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CFC448D3-78F7-E31A-7FED-31E759B2FC43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Giáo trình Toán nhân khẩu học</a:t>
            </a:r>
          </a:p>
        </p:txBody>
      </p:sp>
    </p:spTree>
    <p:extLst>
      <p:ext uri="{BB962C8B-B14F-4D97-AF65-F5344CB8AC3E}">
        <p14:creationId xmlns:p14="http://schemas.microsoft.com/office/powerpoint/2010/main" val="31474949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4CED2AB3-F6C1-86AC-80A3-2F8DE16F8986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HÀM SỐ LOGISTIC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2F83DE00-B59C-6A96-B726-E85B16139273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06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FC8D2F0-4DA3-23AE-2BC3-467753BC96DF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Mô Hình Tăng Trưởng Hàm Số Mũ Và Hàm Số Logistic Giới Hạn Dung Nạp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B73D950E-20AF-66B4-C09E-C78EB0E5BAEE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258B80C9-B6BC-60E8-5062-C383E88094F0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1A789F5F-D49B-C1F1-79F9-CF05825A737C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72A6FC7-1945-2397-1551-A250F47120D6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E517778-5682-34D0-F6B7-32C00840EE3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E399403-5E98-DB6A-6D40-1698313152DC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Hàm Mũ Không Giới Hạn (Malthus)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P_t = P_0 * e^(rt). Quy mô bùng nổ theo cấp số nhân; bỏ qua giới hạn về tài nguyên đất đai, nguồn nước và lương thực.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8B522EDC-B25F-CF84-A02E-2E838C2A011F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2CF0E78-FA74-43B8-FDDB-A0F2B4FC6A42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A5B2B79-6F7C-8231-803D-65BE6115E34C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71088BCB-581E-4A6A-A6CF-75503838C82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E88F085-0B04-8049-A65E-6844F36B2252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Mô Hình Logistic (Verhulst Model)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P_t = K / [1 + a*e^(-rt)]. Với K là ngưỡng dung nạp tối đa (Carrying Capacity). Đồ thị dạng chữ S uốn lượn ổn định ở mức K.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5CEF8F84-A3C8-08A8-9607-9487B06EC311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Mô hình sinh thái nhân học Verhulst</a:t>
            </a:r>
          </a:p>
        </p:txBody>
      </p:sp>
    </p:spTree>
    <p:extLst>
      <p:ext uri="{BB962C8B-B14F-4D97-AF65-F5344CB8AC3E}">
        <p14:creationId xmlns:p14="http://schemas.microsoft.com/office/powerpoint/2010/main" val="170114989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21E5738-4F03-8AF0-3BBD-C188DED784C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PHƯƠNG PHÁP THÀNH PHẦN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3FD80481-2B3C-6925-6A63-C3BF476BB071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07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CCC5912-9F00-DE53-5058-0B48640B2A66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Phương Pháp Thành Phần Nhân Khẩu (Cohort-Component Method) Chuẩn Mực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8" name="!!Stage_Hero_Container">
            <a:extLst>
              <a:ext uri="{FF2B5EF4-FFF2-40B4-BE49-F238E27FC236}">
                <a16:creationId xmlns:a16="http://schemas.microsoft.com/office/drawing/2014/main" id="{7B7B9D9D-44E2-6A71-D02E-BDBF39C4B7BC}"/>
              </a:ext>
            </a:extLst>
          </p:cNvPr>
          <p:cNvGrpSpPr/>
          <p:nvPr/>
        </p:nvGrpSpPr>
        <p:grpSpPr>
          <a:xfrm>
            <a:off x="609600" y="1676400"/>
            <a:ext cx="10972800" cy="1117600"/>
            <a:chOff x="609600" y="1676400"/>
            <a:chExt cx="10972800" cy="11176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8FFD895-68CF-F808-4C19-A13F97A322DD}"/>
                </a:ext>
              </a:extLst>
            </p:cNvPr>
            <p:cNvSpPr/>
            <p:nvPr/>
          </p:nvSpPr>
          <p:spPr>
            <a:xfrm>
              <a:off x="609600" y="1676400"/>
              <a:ext cx="10972800" cy="11176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1B7B11B3-3394-5AA9-62F4-896506A3B099}"/>
                </a:ext>
              </a:extLst>
            </p:cNvPr>
            <p:cNvSpPr/>
            <p:nvPr/>
          </p:nvSpPr>
          <p:spPr>
            <a:xfrm>
              <a:off x="863600" y="1803400"/>
              <a:ext cx="24130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CÔNG THỨC ĐỊNH LƯỢNG CHUẨN</a:t>
              </a:r>
              <a:endParaRPr lang="en-US" sz="900" b="1">
                <a:solidFill>
                  <a:srgbClr val="0284C7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A2022AC-A12D-86F0-ECAE-A40D54D19925}"/>
                </a:ext>
              </a:extLst>
            </p:cNvPr>
            <p:cNvSpPr txBox="1"/>
            <p:nvPr/>
          </p:nvSpPr>
          <p:spPr>
            <a:xfrm>
              <a:off x="863600" y="2082800"/>
              <a:ext cx="10464800" cy="461665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pt-BR" sz="2400" b="1">
                  <a:solidFill>
                    <a:srgbClr val="10B981"/>
                  </a:solidFill>
                  <a:latin typeface="Segoe UI" panose="020B0502040204020203" pitchFamily="34" charset="0"/>
                </a:rPr>
                <a:t>P_(x+n, t+n) = P_(x,t) * S_(x,x+n) + NetMig_(x,x+n)  (Tiêu chuẩn UN)</a:t>
              </a:r>
              <a:endParaRPr lang="en-US" sz="24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4" name="!!Stage_Sub_Card_1">
            <a:extLst>
              <a:ext uri="{FF2B5EF4-FFF2-40B4-BE49-F238E27FC236}">
                <a16:creationId xmlns:a16="http://schemas.microsoft.com/office/drawing/2014/main" id="{EEEE6B6A-6F32-B479-1ECD-1628233A4396}"/>
              </a:ext>
            </a:extLst>
          </p:cNvPr>
          <p:cNvGrpSpPr/>
          <p:nvPr/>
        </p:nvGrpSpPr>
        <p:grpSpPr>
          <a:xfrm>
            <a:off x="609600" y="2971800"/>
            <a:ext cx="3522133" cy="3225800"/>
            <a:chOff x="609600" y="2971800"/>
            <a:chExt cx="3522133" cy="322580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A8ABD7C-2595-C9F1-3DDF-49F05CC89AFD}"/>
                </a:ext>
              </a:extLst>
            </p:cNvPr>
            <p:cNvSpPr/>
            <p:nvPr/>
          </p:nvSpPr>
          <p:spPr>
            <a:xfrm>
              <a:off x="609600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E436481-F488-142F-BAEF-1B2DBB6CE733}"/>
                </a:ext>
              </a:extLst>
            </p:cNvPr>
            <p:cNvSpPr/>
            <p:nvPr/>
          </p:nvSpPr>
          <p:spPr>
            <a:xfrm>
              <a:off x="812800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E97D07BC-6652-CFF2-2E43-1146CEAE38B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3238500"/>
              <a:ext cx="279400" cy="2794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D3B3BF1-D24F-FD57-F3B0-23A7B21EDBD4}"/>
                </a:ext>
              </a:extLst>
            </p:cNvPr>
            <p:cNvSpPr txBox="1"/>
            <p:nvPr/>
          </p:nvSpPr>
          <p:spPr>
            <a:xfrm>
              <a:off x="812800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Nguyên Lý Lõi Của Phương Pháp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Dự báo độc lập từng thành phần nhân khẩu: tính số sống sót theo bảng sống, tính số sinh qua ASFR và tính di cư ròng theo tuổi.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0" name="!!Stage_Sub_Card_2">
            <a:extLst>
              <a:ext uri="{FF2B5EF4-FFF2-40B4-BE49-F238E27FC236}">
                <a16:creationId xmlns:a16="http://schemas.microsoft.com/office/drawing/2014/main" id="{02E7D831-413D-7C87-05A6-6CEA511F278D}"/>
              </a:ext>
            </a:extLst>
          </p:cNvPr>
          <p:cNvGrpSpPr/>
          <p:nvPr/>
        </p:nvGrpSpPr>
        <p:grpSpPr>
          <a:xfrm>
            <a:off x="4334933" y="2971800"/>
            <a:ext cx="3522134" cy="3225800"/>
            <a:chOff x="4334933" y="2971800"/>
            <a:chExt cx="3522134" cy="32258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5B7C9CD-D75F-E201-958B-01A886B093A0}"/>
                </a:ext>
              </a:extLst>
            </p:cNvPr>
            <p:cNvSpPr/>
            <p:nvPr/>
          </p:nvSpPr>
          <p:spPr>
            <a:xfrm>
              <a:off x="4334933" y="2971800"/>
              <a:ext cx="3522134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E911566-9098-0D06-A10E-91B37356AA21}"/>
                </a:ext>
              </a:extLst>
            </p:cNvPr>
            <p:cNvSpPr/>
            <p:nvPr/>
          </p:nvSpPr>
          <p:spPr>
            <a:xfrm>
              <a:off x="4538133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4AC9CE74-6095-ECF1-05EE-9F38C86284A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3238500"/>
              <a:ext cx="279400" cy="279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9B3B4406-DE0F-659A-A22D-DE3C6589B8D0}"/>
                </a:ext>
              </a:extLst>
            </p:cNvPr>
            <p:cNvSpPr txBox="1"/>
            <p:nvPr/>
          </p:nvSpPr>
          <p:spPr>
            <a:xfrm>
              <a:off x="4538133" y="3683000"/>
              <a:ext cx="3115733" cy="175176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Cung Cấp Chi Tiết Tuổi &amp; Giới Tính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Cho ra kết quả tháp dân số chi tiết từng độ tuổi cho từng năm tương lai, phục vụ trực tiếp cho quy hoạch chuyên ngành.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6" name="!!Stage_Sub_Card_3">
            <a:extLst>
              <a:ext uri="{FF2B5EF4-FFF2-40B4-BE49-F238E27FC236}">
                <a16:creationId xmlns:a16="http://schemas.microsoft.com/office/drawing/2014/main" id="{E1A6CE1A-FE18-11F8-586D-C65EE52E28E5}"/>
              </a:ext>
            </a:extLst>
          </p:cNvPr>
          <p:cNvGrpSpPr/>
          <p:nvPr/>
        </p:nvGrpSpPr>
        <p:grpSpPr>
          <a:xfrm>
            <a:off x="8060267" y="2971800"/>
            <a:ext cx="3522133" cy="3225800"/>
            <a:chOff x="8060267" y="2971800"/>
            <a:chExt cx="3522133" cy="3225800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78D20963-1404-CEAA-04ED-0F3EB15B55E8}"/>
                </a:ext>
              </a:extLst>
            </p:cNvPr>
            <p:cNvSpPr/>
            <p:nvPr/>
          </p:nvSpPr>
          <p:spPr>
            <a:xfrm>
              <a:off x="8060267" y="2971800"/>
              <a:ext cx="3522133" cy="32258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B712972-D15B-431E-1AA1-8684D6E5B5C8}"/>
                </a:ext>
              </a:extLst>
            </p:cNvPr>
            <p:cNvSpPr/>
            <p:nvPr/>
          </p:nvSpPr>
          <p:spPr>
            <a:xfrm>
              <a:off x="8263467" y="31750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7E08E16C-7A08-0EDE-7835-DD917D22080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3238500"/>
              <a:ext cx="279400" cy="279400"/>
            </a:xfrm>
            <a:prstGeom prst="rect">
              <a:avLst/>
            </a:prstGeom>
          </p:spPr>
        </p:pic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B77D0E1-FEBB-F88F-BFC0-9236D8E27750}"/>
                </a:ext>
              </a:extLst>
            </p:cNvPr>
            <p:cNvSpPr txBox="1"/>
            <p:nvPr/>
          </p:nvSpPr>
          <p:spPr>
            <a:xfrm>
              <a:off x="8263467" y="3683000"/>
              <a:ext cx="3115733" cy="1184299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6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Tiêu Chuẩn Của Liên Hợp Quốc
</a:t>
              </a:r>
              <a:r>
                <a:rPr lang="vi-VN" sz="1350" b="1">
                  <a:solidFill>
                    <a:srgbClr val="CBD5E1"/>
                  </a:solidFill>
                  <a:latin typeface="Segoe UI" panose="020B0502040204020203" pitchFamily="34" charset="0"/>
                </a:rPr>
                <a:t>Được tất cả các cơ quan thống kê quốc gia và tổ chức quốc tế sử dụng để dự báo dân số toàn cầu.</a:t>
              </a:r>
              <a:endParaRPr lang="en-US" sz="135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7" name="!!Anchor_Source_Footer">
            <a:extLst>
              <a:ext uri="{FF2B5EF4-FFF2-40B4-BE49-F238E27FC236}">
                <a16:creationId xmlns:a16="http://schemas.microsoft.com/office/drawing/2014/main" id="{07E45EE7-CFBA-0D60-5AA5-9AC34FEB8F8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Cẩm nang Dự báo Dân số của Liên Hợp Quốc (Manual X)</a:t>
            </a:r>
          </a:p>
        </p:txBody>
      </p:sp>
    </p:spTree>
    <p:extLst>
      <p:ext uri="{BB962C8B-B14F-4D97-AF65-F5344CB8AC3E}">
        <p14:creationId xmlns:p14="http://schemas.microsoft.com/office/powerpoint/2010/main" val="14763121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B279D56D-A7C0-B7B6-410A-EF039441022B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BỐN BƯỚC MÔ HÌNH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FFC133C1-DC00-2A99-F40E-83B62B1269D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08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E831E83-509C-BF66-BFDC-9750A8BF405D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Bốn Bước Vận Hành Mô Hình Thành Phần: Dịch Chuyển Từng Nhóm Tuổi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B85BA2D8-28F0-FFBE-1271-AE780A777089}"/>
              </a:ext>
            </a:extLst>
          </p:cNvPr>
          <p:cNvGrpSpPr/>
          <p:nvPr/>
        </p:nvGrpSpPr>
        <p:grpSpPr>
          <a:xfrm>
            <a:off x="609600" y="1676400"/>
            <a:ext cx="2609850" cy="4521200"/>
            <a:chOff x="609600" y="1676400"/>
            <a:chExt cx="260985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284908DD-4BF7-CFAF-93C0-C995DD0C2F26}"/>
                </a:ext>
              </a:extLst>
            </p:cNvPr>
            <p:cNvSpPr/>
            <p:nvPr/>
          </p:nvSpPr>
          <p:spPr>
            <a:xfrm>
              <a:off x="6096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0ADD178-584C-CCB0-16A8-24CE19EB9F39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866CC33B-531C-BE77-A377-31E10E71609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736850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0196D11-D880-4598-1BEF-C02DEA8E3A09}"/>
                </a:ext>
              </a:extLst>
            </p:cNvPr>
            <p:cNvSpPr txBox="1"/>
            <p:nvPr/>
          </p:nvSpPr>
          <p:spPr>
            <a:xfrm>
              <a:off x="812800" y="2336800"/>
              <a:ext cx="2203450" cy="2308324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1. Dịch Chuyển Tuổi &amp; Tử Vong
</a:t>
              </a:r>
              <a:r>
                <a:rPr lang="en-US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Dân số tuổi x năm nay sẽ sống sót lên tuổi x+1 vào năm sau bằng cách nhân với tỷ lệ sống sót từ bảng sống: P_(x+1, t+1) = P_(x,t) * S_x.</a:t>
              </a: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394486EE-ED98-0B78-43B8-23984E3BC610}"/>
              </a:ext>
            </a:extLst>
          </p:cNvPr>
          <p:cNvGrpSpPr/>
          <p:nvPr/>
        </p:nvGrpSpPr>
        <p:grpSpPr>
          <a:xfrm>
            <a:off x="3397250" y="1676400"/>
            <a:ext cx="2609850" cy="4521200"/>
            <a:chOff x="3397250" y="1676400"/>
            <a:chExt cx="2609850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2D599282-2632-7C9F-16C8-8AA88C000ADE}"/>
                </a:ext>
              </a:extLst>
            </p:cNvPr>
            <p:cNvSpPr/>
            <p:nvPr/>
          </p:nvSpPr>
          <p:spPr>
            <a:xfrm>
              <a:off x="33972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A0D6BE6-A301-39F6-E548-21A0EF6590C5}"/>
                </a:ext>
              </a:extLst>
            </p:cNvPr>
            <p:cNvSpPr/>
            <p:nvPr/>
          </p:nvSpPr>
          <p:spPr>
            <a:xfrm>
              <a:off x="36004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39D30563-79B3-CE1A-49C7-A74C690EC80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24500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2090233-1656-CE3E-BD77-6D94B4F4F3D1}"/>
                </a:ext>
              </a:extLst>
            </p:cNvPr>
            <p:cNvSpPr txBox="1"/>
            <p:nvPr/>
          </p:nvSpPr>
          <p:spPr>
            <a:xfrm>
              <a:off x="360045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2. Dự Báo Số Trẻ Sinh Mới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Nhân số phụ nữ từng độ tuổi sinh sản với tỷ suất sinh đặc trưng tương ứng: B = </a:t>
              </a:r>
              <a:r>
                <a:rPr lang="el-GR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Σ(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W_x * ASFR_x). Tách bé trai và bé gái theo SRB.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881D9DFA-87AF-3C50-8580-F6D24ACCC5B0}"/>
              </a:ext>
            </a:extLst>
          </p:cNvPr>
          <p:cNvGrpSpPr/>
          <p:nvPr/>
        </p:nvGrpSpPr>
        <p:grpSpPr>
          <a:xfrm>
            <a:off x="6184900" y="1676400"/>
            <a:ext cx="2609850" cy="4521200"/>
            <a:chOff x="6184900" y="1676400"/>
            <a:chExt cx="2609850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7231F502-042F-2AF1-0F77-476CF974EC7B}"/>
                </a:ext>
              </a:extLst>
            </p:cNvPr>
            <p:cNvSpPr/>
            <p:nvPr/>
          </p:nvSpPr>
          <p:spPr>
            <a:xfrm>
              <a:off x="618490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EB66321-FE5F-03ED-BBBA-353A802D8280}"/>
                </a:ext>
              </a:extLst>
            </p:cNvPr>
            <p:cNvSpPr/>
            <p:nvPr/>
          </p:nvSpPr>
          <p:spPr>
            <a:xfrm>
              <a:off x="63881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BF6B98BA-A8C4-2D4B-3577-00CC68D4DDBE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1215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99BE093-5D8F-C6A7-C5F0-D223E2CCD778}"/>
                </a:ext>
              </a:extLst>
            </p:cNvPr>
            <p:cNvSpPr txBox="1"/>
            <p:nvPr/>
          </p:nvSpPr>
          <p:spPr>
            <a:xfrm>
              <a:off x="6388100" y="2336800"/>
              <a:ext cx="2203450" cy="2077492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3. Đưa Trẻ Mới Sinh Vào Đáy Tháp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Nhân tổng số sinh với xác suất sống sót từ 0 đến 1 tuổi (S_0) để tạo thành nhóm 0 tuổi trong năm kế tiếp: P_(0, t+1) = B * S_0.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8" name="!!Stage_Sub_Card_3">
            <a:extLst>
              <a:ext uri="{FF2B5EF4-FFF2-40B4-BE49-F238E27FC236}">
                <a16:creationId xmlns:a16="http://schemas.microsoft.com/office/drawing/2014/main" id="{72AE6E79-DC7B-0948-15BA-A85441F32A87}"/>
              </a:ext>
            </a:extLst>
          </p:cNvPr>
          <p:cNvGrpSpPr/>
          <p:nvPr/>
        </p:nvGrpSpPr>
        <p:grpSpPr>
          <a:xfrm>
            <a:off x="8972550" y="1676400"/>
            <a:ext cx="2609850" cy="4521200"/>
            <a:chOff x="8972550" y="1676400"/>
            <a:chExt cx="2609850" cy="4521200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3C5161A2-42BD-A568-7068-73A32F1BA75C}"/>
                </a:ext>
              </a:extLst>
            </p:cNvPr>
            <p:cNvSpPr/>
            <p:nvPr/>
          </p:nvSpPr>
          <p:spPr>
            <a:xfrm>
              <a:off x="8972550" y="1676400"/>
              <a:ext cx="2609850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7A7441-7066-7A89-7E62-CD41FF3799F6}"/>
                </a:ext>
              </a:extLst>
            </p:cNvPr>
            <p:cNvSpPr/>
            <p:nvPr/>
          </p:nvSpPr>
          <p:spPr>
            <a:xfrm>
              <a:off x="917575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04</a:t>
              </a:r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F67608ED-2681-5935-F347-3E37CA41466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9E63000-C5DA-A743-4D01-EEFE3B926E85}"/>
                </a:ext>
              </a:extLst>
            </p:cNvPr>
            <p:cNvSpPr txBox="1"/>
            <p:nvPr/>
          </p:nvSpPr>
          <p:spPr>
            <a:xfrm>
              <a:off x="9175750" y="2336800"/>
              <a:ext cx="2203450" cy="1846659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4. Hiệu Chỉnh Di Cư Thuần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Cộng hoặc trừ số di cư thuần theo từng độ tuổi và giới tính vào quy mô từng nhóm tuổi tương ứng.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9" name="!!Anchor_Source_Footer">
            <a:extLst>
              <a:ext uri="{FF2B5EF4-FFF2-40B4-BE49-F238E27FC236}">
                <a16:creationId xmlns:a16="http://schemas.microsoft.com/office/drawing/2014/main" id="{4950406D-42FF-F5FA-033C-3D25A6200F2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Quy trình tính toán Cohort Component</a:t>
            </a:r>
          </a:p>
        </p:txBody>
      </p:sp>
    </p:spTree>
    <p:extLst>
      <p:ext uri="{BB962C8B-B14F-4D97-AF65-F5344CB8AC3E}">
        <p14:creationId xmlns:p14="http://schemas.microsoft.com/office/powerpoint/2010/main" val="22393360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3222EB2-700F-190A-4284-F43402B63E8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DÂN SỐ GỐC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188EE6B-BE74-CEF4-9B3A-9D7628B01AFF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09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353421C-B6F0-E05F-7116-7FA8A54CC63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Xây Dựng Bộ Dữ Liệu Dân Số Gốc (Base Population) Và Hiệu Chỉnh Sai Số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4BBC9678-2F25-04DB-CAD5-F2FB7834B174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BD3A016-D31C-5126-CF0C-78CD5ABCF864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160D386-3709-297A-319E-478A7B43CC09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3226D91-036E-AA44-61BE-592637C76B43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4E070EA-A760-67E2-F177-0E37D751FC0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DD59144-FFF7-10F6-EE97-3FBF0A9AB490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Nguồn Số Liệu Tổng Điều Tra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Lấy từ kết quả Tổng điều tra dân số mới nhất. Cần hiệu chỉnh tỷ lệ sót dân và sai số khai báo tuổi (hiện tượng làm tròn tuổi).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61D846B6-F9E8-8B2C-2663-B37B4A0F3FCC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55CD61BC-93DA-40DC-9E0D-DF0F08E124C8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44EBCB-D72E-DEF1-6DB9-3DE29644F6D8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E5F7086-FD45-D1AC-BD17-546D584500C6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B9DD496-D3AB-C4CD-3D79-61E9671E409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3DBFE99-9362-A3C5-887F-1675638FE967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Chuyển Đổi Về Thời Điểm Chuẩn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Đưa thời điểm kiểm kê (ngày 1/4) về thời điểm giữa năm (1/7) để thuận tiện cho việc ghép nối với số liệu thống kê kinh tế.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508323B1-754C-6047-AE06-9D9B3C57C8E8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3BFD6DC-222B-E99B-4FBB-76D90DE61FF3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85906F4-046C-0536-91C5-DDBD79386A02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412E984-5E5A-C365-386D-B845DDD7EECD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51862776-260A-DD40-36AA-5C464827EC8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B3D7BBA-79B8-FA7A-EDEA-44DB5629A111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San Bằng Đường Cong Tuổi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Áp dụng các thuật toán Sprague hoặc Beers để làm mịn đường cong cơ cấu tuổi, loại trừ các đỉnh nhọn nhân tạo.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7FE8AAA5-CFF3-8C84-49EB-24F6FE6B99D2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Kỹ thuật hiệu chỉnh số liệu điều tra dân số</a:t>
            </a:r>
          </a:p>
        </p:txBody>
      </p:sp>
    </p:spTree>
    <p:extLst>
      <p:ext uri="{BB962C8B-B14F-4D97-AF65-F5344CB8AC3E}">
        <p14:creationId xmlns:p14="http://schemas.microsoft.com/office/powerpoint/2010/main" val="3721601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0523B505-5688-ED2B-377F-ED1300FE16B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GIẢ THIẾT MỨC SINH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B4DCA7D-79AA-A781-3B22-774C69EF2F6A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10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4D5B2A54-58D6-68C6-409F-D01CE8C8D64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Thiết Lập Các Giả Thiết Về Mức Sinh Cho Các Kịch Bản Dự Báo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EEC47F52-3AA6-B1E9-53EF-3CB67A2F2B71}"/>
              </a:ext>
            </a:extLst>
          </p:cNvPr>
          <p:cNvGrpSpPr/>
          <p:nvPr/>
        </p:nvGrpSpPr>
        <p:grpSpPr>
          <a:xfrm>
            <a:off x="609600" y="1676400"/>
            <a:ext cx="5334000" cy="4521200"/>
            <a:chOff x="609600" y="1676400"/>
            <a:chExt cx="533400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19FEC83-6C16-D633-B229-CF8BC4E1C71D}"/>
                </a:ext>
              </a:extLst>
            </p:cNvPr>
            <p:cNvSpPr/>
            <p:nvPr/>
          </p:nvSpPr>
          <p:spPr>
            <a:xfrm>
              <a:off x="6096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402CFC5-E8B2-4E4B-35C6-AFC1F02165D6}"/>
                </a:ext>
              </a:extLst>
            </p:cNvPr>
            <p:cNvSpPr/>
            <p:nvPr/>
          </p:nvSpPr>
          <p:spPr>
            <a:xfrm>
              <a:off x="863600" y="1905000"/>
              <a:ext cx="1397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TIÊU CHÍ SO SÁNH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49BEC98-4EAE-B1A8-6111-097A4CBCEE42}"/>
                </a:ext>
              </a:extLst>
            </p:cNvPr>
            <p:cNvSpPr/>
            <p:nvPr/>
          </p:nvSpPr>
          <p:spPr>
            <a:xfrm>
              <a:off x="8636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B5EB6A1-8A74-77B5-B31A-0A1ADBC4A23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36800"/>
              <a:ext cx="304800" cy="3048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CB0A33E-4B2A-1DB8-C162-A3FD3C589D73}"/>
                </a:ext>
              </a:extLst>
            </p:cNvPr>
            <p:cNvSpPr txBox="1"/>
            <p:nvPr/>
          </p:nvSpPr>
          <p:spPr>
            <a:xfrm>
              <a:off x="8636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Kịch Bản Mức Sinh Thấp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Giả định mức sinh tiếp tục giảm sâu theo xu hướng của Đông Á, TFR giảm về mức 1.5 con/phụ nữ vào năm 2035.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66C135BA-81D7-FF3E-9329-124FEE18FEE8}"/>
              </a:ext>
            </a:extLst>
          </p:cNvPr>
          <p:cNvGrpSpPr/>
          <p:nvPr/>
        </p:nvGrpSpPr>
        <p:grpSpPr>
          <a:xfrm>
            <a:off x="6248400" y="1676400"/>
            <a:ext cx="5334000" cy="4521200"/>
            <a:chOff x="6248400" y="1676400"/>
            <a:chExt cx="5334000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60D93715-5AFF-092E-CE4E-79F008ACE5FD}"/>
                </a:ext>
              </a:extLst>
            </p:cNvPr>
            <p:cNvSpPr/>
            <p:nvPr/>
          </p:nvSpPr>
          <p:spPr>
            <a:xfrm>
              <a:off x="6248400" y="1676400"/>
              <a:ext cx="533400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3AB1F32-A781-26C9-2A1B-CEBF5A27200C}"/>
                </a:ext>
              </a:extLst>
            </p:cNvPr>
            <p:cNvSpPr/>
            <p:nvPr/>
          </p:nvSpPr>
          <p:spPr>
            <a:xfrm>
              <a:off x="6502400" y="1905000"/>
              <a:ext cx="1397000" cy="279400"/>
            </a:xfrm>
            <a:prstGeom prst="roundRect">
              <a:avLst/>
            </a:prstGeom>
            <a:solidFill>
              <a:srgbClr val="064E3B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vi-VN" sz="900" b="1">
                  <a:solidFill>
                    <a:srgbClr val="10B981"/>
                  </a:solidFill>
                  <a:latin typeface="Segoe UI" panose="020B0502040204020203" pitchFamily="34" charset="0"/>
                </a:rPr>
                <a:t>ĐẶC TRƯNG CỐT LÕI</a:t>
              </a:r>
              <a:endParaRPr lang="en-US" sz="900" b="1">
                <a:solidFill>
                  <a:srgbClr val="10B981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33F6CB5-FA20-5DA1-5792-9D45E294221C}"/>
                </a:ext>
              </a:extLst>
            </p:cNvPr>
            <p:cNvSpPr/>
            <p:nvPr/>
          </p:nvSpPr>
          <p:spPr>
            <a:xfrm>
              <a:off x="6502400" y="2260600"/>
              <a:ext cx="457200" cy="4572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2CFBC8B-FF44-4B61-E964-D8E6071B713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78600" y="2336800"/>
              <a:ext cx="304800" cy="3048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6BCB658-C164-DB15-BF40-4B4DBA2FD96A}"/>
                </a:ext>
              </a:extLst>
            </p:cNvPr>
            <p:cNvSpPr txBox="1"/>
            <p:nvPr/>
          </p:nvSpPr>
          <p:spPr>
            <a:xfrm>
              <a:off x="6502400" y="2819400"/>
              <a:ext cx="4826000" cy="151509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200"/>
                </a:spcAft>
              </a:pPr>
              <a:r>
                <a:rPr lang="en-US" sz="2000" b="1">
                  <a:solidFill>
                    <a:srgbClr val="38BDF8"/>
                  </a:solidFill>
                  <a:latin typeface="Segoe UI" panose="020B0502040204020203" pitchFamily="34" charset="0"/>
                </a:rPr>
                <a:t>Kịch Bản Trung Bình (Khả Dĩ Nhất)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Giả định chính sách hỗ trợ phát huy hiệu quả, Việt Nam giữ vững mức sinh thay thế TFR quanh ngưỡng 2.0 - 2.1 con.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B57A6C9B-43A1-132D-1254-52FA1FB3D3D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Báo cáo Giả thiết Dự báo Dân số Việt Nam 2019-2069</a:t>
            </a:r>
          </a:p>
        </p:txBody>
      </p:sp>
    </p:spTree>
    <p:extLst>
      <p:ext uri="{BB962C8B-B14F-4D97-AF65-F5344CB8AC3E}">
        <p14:creationId xmlns:p14="http://schemas.microsoft.com/office/powerpoint/2010/main" val="30526196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C7E8B8B-52B2-DDC1-0B43-DBCCBCF50879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GIẢ THIẾT MỨC CHẾT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80AF9C4C-8604-3315-FA1C-8738F07B0EDE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11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018639F-11D1-3CAF-7ABB-2603C8160646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Thiết Lập Các Giả Thiết Về Mức Chết Và Xu Hướng Tăng Kỳ Vọng Sống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3B8EB299-984A-1951-D2B2-B99353651E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177B2B67-4E73-0FD0-E0A1-0FCDAA22C4DF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6829906-D388-6788-6577-6D99405C868A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731D8209-93F8-DAA2-A4D5-BCCAFC60C419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865D831-BF7B-2A60-F544-CE285D9AF9E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C5C0D08-5585-82F2-0745-41991C284E68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Mô Hình Giảm Tử Vong Lee-Carter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Ứng dụng mô hình toán Lee-Carter để ngoại suy xu hướng giảm tỷ suất chết theo tuổi dựa trên chuỗi số liệu lịch sử.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EA01396-43F7-C9CE-3C35-8359CF5736D2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0114500-0B95-A92D-5420-D17F1FED0C1B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0D8BFB2-9771-2543-321C-90A1F50A4E85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ECFE003-9A37-CC2C-EFB3-1ACE0A04FC5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36A769B-8DC1-A98D-9C38-3BF0B095E167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Tăng Kỳ Vọng Sống Của Việt Nam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Dự báo tuổi thọ bình quân của Việt Nam tăng từ 73.7 tuổi hiện nay lên mức 76.5 tuổi vào năm 2039 và 78.5 tuổi vào 2069.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AE9FDC77-B6F9-3FA5-6D1F-9871A197F796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0D58C067-D2E6-F9A6-0FFC-0DCFA18606B2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D0039B0-AF68-5AC7-6710-DEF60754AC8F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480F1C11-A71E-CABA-45E7-045194AD2951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0A966E0-C167-CCBE-0E09-215D1D6F9C69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Thu Hẹp Khoảng Cách Giới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Khoảng cách tuổi thọ giữa nữ và nam thu hẹp nhẹ từ 5.4 năm xuống khoảng 4.5 năm nhờ y tế nam khoa và giảm tai nạn.</a:t>
              </a: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D4C117C5-85FE-3A32-FA61-DB3F83B3FF3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Mô hình Lee-Carter trong dự báo mức chết</a:t>
            </a:r>
          </a:p>
        </p:txBody>
      </p:sp>
    </p:spTree>
    <p:extLst>
      <p:ext uri="{BB962C8B-B14F-4D97-AF65-F5344CB8AC3E}">
        <p14:creationId xmlns:p14="http://schemas.microsoft.com/office/powerpoint/2010/main" val="3085281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C7791C1-85C7-1F37-B26C-DA4AE9367E4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GIẢ THIẾT DI CƯ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A27F2B02-60DD-0F9D-1A68-532C0BD9E66C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12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55C6D57C-D322-4678-F69F-73854F24294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Thiết Lập Các Giả Thiết Về Xu Hướng Di Cư Thuần Nội Địa Và Quốc Tế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74E7C19C-ED5E-CD6B-E2FB-AB8849A93B63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B8A0B9BA-5A44-3F66-526C-5A5923917C37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C6349D41-F536-51A7-4870-987B02CF9C0E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0AE16C4-A281-6503-AA56-813C46BB857F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F5B19081-E468-246B-0A84-CE135F27FC1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8031457-A490-C3E7-B176-9BA5D01A5EFB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it-IT" b="1">
                  <a:solidFill>
                    <a:srgbClr val="FFFFFF"/>
                  </a:solidFill>
                  <a:latin typeface="Segoe UI" panose="020B0502040204020203" pitchFamily="34" charset="0"/>
                </a:rPr>
                <a:t>Di Cư Thuần Quốc Tế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Quy ước mức di cư thuần quốc tế âm nhẹ (khoảng -50,000 người/năm) do số lượng đi lao động và định cư ở nước ngoài.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A4E272C4-137D-4007-AABF-BD09B838399D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24B6C82-5526-02D1-7A3B-9BE0E7477EAF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E33D654-B298-8DD4-7F19-FCC94281EE8B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BD2694E-3220-F971-EF56-ECD24F76B824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3B2101CF-671C-C8A0-8E2A-269E1FEA8E7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C900B0-69F6-8F27-0A97-83D882076E1D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0911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vi-VN" b="1">
                  <a:solidFill>
                    <a:srgbClr val="FFFFFF"/>
                  </a:solidFill>
                  <a:latin typeface="Segoe UI" panose="020B0502040204020203" pitchFamily="34" charset="0"/>
                </a:rPr>
                <a:t>Di Cư Nội Địa Giữa Các Tỉnh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Xu hướng dòng di cư tiếp tục đổ về Đông Nam Bộ và Đồng bằng sông Hồng nhưng tốc độ có xu hướng chậm lại do lan tỏa khu công nghiệp.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16ABEC5F-D591-484B-A7F2-E6D7909DD10D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21357BE-D4F5-D21F-E4F8-1ACA8DD9EC76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897F084-500A-42DF-3B81-FA46714CEB32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763A4DC-E252-6884-44EF-97C742382686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A3A30768-033F-EF9A-8581-FF38EAA54D1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DB81434-9105-4A9B-6883-B25461E7D23E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Tác Động Của Biến Đổi Khí Hậu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Tình trạng xâm nhập mặn và sạt lở tại Đồng bằng sông Cửu Long có thể tạo ra làn sóng di cư khí hậu mới về các đô thị lớn.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9C35FEFB-FED0-0B28-2E95-7781706F6C85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Dự báo di cư trong quy hoạch tổng thể quốc gia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10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AFF72FA-0900-50B5-3C10-83F70745B31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ỨNG DỤNG TĐT 2019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4E36387-0869-9293-35F2-5C08FE3CE155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13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EFEC5CF3-7DE0-CBD2-4B7C-ADF07839F008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Ứng Dụng Phương Pháp Thành Phần Trong Dự Báo Dân Số Việt Nam 2019 - 2069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DE652DC7-3DDE-13D8-47A5-1B6C75A7BAFD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C6492552-D2CF-6E20-8EB1-C293613ED064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05E36D7-A2D8-21D1-976E-D9DCAE7470D4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F99C0B3-44F8-9D0C-E705-294FEB1751BB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62A2F23C-3A39-9D8F-03F1-41ECBC486A4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23B8C42-38CB-65B5-A821-CCD81324CA46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48944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en-US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Dân Số Gốc Chuẩn Hóa 2019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Tổng số 96,208,984 người tại thời điểm 0h ngày 1/4/2019, được chia chi tiết theo 63 tỉnh thành và từng nhóm tuổi đơn lẻ.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2AFF9E61-C6E9-9D03-AF27-1EA950AD432F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E5C9D932-A154-3AF1-1495-6ED160AA0D16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DBE7E538-EFE6-8545-792D-91BCB6482CFE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09023DB-1DAF-A901-5F2E-6B7D1CFC5513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C1F1245A-5033-E069-9D4A-1F78B679E429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D316476-4193-828B-45E4-01D2F65963DE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Công Cụ Phần Mềm Quốc Tế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Sử dụng bộ phần mềm Spectrum (DemProj) và R chuyên dụng để tính toán chuyển dịch nhân khẩu học đồng bộ.</a:t>
              </a: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9FD6981B-F8AF-620A-2DDF-6A7FDE1E643A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7821A4C0-ABF4-078B-9C6F-B76A843E34B8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E0E2060-A93F-ED97-569B-540A96CFFCA1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CD00D42-687C-DC48-70E0-E85779D33B68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EBAA9503-593A-0149-7695-3F1E043EE1E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7CAF1C8-C1F5-46A2-5A1A-6A63E74C41B9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Bàn Giao Cho Các Bộ Ngành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Bộ số liệu được chuyển giao chính thức cho Bộ Kế hoạch &amp; Đầu tư, Bộ GD&amp;ĐT, Bộ Y tế để làm cơ sở quy hoạch ngành.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C20C17AF-FA18-A8CC-D0D1-E92CBA8B2CBC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Ấn phẩm Dự báo Dân số Việt Nam giai đoạn 2019-2069 (GSO &amp; UNFPA)</a:t>
            </a:r>
          </a:p>
        </p:txBody>
      </p:sp>
    </p:spTree>
    <p:extLst>
      <p:ext uri="{BB962C8B-B14F-4D97-AF65-F5344CB8AC3E}">
        <p14:creationId xmlns:p14="http://schemas.microsoft.com/office/powerpoint/2010/main" val="27625004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F4390570-2F28-79BC-EFE4-7BFF84955FB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BA KỊCH BẢN QUY MÔ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BE9B55D3-B020-CCE4-6FDE-BC153FDA0529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14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8C26829E-3D09-7701-380E-ACC1FE1E9BD7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Ba Kịch Bản Dự Báo Quy Mô Dân Số Việt Nam: Thấp, Trung Bình Và Cao</a:t>
            </a: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465EF80A-681D-3896-52F0-FBCE4782CC0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94ACBAA1-16E7-7E2B-3EFB-8A411DE52EF4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A258610C-6C97-6EE2-BA0C-A08A4764A3B2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83517BD-03DC-193F-B383-B227690EE3DB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67945F6A-2371-61CF-5636-E0F6FD77E92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A7300FE-5527-D5B6-CCD1-82F3865444A2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Kịch Bản Thấp: Đạt Đỉnh 107 Triệu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Nếu mức sinh giảm sâu như Hàn Quốc, dân số sẽ đạt đỉnh vào năm 2044 với 107 triệu dân rồi giảm nhanh xuống 95 triệu vào 2069.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91919CFC-7A46-B8B1-944E-96E063A9C3AF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51A8BC91-0886-D60B-A33E-52C3E896D7F1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399455B-9BA8-5C3C-DADB-E47F00F37AC3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F3853747-76B5-8C2C-6034-51F64673603B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5710F25-4F96-87D4-2849-1BCA8DCC1A80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Kịch Bản Trung Bình: Đỉnh 117 Triệu
</a:t>
              </a:r>
              <a:r>
                <a:rPr lang="en-US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Kịch bản chuẩn: dân số đạt đỉnh vào năm 2054 với 117.7 triệu dân, sau đó giảm nhẹ và duy trì ổn định quanh 110 triệu.</a:t>
              </a: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B13E3ED9-5FA8-1C90-C572-C35B2DB9EDB2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B0DD7B0D-53ED-9E68-EAE0-12ECBA39DBC2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80238B-362C-DEF0-A81C-BE268FA6320D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0388FBC0-40BD-5026-1C52-9487FEDCBB86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B68053-7A4C-5C19-8FA2-87692A0AB491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Kịch Bản Cao: Tăng Đến 125 Triệu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Nếu mức sinh hồi phục trên mức thay thế, quy mô dân số sẽ duy trì đà tăng trưởng và đạt 125 triệu người vào năm 2069.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11359CFC-4B57-E665-6C7B-438195CB960B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Dự báo Dân số Việt Nam 2019-2069 - Tổng cục Thống kê</a:t>
            </a:r>
          </a:p>
        </p:txBody>
      </p:sp>
    </p:spTree>
    <p:extLst>
      <p:ext uri="{BB962C8B-B14F-4D97-AF65-F5344CB8AC3E}">
        <p14:creationId xmlns:p14="http://schemas.microsoft.com/office/powerpoint/2010/main" val="33451602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1BE4A0E-5EA8-3EF6-7B5F-F21F235BFA0F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THỜI ĐIỂM ĐẠT ĐỈNH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9CCED422-80B5-81CC-E9CF-B1915E37224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15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A8402CC3-D8AB-CE2C-9DDE-4C5460B0513A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Thời Điểm Dân Số Đạt Đỉnh (Peak Population) Và Giai Đoạn Thu Hẹp Quy Mô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E22F6CB7-8ECD-F13F-8C5C-7976B2DCF7B1}"/>
              </a:ext>
            </a:extLst>
          </p:cNvPr>
          <p:cNvGrpSpPr/>
          <p:nvPr/>
        </p:nvGrpSpPr>
        <p:grpSpPr>
          <a:xfrm>
            <a:off x="609600" y="1676400"/>
            <a:ext cx="6035040" cy="4521200"/>
            <a:chOff x="609600" y="1676400"/>
            <a:chExt cx="6035040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DEB130CB-35DA-2D3E-BAE9-0F76429D55DD}"/>
                </a:ext>
              </a:extLst>
            </p:cNvPr>
            <p:cNvSpPr/>
            <p:nvPr/>
          </p:nvSpPr>
          <p:spPr>
            <a:xfrm>
              <a:off x="609600" y="1676400"/>
              <a:ext cx="6035040" cy="4521200"/>
            </a:xfrm>
            <a:prstGeom prst="roundRect">
              <a:avLst/>
            </a:prstGeom>
            <a:solidFill>
              <a:srgbClr val="0B132B"/>
            </a:solidFill>
            <a:ln w="2540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082A46F-9424-A8E3-D54E-227F6035547F}"/>
                </a:ext>
              </a:extLst>
            </p:cNvPr>
            <p:cNvSpPr/>
            <p:nvPr/>
          </p:nvSpPr>
          <p:spPr>
            <a:xfrm>
              <a:off x="863600" y="1905000"/>
              <a:ext cx="1524000" cy="2794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TÂM CỐT LÕI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8CF0B57-CF47-CAEF-B97F-08A263DC14DC}"/>
                </a:ext>
              </a:extLst>
            </p:cNvPr>
            <p:cNvSpPr/>
            <p:nvPr/>
          </p:nvSpPr>
          <p:spPr>
            <a:xfrm>
              <a:off x="863600" y="2286000"/>
              <a:ext cx="482600" cy="482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EE9BFD09-2E0D-9C48-3A12-213B75E2BEF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39800" y="2362200"/>
              <a:ext cx="330200" cy="3302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B4BE847-7D61-CF33-C8B9-C1578AD93590}"/>
                </a:ext>
              </a:extLst>
            </p:cNvPr>
            <p:cNvSpPr txBox="1"/>
            <p:nvPr/>
          </p:nvSpPr>
          <p:spPr>
            <a:xfrm>
              <a:off x="863600" y="2870200"/>
              <a:ext cx="5527040" cy="148944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lnSpc>
                  <a:spcPct val="130000"/>
                </a:lnSpc>
                <a:spcAft>
                  <a:spcPts val="1000"/>
                </a:spcAft>
              </a:pPr>
              <a:r>
                <a:rPr lang="vi-VN" sz="2000" b="1">
                  <a:solidFill>
                    <a:srgbClr val="FFFFFF"/>
                  </a:solidFill>
                  <a:latin typeface="Segoe UI" panose="020B0502040204020203" pitchFamily="34" charset="0"/>
                </a:rPr>
                <a:t>Hiện Tượng Số Chết Vượt Số Sinh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Từ sau năm 2054, số người cao tuổi tử vong mỗi năm sẽ vượt quá số trẻ sơ sinh chào đời, dẫn tới mức tăng tự nhiên âm (NIR &lt; 0).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71C87A3-47F2-AE00-52C2-B87280425642}"/>
              </a:ext>
            </a:extLst>
          </p:cNvPr>
          <p:cNvGrpSpPr/>
          <p:nvPr/>
        </p:nvGrpSpPr>
        <p:grpSpPr>
          <a:xfrm>
            <a:off x="6873240" y="1676400"/>
            <a:ext cx="4709160" cy="2171700"/>
            <a:chOff x="6873240" y="1676400"/>
            <a:chExt cx="4709160" cy="21717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45E18F4-BD76-5D1C-C6CA-859240C4A2FC}"/>
                </a:ext>
              </a:extLst>
            </p:cNvPr>
            <p:cNvSpPr/>
            <p:nvPr/>
          </p:nvSpPr>
          <p:spPr>
            <a:xfrm>
              <a:off x="6873240" y="16764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46A46ED3-B14B-DFE9-98E2-BDD6B789EF32}"/>
                </a:ext>
              </a:extLst>
            </p:cNvPr>
            <p:cNvSpPr/>
            <p:nvPr/>
          </p:nvSpPr>
          <p:spPr>
            <a:xfrm>
              <a:off x="7076440" y="18542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01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718F077-4720-7826-7B89-BC19EE1F4C2A}"/>
                </a:ext>
              </a:extLst>
            </p:cNvPr>
            <p:cNvSpPr/>
            <p:nvPr/>
          </p:nvSpPr>
          <p:spPr>
            <a:xfrm>
              <a:off x="7076440" y="21844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27AF945-83E4-E02F-719A-CC060060C29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139940" y="22479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0A72F5-E435-7B3C-F6C0-376AF1DDF66D}"/>
                </a:ext>
              </a:extLst>
            </p:cNvPr>
            <p:cNvSpPr txBox="1"/>
            <p:nvPr/>
          </p:nvSpPr>
          <p:spPr>
            <a:xfrm>
              <a:off x="7609840" y="2108200"/>
              <a:ext cx="3820160" cy="1451679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Thay Đổi Căn Bản Mô Hình Tăng Trưởng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Kinh tế không thể tiếp tục dựa vào việc mở rộng thâm dụng lao động mà bắt buộc phải chuyển sang tăng trưởng dựa vào đổi mới sáng tạo.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2753AC66-D3C6-6A61-7E4D-AB88843D98A0}"/>
              </a:ext>
            </a:extLst>
          </p:cNvPr>
          <p:cNvGrpSpPr/>
          <p:nvPr/>
        </p:nvGrpSpPr>
        <p:grpSpPr>
          <a:xfrm>
            <a:off x="6873240" y="4025900"/>
            <a:ext cx="4709160" cy="2171700"/>
            <a:chOff x="6873240" y="4025900"/>
            <a:chExt cx="4709160" cy="21717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63C1495-EFED-F004-A7A1-06DD0B696B58}"/>
                </a:ext>
              </a:extLst>
            </p:cNvPr>
            <p:cNvSpPr/>
            <p:nvPr/>
          </p:nvSpPr>
          <p:spPr>
            <a:xfrm>
              <a:off x="6873240" y="4025900"/>
              <a:ext cx="4709160" cy="21717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C392A2E-AC2D-B1F9-4539-B994FFCF59D9}"/>
                </a:ext>
              </a:extLst>
            </p:cNvPr>
            <p:cNvSpPr/>
            <p:nvPr/>
          </p:nvSpPr>
          <p:spPr>
            <a:xfrm>
              <a:off x="7076440" y="4203700"/>
              <a:ext cx="1079500" cy="254000"/>
            </a:xfrm>
            <a:prstGeom prst="roundRect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b="1">
                  <a:solidFill>
                    <a:srgbClr val="0284C7"/>
                  </a:solidFill>
                  <a:latin typeface="Segoe UI" panose="020B0502040204020203" pitchFamily="34" charset="0"/>
                </a:rPr>
                <a:t>TRỌNG ĐIỂM 02</a:t>
              </a: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B67FF2F-16E6-803D-9BAA-BBD59DFB15C9}"/>
                </a:ext>
              </a:extLst>
            </p:cNvPr>
            <p:cNvSpPr/>
            <p:nvPr/>
          </p:nvSpPr>
          <p:spPr>
            <a:xfrm>
              <a:off x="7076440" y="45339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77376C57-315F-EC23-90A5-9B23351E5AE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39940" y="45974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4A0FCBF-83C6-58A7-273A-5B0B66F84AF5}"/>
                </a:ext>
              </a:extLst>
            </p:cNvPr>
            <p:cNvSpPr txBox="1"/>
            <p:nvPr/>
          </p:nvSpPr>
          <p:spPr>
            <a:xfrm>
              <a:off x="7609840" y="4457700"/>
              <a:ext cx="38201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Chuẩn Bị Sớm Từ Hôm Nay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Khoảng đệm 30 năm (từ 2024 đến 2054) là cơ hội vàng duy nhất để đất nước tích lũy của cải trước khi dân số bắt đầu suy giảm.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B7B35864-5E41-2F6E-ACE5-F2A71DEDE06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Nghiên cứu quá trình chuyển tiếp dân số Việt Nam</a:t>
            </a:r>
          </a:p>
        </p:txBody>
      </p:sp>
    </p:spTree>
    <p:extLst>
      <p:ext uri="{BB962C8B-B14F-4D97-AF65-F5344CB8AC3E}">
        <p14:creationId xmlns:p14="http://schemas.microsoft.com/office/powerpoint/2010/main" val="326548377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5A77AD5F-3E3B-BC15-BAC5-5B191C209B02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200" b="1">
                <a:solidFill>
                  <a:srgbClr val="0284C7"/>
                </a:solidFill>
                <a:latin typeface="Segoe UI" panose="020B0502040204020203" pitchFamily="34" charset="0"/>
              </a:rPr>
              <a:t>DỰ BÁO CƠ CẤU TUỔI  •  TRỌNG TÂM</a:t>
            </a:r>
            <a:endParaRPr lang="en-US" sz="1200" b="1">
              <a:solidFill>
                <a:srgbClr val="0284C7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DE62FBD-DA71-1064-7055-1EBBCEF179C6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16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6870587C-0403-F759-A7FC-A7B5170645CE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Dự Báo Xu Hướng Biến Đổi Cơ Cấu Tuổi Và Tốc Độ Già Hóa Đến 2045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062CBA52-23A0-67F7-382A-374B47DC6F3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D5DF098B-D69F-BBB3-A9FD-29CDCF99308B}"/>
              </a:ext>
            </a:extLst>
          </p:cNvPr>
          <p:cNvGrpSpPr/>
          <p:nvPr/>
        </p:nvGrpSpPr>
        <p:grpSpPr>
          <a:xfrm>
            <a:off x="6644640" y="1676400"/>
            <a:ext cx="4937760" cy="1405467"/>
            <a:chOff x="6644640" y="1676400"/>
            <a:chExt cx="4937760" cy="140546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38DEA32-6E97-93B8-49CC-BCB19E865E93}"/>
                </a:ext>
              </a:extLst>
            </p:cNvPr>
            <p:cNvSpPr/>
            <p:nvPr/>
          </p:nvSpPr>
          <p:spPr>
            <a:xfrm>
              <a:off x="6644640" y="1676400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91BCEA48-BA15-CE39-F82C-03E6B6E5BB82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DF771BB6-9905-153B-5AAF-D056998D6AAD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F3CA23-6918-3822-0A08-66B19CFA7213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2019: 8.3% Người Cao Tuổi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Toàn quốc có khoảng 8 triệu người từ 65 tuổi trở lên. Tỷ số phụ thuộc người già ADR mới ở mức xấp xỉ 12.2%.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BBBAF94C-6CE1-B2DB-BDEF-90A8D43F7576}"/>
              </a:ext>
            </a:extLst>
          </p:cNvPr>
          <p:cNvGrpSpPr/>
          <p:nvPr/>
        </p:nvGrpSpPr>
        <p:grpSpPr>
          <a:xfrm>
            <a:off x="6644640" y="3234267"/>
            <a:ext cx="4937760" cy="1405466"/>
            <a:chOff x="6644640" y="3234267"/>
            <a:chExt cx="4937760" cy="1405466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208EE6AA-7802-97E5-7C23-6DA05AA1D5B6}"/>
                </a:ext>
              </a:extLst>
            </p:cNvPr>
            <p:cNvSpPr/>
            <p:nvPr/>
          </p:nvSpPr>
          <p:spPr>
            <a:xfrm>
              <a:off x="6644640" y="3234267"/>
              <a:ext cx="4937760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E243D3F-6339-6793-6E8D-12C6A46179E4}"/>
                </a:ext>
              </a:extLst>
            </p:cNvPr>
            <p:cNvSpPr/>
            <p:nvPr/>
          </p:nvSpPr>
          <p:spPr>
            <a:xfrm>
              <a:off x="6822440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B2D00CD-89E9-18E5-6E4F-C6BFF2B705F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3475567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47CCC03-16F2-A73E-4DC7-05CBDEF9B05B}"/>
                </a:ext>
              </a:extLst>
            </p:cNvPr>
            <p:cNvSpPr txBox="1"/>
            <p:nvPr/>
          </p:nvSpPr>
          <p:spPr>
            <a:xfrm>
              <a:off x="7305040" y="3361267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2036: Chạm Ngưỡng Xã Hội Già (14%)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Việt Nam chính thức trở thành quốc gia 'dân số già' theo phân loại của Liên Hợp Quốc với hơn 15 triệu người già.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3">
            <a:extLst>
              <a:ext uri="{FF2B5EF4-FFF2-40B4-BE49-F238E27FC236}">
                <a16:creationId xmlns:a16="http://schemas.microsoft.com/office/drawing/2014/main" id="{EB0C735C-519A-84BF-30A0-26B59D309DE1}"/>
              </a:ext>
            </a:extLst>
          </p:cNvPr>
          <p:cNvGrpSpPr/>
          <p:nvPr/>
        </p:nvGrpSpPr>
        <p:grpSpPr>
          <a:xfrm>
            <a:off x="6644640" y="4792133"/>
            <a:ext cx="4937760" cy="1405467"/>
            <a:chOff x="6644640" y="4792133"/>
            <a:chExt cx="4937760" cy="1405467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52B0578-4834-CA93-F272-C1AD29F8A6B5}"/>
                </a:ext>
              </a:extLst>
            </p:cNvPr>
            <p:cNvSpPr/>
            <p:nvPr/>
          </p:nvSpPr>
          <p:spPr>
            <a:xfrm>
              <a:off x="6644640" y="4792133"/>
              <a:ext cx="4937760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17CE1B8-A8B4-BE7F-6A0B-C8AF927BB52A}"/>
                </a:ext>
              </a:extLst>
            </p:cNvPr>
            <p:cNvSpPr/>
            <p:nvPr/>
          </p:nvSpPr>
          <p:spPr>
            <a:xfrm>
              <a:off x="6822440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DEA54A00-265C-0756-179D-C97A5764A6FA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885940" y="5033433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53E6136-E963-2BE3-1911-202029C58776}"/>
                </a:ext>
              </a:extLst>
            </p:cNvPr>
            <p:cNvSpPr txBox="1"/>
            <p:nvPr/>
          </p:nvSpPr>
          <p:spPr>
            <a:xfrm>
              <a:off x="7305040" y="4919133"/>
              <a:ext cx="4150360" cy="1205458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vi-VN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2045: 18.0% Người Cao Tuổi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Cứ 5 người dân sẽ có 1 người cao tuổi; tỷ số phụ thuộc chung tăng vọt trở lại, chấm dứt cơ cấu dân số vàng khi quy mô lao động suy giảm.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5" name="!!Anchor_Source_Footer">
            <a:extLst>
              <a:ext uri="{FF2B5EF4-FFF2-40B4-BE49-F238E27FC236}">
                <a16:creationId xmlns:a16="http://schemas.microsoft.com/office/drawing/2014/main" id="{6BB5C38C-E716-9E87-5B5A-70C8A796249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Báo cáo Già hóa Dân số Việt Nam - GSO &amp; UNFPA</a:t>
            </a:r>
          </a:p>
        </p:txBody>
      </p:sp>
    </p:spTree>
    <p:extLst>
      <p:ext uri="{BB962C8B-B14F-4D97-AF65-F5344CB8AC3E}">
        <p14:creationId xmlns:p14="http://schemas.microsoft.com/office/powerpoint/2010/main" val="1598865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EEE89BA0-4E31-E655-7197-37761961616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KẾT THÚC DÂN SỐ VÀNG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D5011AC1-61C6-03D0-6C25-5081DC06022D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17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17E37D59-657F-795E-A99F-1D9A111F57E2}"/>
              </a:ext>
            </a:extLst>
          </p:cNvPr>
          <p:cNvSpPr txBox="1"/>
          <p:nvPr/>
        </p:nvSpPr>
        <p:spPr>
          <a:xfrm>
            <a:off x="609600" y="711200"/>
            <a:ext cx="10972800" cy="369332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Dự Báo Thu Hẹp Lực Lượng Lao Động Và Sự Kết Thúc Của Cơ Cấu Vàng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!!Stage_Hero_Container">
            <a:extLst>
              <a:ext uri="{FF2B5EF4-FFF2-40B4-BE49-F238E27FC236}">
                <a16:creationId xmlns:a16="http://schemas.microsoft.com/office/drawing/2014/main" id="{2BAB1AF2-7BA8-B11D-F162-40ADF2CD1AD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752600"/>
            <a:ext cx="5705856" cy="4368800"/>
          </a:xfrm>
          <a:prstGeom prst="roundRect">
            <a:avLst/>
          </a:prstGeom>
          <a:ln w="12700">
            <a:solidFill>
              <a:srgbClr val="1E293B"/>
            </a:solidFill>
          </a:ln>
        </p:spPr>
      </p:pic>
      <p:grpSp>
        <p:nvGrpSpPr>
          <p:cNvPr id="12" name="!!Stage_Sub_Card_1">
            <a:extLst>
              <a:ext uri="{FF2B5EF4-FFF2-40B4-BE49-F238E27FC236}">
                <a16:creationId xmlns:a16="http://schemas.microsoft.com/office/drawing/2014/main" id="{9EE90C54-269B-BC61-9916-424D9D3569AE}"/>
              </a:ext>
            </a:extLst>
          </p:cNvPr>
          <p:cNvGrpSpPr/>
          <p:nvPr/>
        </p:nvGrpSpPr>
        <p:grpSpPr>
          <a:xfrm>
            <a:off x="6644640" y="1676400"/>
            <a:ext cx="4937760" cy="2184400"/>
            <a:chOff x="6644640" y="1676400"/>
            <a:chExt cx="4937760" cy="218440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02797C-6AE0-D229-3E0D-91BEA26CE344}"/>
                </a:ext>
              </a:extLst>
            </p:cNvPr>
            <p:cNvSpPr/>
            <p:nvPr/>
          </p:nvSpPr>
          <p:spPr>
            <a:xfrm>
              <a:off x="6644640" y="16764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8C5B192-41E2-F04A-29A3-05DFB774664D}"/>
                </a:ext>
              </a:extLst>
            </p:cNvPr>
            <p:cNvSpPr/>
            <p:nvPr/>
          </p:nvSpPr>
          <p:spPr>
            <a:xfrm>
              <a:off x="6822440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FEFDE274-B4C7-C89A-60A7-F5A87FA5E31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885940" y="1917700"/>
              <a:ext cx="254000" cy="254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4A6016C-9047-26E4-CC5A-E69143756584}"/>
                </a:ext>
              </a:extLst>
            </p:cNvPr>
            <p:cNvSpPr txBox="1"/>
            <p:nvPr/>
          </p:nvSpPr>
          <p:spPr>
            <a:xfrm>
              <a:off x="7305040" y="18034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Quy Mô Lao Động Đạt Đỉnh (2035)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Số người trong độ tuổi 15-64 sẽ đạt đỉnh khoảng 67.5 triệu người vào năm 2035, sau đó giảm dần đều cả về số lượng và tỷ trọng.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2">
            <a:extLst>
              <a:ext uri="{FF2B5EF4-FFF2-40B4-BE49-F238E27FC236}">
                <a16:creationId xmlns:a16="http://schemas.microsoft.com/office/drawing/2014/main" id="{239BAD38-8275-8C50-673B-499ACB0388A5}"/>
              </a:ext>
            </a:extLst>
          </p:cNvPr>
          <p:cNvGrpSpPr/>
          <p:nvPr/>
        </p:nvGrpSpPr>
        <p:grpSpPr>
          <a:xfrm>
            <a:off x="6644640" y="4013200"/>
            <a:ext cx="4937760" cy="2184400"/>
            <a:chOff x="6644640" y="4013200"/>
            <a:chExt cx="4937760" cy="2184400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F3C0023B-EE24-F2D9-F7FE-3C8B373A1C73}"/>
                </a:ext>
              </a:extLst>
            </p:cNvPr>
            <p:cNvSpPr/>
            <p:nvPr/>
          </p:nvSpPr>
          <p:spPr>
            <a:xfrm>
              <a:off x="6644640" y="4013200"/>
              <a:ext cx="4937760" cy="21844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587BE64-5513-3BDB-331E-232269F4F213}"/>
                </a:ext>
              </a:extLst>
            </p:cNvPr>
            <p:cNvSpPr/>
            <p:nvPr/>
          </p:nvSpPr>
          <p:spPr>
            <a:xfrm>
              <a:off x="6822440" y="41910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57C20AA-373D-71E5-1749-B8422BF14EF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885940" y="42545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0402FC7-28E6-F3CD-EF1E-2ED919257102}"/>
                </a:ext>
              </a:extLst>
            </p:cNvPr>
            <p:cNvSpPr txBox="1"/>
            <p:nvPr/>
          </p:nvSpPr>
          <p:spPr>
            <a:xfrm>
              <a:off x="7305040" y="4140200"/>
              <a:ext cx="4150360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Thiếu Hụt Lao Động Trẻ Tuổi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Lực lượng lao động mới gia nhập (nhóm 15-24) suy giảm rõ rệt, buộc doanh nghiệp phải tự động hóa và tăng cường ứng dụng AI.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19" name="!!Anchor_Source_Footer">
            <a:extLst>
              <a:ext uri="{FF2B5EF4-FFF2-40B4-BE49-F238E27FC236}">
                <a16:creationId xmlns:a16="http://schemas.microsoft.com/office/drawing/2014/main" id="{B383878E-0864-3970-3DDD-57FAACC1BAEF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1000">
                <a:solidFill>
                  <a:srgbClr val="CBD5E1"/>
                </a:solidFill>
                <a:latin typeface="Segoe UI" panose="020B0502040204020203" pitchFamily="34" charset="0"/>
              </a:rPr>
              <a:t>Dự báo Lực lượng Lao động Việt Nam - Bộ Lao động - Thương binh &amp; Xã hội</a:t>
            </a:r>
            <a:endParaRPr lang="en-US" sz="1000">
              <a:solidFill>
                <a:srgbClr val="CBD5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42573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7510C0D0-217E-BF6E-5F98-DDB23679C774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ỨNG DỤNG QUY HOẠCH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71D8FDEE-7C3D-47D9-0F1E-5404AAE6D232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18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BDC74420-13AE-90FD-3751-9DE297C79CD1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Ứng Dụng Kết Quả Dự Báo Trong Quy Hoạch Giáo Dục, Y Tế Và Quỹ Hưu Trí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2" name="!!Stage_Hero_Container">
            <a:extLst>
              <a:ext uri="{FF2B5EF4-FFF2-40B4-BE49-F238E27FC236}">
                <a16:creationId xmlns:a16="http://schemas.microsoft.com/office/drawing/2014/main" id="{6B6E9071-52CB-F04A-9FB4-CBA3113CDC12}"/>
              </a:ext>
            </a:extLst>
          </p:cNvPr>
          <p:cNvGrpSpPr/>
          <p:nvPr/>
        </p:nvGrpSpPr>
        <p:grpSpPr>
          <a:xfrm>
            <a:off x="609600" y="1676400"/>
            <a:ext cx="5376672" cy="4521200"/>
            <a:chOff x="609600" y="1676400"/>
            <a:chExt cx="5376672" cy="45212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2155ED0-A212-5ED6-19A5-A5163BFF7B72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" y="1676400"/>
              <a:ext cx="5376672" cy="3001010"/>
            </a:xfrm>
            <a:prstGeom prst="roundRect">
              <a:avLst/>
            </a:prstGeom>
            <a:ln w="12700">
              <a:solidFill>
                <a:srgbClr val="1E293B"/>
              </a:solidFill>
            </a:ln>
          </p:spPr>
        </p:pic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3BF1E8D-19C9-1F0C-BB06-572B9F1BBBDB}"/>
                </a:ext>
              </a:extLst>
            </p:cNvPr>
            <p:cNvSpPr/>
            <p:nvPr/>
          </p:nvSpPr>
          <p:spPr>
            <a:xfrm>
              <a:off x="609600" y="4829810"/>
              <a:ext cx="5376672" cy="1367790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A0EF322-1463-FA11-E48B-AFFB98B2781D}"/>
                </a:ext>
              </a:extLst>
            </p:cNvPr>
            <p:cNvSpPr/>
            <p:nvPr/>
          </p:nvSpPr>
          <p:spPr>
            <a:xfrm>
              <a:off x="787400" y="5007610"/>
              <a:ext cx="355600" cy="3556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BDF39A0A-46FF-88BF-BEEF-41DC1D9311A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50900" y="5071110"/>
              <a:ext cx="228600" cy="2286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B1C4E8-88F6-E57F-7D5B-5DF0C5DC0960}"/>
                </a:ext>
              </a:extLst>
            </p:cNvPr>
            <p:cNvSpPr txBox="1"/>
            <p:nvPr/>
          </p:nvSpPr>
          <p:spPr>
            <a:xfrm>
              <a:off x="1219200" y="4956810"/>
              <a:ext cx="4640072" cy="95885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0000"/>
                </a:lnSpc>
                <a:spcAft>
                  <a:spcPts val="300"/>
                </a:spcAft>
              </a:pPr>
              <a:r>
                <a:rPr lang="en-US" sz="1100" b="1">
                  <a:solidFill>
                    <a:srgbClr val="0284C7"/>
                  </a:solidFill>
                  <a:latin typeface="Segoe UI" panose="020B0502040204020203" pitchFamily="34" charset="0"/>
                </a:rPr>
                <a:t>THÔNG ĐIỆP CỐT LÕI
</a:t>
              </a:r>
              <a:r>
                <a:rPr lang="vi-VN" sz="1250" b="1">
                  <a:solidFill>
                    <a:srgbClr val="FFFFFF"/>
                  </a:solidFill>
                  <a:latin typeface="Segoe UI" panose="020B0502040204020203" pitchFamily="34" charset="0"/>
                </a:rPr>
                <a:t>Dự báo dân số là kim chỉ nam để phân bổ hàng triệu tỷ đồng vốn đầu tư công vào đúng các địa bàn và đối tượng thụ hưởng.</a:t>
              </a:r>
              <a:endParaRPr lang="en-US" sz="1250" b="1">
                <a:solidFill>
                  <a:srgbClr val="FFFFFF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56AAB52F-EC57-BB4F-9F3E-8223533C9CE4}"/>
              </a:ext>
            </a:extLst>
          </p:cNvPr>
          <p:cNvGrpSpPr/>
          <p:nvPr/>
        </p:nvGrpSpPr>
        <p:grpSpPr>
          <a:xfrm>
            <a:off x="6214872" y="1676400"/>
            <a:ext cx="5367528" cy="1405467"/>
            <a:chOff x="6214872" y="1676400"/>
            <a:chExt cx="5367528" cy="1405467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09DFFCD7-D565-A892-3632-841547132F66}"/>
                </a:ext>
              </a:extLst>
            </p:cNvPr>
            <p:cNvSpPr/>
            <p:nvPr/>
          </p:nvSpPr>
          <p:spPr>
            <a:xfrm>
              <a:off x="6214872" y="1676400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9050">
              <a:solidFill>
                <a:srgbClr val="0284C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C4330CD-D97A-AF77-A2DC-4D6DB887B453}"/>
                </a:ext>
              </a:extLst>
            </p:cNvPr>
            <p:cNvSpPr/>
            <p:nvPr/>
          </p:nvSpPr>
          <p:spPr>
            <a:xfrm>
              <a:off x="6392672" y="1854200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ECAC61FC-08A6-372D-2510-054E4FF70118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56172" y="1917700"/>
              <a:ext cx="254000" cy="2540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9E64FB-B893-867E-F1AE-2D9EF5B4622C}"/>
                </a:ext>
              </a:extLst>
            </p:cNvPr>
            <p:cNvSpPr txBox="1"/>
            <p:nvPr/>
          </p:nvSpPr>
          <p:spPr>
            <a:xfrm>
              <a:off x="6875272" y="1803400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1. Tái Cấu Trúc Ngành Giáo Dục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Quy mô học sinh tiểu học giảm dần do mức sinh giảm, chuyển nguồn lực từ xây thêm trường sang nâng cao chất lượng phòng học số.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4" name="!!Stage_Sub_Card_2">
            <a:extLst>
              <a:ext uri="{FF2B5EF4-FFF2-40B4-BE49-F238E27FC236}">
                <a16:creationId xmlns:a16="http://schemas.microsoft.com/office/drawing/2014/main" id="{24130530-FF22-6433-5086-25512C63800A}"/>
              </a:ext>
            </a:extLst>
          </p:cNvPr>
          <p:cNvGrpSpPr/>
          <p:nvPr/>
        </p:nvGrpSpPr>
        <p:grpSpPr>
          <a:xfrm>
            <a:off x="6214872" y="3234267"/>
            <a:ext cx="5367528" cy="1405466"/>
            <a:chOff x="6214872" y="3234267"/>
            <a:chExt cx="5367528" cy="1405466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2CE5BD3-8E2F-F6AE-351F-311CB068127F}"/>
                </a:ext>
              </a:extLst>
            </p:cNvPr>
            <p:cNvSpPr/>
            <p:nvPr/>
          </p:nvSpPr>
          <p:spPr>
            <a:xfrm>
              <a:off x="6214872" y="3234267"/>
              <a:ext cx="5367528" cy="1405466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81DA457-C05B-9C9F-B014-909E94DDAAB6}"/>
                </a:ext>
              </a:extLst>
            </p:cNvPr>
            <p:cNvSpPr/>
            <p:nvPr/>
          </p:nvSpPr>
          <p:spPr>
            <a:xfrm>
              <a:off x="6392672" y="3412067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2" name="Graphic 21">
              <a:extLst>
                <a:ext uri="{FF2B5EF4-FFF2-40B4-BE49-F238E27FC236}">
                  <a16:creationId xmlns:a16="http://schemas.microsoft.com/office/drawing/2014/main" id="{52A2DDDB-2E92-B5F9-00D1-55DEBA7FD93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56172" y="3475567"/>
              <a:ext cx="254000" cy="254000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B032A52-F4C0-6172-AB1B-FDF9A90A49AB}"/>
                </a:ext>
              </a:extLst>
            </p:cNvPr>
            <p:cNvSpPr txBox="1"/>
            <p:nvPr/>
          </p:nvSpPr>
          <p:spPr>
            <a:xfrm>
              <a:off x="6875272" y="3361267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2. Chuyển Đổi Trọng Tâm Y Tế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Mở rộng chuyên khoa lão khoa tại tất cả bệnh viện tỉnh, đào tạo bác sĩ gia đình và thành lập mạng lưới viện dưỡng lão.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30" name="!!Stage_Sub_Card_3">
            <a:extLst>
              <a:ext uri="{FF2B5EF4-FFF2-40B4-BE49-F238E27FC236}">
                <a16:creationId xmlns:a16="http://schemas.microsoft.com/office/drawing/2014/main" id="{7AB04C7E-8A47-76E7-DA05-28F102D578F3}"/>
              </a:ext>
            </a:extLst>
          </p:cNvPr>
          <p:cNvGrpSpPr/>
          <p:nvPr/>
        </p:nvGrpSpPr>
        <p:grpSpPr>
          <a:xfrm>
            <a:off x="6214872" y="4792133"/>
            <a:ext cx="5367528" cy="1405467"/>
            <a:chOff x="6214872" y="4792133"/>
            <a:chExt cx="5367528" cy="1405467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2FEF7193-F4D2-2990-727D-4C1FC8B6FD5B}"/>
                </a:ext>
              </a:extLst>
            </p:cNvPr>
            <p:cNvSpPr/>
            <p:nvPr/>
          </p:nvSpPr>
          <p:spPr>
            <a:xfrm>
              <a:off x="6214872" y="4792133"/>
              <a:ext cx="5367528" cy="1405467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3726DC6C-4666-2318-ADEE-23EB97B6EA46}"/>
                </a:ext>
              </a:extLst>
            </p:cNvPr>
            <p:cNvSpPr/>
            <p:nvPr/>
          </p:nvSpPr>
          <p:spPr>
            <a:xfrm>
              <a:off x="6392672" y="4969933"/>
              <a:ext cx="381000" cy="3810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0C1E4D77-1295-96E8-67B3-288B51E5BCA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456172" y="5033433"/>
              <a:ext cx="254000" cy="25400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DF8E700-EC6F-A895-2EBA-90B708FA7003}"/>
                </a:ext>
              </a:extLst>
            </p:cNvPr>
            <p:cNvSpPr txBox="1"/>
            <p:nvPr/>
          </p:nvSpPr>
          <p:spPr>
            <a:xfrm>
              <a:off x="6875272" y="4919133"/>
              <a:ext cx="4580128" cy="990015"/>
            </a:xfrm>
            <a:prstGeom prst="rect">
              <a:avLst/>
            </a:prstGeom>
            <a:noFill/>
          </p:spPr>
          <p:txBody>
            <a:bodyPr vert="horz" wrap="square" tIns="0" rtlCol="0">
              <a:spAutoFit/>
            </a:bodyPr>
            <a:lstStyle/>
            <a:p>
              <a:pPr>
                <a:spcAft>
                  <a:spcPts val="400"/>
                </a:spcAft>
              </a:pPr>
              <a:r>
                <a:rPr lang="en-US" sz="1600" b="1">
                  <a:solidFill>
                    <a:srgbClr val="FFFFFF"/>
                  </a:solidFill>
                  <a:latin typeface="Segoe UI" panose="020B0502040204020203" pitchFamily="34" charset="0"/>
                </a:rPr>
                <a:t>3. Cân Đối Quỹ Bảo Hiểm Xã Hội
</a:t>
              </a:r>
              <a:r>
                <a:rPr lang="vi-VN" sz="1400" b="1">
                  <a:solidFill>
                    <a:srgbClr val="CBD5E1"/>
                  </a:solidFill>
                  <a:latin typeface="Segoe UI" panose="020B0502040204020203" pitchFamily="34" charset="0"/>
                </a:rPr>
                <a:t>Điều chỉnh tuổi nghỉ hưu theo lộ trình và đa dạng hóa danh mục đầu tư quỹ hưu trí để bảo đảm an toàn chi trả dài hạn.</a:t>
              </a:r>
              <a:endParaRPr lang="en-US" sz="14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31" name="!!Anchor_Source_Footer">
            <a:extLst>
              <a:ext uri="{FF2B5EF4-FFF2-40B4-BE49-F238E27FC236}">
                <a16:creationId xmlns:a16="http://schemas.microsoft.com/office/drawing/2014/main" id="{8CE88BBF-51E4-0F44-BB08-6B143991198A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Quy hoạch phát triển kinh tế xã hội quốc gia</a:t>
            </a:r>
          </a:p>
        </p:txBody>
      </p:sp>
    </p:spTree>
    <p:extLst>
      <p:ext uri="{BB962C8B-B14F-4D97-AF65-F5344CB8AC3E}">
        <p14:creationId xmlns:p14="http://schemas.microsoft.com/office/powerpoint/2010/main" val="33246391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4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6691065E-0F3D-439D-E866-8354BB9A973E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KHUYẾN NGHỊ 2045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ED2BBBD1-0505-FA41-488F-D8AA70F0A6F0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19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220EE13-4A76-2246-9091-12B70F8EF053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vi-VN" sz="2400" b="1">
                <a:solidFill>
                  <a:srgbClr val="FFFFFF"/>
                </a:solidFill>
                <a:latin typeface="Segoe UI" panose="020B0502040204020203" pitchFamily="34" charset="0"/>
              </a:rPr>
              <a:t>Khuyến Nghị Chiến Lược Chủ Động Thích Ứng Cho Nhà Hoạch Định Đến 2045</a:t>
            </a:r>
            <a:endParaRPr lang="en-US" sz="24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grpSp>
        <p:nvGrpSpPr>
          <p:cNvPr id="10" name="!!Stage_Hero_Container">
            <a:extLst>
              <a:ext uri="{FF2B5EF4-FFF2-40B4-BE49-F238E27FC236}">
                <a16:creationId xmlns:a16="http://schemas.microsoft.com/office/drawing/2014/main" id="{914A9284-73BD-B22F-3419-743A6FC19B1C}"/>
              </a:ext>
            </a:extLst>
          </p:cNvPr>
          <p:cNvGrpSpPr/>
          <p:nvPr/>
        </p:nvGrpSpPr>
        <p:grpSpPr>
          <a:xfrm>
            <a:off x="609600" y="1676400"/>
            <a:ext cx="3539067" cy="4521200"/>
            <a:chOff x="609600" y="1676400"/>
            <a:chExt cx="3539067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89E05146-C477-4699-E0F2-B3E833B522CD}"/>
                </a:ext>
              </a:extLst>
            </p:cNvPr>
            <p:cNvSpPr/>
            <p:nvPr/>
          </p:nvSpPr>
          <p:spPr>
            <a:xfrm>
              <a:off x="609600" y="1676400"/>
              <a:ext cx="3539067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14AFB5-6D71-6DD5-C52D-1436DC1BF426}"/>
                </a:ext>
              </a:extLst>
            </p:cNvPr>
            <p:cNvSpPr/>
            <p:nvPr/>
          </p:nvSpPr>
          <p:spPr>
            <a:xfrm>
              <a:off x="812800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01</a:t>
              </a:r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4C51546-D515-875C-DEA3-6D9CF5F3FD6F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666067" y="1879600"/>
              <a:ext cx="279400" cy="279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0955585-D4B5-FFF3-9323-AB9ED6344AB9}"/>
                </a:ext>
              </a:extLst>
            </p:cNvPr>
            <p:cNvSpPr txBox="1"/>
            <p:nvPr/>
          </p:nvSpPr>
          <p:spPr>
            <a:xfrm>
              <a:off x="812800" y="2336800"/>
              <a:ext cx="3132667" cy="161582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vi-VN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Nâng Cao Năng Suất Vượt Trội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Lấy năng suất lao động và đổi mới sáng tạo làm động lực cốt lõi để bù đắp sự suy giảm số lượng lực lượng lao động tương lai.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16" name="!!Stage_Sub_Card_1">
            <a:extLst>
              <a:ext uri="{FF2B5EF4-FFF2-40B4-BE49-F238E27FC236}">
                <a16:creationId xmlns:a16="http://schemas.microsoft.com/office/drawing/2014/main" id="{B0B0ECE3-F121-0B54-F2AD-EC31C359A327}"/>
              </a:ext>
            </a:extLst>
          </p:cNvPr>
          <p:cNvGrpSpPr/>
          <p:nvPr/>
        </p:nvGrpSpPr>
        <p:grpSpPr>
          <a:xfrm>
            <a:off x="4326467" y="1676400"/>
            <a:ext cx="3539066" cy="4521200"/>
            <a:chOff x="4326467" y="1676400"/>
            <a:chExt cx="3539066" cy="4521200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0C582892-9426-5E8E-195C-618118EC922B}"/>
                </a:ext>
              </a:extLst>
            </p:cNvPr>
            <p:cNvSpPr/>
            <p:nvPr/>
          </p:nvSpPr>
          <p:spPr>
            <a:xfrm>
              <a:off x="4326467" y="1676400"/>
              <a:ext cx="3539066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A1D9AE-1A55-F6F7-74EE-B864B163BFD0}"/>
                </a:ext>
              </a:extLst>
            </p:cNvPr>
            <p:cNvSpPr/>
            <p:nvPr/>
          </p:nvSpPr>
          <p:spPr>
            <a:xfrm>
              <a:off x="4529667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02</a:t>
              </a: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17ECC05F-866A-D5FA-9829-917089DC3807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7382933" y="1879600"/>
              <a:ext cx="279400" cy="2794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0618662-5210-C9DB-5D8F-0599A78B82A9}"/>
                </a:ext>
              </a:extLst>
            </p:cNvPr>
            <p:cNvSpPr txBox="1"/>
            <p:nvPr/>
          </p:nvSpPr>
          <p:spPr>
            <a:xfrm>
              <a:off x="4529667" y="2336800"/>
              <a:ext cx="3132667" cy="161582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Kích Hoạt Kinh Tế Bạc (Silver Economy)
</a:t>
              </a:r>
              <a:r>
                <a:rPr lang="vi-VN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Biến già hóa từ gánh nặng thành cơ hội phát triển các ngành sản xuất thiết bị chăm sóc sức khỏe, bảo hiểm và du lịch nghỉ dưỡng.</a:t>
              </a:r>
              <a:endParaRPr lang="en-US" sz="1500" b="1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2" name="!!Stage_Sub_Card_2">
            <a:extLst>
              <a:ext uri="{FF2B5EF4-FFF2-40B4-BE49-F238E27FC236}">
                <a16:creationId xmlns:a16="http://schemas.microsoft.com/office/drawing/2014/main" id="{16937251-14D5-B88D-5386-55B37994B7FF}"/>
              </a:ext>
            </a:extLst>
          </p:cNvPr>
          <p:cNvGrpSpPr/>
          <p:nvPr/>
        </p:nvGrpSpPr>
        <p:grpSpPr>
          <a:xfrm>
            <a:off x="8043333" y="1676400"/>
            <a:ext cx="3539067" cy="4521200"/>
            <a:chOff x="8043333" y="1676400"/>
            <a:chExt cx="3539067" cy="45212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B24450D2-10A2-22AE-B5E9-CAA985A840D6}"/>
                </a:ext>
              </a:extLst>
            </p:cNvPr>
            <p:cNvSpPr/>
            <p:nvPr/>
          </p:nvSpPr>
          <p:spPr>
            <a:xfrm>
              <a:off x="8043333" y="1676400"/>
              <a:ext cx="3539067" cy="4521200"/>
            </a:xfrm>
            <a:prstGeom prst="roundRect">
              <a:avLst/>
            </a:prstGeom>
            <a:solidFill>
              <a:srgbClr val="0B132B"/>
            </a:solidFill>
            <a:ln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91B0604B-4E24-66C9-D7AC-FB0B67EF7E05}"/>
                </a:ext>
              </a:extLst>
            </p:cNvPr>
            <p:cNvSpPr/>
            <p:nvPr/>
          </p:nvSpPr>
          <p:spPr>
            <a:xfrm>
              <a:off x="8246533" y="1879600"/>
              <a:ext cx="406400" cy="3048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b="1">
                  <a:solidFill>
                    <a:srgbClr val="FFFFFF"/>
                  </a:solidFill>
                  <a:latin typeface="Bahnschrift" panose="020B0502040204020203" pitchFamily="34" charset="0"/>
                </a:rPr>
                <a:t>03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87B11052-5250-B2D3-10B6-1BE714B1F67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1099800" y="1879600"/>
              <a:ext cx="279400" cy="279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E89AA06-DEEE-2A52-D45C-5D4F0D6248E8}"/>
                </a:ext>
              </a:extLst>
            </p:cNvPr>
            <p:cNvSpPr txBox="1"/>
            <p:nvPr/>
          </p:nvSpPr>
          <p:spPr>
            <a:xfrm>
              <a:off x="8246533" y="2336800"/>
              <a:ext cx="3132667" cy="1354217"/>
            </a:xfrm>
            <a:prstGeom prst="rect">
              <a:avLst/>
            </a:prstGeom>
            <a:noFill/>
          </p:spPr>
          <p:txBody>
            <a:bodyPr vert="horz" wrap="square" lIns="0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700" b="1">
                  <a:solidFill>
                    <a:srgbClr val="FFFFFF"/>
                  </a:solidFill>
                  <a:latin typeface="Segoe UI" panose="020B0502040204020203" pitchFamily="34" charset="0"/>
                </a:rPr>
                <a:t>Duy Trì Mức Sinh Bền Vững
</a:t>
              </a:r>
              <a:r>
                <a:rPr lang="en-US" sz="1500" b="1">
                  <a:solidFill>
                    <a:srgbClr val="CBD5E1"/>
                  </a:solidFill>
                  <a:latin typeface="Segoe UI" panose="020B0502040204020203" pitchFamily="34" charset="0"/>
                </a:rPr>
                <a:t>Thực hiện đồng bộ các chính sách hỗ trợ tài chính, nhà ở và thai sản để các gia đình trẻ yên tâm sinh đủ hai con.</a:t>
              </a:r>
            </a:p>
          </p:txBody>
        </p:sp>
      </p:grpSp>
      <p:sp>
        <p:nvSpPr>
          <p:cNvPr id="23" name="!!Anchor_Source_Footer">
            <a:extLst>
              <a:ext uri="{FF2B5EF4-FFF2-40B4-BE49-F238E27FC236}">
                <a16:creationId xmlns:a16="http://schemas.microsoft.com/office/drawing/2014/main" id="{D8069FB0-AC92-D068-DB38-41A67736DAE7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Tầm nhìn Phát triển Quốc gia đến năm 2045</a:t>
            </a:r>
          </a:p>
        </p:txBody>
      </p:sp>
    </p:spTree>
    <p:extLst>
      <p:ext uri="{BB962C8B-B14F-4D97-AF65-F5344CB8AC3E}">
        <p14:creationId xmlns:p14="http://schemas.microsoft.com/office/powerpoint/2010/main" val="29564709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!!Anchor_Kicker_Rail">
            <a:extLst>
              <a:ext uri="{FF2B5EF4-FFF2-40B4-BE49-F238E27FC236}">
                <a16:creationId xmlns:a16="http://schemas.microsoft.com/office/drawing/2014/main" id="{A9A2561B-219D-551D-8DAA-D296F7B1AB40}"/>
              </a:ext>
            </a:extLst>
          </p:cNvPr>
          <p:cNvSpPr txBox="1"/>
          <p:nvPr/>
        </p:nvSpPr>
        <p:spPr>
          <a:xfrm>
            <a:off x="609600" y="457200"/>
            <a:ext cx="9956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00" b="1">
                <a:solidFill>
                  <a:srgbClr val="0284C7"/>
                </a:solidFill>
                <a:latin typeface="Segoe UI" panose="020B0502040204020203" pitchFamily="34" charset="0"/>
              </a:rPr>
              <a:t>TỔNG KẾT BÀI HỌC  •  TRỌNG TÂM</a:t>
            </a:r>
          </a:p>
        </p:txBody>
      </p:sp>
      <p:sp>
        <p:nvSpPr>
          <p:cNvPr id="3" name="!!Anchor_Slide_Tracker">
            <a:extLst>
              <a:ext uri="{FF2B5EF4-FFF2-40B4-BE49-F238E27FC236}">
                <a16:creationId xmlns:a16="http://schemas.microsoft.com/office/drawing/2014/main" id="{0701B320-CFB7-C144-93E3-A84C3262D864}"/>
              </a:ext>
            </a:extLst>
          </p:cNvPr>
          <p:cNvSpPr txBox="1"/>
          <p:nvPr/>
        </p:nvSpPr>
        <p:spPr>
          <a:xfrm>
            <a:off x="10820400" y="457200"/>
            <a:ext cx="762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sz="1200" b="1">
                <a:solidFill>
                  <a:srgbClr val="CBD5E1"/>
                </a:solidFill>
                <a:latin typeface="Bahnschrift" panose="020B0502040204020203" pitchFamily="34" charset="0"/>
              </a:rPr>
              <a:t>20 / 20</a:t>
            </a:r>
          </a:p>
        </p:txBody>
      </p:sp>
      <p:sp>
        <p:nvSpPr>
          <p:cNvPr id="4" name="!!Anchor_Assertion_Title">
            <a:extLst>
              <a:ext uri="{FF2B5EF4-FFF2-40B4-BE49-F238E27FC236}">
                <a16:creationId xmlns:a16="http://schemas.microsoft.com/office/drawing/2014/main" id="{FBC934D8-FE0E-F49E-9D70-D3109150C4F8}"/>
              </a:ext>
            </a:extLst>
          </p:cNvPr>
          <p:cNvSpPr txBox="1"/>
          <p:nvPr/>
        </p:nvSpPr>
        <p:spPr>
          <a:xfrm>
            <a:off x="609600" y="711200"/>
            <a:ext cx="10972800" cy="738664"/>
          </a:xfrm>
          <a:prstGeom prst="rect">
            <a:avLst/>
          </a:prstGeom>
          <a:noFill/>
        </p:spPr>
        <p:txBody>
          <a:bodyPr vert="horz" wrap="square" tIns="0" bIns="0" rtlCol="0">
            <a:spAutoFit/>
          </a:bodyPr>
          <a:lstStyle/>
          <a:p>
            <a:r>
              <a:rPr lang="en-US" sz="2400" b="1">
                <a:solidFill>
                  <a:srgbClr val="FFFFFF"/>
                </a:solidFill>
                <a:latin typeface="Segoe UI" panose="020B0502040204020203" pitchFamily="34" charset="0"/>
              </a:rPr>
              <a:t>Tổng Kết Toàn Khóa Học Và Bài Tập Tình Huống Xây Dựng Kịch Bản Dự Báo</a:t>
            </a:r>
          </a:p>
        </p:txBody>
      </p:sp>
      <p:grpSp>
        <p:nvGrpSpPr>
          <p:cNvPr id="11" name="!!Stage_Hero_Container">
            <a:extLst>
              <a:ext uri="{FF2B5EF4-FFF2-40B4-BE49-F238E27FC236}">
                <a16:creationId xmlns:a16="http://schemas.microsoft.com/office/drawing/2014/main" id="{E511BBA1-92B4-FE78-04EE-80C73C4B1AC6}"/>
              </a:ext>
            </a:extLst>
          </p:cNvPr>
          <p:cNvGrpSpPr/>
          <p:nvPr/>
        </p:nvGrpSpPr>
        <p:grpSpPr>
          <a:xfrm>
            <a:off x="609600" y="1676400"/>
            <a:ext cx="3522133" cy="4521200"/>
            <a:chOff x="609600" y="1676400"/>
            <a:chExt cx="3522133" cy="4521200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37959C5F-9B1F-5D3D-6665-C16BEA1488BD}"/>
                </a:ext>
              </a:extLst>
            </p:cNvPr>
            <p:cNvSpPr/>
            <p:nvPr/>
          </p:nvSpPr>
          <p:spPr>
            <a:xfrm>
              <a:off x="609600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AC77C66-D97C-576F-DE86-9B2508D11501}"/>
                </a:ext>
              </a:extLst>
            </p:cNvPr>
            <p:cNvSpPr/>
            <p:nvPr/>
          </p:nvSpPr>
          <p:spPr>
            <a:xfrm>
              <a:off x="812800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D9869D5-60D3-5BE2-6C66-6B060AF73854}"/>
                </a:ext>
              </a:extLst>
            </p:cNvPr>
            <p:cNvSpPr/>
            <p:nvPr/>
          </p:nvSpPr>
          <p:spPr>
            <a:xfrm>
              <a:off x="812800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7C821722-C995-91D7-12CC-F31C7B127460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76300" y="2070100"/>
              <a:ext cx="279400" cy="279400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F5D959D-4E13-BC82-FF9D-4FD09B46D77E}"/>
                </a:ext>
              </a:extLst>
            </p:cNvPr>
            <p:cNvSpPr txBox="1"/>
            <p:nvPr/>
          </p:nvSpPr>
          <p:spPr>
            <a:xfrm>
              <a:off x="812800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Bài Tập 1: Ngoại Suy Hàm Số
</a:t>
              </a:r>
              <a:r>
                <a:rPr lang="en-US" sz="1500">
                  <a:solidFill>
                    <a:srgbClr val="CBD5E1"/>
                  </a:solidFill>
                  <a:latin typeface="Segoe UI" panose="020B0502040204020203" pitchFamily="34" charset="0"/>
                </a:rPr>
                <a:t>Dùng số liệu dân số tỉnh X năm 2014 (1.2 tr) và 2024 (1.4 tr), áp dụng mô hình hàm mũ để dự báo dân số năm 2034.</a:t>
              </a:r>
            </a:p>
          </p:txBody>
        </p:sp>
      </p:grpSp>
      <p:grpSp>
        <p:nvGrpSpPr>
          <p:cNvPr id="18" name="!!Stage_Sub_Card_1">
            <a:extLst>
              <a:ext uri="{FF2B5EF4-FFF2-40B4-BE49-F238E27FC236}">
                <a16:creationId xmlns:a16="http://schemas.microsoft.com/office/drawing/2014/main" id="{9DE5C0B6-3B84-AFE8-8E62-5B58C0C25725}"/>
              </a:ext>
            </a:extLst>
          </p:cNvPr>
          <p:cNvGrpSpPr/>
          <p:nvPr/>
        </p:nvGrpSpPr>
        <p:grpSpPr>
          <a:xfrm>
            <a:off x="4334933" y="1676400"/>
            <a:ext cx="3522134" cy="4521200"/>
            <a:chOff x="4334933" y="1676400"/>
            <a:chExt cx="3522134" cy="45212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1CF6BF9-8239-3450-6446-82AD79E8EF12}"/>
                </a:ext>
              </a:extLst>
            </p:cNvPr>
            <p:cNvSpPr/>
            <p:nvPr/>
          </p:nvSpPr>
          <p:spPr>
            <a:xfrm>
              <a:off x="4334933" y="1676400"/>
              <a:ext cx="3522134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F62938-4632-41FD-74E0-26826FADEE87}"/>
                </a:ext>
              </a:extLst>
            </p:cNvPr>
            <p:cNvSpPr/>
            <p:nvPr/>
          </p:nvSpPr>
          <p:spPr>
            <a:xfrm>
              <a:off x="4538133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B1FE9A3D-DE6F-1791-60FD-33BA2FA05107}"/>
                </a:ext>
              </a:extLst>
            </p:cNvPr>
            <p:cNvSpPr/>
            <p:nvPr/>
          </p:nvSpPr>
          <p:spPr>
            <a:xfrm>
              <a:off x="4538133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E746646-DA57-0188-FDCA-E0C05AE1EA15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601633" y="2070100"/>
              <a:ext cx="279400" cy="279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327A858-3FFB-C91F-4A18-08334B8DC611}"/>
                </a:ext>
              </a:extLst>
            </p:cNvPr>
            <p:cNvSpPr txBox="1"/>
            <p:nvPr/>
          </p:nvSpPr>
          <p:spPr>
            <a:xfrm>
              <a:off x="4538133" y="2540000"/>
              <a:ext cx="3115733" cy="1966820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Bài Tập 2: Xây Dựng Giả Thiết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Hãy xây dựng 3 kịch bản mức sinh (TFR) cho địa phương anh/chị đến năm 2035 dựa trên các yếu tố kinh tế xã hội thực tế.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grpSp>
        <p:nvGrpSpPr>
          <p:cNvPr id="25" name="!!Stage_Sub_Card_2">
            <a:extLst>
              <a:ext uri="{FF2B5EF4-FFF2-40B4-BE49-F238E27FC236}">
                <a16:creationId xmlns:a16="http://schemas.microsoft.com/office/drawing/2014/main" id="{CA494FC3-7EB1-A438-185B-BB8CD98D04D5}"/>
              </a:ext>
            </a:extLst>
          </p:cNvPr>
          <p:cNvGrpSpPr/>
          <p:nvPr/>
        </p:nvGrpSpPr>
        <p:grpSpPr>
          <a:xfrm>
            <a:off x="8060267" y="1676400"/>
            <a:ext cx="3522133" cy="4521200"/>
            <a:chOff x="8060267" y="1676400"/>
            <a:chExt cx="3522133" cy="4521200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4D283A95-BDE1-B3D2-35F3-7446257841A6}"/>
                </a:ext>
              </a:extLst>
            </p:cNvPr>
            <p:cNvSpPr/>
            <p:nvPr/>
          </p:nvSpPr>
          <p:spPr>
            <a:xfrm>
              <a:off x="8060267" y="1676400"/>
              <a:ext cx="3522133" cy="4521200"/>
            </a:xfrm>
            <a:prstGeom prst="roundRect">
              <a:avLst/>
            </a:prstGeom>
            <a:solidFill>
              <a:srgbClr val="0B132B"/>
            </a:solidFill>
            <a:ln w="12700">
              <a:solidFill>
                <a:srgbClr val="1E293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014F4A0D-7AB1-1451-8F75-873984FC136E}"/>
                </a:ext>
              </a:extLst>
            </p:cNvPr>
            <p:cNvSpPr/>
            <p:nvPr/>
          </p:nvSpPr>
          <p:spPr>
            <a:xfrm>
              <a:off x="8263467" y="1879600"/>
              <a:ext cx="457200" cy="38100"/>
            </a:xfrm>
            <a:prstGeom prst="rect">
              <a:avLst/>
            </a:prstGeom>
            <a:solidFill>
              <a:srgbClr val="0284C7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B257924E-07A8-F78A-9946-F56801E472A1}"/>
                </a:ext>
              </a:extLst>
            </p:cNvPr>
            <p:cNvSpPr/>
            <p:nvPr/>
          </p:nvSpPr>
          <p:spPr>
            <a:xfrm>
              <a:off x="8263467" y="2006600"/>
              <a:ext cx="406400" cy="406400"/>
            </a:xfrm>
            <a:prstGeom prst="ellipse">
              <a:avLst/>
            </a:prstGeom>
            <a:solidFill>
              <a:srgbClr val="082F49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4426FB29-2C62-907B-42DD-BDD184B490C3}"/>
                </a:ext>
              </a:extLst>
            </p:cNvPr>
            <p:cNvPicPr>
              <a:picLocks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326967" y="2070100"/>
              <a:ext cx="279400" cy="279400"/>
            </a:xfrm>
            <a:prstGeom prst="rect">
              <a:avLst/>
            </a:prstGeom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94D63E6-6B25-33F8-A0F4-124BE2AFBF0E}"/>
                </a:ext>
              </a:extLst>
            </p:cNvPr>
            <p:cNvSpPr txBox="1"/>
            <p:nvPr/>
          </p:nvSpPr>
          <p:spPr>
            <a:xfrm>
              <a:off x="8263467" y="2540000"/>
              <a:ext cx="3115733" cy="1620572"/>
            </a:xfrm>
            <a:prstGeom prst="rect">
              <a:avLst/>
            </a:prstGeom>
            <a:noFill/>
          </p:spPr>
          <p:txBody>
            <a:bodyPr vert="horz" wrap="square" lIns="0" tIns="0" rtlCol="0">
              <a:spAutoFit/>
            </a:bodyPr>
            <a:lstStyle/>
            <a:p>
              <a:pPr>
                <a:lnSpc>
                  <a:spcPct val="125000"/>
                </a:lnSpc>
                <a:spcAft>
                  <a:spcPts val="800"/>
                </a:spcAft>
              </a:pPr>
              <a:r>
                <a:rPr lang="en-US" b="1">
                  <a:solidFill>
                    <a:srgbClr val="FFFFFF"/>
                  </a:solidFill>
                  <a:latin typeface="Segoe UI" panose="020B0502040204020203" pitchFamily="34" charset="0"/>
                </a:rPr>
                <a:t>Thảo Luận Cuối Khóa 3
</a:t>
              </a:r>
              <a:r>
                <a:rPr lang="vi-VN" sz="1500">
                  <a:solidFill>
                    <a:srgbClr val="CBD5E1"/>
                  </a:solidFill>
                  <a:latin typeface="Segoe UI" panose="020B0502040204020203" pitchFamily="34" charset="0"/>
                </a:rPr>
                <a:t>Đánh giá tác động của xu hướng già hóa dân số đến cân đối ngân sách chi trả an sinh xã hội tại địa phương đến năm 2045.</a:t>
              </a:r>
              <a:endParaRPr lang="en-US" sz="1500">
                <a:solidFill>
                  <a:srgbClr val="CBD5E1"/>
                </a:solidFill>
                <a:latin typeface="Segoe UI" panose="020B0502040204020203" pitchFamily="34" charset="0"/>
              </a:endParaRPr>
            </a:p>
          </p:txBody>
        </p:sp>
      </p:grpSp>
      <p:sp>
        <p:nvSpPr>
          <p:cNvPr id="26" name="!!Anchor_Source_Footer">
            <a:extLst>
              <a:ext uri="{FF2B5EF4-FFF2-40B4-BE49-F238E27FC236}">
                <a16:creationId xmlns:a16="http://schemas.microsoft.com/office/drawing/2014/main" id="{BA11D910-0139-D531-F699-9BE9145EB9AD}"/>
              </a:ext>
            </a:extLst>
          </p:cNvPr>
          <p:cNvSpPr txBox="1"/>
          <p:nvPr/>
        </p:nvSpPr>
        <p:spPr>
          <a:xfrm>
            <a:off x="609600" y="6273800"/>
            <a:ext cx="109728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CBD5E1"/>
                </a:solidFill>
                <a:latin typeface="Segoe UI" panose="020B0502040204020203" pitchFamily="34" charset="0"/>
              </a:rPr>
              <a:t>Tài liệu đào tạo Dân số học chuẩn quốc gia</a:t>
            </a:r>
          </a:p>
        </p:txBody>
      </p:sp>
    </p:spTree>
    <p:extLst>
      <p:ext uri="{BB962C8B-B14F-4D97-AF65-F5344CB8AC3E}">
        <p14:creationId xmlns:p14="http://schemas.microsoft.com/office/powerpoint/2010/main" val="10411320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85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4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3014</Words>
  <Application>Microsoft Office PowerPoint</Application>
  <PresentationFormat>Custom</PresentationFormat>
  <Paragraphs>157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Bahnschrift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Thanh Ninh Bui</dc:creator>
  <cp:lastModifiedBy>Thanh Ninh Bui</cp:lastModifiedBy>
  <cp:revision>1</cp:revision>
  <dcterms:created xsi:type="dcterms:W3CDTF">2026-09-18T09:17:41Z</dcterms:created>
  <dcterms:modified xsi:type="dcterms:W3CDTF">2026-09-18T09:17:42Z</dcterms:modified>
</cp:coreProperties>
</file>