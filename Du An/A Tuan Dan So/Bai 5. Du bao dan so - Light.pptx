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04B95-95E1-B881-BE14-DA541E79B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B8AED-3E60-9BBE-31D3-03FB56ADD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75134-9DD5-273C-982F-CE20FDDD1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4C6-B7C2-4A22-859E-13A8DF8B0B6A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4336B-2D55-824C-617C-AE9218685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D9A16-B84A-B094-E610-5F084C3A7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14D6-B78E-4ABB-B690-2A1B01F45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145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0607C-EED7-B6C0-015D-BA077987F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3A74C-A3CE-D680-D69E-30BD6B361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1716-3860-CE16-D1EA-108ADA45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4C6-B7C2-4A22-859E-13A8DF8B0B6A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52CB0-CBE8-4AA3-C820-65C7E01D6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5B91E-5B47-8863-2D8D-97C57C796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14D6-B78E-4ABB-B690-2A1B01F45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12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0CF35-6DE7-04B7-8D21-CAFD34AA7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0F07E-9317-75AC-A689-3FF356FC2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B4A21-AEAA-B605-22FE-2E118273F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4C6-B7C2-4A22-859E-13A8DF8B0B6A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ACD6F-42B5-1359-8D2C-F646B20A1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C5C5B-F6B9-F9A8-A9C1-B59D5C569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14D6-B78E-4ABB-B690-2A1B01F45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664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7D8BB-AA57-7C5A-B901-CF4CE36C0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2701-7AD8-83CD-8A48-ED843BB6A4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B9926F-3B8E-2616-EFE0-B58BE5155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C0F25-EF0E-2332-A9BC-329E7137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4C6-B7C2-4A22-859E-13A8DF8B0B6A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FF05E-D213-9DAE-0BEE-F7F8BE5AB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35AE3-661A-C31E-F4BC-6F0461A9F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14D6-B78E-4ABB-B690-2A1B01F45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126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98201-4449-ED64-7D81-B1E9B3836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FF91D8-703D-B7C6-3874-50DCD66DB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3A4EE0-0697-3DF5-7F2C-3233DAB31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DFB317-70AB-7D80-B2FA-BB7D97B345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8A9D8-0DC6-9FDD-2A1D-7CD1928D57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B83D47-72E5-0FE5-115D-8180767CB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4C6-B7C2-4A22-859E-13A8DF8B0B6A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E9E94-2D79-F88A-07CA-8DF94CA23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D4E6-7213-C24C-53AF-582FCA2D6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14D6-B78E-4ABB-B690-2A1B01F45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20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67724-E250-53B2-5255-D34A8494C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11A66D-3A00-5F6A-2C32-BE0D91EAA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4C6-B7C2-4A22-859E-13A8DF8B0B6A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9FADF-97BA-F32B-1F22-A89DA61D9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CE628-1B6D-89D8-7080-166E8D707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14D6-B78E-4ABB-B690-2A1B01F45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101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1A73CE-9AC5-6CC7-4393-8AEBBAD49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4C6-B7C2-4A22-859E-13A8DF8B0B6A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F65108-869E-F5F8-2D68-1D6E7747C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32B2E-4359-4A6A-F2E6-30AAB673F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14D6-B78E-4ABB-B690-2A1B01F45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48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0D70A-54F3-22E2-DF69-70886B6A2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0856D-897F-0473-D869-C3589FC4E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1A9582-8EA4-0A64-28CD-D14F11E098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74189D-6EDE-24CB-F636-627D32FE3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4C6-B7C2-4A22-859E-13A8DF8B0B6A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BC0CE6-EC7C-703D-BBB6-323D23FC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FA89A-2323-855A-3B3C-836116EB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14D6-B78E-4ABB-B690-2A1B01F45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290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85D07-A569-2910-2EA6-68557286A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CC68ED-BCEF-65EF-8A29-FE36FF8744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4724F-A18F-7326-F941-DEEC716834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C6681A-5211-2EB6-484D-F4475B843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4C6-B7C2-4A22-859E-13A8DF8B0B6A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142D3-7891-321A-CD52-B0340A85F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504AF-F560-AB16-3834-9A419F215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14D6-B78E-4ABB-B690-2A1B01F45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616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6C03-5F81-BF3E-D47D-5034EA712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2EE813-B985-102B-43A0-C8AF49F3A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DA672-C02C-00C1-67AF-479F80384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4C6-B7C2-4A22-859E-13A8DF8B0B6A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310DC-F111-5110-A1E9-EA8D4C12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4922C-B4FC-B0EA-2BDB-0FD741408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14D6-B78E-4ABB-B690-2A1B01F45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966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4E16FB-8BB8-30F4-0E03-53B10F5A42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5F5414-58CA-622A-3281-39085F4C6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1CD5C-A425-7F1D-D3DD-D51EB2CF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F4C6-B7C2-4A22-859E-13A8DF8B0B6A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AC7E78-8151-1323-9B67-9DAA0623F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43E0A-FE62-5015-1C08-CDDB8CCEC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3414D6-B78E-4ABB-B690-2A1B01F45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59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CC2CFE-8788-B8CE-237F-EB487C977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E162B-A12E-FBE5-1D9A-D63AFEB49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82B8F0-40C7-4207-C307-7468D581C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6F4C6-B7C2-4A22-859E-13A8DF8B0B6A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18EBC7-57ED-18DF-BBB3-171AF01680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0383B-1E53-FC8C-A67F-C77FAEFF2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414D6-B78E-4ABB-B690-2A1B01F45C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065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2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3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svg"/><Relationship Id="rId4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svg"/><Relationship Id="rId4" Type="http://schemas.openxmlformats.org/officeDocument/2006/relationships/image" Target="../media/image2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562F0C-559C-366A-6FC9-FE59442DABBF}"/>
              </a:ext>
            </a:extLst>
          </p:cNvPr>
          <p:cNvSpPr/>
          <p:nvPr/>
        </p:nvSpPr>
        <p:spPr>
          <a:xfrm>
            <a:off x="609600" y="838200"/>
            <a:ext cx="609600" cy="635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8A8083-1600-B0CD-A1E2-619EF24220A3}"/>
              </a:ext>
            </a:extLst>
          </p:cNvPr>
          <p:cNvSpPr txBox="1"/>
          <p:nvPr/>
        </p:nvSpPr>
        <p:spPr>
          <a:xfrm>
            <a:off x="609600" y="1041400"/>
            <a:ext cx="5266944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59669"/>
                </a:solidFill>
                <a:latin typeface="Segoe UI" panose="020B0502040204020203" pitchFamily="34" charset="0"/>
              </a:rPr>
              <a:t>CHƯƠNG TRÌNH ĐÀO TẠO DÂN SỐ HỌC  •  TỔNG QUAN CHUYÊN ĐỀ</a:t>
            </a:r>
            <a:endParaRPr lang="en-US" sz="1200" b="1">
              <a:solidFill>
                <a:srgbClr val="05966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D59E0D-E30E-B64F-B0EC-F25292E5217D}"/>
              </a:ext>
            </a:extLst>
          </p:cNvPr>
          <p:cNvSpPr txBox="1"/>
          <p:nvPr/>
        </p:nvSpPr>
        <p:spPr>
          <a:xfrm>
            <a:off x="609600" y="1447800"/>
            <a:ext cx="5266944" cy="1661993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vi-VN" sz="3400" b="1">
                <a:solidFill>
                  <a:srgbClr val="0F172A"/>
                </a:solidFill>
                <a:latin typeface="Segoe UI" panose="020B0502040204020203" pitchFamily="34" charset="0"/>
              </a:rPr>
              <a:t>BÀI 5: DỰ BÁO DÂN SỐ: PHƯƠNG PHÁP LUẬN VÀ ỨNG DỤNG</a:t>
            </a:r>
            <a:endParaRPr lang="en-US" sz="3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ED7286-715D-1418-7623-86D76716A7DE}"/>
              </a:ext>
            </a:extLst>
          </p:cNvPr>
          <p:cNvSpPr txBox="1"/>
          <p:nvPr/>
        </p:nvSpPr>
        <p:spPr>
          <a:xfrm>
            <a:off x="609600" y="3187700"/>
            <a:ext cx="5266944" cy="830997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vi-VN" sz="1600">
                <a:solidFill>
                  <a:srgbClr val="475569"/>
                </a:solidFill>
                <a:latin typeface="Segoe UI" panose="020B0502040204020203" pitchFamily="34" charset="0"/>
              </a:rPr>
              <a:t>Phương pháp luận khoa học, kỹ thuật mô hình hóa thành phần nhân khẩu và ứng dụng dự báo dân số trong hoạch định tương lai.</a:t>
            </a:r>
            <a:endParaRPr lang="en-US" sz="16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A3324D-7CD2-E2BD-4F43-CE212894AE3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344" y="1333500"/>
            <a:ext cx="5401056" cy="3014980"/>
          </a:xfrm>
          <a:prstGeom prst="roundRect">
            <a:avLst/>
          </a:prstGeom>
          <a:ln w="19050">
            <a:solidFill>
              <a:srgbClr val="0284C7"/>
            </a:solidFill>
          </a:ln>
        </p:spPr>
      </p:pic>
    </p:spTree>
    <p:extLst>
      <p:ext uri="{BB962C8B-B14F-4D97-AF65-F5344CB8AC3E}">
        <p14:creationId xmlns:p14="http://schemas.microsoft.com/office/powerpoint/2010/main" val="3612171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2FDC0A93-AA16-ADD5-CFE6-A103D9D4EAC9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MỤC TIÊU BÀI HỌC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69BD593C-91F4-D0FD-28D0-1226FF3D9007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02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9A772C0C-461A-05A4-3823-3C4217F53E4F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Năng Lực Xây Dựng Giả Thiết Và Mô Hình Dự Báo Dân Số Khoa Học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7D078950-42B3-723F-E707-1363B4513EE6}"/>
              </a:ext>
            </a:extLst>
          </p:cNvPr>
          <p:cNvGrpSpPr/>
          <p:nvPr/>
        </p:nvGrpSpPr>
        <p:grpSpPr>
          <a:xfrm>
            <a:off x="609600" y="1676400"/>
            <a:ext cx="6035040" cy="4521200"/>
            <a:chOff x="609600" y="1676400"/>
            <a:chExt cx="603504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5B5EC66-E4BF-65E7-9599-B4321238A497}"/>
                </a:ext>
              </a:extLst>
            </p:cNvPr>
            <p:cNvSpPr/>
            <p:nvPr/>
          </p:nvSpPr>
          <p:spPr>
            <a:xfrm>
              <a:off x="609600" y="1676400"/>
              <a:ext cx="6035040" cy="45212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C5BE166-EB92-ED8D-286E-FF0CE4F3708D}"/>
                </a:ext>
              </a:extLst>
            </p:cNvPr>
            <p:cNvSpPr/>
            <p:nvPr/>
          </p:nvSpPr>
          <p:spPr>
            <a:xfrm>
              <a:off x="863600" y="1905000"/>
              <a:ext cx="1524000" cy="2794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TÂM CỐT LÕI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C9EFE66-4B9B-28F7-F555-C8A0B462C9C6}"/>
                </a:ext>
              </a:extLst>
            </p:cNvPr>
            <p:cNvSpPr/>
            <p:nvPr/>
          </p:nvSpPr>
          <p:spPr>
            <a:xfrm>
              <a:off x="863600" y="2286000"/>
              <a:ext cx="482600" cy="482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133F791C-DC46-97FD-5D01-089742CDEEB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62200"/>
              <a:ext cx="330200" cy="330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1E23292-2B3B-D578-4BBC-28A00CDCA505}"/>
                </a:ext>
              </a:extLst>
            </p:cNvPr>
            <p:cNvSpPr txBox="1"/>
            <p:nvPr/>
          </p:nvSpPr>
          <p:spPr>
            <a:xfrm>
              <a:off x="863600" y="2870200"/>
              <a:ext cx="5527040" cy="1189365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000"/>
                </a:spcAft>
              </a:pPr>
              <a:r>
                <a:rPr lang="vi-VN" sz="2000" b="1">
                  <a:solidFill>
                    <a:srgbClr val="0F172A"/>
                  </a:solidFill>
                  <a:latin typeface="Segoe UI" panose="020B0502040204020203" pitchFamily="34" charset="0"/>
                </a:rPr>
                <a:t>Làm Chủ Các Phương Pháp Dự Báo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Nắm vững kỹ thuật ngoại suy hàm số toán học và phương pháp thành phần nhân khẩu (Cohort Component Method).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6A98171B-A83F-EA62-AF38-D532C895C2C4}"/>
              </a:ext>
            </a:extLst>
          </p:cNvPr>
          <p:cNvGrpSpPr/>
          <p:nvPr/>
        </p:nvGrpSpPr>
        <p:grpSpPr>
          <a:xfrm>
            <a:off x="6873240" y="1676400"/>
            <a:ext cx="4709160" cy="2171700"/>
            <a:chOff x="6873240" y="1676400"/>
            <a:chExt cx="4709160" cy="21717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D6EEF98-62E8-B0AC-149A-5B55C07F0DDE}"/>
                </a:ext>
              </a:extLst>
            </p:cNvPr>
            <p:cNvSpPr/>
            <p:nvPr/>
          </p:nvSpPr>
          <p:spPr>
            <a:xfrm>
              <a:off x="6873240" y="1676400"/>
              <a:ext cx="4709160" cy="21717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942DFBA-3E5D-38A3-9D2B-E5BD308C7E5C}"/>
                </a:ext>
              </a:extLst>
            </p:cNvPr>
            <p:cNvSpPr/>
            <p:nvPr/>
          </p:nvSpPr>
          <p:spPr>
            <a:xfrm>
              <a:off x="7076440" y="1854200"/>
              <a:ext cx="10795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MỤC TIÊU 01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B7780E2-5E20-7D9E-6DF9-FF328ADE9A3E}"/>
                </a:ext>
              </a:extLst>
            </p:cNvPr>
            <p:cNvSpPr/>
            <p:nvPr/>
          </p:nvSpPr>
          <p:spPr>
            <a:xfrm>
              <a:off x="7076440" y="21844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C1FF2997-9C55-7390-A0C7-F4366F7CDE8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39940" y="22479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2948A1B-3558-DCE5-BD16-755082066C0F}"/>
                </a:ext>
              </a:extLst>
            </p:cNvPr>
            <p:cNvSpPr txBox="1"/>
            <p:nvPr/>
          </p:nvSpPr>
          <p:spPr>
            <a:xfrm>
              <a:off x="7609840" y="21082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Kỹ Năng Xây Dựng Giả Thiết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Xây dựng các giả thiết khoa học về mức sinh, mức chết và di cư cho các kịch bản dự báo thấp, trung bình và cao.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118157CE-E89F-10F6-83E0-C6085CFE2BA3}"/>
              </a:ext>
            </a:extLst>
          </p:cNvPr>
          <p:cNvGrpSpPr/>
          <p:nvPr/>
        </p:nvGrpSpPr>
        <p:grpSpPr>
          <a:xfrm>
            <a:off x="6873240" y="4025900"/>
            <a:ext cx="4709160" cy="2171700"/>
            <a:chOff x="6873240" y="4025900"/>
            <a:chExt cx="4709160" cy="21717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205FF6B-7A3D-A837-C3DA-D062C61E95F2}"/>
                </a:ext>
              </a:extLst>
            </p:cNvPr>
            <p:cNvSpPr/>
            <p:nvPr/>
          </p:nvSpPr>
          <p:spPr>
            <a:xfrm>
              <a:off x="6873240" y="4025900"/>
              <a:ext cx="4709160" cy="21717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72AAF92-E081-4F6D-AC3E-3D5DCDDE6397}"/>
                </a:ext>
              </a:extLst>
            </p:cNvPr>
            <p:cNvSpPr/>
            <p:nvPr/>
          </p:nvSpPr>
          <p:spPr>
            <a:xfrm>
              <a:off x="7076440" y="4203700"/>
              <a:ext cx="10795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MỤC TIÊU 02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2DEADB4-5405-E120-EBEB-5BE78EAAFCC2}"/>
                </a:ext>
              </a:extLst>
            </p:cNvPr>
            <p:cNvSpPr/>
            <p:nvPr/>
          </p:nvSpPr>
          <p:spPr>
            <a:xfrm>
              <a:off x="7076440" y="45339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00EDC9B2-85B6-8D6A-5E0B-AED00DA0343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39940" y="45974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E5BAA20-73B2-EE8B-A18F-ABF56EE7C1F5}"/>
                </a:ext>
              </a:extLst>
            </p:cNvPr>
            <p:cNvSpPr txBox="1"/>
            <p:nvPr/>
          </p:nvSpPr>
          <p:spPr>
            <a:xfrm>
              <a:off x="7609840" y="44577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Ứng Dụng Hoạch Định Chính Sách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Vận dụng kết quả dự báo dân số để tính toán nhu cầu trường học, bệnh viện, quỹ hưu trí và định hướng chiến lược đến 2045.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626B891F-891C-D0FB-DCDA-806EA08BC582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Khung chuẩn đầu ra chuyên đề</a:t>
            </a:r>
          </a:p>
        </p:txBody>
      </p:sp>
    </p:spTree>
    <p:extLst>
      <p:ext uri="{BB962C8B-B14F-4D97-AF65-F5344CB8AC3E}">
        <p14:creationId xmlns:p14="http://schemas.microsoft.com/office/powerpoint/2010/main" val="283241080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E5776DC1-E2ED-407F-8684-F34C129D7887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Ý NGHĨA DỰ BÁO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76A567F6-BC25-FCEE-30C5-1D0E2FF3DEBD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03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34221677-093D-0481-9816-E3A1B34C0910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Khái Niệm, Mục Đích Và Ý Nghĩa Sống Còn Của Dự Báo Dân Số</a:t>
            </a: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F2E5FA82-6DAA-CA71-7AA9-6E3A4B6F2563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109DD59-AA48-B22E-6E73-EAA807E5FAC2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CBD5E1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A611677-D95B-27B2-5D68-5688BC0FA7A0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B8A2D7E-D9D7-D69D-816A-53446DB002E3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9FF4584-76D2-EB72-AD02-5CC24C79B86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AB03D96-094D-C2A2-8F45-781A1B2D29D0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7280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0F172A"/>
                  </a:solidFill>
                  <a:latin typeface="Segoe UI" panose="020B0502040204020203" pitchFamily="34" charset="0"/>
                </a:rPr>
                <a:t>Dự báo dân số là cơ sở khoa học đầu tiên để lập quy hoạch phát triển kinh tế - xã hội, bảo đảm cung cấp dịch vụ công.</a:t>
              </a:r>
              <a:endParaRPr lang="en-US" sz="1250" b="1">
                <a:solidFill>
                  <a:srgbClr val="0F172A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4A9A534C-6D6F-CA77-F467-D2ADE08E045C}"/>
              </a:ext>
            </a:extLst>
          </p:cNvPr>
          <p:cNvGrpSpPr/>
          <p:nvPr/>
        </p:nvGrpSpPr>
        <p:grpSpPr>
          <a:xfrm>
            <a:off x="6214872" y="1676400"/>
            <a:ext cx="5367528" cy="2184400"/>
            <a:chOff x="6214872" y="1676400"/>
            <a:chExt cx="5367528" cy="21844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E3BC3C0-B026-7118-4435-413321EF5BD6}"/>
                </a:ext>
              </a:extLst>
            </p:cNvPr>
            <p:cNvSpPr/>
            <p:nvPr/>
          </p:nvSpPr>
          <p:spPr>
            <a:xfrm>
              <a:off x="6214872" y="1676400"/>
              <a:ext cx="5367528" cy="218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4BC1515-4438-F785-70FC-FB67C7750494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E9714202-8C01-A218-46AF-48A8202FEC3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51834AE-27F3-A8ED-4B45-9F659311BECB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Khái Niệm Dự Báo Dân Số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Tính toán quy mô và cơ cấu dân số trong tương lai dựa trên dữ liệu hiện tại và các giả thiết khoa học về sinh, tử, di cư.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F039559D-472F-DEAE-D0FE-85A36C4248B2}"/>
              </a:ext>
            </a:extLst>
          </p:cNvPr>
          <p:cNvGrpSpPr/>
          <p:nvPr/>
        </p:nvGrpSpPr>
        <p:grpSpPr>
          <a:xfrm>
            <a:off x="6214872" y="4013200"/>
            <a:ext cx="5367528" cy="2184400"/>
            <a:chOff x="6214872" y="4013200"/>
            <a:chExt cx="5367528" cy="21844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256C00F-8B42-7C73-FD97-6EB6BA7D8309}"/>
                </a:ext>
              </a:extLst>
            </p:cNvPr>
            <p:cNvSpPr/>
            <p:nvPr/>
          </p:nvSpPr>
          <p:spPr>
            <a:xfrm>
              <a:off x="6214872" y="4013200"/>
              <a:ext cx="5367528" cy="21844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934368D-2EF2-5C9B-F961-BFF24E02CF47}"/>
                </a:ext>
              </a:extLst>
            </p:cNvPr>
            <p:cNvSpPr/>
            <p:nvPr/>
          </p:nvSpPr>
          <p:spPr>
            <a:xfrm>
              <a:off x="6392672" y="41910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C4676B20-91EA-2CD7-E117-2212F46B96D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4254500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85549A0-5261-1DCB-82ED-CCD385B8E77B}"/>
                </a:ext>
              </a:extLst>
            </p:cNvPr>
            <p:cNvSpPr txBox="1"/>
            <p:nvPr/>
          </p:nvSpPr>
          <p:spPr>
            <a:xfrm>
              <a:off x="6875272" y="41402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Mục Tiêu Quy Hoạch Xã Hội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Xác định trước nhu cầu về số lượng giáo viên, số giường bệnh, diện tích nhà ở và cân đối quỹ bảo hiểm xã hội tương lai.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236A8B27-AA2C-7C00-94D6-E2DA6F6202EB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Giáo trình Dự báo nhân khẩu học</a:t>
            </a:r>
          </a:p>
        </p:txBody>
      </p:sp>
    </p:spTree>
    <p:extLst>
      <p:ext uri="{BB962C8B-B14F-4D97-AF65-F5344CB8AC3E}">
        <p14:creationId xmlns:p14="http://schemas.microsoft.com/office/powerpoint/2010/main" val="13752703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73B4D792-8EF0-A705-4AB2-CAE7AA5D6227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PHÂN LOẠI DỰ BÁO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6C0F202A-B365-ED5F-9F7E-72434688F3A6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04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54BAF723-21E7-28F5-43F7-423383DDA60C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Phân Loại Dự Báo Dân Số Theo Tầm Thời Gian Và Phạm Vi Lãnh Thổ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9DF92FC1-801C-329F-B649-DD79551B7BF4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36936FD-2670-35A2-A885-9B2CA5502003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C40D14F-9E17-A3C7-D7A4-4BEF5DDCE43F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CED4A9A-01D9-CC14-F459-061B995D7B0B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88F2F5F2-31CC-9E05-AE47-723B4B89774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F9A0BB1-DA5B-C84F-C60D-FBA234990A72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Dự Báo Ngắn Hạn (&lt; 5 Năm)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Độ chính xác rất cao vì cơ cấu tuổi đã định hình sẵn; phục vụ lập kế hoạch ngân sách và phân bổ chỉ tiêu hàng năm.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55204A49-C33F-51CF-45B6-FFFAAB366003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5B16EC3-6470-B675-FAF9-2BDD5277650A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38A1D02-A01B-E7D7-751D-2A6137B64A4F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1C8AEBE-24A3-696E-0A2A-E00FF0A973D2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F61AF92-ED49-81E5-E161-B2C5690B9E9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2140E3F-86CC-32CD-7640-FB17D5D35F86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Dự Báo Trung Hạn (5 - 15 Năm)
</a:t>
              </a:r>
              <a:r>
                <a:rPr lang="en-US" sz="1500">
                  <a:solidFill>
                    <a:srgbClr val="334155"/>
                  </a:solidFill>
                  <a:latin typeface="Segoe UI" panose="020B0502040204020203" pitchFamily="34" charset="0"/>
                </a:rPr>
                <a:t>Phục vụ các kế hoạch phát triển kinh tế - xã hội 5 năm, 10 năm của quốc gia và các quy hoạch phát triển ngành.</a:t>
              </a: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F15FD61E-DBBE-14BC-C804-F2CF09DACE33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3B1F9000-3769-7E3E-67D3-802C949E6BAC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B65A0FA-33D4-5E35-461E-93E674C32F2B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ED6BF96A-BD75-58FA-2238-85CC5C7CD9EA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AB350FC5-E1F1-BEA6-EB77-5EBE0408830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66EDD47-66DF-377D-676A-E4F12EBD0999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Dự Báo Dài Hạn (15 - 50 Năm)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Định hướng chiến lược an ninh lương thực, ứng phó già hóa, quỹ bảo hiểm hưu trí và tầm nhìn phát triển thế kỷ.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720EB878-DEF5-1473-367A-C49AA0779F2E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Phương pháp luận dự báo kinh tế xã hội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79902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4A15D971-E898-A904-7613-14AB29C8A54A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NGOẠI SUY TOÁN HỌC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B5D1420F-D423-27A7-5550-1CC591D0688E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05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C0326F4A-631F-886B-9EFE-BF927FBF41D2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Các Phương Pháp Ngoại Suy Toán Học Tuyến Tính Và Đa Thức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7EE14B94-787E-6E57-3134-0CF7B8750BCD}"/>
              </a:ext>
            </a:extLst>
          </p:cNvPr>
          <p:cNvGrpSpPr/>
          <p:nvPr/>
        </p:nvGrpSpPr>
        <p:grpSpPr>
          <a:xfrm>
            <a:off x="609600" y="1676400"/>
            <a:ext cx="10972800" cy="1117600"/>
            <a:chOff x="609600" y="1676400"/>
            <a:chExt cx="10972800" cy="11176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D345ED9-8C73-DDAF-1F65-83820ADADD77}"/>
                </a:ext>
              </a:extLst>
            </p:cNvPr>
            <p:cNvSpPr/>
            <p:nvPr/>
          </p:nvSpPr>
          <p:spPr>
            <a:xfrm>
              <a:off x="609600" y="1676400"/>
              <a:ext cx="10972800" cy="11176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B3F9BDB-3CA5-049C-644F-07CDFEB5CD46}"/>
                </a:ext>
              </a:extLst>
            </p:cNvPr>
            <p:cNvSpPr/>
            <p:nvPr/>
          </p:nvSpPr>
          <p:spPr>
            <a:xfrm>
              <a:off x="863600" y="1803400"/>
              <a:ext cx="24130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CÔNG THỨC ĐỊNH LƯỢNG CHUẨN</a:t>
              </a:r>
              <a:endParaRPr lang="en-US" sz="9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F8A766A-FE56-1B6D-5A3E-082CE13D92B1}"/>
                </a:ext>
              </a:extLst>
            </p:cNvPr>
            <p:cNvSpPr txBox="1"/>
            <p:nvPr/>
          </p:nvSpPr>
          <p:spPr>
            <a:xfrm>
              <a:off x="863600" y="2082800"/>
              <a:ext cx="1046480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0284C7"/>
                  </a:solidFill>
                  <a:latin typeface="Segoe UI" panose="020B0502040204020203" pitchFamily="34" charset="0"/>
                </a:rPr>
                <a:t>P_t = P_0 * (1 + r*t)  |  P_t = P_0 * (1 + r)^t  (Ngoại suy ngắn hạn)</a:t>
              </a:r>
            </a:p>
          </p:txBody>
        </p:sp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F2047B6A-2960-8ACB-C8DF-7164D5DD9DE1}"/>
              </a:ext>
            </a:extLst>
          </p:cNvPr>
          <p:cNvGrpSpPr/>
          <p:nvPr/>
        </p:nvGrpSpPr>
        <p:grpSpPr>
          <a:xfrm>
            <a:off x="609600" y="2971800"/>
            <a:ext cx="3522133" cy="3225800"/>
            <a:chOff x="609600" y="2971800"/>
            <a:chExt cx="3522133" cy="3225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E47888F-74C8-6BA5-2262-FD4C0CAD6FA5}"/>
                </a:ext>
              </a:extLst>
            </p:cNvPr>
            <p:cNvSpPr/>
            <p:nvPr/>
          </p:nvSpPr>
          <p:spPr>
            <a:xfrm>
              <a:off x="609600" y="2971800"/>
              <a:ext cx="3522133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6D12F9F1-08B7-B28A-D84A-47E63E1F88A4}"/>
                </a:ext>
              </a:extLst>
            </p:cNvPr>
            <p:cNvSpPr/>
            <p:nvPr/>
          </p:nvSpPr>
          <p:spPr>
            <a:xfrm>
              <a:off x="812800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95020D3E-D14E-8FE8-A773-01066BE5310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3238500"/>
              <a:ext cx="279400" cy="279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3EE971E-BDCA-25A8-899D-E1396E0F7895}"/>
                </a:ext>
              </a:extLst>
            </p:cNvPr>
            <p:cNvSpPr txBox="1"/>
            <p:nvPr/>
          </p:nvSpPr>
          <p:spPr>
            <a:xfrm>
              <a:off x="812800" y="3683000"/>
              <a:ext cx="3115733" cy="175176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Mô Hình Tuyến Tính (Linear Model)
</a:t>
              </a:r>
              <a:r>
                <a:rPr lang="vi-VN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P_t = P_0 + b*t. Giả định dân số gia tăng một lượng tuyệt đối không đổi hàng năm. Chỉ phù hợp trong thời gian rất ngắn.</a:t>
              </a:r>
              <a:endParaRPr lang="en-US" sz="135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63F9E5AC-70F9-4C20-C18C-B98B221B7704}"/>
              </a:ext>
            </a:extLst>
          </p:cNvPr>
          <p:cNvGrpSpPr/>
          <p:nvPr/>
        </p:nvGrpSpPr>
        <p:grpSpPr>
          <a:xfrm>
            <a:off x="4334933" y="2971800"/>
            <a:ext cx="3522134" cy="3225800"/>
            <a:chOff x="4334933" y="2971800"/>
            <a:chExt cx="3522134" cy="32258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FCB00E7-3431-95ED-C9A5-A76B1ACCFC31}"/>
                </a:ext>
              </a:extLst>
            </p:cNvPr>
            <p:cNvSpPr/>
            <p:nvPr/>
          </p:nvSpPr>
          <p:spPr>
            <a:xfrm>
              <a:off x="4334933" y="2971800"/>
              <a:ext cx="3522134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629725D-1285-1145-6488-7C7182711F6F}"/>
                </a:ext>
              </a:extLst>
            </p:cNvPr>
            <p:cNvSpPr/>
            <p:nvPr/>
          </p:nvSpPr>
          <p:spPr>
            <a:xfrm>
              <a:off x="4538133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08A56D65-1D8B-CC0D-698D-CCA304D1A58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3238500"/>
              <a:ext cx="279400" cy="279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72908E0-06B6-7D14-B03D-F58935F4DD5E}"/>
                </a:ext>
              </a:extLst>
            </p:cNvPr>
            <p:cNvSpPr txBox="1"/>
            <p:nvPr/>
          </p:nvSpPr>
          <p:spPr>
            <a:xfrm>
              <a:off x="4538133" y="3683000"/>
              <a:ext cx="3115733" cy="149207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Mô Hình Hình Học (Geometric Model)
</a:t>
              </a:r>
              <a:r>
                <a:rPr lang="en-US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P_t = P_0 * (1 + r)^t. Giả định dân số tăng theo tỷ lệ phần trăm cố định mỗi năm (lãi kép gián đoạn).</a:t>
              </a:r>
            </a:p>
          </p:txBody>
        </p:sp>
      </p:grpSp>
      <p:grpSp>
        <p:nvGrpSpPr>
          <p:cNvPr id="26" name="!!Stage_Sub_Card_3">
            <a:extLst>
              <a:ext uri="{FF2B5EF4-FFF2-40B4-BE49-F238E27FC236}">
                <a16:creationId xmlns:a16="http://schemas.microsoft.com/office/drawing/2014/main" id="{653A0E53-DA79-5C13-5DEE-8CD4CDD70B01}"/>
              </a:ext>
            </a:extLst>
          </p:cNvPr>
          <p:cNvGrpSpPr/>
          <p:nvPr/>
        </p:nvGrpSpPr>
        <p:grpSpPr>
          <a:xfrm>
            <a:off x="8060267" y="2971800"/>
            <a:ext cx="3522133" cy="3225800"/>
            <a:chOff x="8060267" y="2971800"/>
            <a:chExt cx="3522133" cy="322580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208BF4F7-8630-7AA4-1402-831FCDE17854}"/>
                </a:ext>
              </a:extLst>
            </p:cNvPr>
            <p:cNvSpPr/>
            <p:nvPr/>
          </p:nvSpPr>
          <p:spPr>
            <a:xfrm>
              <a:off x="8060267" y="2971800"/>
              <a:ext cx="3522133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7C42418-94E9-42D8-2B98-19A60F3170B3}"/>
                </a:ext>
              </a:extLst>
            </p:cNvPr>
            <p:cNvSpPr/>
            <p:nvPr/>
          </p:nvSpPr>
          <p:spPr>
            <a:xfrm>
              <a:off x="8263467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680D626D-AAAA-28AB-C888-7698FEBA6C8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3238500"/>
              <a:ext cx="279400" cy="279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84AE511-FFB3-7E7A-82FE-3CDAF0A1AA53}"/>
                </a:ext>
              </a:extLst>
            </p:cNvPr>
            <p:cNvSpPr txBox="1"/>
            <p:nvPr/>
          </p:nvSpPr>
          <p:spPr>
            <a:xfrm>
              <a:off x="8263467" y="3683000"/>
              <a:ext cx="3115733" cy="1184299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Ưu Nhược Điểm Cơ Bản
</a:t>
              </a:r>
              <a:r>
                <a:rPr lang="vi-VN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Dễ tính toán chỉ cần số liệu 2 kỳ; nhưng nhược điểm lớn là không thể bóc tách cơ cấu tuổi và giới tính.</a:t>
              </a:r>
              <a:endParaRPr lang="en-US" sz="135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7" name="!!Anchor_Source_Footer">
            <a:extLst>
              <a:ext uri="{FF2B5EF4-FFF2-40B4-BE49-F238E27FC236}">
                <a16:creationId xmlns:a16="http://schemas.microsoft.com/office/drawing/2014/main" id="{7AF8D466-C7EC-B471-07D8-457160859E3C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Giáo trình Toán nhân khẩu học</a:t>
            </a:r>
          </a:p>
        </p:txBody>
      </p:sp>
    </p:spTree>
    <p:extLst>
      <p:ext uri="{BB962C8B-B14F-4D97-AF65-F5344CB8AC3E}">
        <p14:creationId xmlns:p14="http://schemas.microsoft.com/office/powerpoint/2010/main" val="38430949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9E75E70C-B2D5-4246-D49E-ED1AC914D20B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HÀM SỐ LOGISTIC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8947FD19-9399-1E6E-9E32-C0EF60AB048E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06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7915228E-5108-916D-1465-1E691EBF56BD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Mô Hình Tăng Trưởng Hàm Số Mũ Và Hàm Số Logistic Giới Hạn Dung Nạp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71624B81-A7C2-4F00-88DE-97CC464F850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F83243C1-9EB1-F69C-C793-3B0FEB4474A3}"/>
              </a:ext>
            </a:extLst>
          </p:cNvPr>
          <p:cNvGrpSpPr/>
          <p:nvPr/>
        </p:nvGrpSpPr>
        <p:grpSpPr>
          <a:xfrm>
            <a:off x="6644640" y="1676400"/>
            <a:ext cx="4937760" cy="2184400"/>
            <a:chOff x="6644640" y="1676400"/>
            <a:chExt cx="4937760" cy="21844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B8C51C4-A747-917E-0EAE-267C06396D0D}"/>
                </a:ext>
              </a:extLst>
            </p:cNvPr>
            <p:cNvSpPr/>
            <p:nvPr/>
          </p:nvSpPr>
          <p:spPr>
            <a:xfrm>
              <a:off x="6644640" y="1676400"/>
              <a:ext cx="4937760" cy="218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655D828-C444-CDDE-34DD-509AC47F25F1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29704229-89D9-EEBE-97E5-A2DBB460647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FB8A658-E609-15C4-C821-393111A6CB14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Hàm Mũ Không Giới Hạn (Malthus)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P_t = P_0 * e^(rt). Quy mô bùng nổ theo cấp số nhân; bỏ qua giới hạn về tài nguyên đất đai, nguồn nước và lương thực.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E74D0EF0-0B0E-53C7-8733-54C93382F711}"/>
              </a:ext>
            </a:extLst>
          </p:cNvPr>
          <p:cNvGrpSpPr/>
          <p:nvPr/>
        </p:nvGrpSpPr>
        <p:grpSpPr>
          <a:xfrm>
            <a:off x="6644640" y="4013200"/>
            <a:ext cx="4937760" cy="2184400"/>
            <a:chOff x="6644640" y="4013200"/>
            <a:chExt cx="4937760" cy="21844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8417B15-0E2B-1BED-3716-B88D525F6912}"/>
                </a:ext>
              </a:extLst>
            </p:cNvPr>
            <p:cNvSpPr/>
            <p:nvPr/>
          </p:nvSpPr>
          <p:spPr>
            <a:xfrm>
              <a:off x="6644640" y="4013200"/>
              <a:ext cx="4937760" cy="21844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3BF061B-B08C-92ED-4290-6AE4266385F3}"/>
                </a:ext>
              </a:extLst>
            </p:cNvPr>
            <p:cNvSpPr/>
            <p:nvPr/>
          </p:nvSpPr>
          <p:spPr>
            <a:xfrm>
              <a:off x="6822440" y="41910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887B9B1-4E0A-EDA1-A448-871EC8CA1E0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42545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F55D821-9A23-7EF8-3A25-68A25CE733E7}"/>
                </a:ext>
              </a:extLst>
            </p:cNvPr>
            <p:cNvSpPr txBox="1"/>
            <p:nvPr/>
          </p:nvSpPr>
          <p:spPr>
            <a:xfrm>
              <a:off x="7305040" y="41402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Mô Hình Logistic (Verhulst Model)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P_t = K / [1 + a*e^(-rt)]. Với K là ngưỡng dung nạp tối đa (Carrying Capacity). Đồ thị dạng chữ S uốn lượn ổn định ở mức K.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BBD4BD13-A012-7B49-549E-0B020F713794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Mô hình sinh thái nhân học Verhulst</a:t>
            </a:r>
          </a:p>
        </p:txBody>
      </p:sp>
    </p:spTree>
    <p:extLst>
      <p:ext uri="{BB962C8B-B14F-4D97-AF65-F5344CB8AC3E}">
        <p14:creationId xmlns:p14="http://schemas.microsoft.com/office/powerpoint/2010/main" val="532032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A5AA4049-EF43-759C-D63A-8185D3FB96C1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PHƯƠNG PHÁP THÀNH PHẦN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0105C5BF-DEA7-92DE-4240-48B1ED6E8F76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07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F6EAC92C-337A-64FA-1DB4-0EDF3009AE63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Phương Pháp Thành Phần Nhân Khẩu (Cohort-Component Method) Chuẩn Mực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812F4CAF-9DF4-0BEB-7883-DC6859378780}"/>
              </a:ext>
            </a:extLst>
          </p:cNvPr>
          <p:cNvGrpSpPr/>
          <p:nvPr/>
        </p:nvGrpSpPr>
        <p:grpSpPr>
          <a:xfrm>
            <a:off x="609600" y="1676400"/>
            <a:ext cx="10972800" cy="1117600"/>
            <a:chOff x="609600" y="1676400"/>
            <a:chExt cx="10972800" cy="11176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0B51C84-BC2B-1358-28B3-68ED1D5562F9}"/>
                </a:ext>
              </a:extLst>
            </p:cNvPr>
            <p:cNvSpPr/>
            <p:nvPr/>
          </p:nvSpPr>
          <p:spPr>
            <a:xfrm>
              <a:off x="609600" y="1676400"/>
              <a:ext cx="10972800" cy="11176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4C928FB9-D8D5-3C58-C39D-337ED42C85BA}"/>
                </a:ext>
              </a:extLst>
            </p:cNvPr>
            <p:cNvSpPr/>
            <p:nvPr/>
          </p:nvSpPr>
          <p:spPr>
            <a:xfrm>
              <a:off x="863600" y="1803400"/>
              <a:ext cx="24130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CÔNG THỨC ĐỊNH LƯỢNG CHUẨN</a:t>
              </a:r>
              <a:endParaRPr lang="en-US" sz="9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4557824-D47E-F6FC-5C45-1CF7965807EF}"/>
                </a:ext>
              </a:extLst>
            </p:cNvPr>
            <p:cNvSpPr txBox="1"/>
            <p:nvPr/>
          </p:nvSpPr>
          <p:spPr>
            <a:xfrm>
              <a:off x="863600" y="2082800"/>
              <a:ext cx="1046480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pt-BR" sz="2400" b="1">
                  <a:solidFill>
                    <a:srgbClr val="0284C7"/>
                  </a:solidFill>
                  <a:latin typeface="Segoe UI" panose="020B0502040204020203" pitchFamily="34" charset="0"/>
                </a:rPr>
                <a:t>P_(x+n, t+n) = P_(x,t) * S_(x,x+n) + NetMig_(x,x+n)  (Tiêu chuẩn UN)</a:t>
              </a:r>
              <a:endParaRPr lang="en-US" sz="24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1FFD6975-2F05-BB65-69B0-D4397A111A2F}"/>
              </a:ext>
            </a:extLst>
          </p:cNvPr>
          <p:cNvGrpSpPr/>
          <p:nvPr/>
        </p:nvGrpSpPr>
        <p:grpSpPr>
          <a:xfrm>
            <a:off x="609600" y="2971800"/>
            <a:ext cx="3522133" cy="3225800"/>
            <a:chOff x="609600" y="2971800"/>
            <a:chExt cx="3522133" cy="3225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D92DD36-E622-D0BC-7631-54FC2425D63E}"/>
                </a:ext>
              </a:extLst>
            </p:cNvPr>
            <p:cNvSpPr/>
            <p:nvPr/>
          </p:nvSpPr>
          <p:spPr>
            <a:xfrm>
              <a:off x="609600" y="2971800"/>
              <a:ext cx="3522133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B72E230-25CE-03EB-B73F-D2E65207D626}"/>
                </a:ext>
              </a:extLst>
            </p:cNvPr>
            <p:cNvSpPr/>
            <p:nvPr/>
          </p:nvSpPr>
          <p:spPr>
            <a:xfrm>
              <a:off x="812800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4D81E74-23F1-D604-E0B2-F14225FAE46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3238500"/>
              <a:ext cx="279400" cy="279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4170215-2B19-DC81-36D3-A00C5A067F9D}"/>
                </a:ext>
              </a:extLst>
            </p:cNvPr>
            <p:cNvSpPr txBox="1"/>
            <p:nvPr/>
          </p:nvSpPr>
          <p:spPr>
            <a:xfrm>
              <a:off x="812800" y="3683000"/>
              <a:ext cx="3115733" cy="175176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Nguyên Lý Lõi Của Phương Pháp
</a:t>
              </a:r>
              <a:r>
                <a:rPr lang="vi-VN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Dự báo độc lập từng thành phần nhân khẩu: tính số sống sót theo bảng sống, tính số sinh qua ASFR và tính di cư ròng theo tuổi.</a:t>
              </a:r>
              <a:endParaRPr lang="en-US" sz="135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2D744E65-740F-B288-0FE5-987C59F8795A}"/>
              </a:ext>
            </a:extLst>
          </p:cNvPr>
          <p:cNvGrpSpPr/>
          <p:nvPr/>
        </p:nvGrpSpPr>
        <p:grpSpPr>
          <a:xfrm>
            <a:off x="4334933" y="2971800"/>
            <a:ext cx="3522134" cy="3225800"/>
            <a:chOff x="4334933" y="2971800"/>
            <a:chExt cx="3522134" cy="32258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AC04AD4F-E3F8-4987-3D05-AD3A71570DDE}"/>
                </a:ext>
              </a:extLst>
            </p:cNvPr>
            <p:cNvSpPr/>
            <p:nvPr/>
          </p:nvSpPr>
          <p:spPr>
            <a:xfrm>
              <a:off x="4334933" y="2971800"/>
              <a:ext cx="3522134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86C7A33-2666-D3DD-5DC4-2F9727C69785}"/>
                </a:ext>
              </a:extLst>
            </p:cNvPr>
            <p:cNvSpPr/>
            <p:nvPr/>
          </p:nvSpPr>
          <p:spPr>
            <a:xfrm>
              <a:off x="4538133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7F24C65A-158C-8EEF-5B7F-327D00B1ED0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3238500"/>
              <a:ext cx="279400" cy="279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C32B155-9B53-CC1C-9E14-000A6E00176F}"/>
                </a:ext>
              </a:extLst>
            </p:cNvPr>
            <p:cNvSpPr txBox="1"/>
            <p:nvPr/>
          </p:nvSpPr>
          <p:spPr>
            <a:xfrm>
              <a:off x="4538133" y="3683000"/>
              <a:ext cx="3115733" cy="175176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Cung Cấp Chi Tiết Tuổi &amp; Giới Tính
</a:t>
              </a:r>
              <a:r>
                <a:rPr lang="vi-VN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Cho ra kết quả tháp dân số chi tiết từng độ tuổi cho từng năm tương lai, phục vụ trực tiếp cho quy hoạch chuyên ngành.</a:t>
              </a:r>
              <a:endParaRPr lang="en-US" sz="135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6" name="!!Stage_Sub_Card_3">
            <a:extLst>
              <a:ext uri="{FF2B5EF4-FFF2-40B4-BE49-F238E27FC236}">
                <a16:creationId xmlns:a16="http://schemas.microsoft.com/office/drawing/2014/main" id="{7F3F3F01-B876-6438-185A-3565F7870CC0}"/>
              </a:ext>
            </a:extLst>
          </p:cNvPr>
          <p:cNvGrpSpPr/>
          <p:nvPr/>
        </p:nvGrpSpPr>
        <p:grpSpPr>
          <a:xfrm>
            <a:off x="8060267" y="2971800"/>
            <a:ext cx="3522133" cy="3225800"/>
            <a:chOff x="8060267" y="2971800"/>
            <a:chExt cx="3522133" cy="322580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BB6F1C5-7507-DD85-BC6A-31CD4A2B7025}"/>
                </a:ext>
              </a:extLst>
            </p:cNvPr>
            <p:cNvSpPr/>
            <p:nvPr/>
          </p:nvSpPr>
          <p:spPr>
            <a:xfrm>
              <a:off x="8060267" y="2971800"/>
              <a:ext cx="3522133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6B2CD2C-A4E6-76E9-B2E6-5772D337B013}"/>
                </a:ext>
              </a:extLst>
            </p:cNvPr>
            <p:cNvSpPr/>
            <p:nvPr/>
          </p:nvSpPr>
          <p:spPr>
            <a:xfrm>
              <a:off x="8263467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A2433074-7BE7-871E-7AF5-0721E91E1E3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3238500"/>
              <a:ext cx="279400" cy="279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7ADC73D-A6BC-0DEA-15F4-FA874C3D3DBD}"/>
                </a:ext>
              </a:extLst>
            </p:cNvPr>
            <p:cNvSpPr txBox="1"/>
            <p:nvPr/>
          </p:nvSpPr>
          <p:spPr>
            <a:xfrm>
              <a:off x="8263467" y="3683000"/>
              <a:ext cx="3115733" cy="1184299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Tiêu Chuẩn Của Liên Hợp Quốc
</a:t>
              </a:r>
              <a:r>
                <a:rPr lang="vi-VN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Được tất cả các cơ quan thống kê quốc gia và tổ chức quốc tế sử dụng để dự báo dân số toàn cầu.</a:t>
              </a:r>
              <a:endParaRPr lang="en-US" sz="135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7" name="!!Anchor_Source_Footer">
            <a:extLst>
              <a:ext uri="{FF2B5EF4-FFF2-40B4-BE49-F238E27FC236}">
                <a16:creationId xmlns:a16="http://schemas.microsoft.com/office/drawing/2014/main" id="{FAA0B51A-7242-ACBA-2EB0-CB12AC2F243B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Cẩm nang Dự báo Dân số của Liên Hợp Quốc (Manual X)</a:t>
            </a:r>
          </a:p>
        </p:txBody>
      </p:sp>
    </p:spTree>
    <p:extLst>
      <p:ext uri="{BB962C8B-B14F-4D97-AF65-F5344CB8AC3E}">
        <p14:creationId xmlns:p14="http://schemas.microsoft.com/office/powerpoint/2010/main" val="2136269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D31847C1-731F-276B-9870-C76CA01053DC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BỐN BƯỚC MÔ HÌNH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F23CDE5C-48A2-6234-586B-201CE5A89E47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08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96E11607-63AC-6DA4-BC14-825A526ADFE1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Bốn Bước Vận Hành Mô Hình Thành Phần: Dịch Chuyển Từng Nhóm Tuổi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0" name="!!Stage_Hero_Container">
            <a:extLst>
              <a:ext uri="{FF2B5EF4-FFF2-40B4-BE49-F238E27FC236}">
                <a16:creationId xmlns:a16="http://schemas.microsoft.com/office/drawing/2014/main" id="{D17C82D2-F30C-A7A3-4890-17B69433DCF5}"/>
              </a:ext>
            </a:extLst>
          </p:cNvPr>
          <p:cNvGrpSpPr/>
          <p:nvPr/>
        </p:nvGrpSpPr>
        <p:grpSpPr>
          <a:xfrm>
            <a:off x="609600" y="1676400"/>
            <a:ext cx="2609850" cy="4521200"/>
            <a:chOff x="609600" y="1676400"/>
            <a:chExt cx="260985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63C3781-6897-F40D-43A7-D4DD1E89B766}"/>
                </a:ext>
              </a:extLst>
            </p:cNvPr>
            <p:cNvSpPr/>
            <p:nvPr/>
          </p:nvSpPr>
          <p:spPr>
            <a:xfrm>
              <a:off x="609600" y="1676400"/>
              <a:ext cx="2609850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ADA2012-C2E4-A845-101A-10900FF5669B}"/>
                </a:ext>
              </a:extLst>
            </p:cNvPr>
            <p:cNvSpPr/>
            <p:nvPr/>
          </p:nvSpPr>
          <p:spPr>
            <a:xfrm>
              <a:off x="81280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0F172A"/>
                  </a:solidFill>
                  <a:latin typeface="Bahnschrift" panose="020B0502040204020203" pitchFamily="34" charset="0"/>
                </a:rPr>
                <a:t>01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5EB4B71E-5A48-EF51-18E3-3B9D97F96E4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736850" y="1879600"/>
              <a:ext cx="279400" cy="279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0E6CB0C-2FEC-6B42-BC56-5A88C0C4F42B}"/>
                </a:ext>
              </a:extLst>
            </p:cNvPr>
            <p:cNvSpPr txBox="1"/>
            <p:nvPr/>
          </p:nvSpPr>
          <p:spPr>
            <a:xfrm>
              <a:off x="812800" y="2336800"/>
              <a:ext cx="2203450" cy="2308324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1. Dịch Chuyển Tuổi &amp; Tử Vong
</a:t>
              </a:r>
              <a:r>
                <a:rPr lang="en-US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Dân số tuổi x năm nay sẽ sống sót lên tuổi x+1 vào năm sau bằng cách nhân với tỷ lệ sống sót từ bảng sống: P_(x+1, t+1) = P_(x,t) * S_x.</a:t>
              </a:r>
            </a:p>
          </p:txBody>
        </p:sp>
      </p:grpSp>
      <p:grpSp>
        <p:nvGrpSpPr>
          <p:cNvPr id="16" name="!!Stage_Sub_Card_1">
            <a:extLst>
              <a:ext uri="{FF2B5EF4-FFF2-40B4-BE49-F238E27FC236}">
                <a16:creationId xmlns:a16="http://schemas.microsoft.com/office/drawing/2014/main" id="{3EBB94F5-F5EF-4EC0-06CB-82CA9FF56A48}"/>
              </a:ext>
            </a:extLst>
          </p:cNvPr>
          <p:cNvGrpSpPr/>
          <p:nvPr/>
        </p:nvGrpSpPr>
        <p:grpSpPr>
          <a:xfrm>
            <a:off x="3397250" y="1676400"/>
            <a:ext cx="2609850" cy="4521200"/>
            <a:chOff x="3397250" y="1676400"/>
            <a:chExt cx="2609850" cy="45212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100D4F5-6077-58D9-648C-CD32C3907127}"/>
                </a:ext>
              </a:extLst>
            </p:cNvPr>
            <p:cNvSpPr/>
            <p:nvPr/>
          </p:nvSpPr>
          <p:spPr>
            <a:xfrm>
              <a:off x="3397250" y="1676400"/>
              <a:ext cx="2609850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CD7B9D9-8285-070D-BA24-123F9F9CE309}"/>
                </a:ext>
              </a:extLst>
            </p:cNvPr>
            <p:cNvSpPr/>
            <p:nvPr/>
          </p:nvSpPr>
          <p:spPr>
            <a:xfrm>
              <a:off x="360045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0F172A"/>
                  </a:solidFill>
                  <a:latin typeface="Bahnschrift" panose="020B0502040204020203" pitchFamily="34" charset="0"/>
                </a:rPr>
                <a:t>02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7705826E-A785-A2BB-EAD7-A3ACE8CDE899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24500" y="1879600"/>
              <a:ext cx="279400" cy="279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E4A6C6F-F7BD-4C41-64BB-6331898F2A55}"/>
                </a:ext>
              </a:extLst>
            </p:cNvPr>
            <p:cNvSpPr txBox="1"/>
            <p:nvPr/>
          </p:nvSpPr>
          <p:spPr>
            <a:xfrm>
              <a:off x="3600450" y="2336800"/>
              <a:ext cx="2203450" cy="2077492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2. Dự Báo Số Trẻ Sinh Mới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Nhân số phụ nữ từng độ tuổi sinh sản với tỷ suất sinh đặc trưng tương ứng: B = </a:t>
              </a:r>
              <a:r>
                <a:rPr lang="el-GR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Σ(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W_x * ASFR_x). Tách bé trai và bé gái theo SRB.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2" name="!!Stage_Sub_Card_2">
            <a:extLst>
              <a:ext uri="{FF2B5EF4-FFF2-40B4-BE49-F238E27FC236}">
                <a16:creationId xmlns:a16="http://schemas.microsoft.com/office/drawing/2014/main" id="{68A69D14-9A55-03A4-0AAD-878AB1554829}"/>
              </a:ext>
            </a:extLst>
          </p:cNvPr>
          <p:cNvGrpSpPr/>
          <p:nvPr/>
        </p:nvGrpSpPr>
        <p:grpSpPr>
          <a:xfrm>
            <a:off x="6184900" y="1676400"/>
            <a:ext cx="2609850" cy="4521200"/>
            <a:chOff x="6184900" y="1676400"/>
            <a:chExt cx="2609850" cy="45212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8CDC0FB-1F2B-DF7D-806C-CE394C596561}"/>
                </a:ext>
              </a:extLst>
            </p:cNvPr>
            <p:cNvSpPr/>
            <p:nvPr/>
          </p:nvSpPr>
          <p:spPr>
            <a:xfrm>
              <a:off x="6184900" y="1676400"/>
              <a:ext cx="2609850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7A43AAB-AB57-97AC-BA19-A87E9AA2186A}"/>
                </a:ext>
              </a:extLst>
            </p:cNvPr>
            <p:cNvSpPr/>
            <p:nvPr/>
          </p:nvSpPr>
          <p:spPr>
            <a:xfrm>
              <a:off x="638810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0F172A"/>
                  </a:solidFill>
                  <a:latin typeface="Bahnschrift" panose="020B0502040204020203" pitchFamily="34" charset="0"/>
                </a:rPr>
                <a:t>03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B2ADE444-B3ED-E846-5EBC-E3635CE65BF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12150" y="1879600"/>
              <a:ext cx="279400" cy="279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6FF24B0-E6D5-2F84-02B5-EF329D9DF4F7}"/>
                </a:ext>
              </a:extLst>
            </p:cNvPr>
            <p:cNvSpPr txBox="1"/>
            <p:nvPr/>
          </p:nvSpPr>
          <p:spPr>
            <a:xfrm>
              <a:off x="6388100" y="2336800"/>
              <a:ext cx="2203450" cy="2077492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vi-VN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3. Đưa Trẻ Mới Sinh Vào Đáy Tháp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Nhân tổng số sinh với xác suất sống sót từ 0 đến 1 tuổi (S_0) để tạo thành nhóm 0 tuổi trong năm kế tiếp: P_(0, t+1) = B * S_0.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8" name="!!Stage_Sub_Card_3">
            <a:extLst>
              <a:ext uri="{FF2B5EF4-FFF2-40B4-BE49-F238E27FC236}">
                <a16:creationId xmlns:a16="http://schemas.microsoft.com/office/drawing/2014/main" id="{0B5B472C-2313-6AC4-D9D4-6E9BCC87DDC3}"/>
              </a:ext>
            </a:extLst>
          </p:cNvPr>
          <p:cNvGrpSpPr/>
          <p:nvPr/>
        </p:nvGrpSpPr>
        <p:grpSpPr>
          <a:xfrm>
            <a:off x="8972550" y="1676400"/>
            <a:ext cx="2609850" cy="4521200"/>
            <a:chOff x="8972550" y="1676400"/>
            <a:chExt cx="2609850" cy="452120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6D447D1D-4320-849C-D521-2AEAF5551908}"/>
                </a:ext>
              </a:extLst>
            </p:cNvPr>
            <p:cNvSpPr/>
            <p:nvPr/>
          </p:nvSpPr>
          <p:spPr>
            <a:xfrm>
              <a:off x="8972550" y="1676400"/>
              <a:ext cx="2609850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0862937-05FD-6EAD-1674-9B914F7B152F}"/>
                </a:ext>
              </a:extLst>
            </p:cNvPr>
            <p:cNvSpPr/>
            <p:nvPr/>
          </p:nvSpPr>
          <p:spPr>
            <a:xfrm>
              <a:off x="917575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0F172A"/>
                  </a:solidFill>
                  <a:latin typeface="Bahnschrift" panose="020B0502040204020203" pitchFamily="34" charset="0"/>
                </a:rPr>
                <a:t>04</a:t>
              </a: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54BC711C-C9AE-8819-6179-D7A5E388A5E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99800" y="1879600"/>
              <a:ext cx="279400" cy="279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E209AA4-B232-1E65-7700-E10FB5E909E3}"/>
                </a:ext>
              </a:extLst>
            </p:cNvPr>
            <p:cNvSpPr txBox="1"/>
            <p:nvPr/>
          </p:nvSpPr>
          <p:spPr>
            <a:xfrm>
              <a:off x="9175750" y="2336800"/>
              <a:ext cx="2203450" cy="1846659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vi-VN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4. Hiệu Chỉnh Di Cư Thuần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Cộng hoặc trừ số di cư thuần theo từng độ tuổi và giới tính vào quy mô từng nhóm tuổi tương ứng.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9" name="!!Anchor_Source_Footer">
            <a:extLst>
              <a:ext uri="{FF2B5EF4-FFF2-40B4-BE49-F238E27FC236}">
                <a16:creationId xmlns:a16="http://schemas.microsoft.com/office/drawing/2014/main" id="{125CD43E-4923-6EF4-F7B6-355AB2B4C56E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Quy trình tính toán Cohort Component</a:t>
            </a:r>
          </a:p>
        </p:txBody>
      </p:sp>
    </p:spTree>
    <p:extLst>
      <p:ext uri="{BB962C8B-B14F-4D97-AF65-F5344CB8AC3E}">
        <p14:creationId xmlns:p14="http://schemas.microsoft.com/office/powerpoint/2010/main" val="22668830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AD9444AE-DA50-A429-5A75-AF717E5BBE91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DÂN SỐ GỐC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23C208D4-0E96-13C9-75B4-193A7996AAE1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09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1E41CA0C-D5D1-104E-3DEA-2B9B8D076EFE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Xây Dựng Bộ Dữ Liệu Dân Số Gốc (Base Population) Và Hiệu Chỉnh Sai Số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6B077C26-CE5D-6488-C801-9839B25B4459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2593680-147D-C58D-69A3-85AB24E0FDB8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4B4D10E-349C-2B5E-724F-AD12FEAB7464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60F88DE-634A-F8DA-950E-83466C22B968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9F337A55-6A97-8D67-6660-45E8A067C78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A0D21DE-1221-0CF2-0E2E-66EF22159280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Nguồn Số Liệu Tổng Điều Tra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Lấy từ kết quả Tổng điều tra dân số mới nhất. Cần hiệu chỉnh tỷ lệ sót dân và sai số khai báo tuổi (hiện tượng làm tròn tuổi).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52A1D837-9665-3EAB-B351-1273EC39C4ED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BCB92A7-EEDF-8EE9-CB3A-0FA59E19FE9F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BD3C122-D477-B162-292F-AAC93DB851A7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BA15842-51D8-AC25-EDEA-294A0ADE1A3A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E0A6D8D-A515-F245-5E7D-EF0FD52D512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0744D44-7B66-BEF2-8BFC-82DC730B9D26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Chuyển Đổi Về Thời Điểm Chuẩn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Đưa thời điểm kiểm kê (ngày 1/4) về thời điểm giữa năm (1/7) để thuận tiện cho việc ghép nối với số liệu thống kê kinh tế.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A4015C8D-267E-F6F5-0D28-3A5D019594EC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8B2B70D-B9A8-B5DC-5D32-70B8FB42C7BD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8AAD896-69B2-BD72-987F-8C8CCC841254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B0A7B59-7FE0-DC12-92DD-F37D153FBF34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6A575E2A-FA6D-E885-C3EC-D544612F4B0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9CB91D3-1AEA-8B32-13D6-A797E25AD897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San Bằng Đường Cong Tuổi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Áp dụng các thuật toán Sprague hoặc Beers để làm mịn đường cong cơ cấu tuổi, loại trừ các đỉnh nhọn nhân tạo.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8323035A-181E-CBE9-1392-8EB66357F632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Kỹ thuật hiệu chỉnh số liệu điều tra dân số</a:t>
            </a:r>
          </a:p>
        </p:txBody>
      </p:sp>
    </p:spTree>
    <p:extLst>
      <p:ext uri="{BB962C8B-B14F-4D97-AF65-F5344CB8AC3E}">
        <p14:creationId xmlns:p14="http://schemas.microsoft.com/office/powerpoint/2010/main" val="32187484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765B5953-E8BA-1AEE-3E70-6CD8A29D4D3D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GIẢ THIẾT MỨC SINH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42046A4B-EBAD-C783-1730-343418F6A083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10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6C6B1A42-2568-67F5-FCA5-19052982C741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Thiết Lập Các Giả Thiết Về Mức Sinh Cho Các Kịch Bản Dự Báo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7A7F43D9-C861-2D5F-A0EE-CAB84D9CAF8A}"/>
              </a:ext>
            </a:extLst>
          </p:cNvPr>
          <p:cNvGrpSpPr/>
          <p:nvPr/>
        </p:nvGrpSpPr>
        <p:grpSpPr>
          <a:xfrm>
            <a:off x="609600" y="1676400"/>
            <a:ext cx="5334000" cy="4521200"/>
            <a:chOff x="609600" y="1676400"/>
            <a:chExt cx="533400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42C60FC-0437-694F-F734-361FEEFC22F2}"/>
                </a:ext>
              </a:extLst>
            </p:cNvPr>
            <p:cNvSpPr/>
            <p:nvPr/>
          </p:nvSpPr>
          <p:spPr>
            <a:xfrm>
              <a:off x="609600" y="1676400"/>
              <a:ext cx="5334000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4BCAEDA-66C8-8A07-4792-68F761D3B9C9}"/>
                </a:ext>
              </a:extLst>
            </p:cNvPr>
            <p:cNvSpPr/>
            <p:nvPr/>
          </p:nvSpPr>
          <p:spPr>
            <a:xfrm>
              <a:off x="863600" y="1905000"/>
              <a:ext cx="1397000" cy="2794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TIÊU CHÍ SO SÁNH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0C8E9DC-5AA7-8752-A225-C07BA5AD1E40}"/>
                </a:ext>
              </a:extLst>
            </p:cNvPr>
            <p:cNvSpPr/>
            <p:nvPr/>
          </p:nvSpPr>
          <p:spPr>
            <a:xfrm>
              <a:off x="863600" y="2260600"/>
              <a:ext cx="457200" cy="4572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7E75CD5F-D303-FC99-A621-C18996CE45E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36800"/>
              <a:ext cx="304800" cy="3048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7E93C66-7B35-B792-3B0E-67AF7D7D826C}"/>
                </a:ext>
              </a:extLst>
            </p:cNvPr>
            <p:cNvSpPr txBox="1"/>
            <p:nvPr/>
          </p:nvSpPr>
          <p:spPr>
            <a:xfrm>
              <a:off x="8636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en-US" sz="2000" b="1">
                  <a:solidFill>
                    <a:srgbClr val="0F172A"/>
                  </a:solidFill>
                  <a:latin typeface="Segoe UI" panose="020B0502040204020203" pitchFamily="34" charset="0"/>
                </a:rPr>
                <a:t>Kịch Bản Mức Sinh Thấp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Giả định mức sinh tiếp tục giảm sâu theo xu hướng của Đông Á, TFR giảm về mức 1.5 con/phụ nữ vào năm 2035.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076EE933-D7BA-6128-4BDC-0045CAF038CF}"/>
              </a:ext>
            </a:extLst>
          </p:cNvPr>
          <p:cNvGrpSpPr/>
          <p:nvPr/>
        </p:nvGrpSpPr>
        <p:grpSpPr>
          <a:xfrm>
            <a:off x="6248400" y="1676400"/>
            <a:ext cx="5334000" cy="4521200"/>
            <a:chOff x="6248400" y="1676400"/>
            <a:chExt cx="5334000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520CFAF-F785-F4C3-C873-687E12CF5A11}"/>
                </a:ext>
              </a:extLst>
            </p:cNvPr>
            <p:cNvSpPr/>
            <p:nvPr/>
          </p:nvSpPr>
          <p:spPr>
            <a:xfrm>
              <a:off x="6248400" y="1676400"/>
              <a:ext cx="5334000" cy="45212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48D4895-AD5E-E1FA-DE7A-C9AA7024509C}"/>
                </a:ext>
              </a:extLst>
            </p:cNvPr>
            <p:cNvSpPr/>
            <p:nvPr/>
          </p:nvSpPr>
          <p:spPr>
            <a:xfrm>
              <a:off x="6502400" y="1905000"/>
              <a:ext cx="1397000" cy="279400"/>
            </a:xfrm>
            <a:prstGeom prst="roundRect">
              <a:avLst/>
            </a:prstGeom>
            <a:solidFill>
              <a:srgbClr val="D1FAE5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59669"/>
                  </a:solidFill>
                  <a:latin typeface="Segoe UI" panose="020B0502040204020203" pitchFamily="34" charset="0"/>
                </a:rPr>
                <a:t>ĐẶC TRƯNG CỐT LÕI</a:t>
              </a:r>
              <a:endParaRPr lang="en-US" sz="900" b="1">
                <a:solidFill>
                  <a:srgbClr val="059669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D3312E1-0800-1490-433B-3656EB33F9F0}"/>
                </a:ext>
              </a:extLst>
            </p:cNvPr>
            <p:cNvSpPr/>
            <p:nvPr/>
          </p:nvSpPr>
          <p:spPr>
            <a:xfrm>
              <a:off x="6502400" y="2260600"/>
              <a:ext cx="457200" cy="4572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57634BE3-131B-C006-67C8-FDEE037D85E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78600" y="2336800"/>
              <a:ext cx="304800" cy="304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A146F87-0E7E-3A59-274E-45EF4B95797A}"/>
                </a:ext>
              </a:extLst>
            </p:cNvPr>
            <p:cNvSpPr txBox="1"/>
            <p:nvPr/>
          </p:nvSpPr>
          <p:spPr>
            <a:xfrm>
              <a:off x="65024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en-US" sz="2000" b="1">
                  <a:solidFill>
                    <a:srgbClr val="0284C7"/>
                  </a:solidFill>
                  <a:latin typeface="Segoe UI" panose="020B0502040204020203" pitchFamily="34" charset="0"/>
                </a:rPr>
                <a:t>Kịch Bản Trung Bình (Khả Dĩ Nhất)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Giả định chính sách hỗ trợ phát huy hiệu quả, Việt Nam giữ vững mức sinh thay thế TFR quanh ngưỡng 2.0 - 2.1 con.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166EB822-6700-80A4-3333-0971A558081B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Báo cáo Giả thiết Dự báo Dân số Việt Nam 2019-2069</a:t>
            </a:r>
          </a:p>
        </p:txBody>
      </p:sp>
    </p:spTree>
    <p:extLst>
      <p:ext uri="{BB962C8B-B14F-4D97-AF65-F5344CB8AC3E}">
        <p14:creationId xmlns:p14="http://schemas.microsoft.com/office/powerpoint/2010/main" val="19439683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EC8C2F48-44C9-CAB1-2723-7DA2344A5F00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GIẢ THIẾT MỨC CHẾT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9361674D-3172-49E4-B743-F4F91B6D9812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11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B3370F0D-F209-F48C-F226-980DDF024319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Thiết Lập Các Giả Thiết Về Mức Chết Và Xu Hướng Tăng Kỳ Vọng Sống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441E082F-2D8D-1B79-CF0A-ADD8E083818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8C1ED86A-53A4-25FD-FFE3-103C4066693E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A577644-A5D0-399C-3270-862F57A0A98B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EFFD298-B0EF-64C6-AA39-274686178835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2495ADB9-17C1-890B-0F4A-B136FB6C70A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31E3E27-E002-D856-19A8-00954972E366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Mô Hình Giảm Tử Vong Lee-Carter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Ứng dụng mô hình toán Lee-Carter để ngoại suy xu hướng giảm tỷ suất chết theo tuổi dựa trên chuỗi số liệu lịch sử.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B65B700B-3F77-2282-1002-0AAA3921565A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63C6022-282C-5CA9-26C5-5AE63A680AD8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40FA85F-4749-8626-9B3B-2161700CB471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E5866416-6DED-3ADE-ED66-1C259A812B1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2804CD6-322E-5BDF-42BD-209A284A847D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Tăng Kỳ Vọng Sống Của Việt Nam
</a:t>
              </a:r>
              <a:r>
                <a:rPr lang="en-US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Dự báo tuổi thọ bình quân của Việt Nam tăng từ 73.7 tuổi hiện nay lên mức 76.5 tuổi vào năm 2039 và 78.5 tuổi vào 2069.</a:t>
              </a: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8EBB98FF-460D-13B9-AB67-7FCFBB1DC89A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4E5AFCD-311A-EBF6-C1DD-BCFE73D9B149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2368050-E5AB-1391-7BFD-CF7308D82B8B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74D60477-D8B0-708D-1D7D-2460B7644EA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6FAD956-E4B4-BC55-F7FA-C26ABDAB42DE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Thu Hẹp Khoảng Cách Giới
</a:t>
              </a:r>
              <a:r>
                <a:rPr lang="en-US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Khoảng cách tuổi thọ giữa nữ và nam thu hẹp nhẹ từ 5.4 năm xuống khoảng 4.5 năm nhờ y tế nam khoa và giảm tai nạn.</a:t>
              </a: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A520DA69-E446-A727-8B8C-313B1D6EDD76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Mô hình Lee-Carter trong dự báo mức chết</a:t>
            </a:r>
          </a:p>
        </p:txBody>
      </p:sp>
    </p:spTree>
    <p:extLst>
      <p:ext uri="{BB962C8B-B14F-4D97-AF65-F5344CB8AC3E}">
        <p14:creationId xmlns:p14="http://schemas.microsoft.com/office/powerpoint/2010/main" val="27831854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725296AD-4A24-5680-7E8E-A191BC9BF01D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GIẢ THIẾT DI CƯ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A2FE1DE0-3C0F-7AF2-BBE1-4027CD888FEE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12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62FDBADD-73F8-D60A-3A26-3EA542880A59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Thiết Lập Các Giả Thiết Về Xu Hướng Di Cư Thuần Nội Địa Và Quốc Tế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26727AEC-5297-1468-B109-3CCB6A09E2BF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5B18CDC-ACA0-21F0-AD07-392C539162E0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F892DF2-3DF5-E827-D369-F341646D7F92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821FD16-F26D-6FB5-4E3F-853C92C98E02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05AAA6B7-FA59-71E2-C889-B59607999CC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EA2561E-1306-06C4-8883-6713E9B1B5BF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it-IT" b="1">
                  <a:solidFill>
                    <a:srgbClr val="0F172A"/>
                  </a:solidFill>
                  <a:latin typeface="Segoe UI" panose="020B0502040204020203" pitchFamily="34" charset="0"/>
                </a:rPr>
                <a:t>Di Cư Thuần Quốc Tế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Quy ước mức di cư thuần quốc tế âm nhẹ (khoảng -50,000 người/năm) do số lượng đi lao động và định cư ở nước ngoài.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16AC2762-6CE2-D3C6-7811-7F47330ABE1F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32B3EE3-A64B-17B8-6840-E72525E3DFF8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48E4481-6ADD-AB9D-C2E7-A3F932139C08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2D76872-489C-B070-463F-6BA40AFE792E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3768489-5D46-F5F4-F42C-4F39F49204F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E7EFBBC-986A-DD33-1524-52BDA4BA46FE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190911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vi-VN" b="1">
                  <a:solidFill>
                    <a:srgbClr val="0F172A"/>
                  </a:solidFill>
                  <a:latin typeface="Segoe UI" panose="020B0502040204020203" pitchFamily="34" charset="0"/>
                </a:rPr>
                <a:t>Di Cư Nội Địa Giữa Các Tỉnh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Xu hướng dòng di cư tiếp tục đổ về Đông Nam Bộ và Đồng bằng sông Hồng nhưng tốc độ có xu hướng chậm lại do lan tỏa khu công nghiệp.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4856BECE-9A03-64DB-1298-5219D067D8D5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2DE504F-29CB-8C32-D7AD-823178004773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C90AD0F-7469-1531-835C-FE089B422961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F528A2D-9CCB-5E9D-D375-13C60F575073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514BEA98-4594-1A2C-0D73-7D9838FCBB2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DB7842B-A921-F298-E3BE-061E0096FAD2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Tác Động Của Biến Đổi Khí Hậu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Tình trạng xâm nhập mặn và sạt lở tại Đồng bằng sông Cửu Long có thể tạo ra làn sóng di cư khí hậu mới về các đô thị lớn.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9AAFF37B-E949-E531-FCC6-37D32E5BFA59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Dự báo di cư trong quy hoạch tổng thể quốc gia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3831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4CE95301-A765-0B9B-6539-360FF7F20CED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ỨNG DỤNG TĐT 2019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521C0DC7-9640-716E-C496-4C1915338DEF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13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903A898F-5BBF-0EA0-9BCA-E9A6799E7381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Ứng Dụng Phương Pháp Thành Phần Trong Dự Báo Dân Số Việt Nam 2019 - 2069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75EC528E-5CA2-9D56-5718-6C47FA9EF694}"/>
              </a:ext>
            </a:extLst>
          </p:cNvPr>
          <p:cNvGrpSpPr/>
          <p:nvPr/>
        </p:nvGrpSpPr>
        <p:grpSpPr>
          <a:xfrm>
            <a:off x="609600" y="1676400"/>
            <a:ext cx="6035040" cy="4521200"/>
            <a:chOff x="609600" y="1676400"/>
            <a:chExt cx="603504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525B2A32-C5ED-3511-A069-F21AA5664841}"/>
                </a:ext>
              </a:extLst>
            </p:cNvPr>
            <p:cNvSpPr/>
            <p:nvPr/>
          </p:nvSpPr>
          <p:spPr>
            <a:xfrm>
              <a:off x="609600" y="1676400"/>
              <a:ext cx="6035040" cy="45212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F8BA196-9D81-359C-E5AF-35420435530B}"/>
                </a:ext>
              </a:extLst>
            </p:cNvPr>
            <p:cNvSpPr/>
            <p:nvPr/>
          </p:nvSpPr>
          <p:spPr>
            <a:xfrm>
              <a:off x="863600" y="1905000"/>
              <a:ext cx="1524000" cy="2794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TÂM CỐT LÕI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669BC4D-D1CE-C347-C025-5130F1393515}"/>
                </a:ext>
              </a:extLst>
            </p:cNvPr>
            <p:cNvSpPr/>
            <p:nvPr/>
          </p:nvSpPr>
          <p:spPr>
            <a:xfrm>
              <a:off x="863600" y="2286000"/>
              <a:ext cx="482600" cy="482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F548734A-D980-B6FA-229B-E6399F5B145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62200"/>
              <a:ext cx="330200" cy="330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49CBB3F-93A5-387A-7C73-182492ABE06E}"/>
                </a:ext>
              </a:extLst>
            </p:cNvPr>
            <p:cNvSpPr txBox="1"/>
            <p:nvPr/>
          </p:nvSpPr>
          <p:spPr>
            <a:xfrm>
              <a:off x="863600" y="2870200"/>
              <a:ext cx="5527040" cy="1489447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000"/>
                </a:spcAft>
              </a:pPr>
              <a:r>
                <a:rPr lang="en-US" sz="2000" b="1">
                  <a:solidFill>
                    <a:srgbClr val="0F172A"/>
                  </a:solidFill>
                  <a:latin typeface="Segoe UI" panose="020B0502040204020203" pitchFamily="34" charset="0"/>
                </a:rPr>
                <a:t>Dân Số Gốc Chuẩn Hóa 2019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Tổng số 96,208,984 người tại thời điểm 0h ngày 1/4/2019, được chia chi tiết theo 63 tỉnh thành và từng nhóm tuổi đơn lẻ.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AF6B2C7A-6AB6-C96F-A556-6667BF5FD849}"/>
              </a:ext>
            </a:extLst>
          </p:cNvPr>
          <p:cNvGrpSpPr/>
          <p:nvPr/>
        </p:nvGrpSpPr>
        <p:grpSpPr>
          <a:xfrm>
            <a:off x="6873240" y="1676400"/>
            <a:ext cx="4709160" cy="2171700"/>
            <a:chOff x="6873240" y="1676400"/>
            <a:chExt cx="4709160" cy="21717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36E7CAA-3F12-1E0C-E174-F6E6894B3AAB}"/>
                </a:ext>
              </a:extLst>
            </p:cNvPr>
            <p:cNvSpPr/>
            <p:nvPr/>
          </p:nvSpPr>
          <p:spPr>
            <a:xfrm>
              <a:off x="6873240" y="1676400"/>
              <a:ext cx="4709160" cy="21717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43CB2BD-5A6B-40EE-ECC2-B9D6AC377B9A}"/>
                </a:ext>
              </a:extLst>
            </p:cNvPr>
            <p:cNvSpPr/>
            <p:nvPr/>
          </p:nvSpPr>
          <p:spPr>
            <a:xfrm>
              <a:off x="7076440" y="1854200"/>
              <a:ext cx="10795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ĐIỂM 01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A40444FA-DDA3-7E44-37AB-281753FD5729}"/>
                </a:ext>
              </a:extLst>
            </p:cNvPr>
            <p:cNvSpPr/>
            <p:nvPr/>
          </p:nvSpPr>
          <p:spPr>
            <a:xfrm>
              <a:off x="7076440" y="21844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C2B8387-1708-0059-F272-9C4A54CC26D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39940" y="22479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AA11193-44D5-6120-9C28-4F1DE77C7E3D}"/>
                </a:ext>
              </a:extLst>
            </p:cNvPr>
            <p:cNvSpPr txBox="1"/>
            <p:nvPr/>
          </p:nvSpPr>
          <p:spPr>
            <a:xfrm>
              <a:off x="7609840" y="21082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Công Cụ Phần Mềm Quốc Tế
</a:t>
              </a:r>
              <a:r>
                <a:rPr lang="en-US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Sử dụng bộ phần mềm Spectrum (DemProj) và R chuyên dụng để tính toán chuyển dịch nhân khẩu học đồng bộ.</a:t>
              </a: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BC3EBD4D-AB77-7EDD-7F36-EA364D789A71}"/>
              </a:ext>
            </a:extLst>
          </p:cNvPr>
          <p:cNvGrpSpPr/>
          <p:nvPr/>
        </p:nvGrpSpPr>
        <p:grpSpPr>
          <a:xfrm>
            <a:off x="6873240" y="4025900"/>
            <a:ext cx="4709160" cy="2171700"/>
            <a:chOff x="6873240" y="4025900"/>
            <a:chExt cx="4709160" cy="21717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D5C723A-81A3-89D6-3BAE-1034922D6013}"/>
                </a:ext>
              </a:extLst>
            </p:cNvPr>
            <p:cNvSpPr/>
            <p:nvPr/>
          </p:nvSpPr>
          <p:spPr>
            <a:xfrm>
              <a:off x="6873240" y="4025900"/>
              <a:ext cx="4709160" cy="21717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8AE608EE-7780-FD39-0E15-1E6674C267A2}"/>
                </a:ext>
              </a:extLst>
            </p:cNvPr>
            <p:cNvSpPr/>
            <p:nvPr/>
          </p:nvSpPr>
          <p:spPr>
            <a:xfrm>
              <a:off x="7076440" y="4203700"/>
              <a:ext cx="10795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ĐIỂM 02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ACE3087-F021-486C-1B31-C33A906EE6AB}"/>
                </a:ext>
              </a:extLst>
            </p:cNvPr>
            <p:cNvSpPr/>
            <p:nvPr/>
          </p:nvSpPr>
          <p:spPr>
            <a:xfrm>
              <a:off x="7076440" y="45339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4D75EC3E-976E-F7B9-5DA0-55EDFBE0407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39940" y="45974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CC92123-5EE7-02EA-B73F-EC3BAB83521E}"/>
                </a:ext>
              </a:extLst>
            </p:cNvPr>
            <p:cNvSpPr txBox="1"/>
            <p:nvPr/>
          </p:nvSpPr>
          <p:spPr>
            <a:xfrm>
              <a:off x="7609840" y="44577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Bàn Giao Cho Các Bộ Ngành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Bộ số liệu được chuyển giao chính thức cho Bộ Kế hoạch &amp; Đầu tư, Bộ GD&amp;ĐT, Bộ Y tế để làm cơ sở quy hoạch ngành.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C4F64BB3-9472-C6B7-FFFE-93C80E7C6694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Ấn phẩm Dự báo Dân số Việt Nam giai đoạn 2019-2069 (GSO &amp; UNFPA)</a:t>
            </a:r>
          </a:p>
        </p:txBody>
      </p:sp>
    </p:spTree>
    <p:extLst>
      <p:ext uri="{BB962C8B-B14F-4D97-AF65-F5344CB8AC3E}">
        <p14:creationId xmlns:p14="http://schemas.microsoft.com/office/powerpoint/2010/main" val="11470063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D1F1EB3B-2D0E-CB51-EF75-ADBB0BA60BE1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BA KỊCH BẢN QUY MÔ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583B7548-B2FA-8C70-1AD6-5EEE945709F0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14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2BB2065B-19E9-C941-34C1-8512EB31712A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Ba Kịch Bản Dự Báo Quy Mô Dân Số Việt Nam: Thấp, Trung Bình Và Cao</a:t>
            </a: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D94D6DC6-2867-BCF2-0A6D-E0F9EE41543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E9F25380-7FB3-A143-37E8-9920B0FA6284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5C5A75E-DC7B-D6DB-05AD-67552F5AEEAE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23C8CD1-47FD-F05A-72EF-15EB6DEE6666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01F8A0D3-FE6E-263A-B5E3-E579B99DC66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84A81B8-3D3E-13CB-EAAD-35C37597FE09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Kịch Bản Thấp: Đạt Đỉnh 107 Triệu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Nếu mức sinh giảm sâu như Hàn Quốc, dân số sẽ đạt đỉnh vào năm 2044 với 107 triệu dân rồi giảm nhanh xuống 95 triệu vào 2069.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E04B0AB5-0AF4-C24A-5DAD-841B53057700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2C9F0FE-EF85-A3CD-6D11-DD4E1E7D8E04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41AE860-7644-3759-AAC8-5ED9CE3FB42C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3B49816-D764-B2F3-63A6-8F20F0F5036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2AA1100-63B0-390C-2C18-30A5C87CC359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Kịch Bản Trung Bình: Đỉnh 117 Triệu
</a:t>
              </a:r>
              <a:r>
                <a:rPr lang="en-US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Kịch bản chuẩn: dân số đạt đỉnh vào năm 2054 với 117.7 triệu dân, sau đó giảm nhẹ và duy trì ổn định quanh 110 triệu.</a:t>
              </a: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81C5CAFD-7D8B-ED72-B7C7-3BAEF98D86BA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295E571-6707-E2BC-EAE0-715627A391C0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4B42295-F069-B472-3B08-1A4DFAB8F2DF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ABF219CB-EF21-109A-028C-9D5BB38E348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1F47CF4-B767-1891-3D3F-678AD4DD24BE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Kịch Bản Cao: Tăng Đến 125 Triệu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Nếu mức sinh hồi phục trên mức thay thế, quy mô dân số sẽ duy trì đà tăng trưởng và đạt 125 triệu người vào năm 2069.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4C0824E4-8F0D-CC7B-BB12-103D6D285E15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Dự báo Dân số Việt Nam 2019-2069 - Tổng cục Thống kê</a:t>
            </a:r>
          </a:p>
        </p:txBody>
      </p:sp>
    </p:spTree>
    <p:extLst>
      <p:ext uri="{BB962C8B-B14F-4D97-AF65-F5344CB8AC3E}">
        <p14:creationId xmlns:p14="http://schemas.microsoft.com/office/powerpoint/2010/main" val="35888313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EE8C1D99-3FA1-F023-A53E-8E4A272618EB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THỜI ĐIỂM ĐẠT ĐỈNH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3FAF14F0-A751-675F-8960-4817CE243AAD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15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32E00203-61E3-3B94-B065-61BDA70F3652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Thời Điểm Dân Số Đạt Đỉnh (Peak Population) Và Giai Đoạn Thu Hẹp Quy Mô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6D0C2559-B549-69FB-7D64-6DAC13FB06B9}"/>
              </a:ext>
            </a:extLst>
          </p:cNvPr>
          <p:cNvGrpSpPr/>
          <p:nvPr/>
        </p:nvGrpSpPr>
        <p:grpSpPr>
          <a:xfrm>
            <a:off x="609600" y="1676400"/>
            <a:ext cx="6035040" cy="4521200"/>
            <a:chOff x="609600" y="1676400"/>
            <a:chExt cx="603504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F276EF3-7281-1EA7-52CC-75BE11D93600}"/>
                </a:ext>
              </a:extLst>
            </p:cNvPr>
            <p:cNvSpPr/>
            <p:nvPr/>
          </p:nvSpPr>
          <p:spPr>
            <a:xfrm>
              <a:off x="609600" y="1676400"/>
              <a:ext cx="6035040" cy="45212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F9A008F-879A-F7C5-FC96-2B4FE91E1EF9}"/>
                </a:ext>
              </a:extLst>
            </p:cNvPr>
            <p:cNvSpPr/>
            <p:nvPr/>
          </p:nvSpPr>
          <p:spPr>
            <a:xfrm>
              <a:off x="863600" y="1905000"/>
              <a:ext cx="1524000" cy="2794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TÂM CỐT LÕI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3266BC3-0CA2-EFB1-4517-FCFE47A40249}"/>
                </a:ext>
              </a:extLst>
            </p:cNvPr>
            <p:cNvSpPr/>
            <p:nvPr/>
          </p:nvSpPr>
          <p:spPr>
            <a:xfrm>
              <a:off x="863600" y="2286000"/>
              <a:ext cx="482600" cy="482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4C7D31B-8FCD-67E5-5A71-A3A49795809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62200"/>
              <a:ext cx="330200" cy="330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2ECFFC6-DB05-4651-FF77-410DA682C260}"/>
                </a:ext>
              </a:extLst>
            </p:cNvPr>
            <p:cNvSpPr txBox="1"/>
            <p:nvPr/>
          </p:nvSpPr>
          <p:spPr>
            <a:xfrm>
              <a:off x="863600" y="2870200"/>
              <a:ext cx="5527040" cy="1489447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000"/>
                </a:spcAft>
              </a:pPr>
              <a:r>
                <a:rPr lang="vi-VN" sz="2000" b="1">
                  <a:solidFill>
                    <a:srgbClr val="0F172A"/>
                  </a:solidFill>
                  <a:latin typeface="Segoe UI" panose="020B0502040204020203" pitchFamily="34" charset="0"/>
                </a:rPr>
                <a:t>Hiện Tượng Số Chết Vượt Số Sinh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Từ sau năm 2054, số người cao tuổi tử vong mỗi năm sẽ vượt quá số trẻ sơ sinh chào đời, dẫn tới mức tăng tự nhiên âm (NIR &lt; 0).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F5307808-E9BF-7EF3-3C83-F87E5126346B}"/>
              </a:ext>
            </a:extLst>
          </p:cNvPr>
          <p:cNvGrpSpPr/>
          <p:nvPr/>
        </p:nvGrpSpPr>
        <p:grpSpPr>
          <a:xfrm>
            <a:off x="6873240" y="1676400"/>
            <a:ext cx="4709160" cy="2171700"/>
            <a:chOff x="6873240" y="1676400"/>
            <a:chExt cx="4709160" cy="21717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B649453-66C8-ABAC-628B-6B74B612E42E}"/>
                </a:ext>
              </a:extLst>
            </p:cNvPr>
            <p:cNvSpPr/>
            <p:nvPr/>
          </p:nvSpPr>
          <p:spPr>
            <a:xfrm>
              <a:off x="6873240" y="1676400"/>
              <a:ext cx="4709160" cy="21717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45ADFB6-5E11-EC13-C2C0-9C120227A123}"/>
                </a:ext>
              </a:extLst>
            </p:cNvPr>
            <p:cNvSpPr/>
            <p:nvPr/>
          </p:nvSpPr>
          <p:spPr>
            <a:xfrm>
              <a:off x="7076440" y="1854200"/>
              <a:ext cx="10795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ĐIỂM 01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3DF90D2-5F29-AB23-77A5-448E7B71D4FA}"/>
                </a:ext>
              </a:extLst>
            </p:cNvPr>
            <p:cNvSpPr/>
            <p:nvPr/>
          </p:nvSpPr>
          <p:spPr>
            <a:xfrm>
              <a:off x="7076440" y="21844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26BE3248-3FF6-0E02-13BA-753F9421C4D9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39940" y="22479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B61F494-7350-F0FF-3607-93D591C19547}"/>
                </a:ext>
              </a:extLst>
            </p:cNvPr>
            <p:cNvSpPr txBox="1"/>
            <p:nvPr/>
          </p:nvSpPr>
          <p:spPr>
            <a:xfrm>
              <a:off x="7609840" y="2108200"/>
              <a:ext cx="3820160" cy="1451679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Thay Đổi Căn Bản Mô Hình Tăng Trưởng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Kinh tế không thể tiếp tục dựa vào việc mở rộng thâm dụng lao động mà bắt buộc phải chuyển sang tăng trưởng dựa vào đổi mới sáng tạo.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BFACA960-5E70-4499-6CB0-337895CF4814}"/>
              </a:ext>
            </a:extLst>
          </p:cNvPr>
          <p:cNvGrpSpPr/>
          <p:nvPr/>
        </p:nvGrpSpPr>
        <p:grpSpPr>
          <a:xfrm>
            <a:off x="6873240" y="4025900"/>
            <a:ext cx="4709160" cy="2171700"/>
            <a:chOff x="6873240" y="4025900"/>
            <a:chExt cx="4709160" cy="21717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C7A34308-1F5C-23D5-9C74-8825F5F45598}"/>
                </a:ext>
              </a:extLst>
            </p:cNvPr>
            <p:cNvSpPr/>
            <p:nvPr/>
          </p:nvSpPr>
          <p:spPr>
            <a:xfrm>
              <a:off x="6873240" y="4025900"/>
              <a:ext cx="4709160" cy="21717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2A0CFA14-9809-86AD-3370-48DB4B96BB7D}"/>
                </a:ext>
              </a:extLst>
            </p:cNvPr>
            <p:cNvSpPr/>
            <p:nvPr/>
          </p:nvSpPr>
          <p:spPr>
            <a:xfrm>
              <a:off x="7076440" y="4203700"/>
              <a:ext cx="10795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ĐIỂM 02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CA6416D-4028-DDC1-25AF-5DCC602A4D08}"/>
                </a:ext>
              </a:extLst>
            </p:cNvPr>
            <p:cNvSpPr/>
            <p:nvPr/>
          </p:nvSpPr>
          <p:spPr>
            <a:xfrm>
              <a:off x="7076440" y="45339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AFE828B6-8942-A269-AB42-E23483AFFD7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39940" y="45974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3C216F7-88D9-40A3-66B6-56978DF0F454}"/>
                </a:ext>
              </a:extLst>
            </p:cNvPr>
            <p:cNvSpPr txBox="1"/>
            <p:nvPr/>
          </p:nvSpPr>
          <p:spPr>
            <a:xfrm>
              <a:off x="7609840" y="44577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Chuẩn Bị Sớm Từ Hôm Nay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Khoảng đệm 30 năm (từ 2024 đến 2054) là cơ hội vàng duy nhất để đất nước tích lũy của cải trước khi dân số bắt đầu suy giảm.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B47109D7-08EF-97B4-2A3B-565E787F76FD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Nghiên cứu quá trình chuyển tiếp dân số Việt Nam</a:t>
            </a:r>
          </a:p>
        </p:txBody>
      </p:sp>
    </p:spTree>
    <p:extLst>
      <p:ext uri="{BB962C8B-B14F-4D97-AF65-F5344CB8AC3E}">
        <p14:creationId xmlns:p14="http://schemas.microsoft.com/office/powerpoint/2010/main" val="29052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BD4CF225-5934-8E91-812C-748DB02D28B1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DỰ BÁO CƠ CẤU TUỔI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AF9455B3-7B05-D02A-2875-AEB12E046B0A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16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AD7C9A37-9259-C7F3-D9B4-946F02F70430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Dự Báo Xu Hướng Biến Đổi Cơ Cấu Tuổi Và Tốc Độ Già Hóa Đến 2045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83FAD0CB-16D5-59B1-95FA-F6CA45639AE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FDE368C6-AA21-5CAF-7C4F-D14534015C57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5563B9E-3F44-4B6B-A1D2-FB36E82E392F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DE3950F-62E8-8421-AD36-27E7C4C87CAD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68B0DD53-CE57-6AC5-992A-D18C3172225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E545778-1DC2-2E7B-094E-83D1DCC9B289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2019: 8.3% Người Cao Tuổi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Toàn quốc có khoảng 8 triệu người từ 65 tuổi trở lên. Tỷ số phụ thuộc người già ADR mới ở mức xấp xỉ 12.2%.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0D694FDA-1D85-836B-80CE-0347DF2098C9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D89DD52-778D-AC19-4824-02DEDE786289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B30E6F9-0F52-2201-C0EF-A4BCDAD12E67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C30701D-4299-40D7-F3F0-E65EC159DEA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31DD9CC-4AC2-D646-E22B-0B177C9B97FB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2036: Chạm Ngưỡng Xã Hội Già (14%)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Việt Nam chính thức trở thành quốc gia 'dân số già' theo phân loại của Liên Hợp Quốc với hơn 15 triệu người già.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DB8600E5-A771-D1D6-6622-71ABDEDA822B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2E8B4E10-4BC6-5A3B-49EB-4170766CBCD5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A600A0F-F250-6038-02BD-9C0A72B8FDD2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794BED0A-0471-8A56-5325-7B86746CFA6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C12B4AB-A79E-2653-AFB7-BDDE66FE678B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1205458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2045: 18.0% Người Cao Tuổi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Cứ 5 người dân sẽ có 1 người cao tuổi; tỷ số phụ thuộc chung tăng vọt trở lại, chấm dứt cơ cấu dân số vàng khi quy mô lao động suy giảm.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93F66084-08DB-E426-177E-43DED7D77267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Báo cáo Già hóa Dân số Việt Nam - GSO &amp; UNFPA</a:t>
            </a:r>
          </a:p>
        </p:txBody>
      </p:sp>
    </p:spTree>
    <p:extLst>
      <p:ext uri="{BB962C8B-B14F-4D97-AF65-F5344CB8AC3E}">
        <p14:creationId xmlns:p14="http://schemas.microsoft.com/office/powerpoint/2010/main" val="25100046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01EA5FF3-EE44-B961-E6AF-295D02938187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KẾT THÚC DÂN SỐ VÀNG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F17FE082-27AC-6017-EC13-1F5BFEA57560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17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6A47378B-257C-3DEA-C9EB-BD7AB0A70CD1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Dự Báo Thu Hẹp Lực Lượng Lao Động Và Sự Kết Thúc Của Cơ Cấu Vàng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7F483E1C-86EA-4BE6-1658-FB644B0D1A1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EA941B0E-885F-DAA1-B58D-998C6911CB31}"/>
              </a:ext>
            </a:extLst>
          </p:cNvPr>
          <p:cNvGrpSpPr/>
          <p:nvPr/>
        </p:nvGrpSpPr>
        <p:grpSpPr>
          <a:xfrm>
            <a:off x="6644640" y="1676400"/>
            <a:ext cx="4937760" cy="2184400"/>
            <a:chOff x="6644640" y="1676400"/>
            <a:chExt cx="4937760" cy="21844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C5D7C35-9CAD-282E-3713-F28CD9B52597}"/>
                </a:ext>
              </a:extLst>
            </p:cNvPr>
            <p:cNvSpPr/>
            <p:nvPr/>
          </p:nvSpPr>
          <p:spPr>
            <a:xfrm>
              <a:off x="6644640" y="1676400"/>
              <a:ext cx="4937760" cy="218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F4625A7-9273-6AC0-CD6D-9C02B412EB45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4A6B015-CC2E-1616-9241-24459A53B08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650203F-1465-91B6-BD52-0877D3FFEAF7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Quy Mô Lao Động Đạt Đỉnh (2035)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Số người trong độ tuổi 15-64 sẽ đạt đỉnh khoảng 67.5 triệu người vào năm 2035, sau đó giảm dần đều cả về số lượng và tỷ trọng.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9A71A2FC-AAE5-91BA-B780-9A5749E069D0}"/>
              </a:ext>
            </a:extLst>
          </p:cNvPr>
          <p:cNvGrpSpPr/>
          <p:nvPr/>
        </p:nvGrpSpPr>
        <p:grpSpPr>
          <a:xfrm>
            <a:off x="6644640" y="4013200"/>
            <a:ext cx="4937760" cy="2184400"/>
            <a:chOff x="6644640" y="4013200"/>
            <a:chExt cx="4937760" cy="21844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5133CA2-8DCB-D9B6-9542-56E38DBDAD45}"/>
                </a:ext>
              </a:extLst>
            </p:cNvPr>
            <p:cNvSpPr/>
            <p:nvPr/>
          </p:nvSpPr>
          <p:spPr>
            <a:xfrm>
              <a:off x="6644640" y="4013200"/>
              <a:ext cx="4937760" cy="21844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52DC5CF-4D15-4A72-8558-47CC8D02D1E3}"/>
                </a:ext>
              </a:extLst>
            </p:cNvPr>
            <p:cNvSpPr/>
            <p:nvPr/>
          </p:nvSpPr>
          <p:spPr>
            <a:xfrm>
              <a:off x="6822440" y="41910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A7E5D00-CC32-0032-2209-CD20302DDD2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42545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D8E69EA-A7D5-0CEF-C536-7DA60E298C94}"/>
                </a:ext>
              </a:extLst>
            </p:cNvPr>
            <p:cNvSpPr txBox="1"/>
            <p:nvPr/>
          </p:nvSpPr>
          <p:spPr>
            <a:xfrm>
              <a:off x="7305040" y="41402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Thiếu Hụt Lao Động Trẻ Tuổi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Lực lượng lao động mới gia nhập (nhóm 15-24) suy giảm rõ rệt, buộc doanh nghiệp phải tự động hóa và tăng cường ứng dụng AI.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94AEA81F-FD85-C62B-F226-D3654007224B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Dự báo Lực lượng Lao động Việt Nam - Bộ Lao động - Thương binh &amp; Xã hội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7439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A24F29AF-5939-D432-F5C3-918162007AB9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ỨNG DỤNG QUY HOẠCH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1C4B0ADA-E5CA-0E0A-6595-8222A34CBED6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18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B4153325-6E2B-C943-B4CC-027BAB10E33E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Ứng Dụng Kết Quả Dự Báo Trong Quy Hoạch Giáo Dục, Y Tế Và Quỹ Hưu Trí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D847FFDD-9FBA-A4A0-34AD-73C4373FAB39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9D3C503-25F6-42B3-37D7-0FD6F733DD5B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CBD5E1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F9E911D-A1FD-D669-30E5-9779353E575E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D36CAD8-940F-82CC-6F93-52894DC3C18E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630D27B6-CA28-B194-B4BF-A3836B78E37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7D38626-4117-C9ED-4D8B-F9B7B059726B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95885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0F172A"/>
                  </a:solidFill>
                  <a:latin typeface="Segoe UI" panose="020B0502040204020203" pitchFamily="34" charset="0"/>
                </a:rPr>
                <a:t>Dự báo dân số là kim chỉ nam để phân bổ hàng triệu tỷ đồng vốn đầu tư công vào đúng các địa bàn và đối tượng thụ hưởng.</a:t>
              </a:r>
              <a:endParaRPr lang="en-US" sz="1250" b="1">
                <a:solidFill>
                  <a:srgbClr val="0F172A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87896177-4EDB-0FF9-66CC-9283C039E13D}"/>
              </a:ext>
            </a:extLst>
          </p:cNvPr>
          <p:cNvGrpSpPr/>
          <p:nvPr/>
        </p:nvGrpSpPr>
        <p:grpSpPr>
          <a:xfrm>
            <a:off x="6214872" y="1676400"/>
            <a:ext cx="5367528" cy="1405467"/>
            <a:chOff x="6214872" y="1676400"/>
            <a:chExt cx="5367528" cy="140546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8D839B6-E22C-6589-2FE5-BA7004ACDD99}"/>
                </a:ext>
              </a:extLst>
            </p:cNvPr>
            <p:cNvSpPr/>
            <p:nvPr/>
          </p:nvSpPr>
          <p:spPr>
            <a:xfrm>
              <a:off x="6214872" y="1676400"/>
              <a:ext cx="5367528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0542469-14C0-04CA-A495-83F2190D9062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83BE8E5-9FEB-6D15-9B67-3068A1E5327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C132A7C-AB9B-946E-6E61-E967AA643C14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1. Tái Cấu Trúc Ngành Giáo Dục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Quy mô học sinh tiểu học giảm dần do mức sinh giảm, chuyển nguồn lực từ xây thêm trường sang nâng cao chất lượng phòng học số.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EB6DB13A-2722-86C0-4785-7949511547E4}"/>
              </a:ext>
            </a:extLst>
          </p:cNvPr>
          <p:cNvGrpSpPr/>
          <p:nvPr/>
        </p:nvGrpSpPr>
        <p:grpSpPr>
          <a:xfrm>
            <a:off x="6214872" y="3234267"/>
            <a:ext cx="5367528" cy="1405466"/>
            <a:chOff x="6214872" y="3234267"/>
            <a:chExt cx="5367528" cy="140546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042FA03-B555-5E02-F9E3-F763B99F2658}"/>
                </a:ext>
              </a:extLst>
            </p:cNvPr>
            <p:cNvSpPr/>
            <p:nvPr/>
          </p:nvSpPr>
          <p:spPr>
            <a:xfrm>
              <a:off x="6214872" y="3234267"/>
              <a:ext cx="5367528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EC73168-6CD5-A822-1E8C-931B65DA651B}"/>
                </a:ext>
              </a:extLst>
            </p:cNvPr>
            <p:cNvSpPr/>
            <p:nvPr/>
          </p:nvSpPr>
          <p:spPr>
            <a:xfrm>
              <a:off x="6392672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66A12EEE-C3F1-45D1-FA5B-8342A6C2E47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3475567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02CDF1A-345B-3254-5E8F-2FE8A4E2F971}"/>
                </a:ext>
              </a:extLst>
            </p:cNvPr>
            <p:cNvSpPr txBox="1"/>
            <p:nvPr/>
          </p:nvSpPr>
          <p:spPr>
            <a:xfrm>
              <a:off x="6875272" y="3361267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2. Chuyển Đổi Trọng Tâm Y Tế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Mở rộng chuyên khoa lão khoa tại tất cả bệnh viện tỉnh, đào tạo bác sĩ gia đình và thành lập mạng lưới viện dưỡng lão.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30" name="!!Stage_Sub_Card_3">
            <a:extLst>
              <a:ext uri="{FF2B5EF4-FFF2-40B4-BE49-F238E27FC236}">
                <a16:creationId xmlns:a16="http://schemas.microsoft.com/office/drawing/2014/main" id="{A5DD6193-BF5F-C46A-0460-545E142A1B75}"/>
              </a:ext>
            </a:extLst>
          </p:cNvPr>
          <p:cNvGrpSpPr/>
          <p:nvPr/>
        </p:nvGrpSpPr>
        <p:grpSpPr>
          <a:xfrm>
            <a:off x="6214872" y="4792133"/>
            <a:ext cx="5367528" cy="1405467"/>
            <a:chOff x="6214872" y="4792133"/>
            <a:chExt cx="5367528" cy="140546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BAC8A2C-CFC5-EF50-88D9-A306BAC3682E}"/>
                </a:ext>
              </a:extLst>
            </p:cNvPr>
            <p:cNvSpPr/>
            <p:nvPr/>
          </p:nvSpPr>
          <p:spPr>
            <a:xfrm>
              <a:off x="6214872" y="4792133"/>
              <a:ext cx="5367528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B6D15D4-1079-C793-CB60-695ECA60169B}"/>
                </a:ext>
              </a:extLst>
            </p:cNvPr>
            <p:cNvSpPr/>
            <p:nvPr/>
          </p:nvSpPr>
          <p:spPr>
            <a:xfrm>
              <a:off x="6392672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C4833886-8FD7-A8A2-29F2-F07E8B7A1CB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5033433"/>
              <a:ext cx="254000" cy="254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D68C622-7866-5EC1-45F0-5AC040C81906}"/>
                </a:ext>
              </a:extLst>
            </p:cNvPr>
            <p:cNvSpPr txBox="1"/>
            <p:nvPr/>
          </p:nvSpPr>
          <p:spPr>
            <a:xfrm>
              <a:off x="6875272" y="4919133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3. Cân Đối Quỹ Bảo Hiểm Xã Hội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Điều chỉnh tuổi nghỉ hưu theo lộ trình và đa dạng hóa danh mục đầu tư quỹ hưu trí để bảo đảm an toàn chi trả dài hạn.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31" name="!!Anchor_Source_Footer">
            <a:extLst>
              <a:ext uri="{FF2B5EF4-FFF2-40B4-BE49-F238E27FC236}">
                <a16:creationId xmlns:a16="http://schemas.microsoft.com/office/drawing/2014/main" id="{5DEAFBFF-2C0B-B966-E335-823AF0AF4788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Quy hoạch phát triển kinh tế xã hội quốc gia</a:t>
            </a:r>
          </a:p>
        </p:txBody>
      </p:sp>
    </p:spTree>
    <p:extLst>
      <p:ext uri="{BB962C8B-B14F-4D97-AF65-F5344CB8AC3E}">
        <p14:creationId xmlns:p14="http://schemas.microsoft.com/office/powerpoint/2010/main" val="18351001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CBDB5A8C-9013-706D-C002-156767A9EB63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KHUYẾN NGHỊ 2045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EE3E3DFE-48AB-5653-4B0E-148DCEC53E5D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19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7B46B8A7-5CE3-E28D-137C-CABEEA191E51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Khuyến Nghị Chiến Lược Chủ Động Thích Ứng Cho Nhà Hoạch Định Đến 2045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0" name="!!Stage_Hero_Container">
            <a:extLst>
              <a:ext uri="{FF2B5EF4-FFF2-40B4-BE49-F238E27FC236}">
                <a16:creationId xmlns:a16="http://schemas.microsoft.com/office/drawing/2014/main" id="{2022BF2F-2DE9-19D3-1160-5B06ACC93F08}"/>
              </a:ext>
            </a:extLst>
          </p:cNvPr>
          <p:cNvGrpSpPr/>
          <p:nvPr/>
        </p:nvGrpSpPr>
        <p:grpSpPr>
          <a:xfrm>
            <a:off x="609600" y="1676400"/>
            <a:ext cx="3539067" cy="4521200"/>
            <a:chOff x="609600" y="1676400"/>
            <a:chExt cx="3539067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80DE4C8-EA45-A2B4-9A3B-38F12E3DC27E}"/>
                </a:ext>
              </a:extLst>
            </p:cNvPr>
            <p:cNvSpPr/>
            <p:nvPr/>
          </p:nvSpPr>
          <p:spPr>
            <a:xfrm>
              <a:off x="609600" y="1676400"/>
              <a:ext cx="3539067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7F112D7-280A-3166-B552-D4529ABF6148}"/>
                </a:ext>
              </a:extLst>
            </p:cNvPr>
            <p:cNvSpPr/>
            <p:nvPr/>
          </p:nvSpPr>
          <p:spPr>
            <a:xfrm>
              <a:off x="81280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0F172A"/>
                  </a:solidFill>
                  <a:latin typeface="Bahnschrift" panose="020B0502040204020203" pitchFamily="34" charset="0"/>
                </a:rPr>
                <a:t>01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E0EFF04-A877-C417-E692-606BA527EE4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66067" y="1879600"/>
              <a:ext cx="279400" cy="279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2EBD660-21F2-4EE9-A2C3-19C7001E23DD}"/>
                </a:ext>
              </a:extLst>
            </p:cNvPr>
            <p:cNvSpPr txBox="1"/>
            <p:nvPr/>
          </p:nvSpPr>
          <p:spPr>
            <a:xfrm>
              <a:off x="812800" y="2336800"/>
              <a:ext cx="3132667" cy="1615827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vi-VN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Nâng Cao Năng Suất Vượt Trội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Lấy năng suất lao động và đổi mới sáng tạo làm động lực cốt lõi để bù đắp sự suy giảm số lượng lực lượng lao động tương lai.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6" name="!!Stage_Sub_Card_1">
            <a:extLst>
              <a:ext uri="{FF2B5EF4-FFF2-40B4-BE49-F238E27FC236}">
                <a16:creationId xmlns:a16="http://schemas.microsoft.com/office/drawing/2014/main" id="{9AEAB433-0646-D4BF-8E7D-C8A3673EA856}"/>
              </a:ext>
            </a:extLst>
          </p:cNvPr>
          <p:cNvGrpSpPr/>
          <p:nvPr/>
        </p:nvGrpSpPr>
        <p:grpSpPr>
          <a:xfrm>
            <a:off x="4326467" y="1676400"/>
            <a:ext cx="3539066" cy="4521200"/>
            <a:chOff x="4326467" y="1676400"/>
            <a:chExt cx="3539066" cy="45212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951370AC-A3FE-9D33-4EA7-2032B56FBAD7}"/>
                </a:ext>
              </a:extLst>
            </p:cNvPr>
            <p:cNvSpPr/>
            <p:nvPr/>
          </p:nvSpPr>
          <p:spPr>
            <a:xfrm>
              <a:off x="4326467" y="1676400"/>
              <a:ext cx="3539066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D715951-B31E-2DA7-E5EE-BD8A76DFDCA3}"/>
                </a:ext>
              </a:extLst>
            </p:cNvPr>
            <p:cNvSpPr/>
            <p:nvPr/>
          </p:nvSpPr>
          <p:spPr>
            <a:xfrm>
              <a:off x="4529667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0F172A"/>
                  </a:solidFill>
                  <a:latin typeface="Bahnschrift" panose="020B0502040204020203" pitchFamily="34" charset="0"/>
                </a:rPr>
                <a:t>02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B2F78E33-10B9-126E-BBB0-17B72462713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82933" y="1879600"/>
              <a:ext cx="279400" cy="279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A0FF38B-E0CC-B51B-E677-B6AED8A4FC55}"/>
                </a:ext>
              </a:extLst>
            </p:cNvPr>
            <p:cNvSpPr txBox="1"/>
            <p:nvPr/>
          </p:nvSpPr>
          <p:spPr>
            <a:xfrm>
              <a:off x="4529667" y="2336800"/>
              <a:ext cx="3132667" cy="1615827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Kích Hoạt Kinh Tế Bạc (Silver Economy)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Biến già hóa từ gánh nặng thành cơ hội phát triển các ngành sản xuất thiết bị chăm sóc sức khỏe, bảo hiểm và du lịch nghỉ dưỡng.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2" name="!!Stage_Sub_Card_2">
            <a:extLst>
              <a:ext uri="{FF2B5EF4-FFF2-40B4-BE49-F238E27FC236}">
                <a16:creationId xmlns:a16="http://schemas.microsoft.com/office/drawing/2014/main" id="{262A1FAF-885C-8829-C2B8-A7246E76474B}"/>
              </a:ext>
            </a:extLst>
          </p:cNvPr>
          <p:cNvGrpSpPr/>
          <p:nvPr/>
        </p:nvGrpSpPr>
        <p:grpSpPr>
          <a:xfrm>
            <a:off x="8043333" y="1676400"/>
            <a:ext cx="3539067" cy="4521200"/>
            <a:chOff x="8043333" y="1676400"/>
            <a:chExt cx="3539067" cy="45212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A93B3FAC-F6DC-5E7F-0B85-177C6585A950}"/>
                </a:ext>
              </a:extLst>
            </p:cNvPr>
            <p:cNvSpPr/>
            <p:nvPr/>
          </p:nvSpPr>
          <p:spPr>
            <a:xfrm>
              <a:off x="8043333" y="1676400"/>
              <a:ext cx="3539067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33035F7-6467-9E13-5847-0B2FB2D54340}"/>
                </a:ext>
              </a:extLst>
            </p:cNvPr>
            <p:cNvSpPr/>
            <p:nvPr/>
          </p:nvSpPr>
          <p:spPr>
            <a:xfrm>
              <a:off x="8246533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0F172A"/>
                  </a:solidFill>
                  <a:latin typeface="Bahnschrift" panose="020B0502040204020203" pitchFamily="34" charset="0"/>
                </a:rPr>
                <a:t>03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ED2D5CCB-774A-487D-34E7-F5847602ED1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099800" y="1879600"/>
              <a:ext cx="279400" cy="279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AD19603-AE15-910E-DC3D-CE351EC7B417}"/>
                </a:ext>
              </a:extLst>
            </p:cNvPr>
            <p:cNvSpPr txBox="1"/>
            <p:nvPr/>
          </p:nvSpPr>
          <p:spPr>
            <a:xfrm>
              <a:off x="8246533" y="2336800"/>
              <a:ext cx="3132667" cy="1354217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Duy Trì Mức Sinh Bền Vững
</a:t>
              </a:r>
              <a:r>
                <a:rPr lang="en-US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Thực hiện đồng bộ các chính sách hỗ trợ tài chính, nhà ở và thai sản để các gia đình trẻ yên tâm sinh đủ hai con.</a:t>
              </a:r>
            </a:p>
          </p:txBody>
        </p:sp>
      </p:grpSp>
      <p:sp>
        <p:nvSpPr>
          <p:cNvPr id="23" name="!!Anchor_Source_Footer">
            <a:extLst>
              <a:ext uri="{FF2B5EF4-FFF2-40B4-BE49-F238E27FC236}">
                <a16:creationId xmlns:a16="http://schemas.microsoft.com/office/drawing/2014/main" id="{E014FD07-9A57-7830-D920-A4F322BFBEA6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Tầm nhìn Phát triển Quốc gia đến năm 2045</a:t>
            </a:r>
          </a:p>
        </p:txBody>
      </p:sp>
    </p:spTree>
    <p:extLst>
      <p:ext uri="{BB962C8B-B14F-4D97-AF65-F5344CB8AC3E}">
        <p14:creationId xmlns:p14="http://schemas.microsoft.com/office/powerpoint/2010/main" val="34292924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17149806-9953-940A-F41F-361C68E48CAA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TỔNG KẾT BÀI HỌC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AB556B83-594D-AE20-43B0-DB4D51560589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20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62141343-90B8-6537-BF1F-639988D64566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Tổng Kết Toàn Khóa Học Và Bài Tập Tình Huống Xây Dựng Kịch Bản Dự Báo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E4FC5771-5FF5-A55B-9B98-88F4C3A0FA8B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98EB4FB-3E1C-B05E-E77E-FE4562EBFE6F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B7DBCC7-05BA-FC51-2C14-EE6FB76B4EBD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828F2E6-39A4-F735-64F0-2EF509B1C981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739ECAE1-4390-EF59-7C93-595E8BFA8CF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AD937AE-0570-F564-4063-1704239C20DA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Bài Tập 1: Ngoại Suy Hàm Số
</a:t>
              </a:r>
              <a:r>
                <a:rPr lang="en-US" sz="1500">
                  <a:solidFill>
                    <a:srgbClr val="334155"/>
                  </a:solidFill>
                  <a:latin typeface="Segoe UI" panose="020B0502040204020203" pitchFamily="34" charset="0"/>
                </a:rPr>
                <a:t>Dùng số liệu dân số tỉnh X năm 2014 (1.2 tr) và 2024 (1.4 tr), áp dụng mô hình hàm mũ để dự báo dân số năm 2034.</a:t>
              </a: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61F72A65-C875-DBEB-7DD8-76AEA018D564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0C7D1A-4E12-3999-1471-DD4FBC257196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68E0D4-5ACD-B8C4-4479-29A74C747584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3406763-68FB-5381-75A5-EC155117AFFF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6A988C8-05C3-2387-4F87-90AD362A588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D6E6797-0260-3FC2-4AD1-464763ADCE60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Bài Tập 2: Xây Dựng Giả Thiết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Hãy xây dựng 3 kịch bản mức sinh (TFR) cho địa phương anh/chị đến năm 2035 dựa trên các yếu tố kinh tế xã hội thực tế.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B8E3EC53-A279-5938-FE9C-2ED5CDE75F6E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E93DF1A-F045-D099-F5CA-D19E2C92FB86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9325821-22C1-7CF0-095E-4998FD8FDD4F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594B044-837B-BD7A-DB86-86DB1B0CD562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52173A68-C576-DF4D-6289-F41E47CE497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9F79D29-BD68-F5A7-F2A3-D5B2124A7840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Thảo Luận Cuối Khóa 3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Đánh giá tác động của xu hướng già hóa dân số đến cân đối ngân sách chi trả an sinh xã hội tại địa phương đến năm 2045.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2E3B0BA7-3C87-76FB-1D34-B319A5221040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Tài liệu đào tạo Dân số học chuẩn quốc gia</a:t>
            </a:r>
          </a:p>
        </p:txBody>
      </p:sp>
    </p:spTree>
    <p:extLst>
      <p:ext uri="{BB962C8B-B14F-4D97-AF65-F5344CB8AC3E}">
        <p14:creationId xmlns:p14="http://schemas.microsoft.com/office/powerpoint/2010/main" val="157373161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3014</Words>
  <Application>Microsoft Office PowerPoint</Application>
  <PresentationFormat>Custom</PresentationFormat>
  <Paragraphs>157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Bahnschrift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 Ninh Bui</dc:creator>
  <cp:lastModifiedBy>Thanh Ninh Bui</cp:lastModifiedBy>
  <cp:revision>1</cp:revision>
  <dcterms:created xsi:type="dcterms:W3CDTF">2026-09-18T09:17:59Z</dcterms:created>
  <dcterms:modified xsi:type="dcterms:W3CDTF">2026-09-18T09:17:59Z</dcterms:modified>
</cp:coreProperties>
</file>