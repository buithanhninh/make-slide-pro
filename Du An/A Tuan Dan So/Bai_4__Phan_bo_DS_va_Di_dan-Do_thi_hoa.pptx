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CA31A-6662-A0D6-D2CC-A296683B87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DFCBF3-580A-DA4B-06B4-D40D070860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FE072A-CAD6-4BBE-446C-7A51A047C0ED}"/>
              </a:ext>
            </a:extLst>
          </p:cNvPr>
          <p:cNvSpPr>
            <a:spLocks noGrp="1"/>
          </p:cNvSpPr>
          <p:nvPr>
            <p:ph type="dt" sz="half" idx="10"/>
          </p:nvPr>
        </p:nvSpPr>
        <p:spPr/>
        <p:txBody>
          <a:bodyPr/>
          <a:lstStyle/>
          <a:p>
            <a:fld id="{541B352C-FCDB-4F06-A7D3-409867914CE3}" type="datetimeFigureOut">
              <a:rPr lang="en-US" smtClean="0"/>
              <a:t>9/18/2026</a:t>
            </a:fld>
            <a:endParaRPr lang="en-US"/>
          </a:p>
        </p:txBody>
      </p:sp>
      <p:sp>
        <p:nvSpPr>
          <p:cNvPr id="5" name="Footer Placeholder 4">
            <a:extLst>
              <a:ext uri="{FF2B5EF4-FFF2-40B4-BE49-F238E27FC236}">
                <a16:creationId xmlns:a16="http://schemas.microsoft.com/office/drawing/2014/main" id="{7398370C-CD53-8698-E537-2DF4905FE8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3336C8-AB1E-3AC6-7B61-70B192AC4216}"/>
              </a:ext>
            </a:extLst>
          </p:cNvPr>
          <p:cNvSpPr>
            <a:spLocks noGrp="1"/>
          </p:cNvSpPr>
          <p:nvPr>
            <p:ph type="sldNum" sz="quarter" idx="12"/>
          </p:nvPr>
        </p:nvSpPr>
        <p:spPr/>
        <p:txBody>
          <a:bodyPr/>
          <a:lstStyle/>
          <a:p>
            <a:fld id="{294F4CA0-1BF2-4840-8000-B204279B6B93}" type="slidenum">
              <a:rPr lang="en-US" smtClean="0"/>
              <a:t>‹#›</a:t>
            </a:fld>
            <a:endParaRPr lang="en-US"/>
          </a:p>
        </p:txBody>
      </p:sp>
    </p:spTree>
    <p:extLst>
      <p:ext uri="{BB962C8B-B14F-4D97-AF65-F5344CB8AC3E}">
        <p14:creationId xmlns:p14="http://schemas.microsoft.com/office/powerpoint/2010/main" val="1357053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D4BD9-D134-C903-4455-DF7A79D8FB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6D66DE-5362-DE37-766D-D69C89FAEC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E61998-512C-309B-016F-3193C0B303E3}"/>
              </a:ext>
            </a:extLst>
          </p:cNvPr>
          <p:cNvSpPr>
            <a:spLocks noGrp="1"/>
          </p:cNvSpPr>
          <p:nvPr>
            <p:ph type="dt" sz="half" idx="10"/>
          </p:nvPr>
        </p:nvSpPr>
        <p:spPr/>
        <p:txBody>
          <a:bodyPr/>
          <a:lstStyle/>
          <a:p>
            <a:fld id="{541B352C-FCDB-4F06-A7D3-409867914CE3}" type="datetimeFigureOut">
              <a:rPr lang="en-US" smtClean="0"/>
              <a:t>9/18/2026</a:t>
            </a:fld>
            <a:endParaRPr lang="en-US"/>
          </a:p>
        </p:txBody>
      </p:sp>
      <p:sp>
        <p:nvSpPr>
          <p:cNvPr id="5" name="Footer Placeholder 4">
            <a:extLst>
              <a:ext uri="{FF2B5EF4-FFF2-40B4-BE49-F238E27FC236}">
                <a16:creationId xmlns:a16="http://schemas.microsoft.com/office/drawing/2014/main" id="{360B1B9F-0439-9C24-A277-B569B3B2FB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7FEAB0-EE11-FD0E-C543-148F0B909621}"/>
              </a:ext>
            </a:extLst>
          </p:cNvPr>
          <p:cNvSpPr>
            <a:spLocks noGrp="1"/>
          </p:cNvSpPr>
          <p:nvPr>
            <p:ph type="sldNum" sz="quarter" idx="12"/>
          </p:nvPr>
        </p:nvSpPr>
        <p:spPr/>
        <p:txBody>
          <a:bodyPr/>
          <a:lstStyle/>
          <a:p>
            <a:fld id="{294F4CA0-1BF2-4840-8000-B204279B6B93}" type="slidenum">
              <a:rPr lang="en-US" smtClean="0"/>
              <a:t>‹#›</a:t>
            </a:fld>
            <a:endParaRPr lang="en-US"/>
          </a:p>
        </p:txBody>
      </p:sp>
    </p:spTree>
    <p:extLst>
      <p:ext uri="{BB962C8B-B14F-4D97-AF65-F5344CB8AC3E}">
        <p14:creationId xmlns:p14="http://schemas.microsoft.com/office/powerpoint/2010/main" val="3553394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A0892-4C87-68FB-AFA6-21C265CF10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606DB4-EBA4-04A1-1A0A-44447B38B1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926097-4E23-74A6-DDFB-BBD648ED844F}"/>
              </a:ext>
            </a:extLst>
          </p:cNvPr>
          <p:cNvSpPr>
            <a:spLocks noGrp="1"/>
          </p:cNvSpPr>
          <p:nvPr>
            <p:ph type="dt" sz="half" idx="10"/>
          </p:nvPr>
        </p:nvSpPr>
        <p:spPr/>
        <p:txBody>
          <a:bodyPr/>
          <a:lstStyle/>
          <a:p>
            <a:fld id="{541B352C-FCDB-4F06-A7D3-409867914CE3}" type="datetimeFigureOut">
              <a:rPr lang="en-US" smtClean="0"/>
              <a:t>9/18/2026</a:t>
            </a:fld>
            <a:endParaRPr lang="en-US"/>
          </a:p>
        </p:txBody>
      </p:sp>
      <p:sp>
        <p:nvSpPr>
          <p:cNvPr id="5" name="Footer Placeholder 4">
            <a:extLst>
              <a:ext uri="{FF2B5EF4-FFF2-40B4-BE49-F238E27FC236}">
                <a16:creationId xmlns:a16="http://schemas.microsoft.com/office/drawing/2014/main" id="{5EF69DF7-3D01-03A8-E36C-B0CC4A9A52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288F81-56F8-E29A-F064-15AFE2F0AFAF}"/>
              </a:ext>
            </a:extLst>
          </p:cNvPr>
          <p:cNvSpPr>
            <a:spLocks noGrp="1"/>
          </p:cNvSpPr>
          <p:nvPr>
            <p:ph type="sldNum" sz="quarter" idx="12"/>
          </p:nvPr>
        </p:nvSpPr>
        <p:spPr/>
        <p:txBody>
          <a:bodyPr/>
          <a:lstStyle/>
          <a:p>
            <a:fld id="{294F4CA0-1BF2-4840-8000-B204279B6B93}" type="slidenum">
              <a:rPr lang="en-US" smtClean="0"/>
              <a:t>‹#›</a:t>
            </a:fld>
            <a:endParaRPr lang="en-US"/>
          </a:p>
        </p:txBody>
      </p:sp>
    </p:spTree>
    <p:extLst>
      <p:ext uri="{BB962C8B-B14F-4D97-AF65-F5344CB8AC3E}">
        <p14:creationId xmlns:p14="http://schemas.microsoft.com/office/powerpoint/2010/main" val="3110688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6CC0B-D08C-6F6B-03EF-50554D91A5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68292F-0E82-FF63-3462-317BA1BE5C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E3C2D3-DE0C-D061-79C3-659306E916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A7860B-D0BC-E263-A0CA-FA2C21EF8BF5}"/>
              </a:ext>
            </a:extLst>
          </p:cNvPr>
          <p:cNvSpPr>
            <a:spLocks noGrp="1"/>
          </p:cNvSpPr>
          <p:nvPr>
            <p:ph type="dt" sz="half" idx="10"/>
          </p:nvPr>
        </p:nvSpPr>
        <p:spPr/>
        <p:txBody>
          <a:bodyPr/>
          <a:lstStyle/>
          <a:p>
            <a:fld id="{541B352C-FCDB-4F06-A7D3-409867914CE3}" type="datetimeFigureOut">
              <a:rPr lang="en-US" smtClean="0"/>
              <a:t>9/18/2026</a:t>
            </a:fld>
            <a:endParaRPr lang="en-US"/>
          </a:p>
        </p:txBody>
      </p:sp>
      <p:sp>
        <p:nvSpPr>
          <p:cNvPr id="6" name="Footer Placeholder 5">
            <a:extLst>
              <a:ext uri="{FF2B5EF4-FFF2-40B4-BE49-F238E27FC236}">
                <a16:creationId xmlns:a16="http://schemas.microsoft.com/office/drawing/2014/main" id="{E0C21A68-2D00-D1A9-0BEC-ED0FA2E080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3523A4-93DF-00D0-2328-B9A679D8F600}"/>
              </a:ext>
            </a:extLst>
          </p:cNvPr>
          <p:cNvSpPr>
            <a:spLocks noGrp="1"/>
          </p:cNvSpPr>
          <p:nvPr>
            <p:ph type="sldNum" sz="quarter" idx="12"/>
          </p:nvPr>
        </p:nvSpPr>
        <p:spPr/>
        <p:txBody>
          <a:bodyPr/>
          <a:lstStyle/>
          <a:p>
            <a:fld id="{294F4CA0-1BF2-4840-8000-B204279B6B93}" type="slidenum">
              <a:rPr lang="en-US" smtClean="0"/>
              <a:t>‹#›</a:t>
            </a:fld>
            <a:endParaRPr lang="en-US"/>
          </a:p>
        </p:txBody>
      </p:sp>
    </p:spTree>
    <p:extLst>
      <p:ext uri="{BB962C8B-B14F-4D97-AF65-F5344CB8AC3E}">
        <p14:creationId xmlns:p14="http://schemas.microsoft.com/office/powerpoint/2010/main" val="1919699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C7608-1466-19AA-77E0-CFD64418CC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6B529-6881-227F-74E8-F68F0D1DA7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E2F914-E2C2-DC3E-8B7C-F419F76A44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C532A1-6D34-FDC5-BB6D-F4C8FEE166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CA61C4-5B76-B697-D798-E9D2205E0E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010AB1-AB2F-AE13-DB63-758BBF286E9F}"/>
              </a:ext>
            </a:extLst>
          </p:cNvPr>
          <p:cNvSpPr>
            <a:spLocks noGrp="1"/>
          </p:cNvSpPr>
          <p:nvPr>
            <p:ph type="dt" sz="half" idx="10"/>
          </p:nvPr>
        </p:nvSpPr>
        <p:spPr/>
        <p:txBody>
          <a:bodyPr/>
          <a:lstStyle/>
          <a:p>
            <a:fld id="{541B352C-FCDB-4F06-A7D3-409867914CE3}" type="datetimeFigureOut">
              <a:rPr lang="en-US" smtClean="0"/>
              <a:t>9/18/2026</a:t>
            </a:fld>
            <a:endParaRPr lang="en-US"/>
          </a:p>
        </p:txBody>
      </p:sp>
      <p:sp>
        <p:nvSpPr>
          <p:cNvPr id="8" name="Footer Placeholder 7">
            <a:extLst>
              <a:ext uri="{FF2B5EF4-FFF2-40B4-BE49-F238E27FC236}">
                <a16:creationId xmlns:a16="http://schemas.microsoft.com/office/drawing/2014/main" id="{70C919DF-703E-2908-0ACA-DA38B93904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479BD8-D05B-F2CD-D334-B081503761B3}"/>
              </a:ext>
            </a:extLst>
          </p:cNvPr>
          <p:cNvSpPr>
            <a:spLocks noGrp="1"/>
          </p:cNvSpPr>
          <p:nvPr>
            <p:ph type="sldNum" sz="quarter" idx="12"/>
          </p:nvPr>
        </p:nvSpPr>
        <p:spPr/>
        <p:txBody>
          <a:bodyPr/>
          <a:lstStyle/>
          <a:p>
            <a:fld id="{294F4CA0-1BF2-4840-8000-B204279B6B93}" type="slidenum">
              <a:rPr lang="en-US" smtClean="0"/>
              <a:t>‹#›</a:t>
            </a:fld>
            <a:endParaRPr lang="en-US"/>
          </a:p>
        </p:txBody>
      </p:sp>
    </p:spTree>
    <p:extLst>
      <p:ext uri="{BB962C8B-B14F-4D97-AF65-F5344CB8AC3E}">
        <p14:creationId xmlns:p14="http://schemas.microsoft.com/office/powerpoint/2010/main" val="2229888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41A1-EB8E-C75F-D5FA-94C9D3974A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13121B-E6D6-2DD4-0957-ACDA70470BE0}"/>
              </a:ext>
            </a:extLst>
          </p:cNvPr>
          <p:cNvSpPr>
            <a:spLocks noGrp="1"/>
          </p:cNvSpPr>
          <p:nvPr>
            <p:ph type="dt" sz="half" idx="10"/>
          </p:nvPr>
        </p:nvSpPr>
        <p:spPr/>
        <p:txBody>
          <a:bodyPr/>
          <a:lstStyle/>
          <a:p>
            <a:fld id="{541B352C-FCDB-4F06-A7D3-409867914CE3}" type="datetimeFigureOut">
              <a:rPr lang="en-US" smtClean="0"/>
              <a:t>9/18/2026</a:t>
            </a:fld>
            <a:endParaRPr lang="en-US"/>
          </a:p>
        </p:txBody>
      </p:sp>
      <p:sp>
        <p:nvSpPr>
          <p:cNvPr id="4" name="Footer Placeholder 3">
            <a:extLst>
              <a:ext uri="{FF2B5EF4-FFF2-40B4-BE49-F238E27FC236}">
                <a16:creationId xmlns:a16="http://schemas.microsoft.com/office/drawing/2014/main" id="{01365800-323F-DF58-B532-7825C1522E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8E0A6F-22F9-8F90-805F-6C40A0164213}"/>
              </a:ext>
            </a:extLst>
          </p:cNvPr>
          <p:cNvSpPr>
            <a:spLocks noGrp="1"/>
          </p:cNvSpPr>
          <p:nvPr>
            <p:ph type="sldNum" sz="quarter" idx="12"/>
          </p:nvPr>
        </p:nvSpPr>
        <p:spPr/>
        <p:txBody>
          <a:bodyPr/>
          <a:lstStyle/>
          <a:p>
            <a:fld id="{294F4CA0-1BF2-4840-8000-B204279B6B93}" type="slidenum">
              <a:rPr lang="en-US" smtClean="0"/>
              <a:t>‹#›</a:t>
            </a:fld>
            <a:endParaRPr lang="en-US"/>
          </a:p>
        </p:txBody>
      </p:sp>
    </p:spTree>
    <p:extLst>
      <p:ext uri="{BB962C8B-B14F-4D97-AF65-F5344CB8AC3E}">
        <p14:creationId xmlns:p14="http://schemas.microsoft.com/office/powerpoint/2010/main" val="3285437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2157BF-068A-72E7-9020-A28359409FFB}"/>
              </a:ext>
            </a:extLst>
          </p:cNvPr>
          <p:cNvSpPr>
            <a:spLocks noGrp="1"/>
          </p:cNvSpPr>
          <p:nvPr>
            <p:ph type="dt" sz="half" idx="10"/>
          </p:nvPr>
        </p:nvSpPr>
        <p:spPr/>
        <p:txBody>
          <a:bodyPr/>
          <a:lstStyle/>
          <a:p>
            <a:fld id="{541B352C-FCDB-4F06-A7D3-409867914CE3}" type="datetimeFigureOut">
              <a:rPr lang="en-US" smtClean="0"/>
              <a:t>9/18/2026</a:t>
            </a:fld>
            <a:endParaRPr lang="en-US"/>
          </a:p>
        </p:txBody>
      </p:sp>
      <p:sp>
        <p:nvSpPr>
          <p:cNvPr id="3" name="Footer Placeholder 2">
            <a:extLst>
              <a:ext uri="{FF2B5EF4-FFF2-40B4-BE49-F238E27FC236}">
                <a16:creationId xmlns:a16="http://schemas.microsoft.com/office/drawing/2014/main" id="{81210941-E220-898E-18CD-C7B38191A0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4E2202-18A9-68E9-1891-42DBDA25E10A}"/>
              </a:ext>
            </a:extLst>
          </p:cNvPr>
          <p:cNvSpPr>
            <a:spLocks noGrp="1"/>
          </p:cNvSpPr>
          <p:nvPr>
            <p:ph type="sldNum" sz="quarter" idx="12"/>
          </p:nvPr>
        </p:nvSpPr>
        <p:spPr/>
        <p:txBody>
          <a:bodyPr/>
          <a:lstStyle/>
          <a:p>
            <a:fld id="{294F4CA0-1BF2-4840-8000-B204279B6B93}" type="slidenum">
              <a:rPr lang="en-US" smtClean="0"/>
              <a:t>‹#›</a:t>
            </a:fld>
            <a:endParaRPr lang="en-US"/>
          </a:p>
        </p:txBody>
      </p:sp>
    </p:spTree>
    <p:extLst>
      <p:ext uri="{BB962C8B-B14F-4D97-AF65-F5344CB8AC3E}">
        <p14:creationId xmlns:p14="http://schemas.microsoft.com/office/powerpoint/2010/main" val="3003240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013B7-0961-C756-988E-EBC9BB6F3C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FF3CDF-69E7-2411-EA42-DD4518D15C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084E5A-1AD1-FB62-2C7A-855C09152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EE4391-2726-A8E8-30DA-C00A797E1576}"/>
              </a:ext>
            </a:extLst>
          </p:cNvPr>
          <p:cNvSpPr>
            <a:spLocks noGrp="1"/>
          </p:cNvSpPr>
          <p:nvPr>
            <p:ph type="dt" sz="half" idx="10"/>
          </p:nvPr>
        </p:nvSpPr>
        <p:spPr/>
        <p:txBody>
          <a:bodyPr/>
          <a:lstStyle/>
          <a:p>
            <a:fld id="{541B352C-FCDB-4F06-A7D3-409867914CE3}" type="datetimeFigureOut">
              <a:rPr lang="en-US" smtClean="0"/>
              <a:t>9/18/2026</a:t>
            </a:fld>
            <a:endParaRPr lang="en-US"/>
          </a:p>
        </p:txBody>
      </p:sp>
      <p:sp>
        <p:nvSpPr>
          <p:cNvPr id="6" name="Footer Placeholder 5">
            <a:extLst>
              <a:ext uri="{FF2B5EF4-FFF2-40B4-BE49-F238E27FC236}">
                <a16:creationId xmlns:a16="http://schemas.microsoft.com/office/drawing/2014/main" id="{F8AAAA46-1635-6AFD-7F91-5071C85B9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CD9D21-9256-6D09-682F-4BCAA94CC79D}"/>
              </a:ext>
            </a:extLst>
          </p:cNvPr>
          <p:cNvSpPr>
            <a:spLocks noGrp="1"/>
          </p:cNvSpPr>
          <p:nvPr>
            <p:ph type="sldNum" sz="quarter" idx="12"/>
          </p:nvPr>
        </p:nvSpPr>
        <p:spPr/>
        <p:txBody>
          <a:bodyPr/>
          <a:lstStyle/>
          <a:p>
            <a:fld id="{294F4CA0-1BF2-4840-8000-B204279B6B93}" type="slidenum">
              <a:rPr lang="en-US" smtClean="0"/>
              <a:t>‹#›</a:t>
            </a:fld>
            <a:endParaRPr lang="en-US"/>
          </a:p>
        </p:txBody>
      </p:sp>
    </p:spTree>
    <p:extLst>
      <p:ext uri="{BB962C8B-B14F-4D97-AF65-F5344CB8AC3E}">
        <p14:creationId xmlns:p14="http://schemas.microsoft.com/office/powerpoint/2010/main" val="3724862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8819D-72BD-39AB-32C6-18B1B988F1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20F33C-DC15-C006-65C3-FA311F3BE1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191F42-4A5C-2BD7-75BA-1FC340AA80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5BFB01-E67E-4CDA-1E07-5E9FEFC53360}"/>
              </a:ext>
            </a:extLst>
          </p:cNvPr>
          <p:cNvSpPr>
            <a:spLocks noGrp="1"/>
          </p:cNvSpPr>
          <p:nvPr>
            <p:ph type="dt" sz="half" idx="10"/>
          </p:nvPr>
        </p:nvSpPr>
        <p:spPr/>
        <p:txBody>
          <a:bodyPr/>
          <a:lstStyle/>
          <a:p>
            <a:fld id="{541B352C-FCDB-4F06-A7D3-409867914CE3}" type="datetimeFigureOut">
              <a:rPr lang="en-US" smtClean="0"/>
              <a:t>9/18/2026</a:t>
            </a:fld>
            <a:endParaRPr lang="en-US"/>
          </a:p>
        </p:txBody>
      </p:sp>
      <p:sp>
        <p:nvSpPr>
          <p:cNvPr id="6" name="Footer Placeholder 5">
            <a:extLst>
              <a:ext uri="{FF2B5EF4-FFF2-40B4-BE49-F238E27FC236}">
                <a16:creationId xmlns:a16="http://schemas.microsoft.com/office/drawing/2014/main" id="{15589D74-482B-176D-8315-B9DBB60B4E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33DB2F-5640-9C3B-462B-84E394573579}"/>
              </a:ext>
            </a:extLst>
          </p:cNvPr>
          <p:cNvSpPr>
            <a:spLocks noGrp="1"/>
          </p:cNvSpPr>
          <p:nvPr>
            <p:ph type="sldNum" sz="quarter" idx="12"/>
          </p:nvPr>
        </p:nvSpPr>
        <p:spPr/>
        <p:txBody>
          <a:bodyPr/>
          <a:lstStyle/>
          <a:p>
            <a:fld id="{294F4CA0-1BF2-4840-8000-B204279B6B93}" type="slidenum">
              <a:rPr lang="en-US" smtClean="0"/>
              <a:t>‹#›</a:t>
            </a:fld>
            <a:endParaRPr lang="en-US"/>
          </a:p>
        </p:txBody>
      </p:sp>
    </p:spTree>
    <p:extLst>
      <p:ext uri="{BB962C8B-B14F-4D97-AF65-F5344CB8AC3E}">
        <p14:creationId xmlns:p14="http://schemas.microsoft.com/office/powerpoint/2010/main" val="3101639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DC27B-498F-0ED4-838E-6291260677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4212FC-95A5-3351-163E-ACD4B5B9A0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DA9E0A-E490-B186-87F8-9B7A1AE48971}"/>
              </a:ext>
            </a:extLst>
          </p:cNvPr>
          <p:cNvSpPr>
            <a:spLocks noGrp="1"/>
          </p:cNvSpPr>
          <p:nvPr>
            <p:ph type="dt" sz="half" idx="10"/>
          </p:nvPr>
        </p:nvSpPr>
        <p:spPr/>
        <p:txBody>
          <a:bodyPr/>
          <a:lstStyle/>
          <a:p>
            <a:fld id="{541B352C-FCDB-4F06-A7D3-409867914CE3}" type="datetimeFigureOut">
              <a:rPr lang="en-US" smtClean="0"/>
              <a:t>9/18/2026</a:t>
            </a:fld>
            <a:endParaRPr lang="en-US"/>
          </a:p>
        </p:txBody>
      </p:sp>
      <p:sp>
        <p:nvSpPr>
          <p:cNvPr id="5" name="Footer Placeholder 4">
            <a:extLst>
              <a:ext uri="{FF2B5EF4-FFF2-40B4-BE49-F238E27FC236}">
                <a16:creationId xmlns:a16="http://schemas.microsoft.com/office/drawing/2014/main" id="{A5CC61DA-C378-4274-EE59-5F7CA74D18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D409FF-DD2C-ECA1-7B81-0F527028F594}"/>
              </a:ext>
            </a:extLst>
          </p:cNvPr>
          <p:cNvSpPr>
            <a:spLocks noGrp="1"/>
          </p:cNvSpPr>
          <p:nvPr>
            <p:ph type="sldNum" sz="quarter" idx="12"/>
          </p:nvPr>
        </p:nvSpPr>
        <p:spPr/>
        <p:txBody>
          <a:bodyPr/>
          <a:lstStyle/>
          <a:p>
            <a:fld id="{294F4CA0-1BF2-4840-8000-B204279B6B93}" type="slidenum">
              <a:rPr lang="en-US" smtClean="0"/>
              <a:t>‹#›</a:t>
            </a:fld>
            <a:endParaRPr lang="en-US"/>
          </a:p>
        </p:txBody>
      </p:sp>
    </p:spTree>
    <p:extLst>
      <p:ext uri="{BB962C8B-B14F-4D97-AF65-F5344CB8AC3E}">
        <p14:creationId xmlns:p14="http://schemas.microsoft.com/office/powerpoint/2010/main" val="1209333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C51A8B-6BDE-8831-29B9-31EBE4751D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3D1961-0331-4AB9-1E75-BB88D0A341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BB5ED1-0A79-9BCD-9062-FCB9F3B5D711}"/>
              </a:ext>
            </a:extLst>
          </p:cNvPr>
          <p:cNvSpPr>
            <a:spLocks noGrp="1"/>
          </p:cNvSpPr>
          <p:nvPr>
            <p:ph type="dt" sz="half" idx="10"/>
          </p:nvPr>
        </p:nvSpPr>
        <p:spPr/>
        <p:txBody>
          <a:bodyPr/>
          <a:lstStyle/>
          <a:p>
            <a:fld id="{541B352C-FCDB-4F06-A7D3-409867914CE3}" type="datetimeFigureOut">
              <a:rPr lang="en-US" smtClean="0"/>
              <a:t>9/18/2026</a:t>
            </a:fld>
            <a:endParaRPr lang="en-US"/>
          </a:p>
        </p:txBody>
      </p:sp>
      <p:sp>
        <p:nvSpPr>
          <p:cNvPr id="5" name="Footer Placeholder 4">
            <a:extLst>
              <a:ext uri="{FF2B5EF4-FFF2-40B4-BE49-F238E27FC236}">
                <a16:creationId xmlns:a16="http://schemas.microsoft.com/office/drawing/2014/main" id="{A581CBE1-DEB9-0E5C-D7C6-90E8A348DD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7AED3A-1A27-1D8A-E8B4-534D19841754}"/>
              </a:ext>
            </a:extLst>
          </p:cNvPr>
          <p:cNvSpPr>
            <a:spLocks noGrp="1"/>
          </p:cNvSpPr>
          <p:nvPr>
            <p:ph type="sldNum" sz="quarter" idx="12"/>
          </p:nvPr>
        </p:nvSpPr>
        <p:spPr/>
        <p:txBody>
          <a:bodyPr/>
          <a:lstStyle/>
          <a:p>
            <a:fld id="{294F4CA0-1BF2-4840-8000-B204279B6B93}" type="slidenum">
              <a:rPr lang="en-US" smtClean="0"/>
              <a:t>‹#›</a:t>
            </a:fld>
            <a:endParaRPr lang="en-US"/>
          </a:p>
        </p:txBody>
      </p:sp>
    </p:spTree>
    <p:extLst>
      <p:ext uri="{BB962C8B-B14F-4D97-AF65-F5344CB8AC3E}">
        <p14:creationId xmlns:p14="http://schemas.microsoft.com/office/powerpoint/2010/main" val="127222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4CB3D9-9505-1E65-78C2-73F285A694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D5CD06-1588-179A-F512-3F5A4C1437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271E74-95DF-AF5E-E480-D0A98C9764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1B352C-FCDB-4F06-A7D3-409867914CE3}" type="datetimeFigureOut">
              <a:rPr lang="en-US" smtClean="0"/>
              <a:t>9/18/2026</a:t>
            </a:fld>
            <a:endParaRPr lang="en-US"/>
          </a:p>
        </p:txBody>
      </p:sp>
      <p:sp>
        <p:nvSpPr>
          <p:cNvPr id="5" name="Footer Placeholder 4">
            <a:extLst>
              <a:ext uri="{FF2B5EF4-FFF2-40B4-BE49-F238E27FC236}">
                <a16:creationId xmlns:a16="http://schemas.microsoft.com/office/drawing/2014/main" id="{E3522E17-8291-FA6E-1B1B-422224AB76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D886F44-07BF-A393-CC9B-4E4D88BDA0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4F4CA0-1BF2-4840-8000-B204279B6B93}" type="slidenum">
              <a:rPr lang="en-US" smtClean="0"/>
              <a:t>‹#›</a:t>
            </a:fld>
            <a:endParaRPr lang="en-US"/>
          </a:p>
        </p:txBody>
      </p:sp>
    </p:spTree>
    <p:extLst>
      <p:ext uri="{BB962C8B-B14F-4D97-AF65-F5344CB8AC3E}">
        <p14:creationId xmlns:p14="http://schemas.microsoft.com/office/powerpoint/2010/main" val="1322224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72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E4F7EC-42D6-2B4D-B794-707FCBB996C2}"/>
              </a:ext>
            </a:extLst>
          </p:cNvPr>
          <p:cNvSpPr/>
          <p:nvPr/>
        </p:nvSpPr>
        <p:spPr>
          <a:xfrm>
            <a:off x="609600" y="838200"/>
            <a:ext cx="609600" cy="635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DEB7327-B96A-61EA-D007-7756F1F0BF6A}"/>
              </a:ext>
            </a:extLst>
          </p:cNvPr>
          <p:cNvSpPr txBox="1"/>
          <p:nvPr/>
        </p:nvSpPr>
        <p:spPr>
          <a:xfrm>
            <a:off x="609600" y="1041400"/>
            <a:ext cx="5486400" cy="276999"/>
          </a:xfrm>
          <a:prstGeom prst="rect">
            <a:avLst/>
          </a:prstGeom>
          <a:noFill/>
        </p:spPr>
        <p:txBody>
          <a:bodyPr vert="horz" rtlCol="0">
            <a:spAutoFit/>
          </a:bodyPr>
          <a:lstStyle/>
          <a:p>
            <a:r>
              <a:rPr lang="vi-VN" sz="1200" b="1">
                <a:solidFill>
                  <a:srgbClr val="0D9488"/>
                </a:solidFill>
                <a:latin typeface="Segoe UI" panose="020B0502040204020203" pitchFamily="34" charset="0"/>
              </a:rPr>
              <a:t>CHƯƠNG TRÌNH ĐÀO TẠO DÂN SỐ HỌC  •  TỔNG QUAN CHUYÊN ĐỀ</a:t>
            </a:r>
            <a:endParaRPr lang="en-US" sz="1200" b="1">
              <a:solidFill>
                <a:srgbClr val="0D9488"/>
              </a:solidFill>
              <a:latin typeface="Segoe UI" panose="020B0502040204020203" pitchFamily="34" charset="0"/>
            </a:endParaRPr>
          </a:p>
        </p:txBody>
      </p:sp>
      <p:sp>
        <p:nvSpPr>
          <p:cNvPr id="4" name="TextBox 3">
            <a:extLst>
              <a:ext uri="{FF2B5EF4-FFF2-40B4-BE49-F238E27FC236}">
                <a16:creationId xmlns:a16="http://schemas.microsoft.com/office/drawing/2014/main" id="{290E7B99-067B-96C0-B902-CD4901F75628}"/>
              </a:ext>
            </a:extLst>
          </p:cNvPr>
          <p:cNvSpPr txBox="1"/>
          <p:nvPr/>
        </p:nvSpPr>
        <p:spPr>
          <a:xfrm>
            <a:off x="609600" y="1447800"/>
            <a:ext cx="5486400" cy="1138773"/>
          </a:xfrm>
          <a:prstGeom prst="rect">
            <a:avLst/>
          </a:prstGeom>
          <a:noFill/>
        </p:spPr>
        <p:txBody>
          <a:bodyPr vert="horz" wrap="square" lIns="0" rtlCol="0">
            <a:spAutoFit/>
          </a:bodyPr>
          <a:lstStyle/>
          <a:p>
            <a:r>
              <a:rPr lang="en-US" sz="3400" b="1">
                <a:solidFill>
                  <a:srgbClr val="FFFFFF"/>
                </a:solidFill>
                <a:latin typeface="Segoe UI" panose="020B0502040204020203" pitchFamily="34" charset="0"/>
              </a:rPr>
              <a:t>BÀI 4: PHÂN BỐ DÂN SỐ, DI DÂN VÀ ĐÔ THỊ HÓA</a:t>
            </a:r>
          </a:p>
        </p:txBody>
      </p:sp>
      <p:sp>
        <p:nvSpPr>
          <p:cNvPr id="5" name="TextBox 4">
            <a:extLst>
              <a:ext uri="{FF2B5EF4-FFF2-40B4-BE49-F238E27FC236}">
                <a16:creationId xmlns:a16="http://schemas.microsoft.com/office/drawing/2014/main" id="{940BD829-E11D-7655-F1F5-76AEA1824C1E}"/>
              </a:ext>
            </a:extLst>
          </p:cNvPr>
          <p:cNvSpPr txBox="1"/>
          <p:nvPr/>
        </p:nvSpPr>
        <p:spPr>
          <a:xfrm>
            <a:off x="609600" y="3187700"/>
            <a:ext cx="5486400" cy="830997"/>
          </a:xfrm>
          <a:prstGeom prst="rect">
            <a:avLst/>
          </a:prstGeom>
          <a:noFill/>
        </p:spPr>
        <p:txBody>
          <a:bodyPr vert="horz" wrap="square" lIns="0" rtlCol="0">
            <a:spAutoFit/>
          </a:bodyPr>
          <a:lstStyle/>
          <a:p>
            <a:r>
              <a:rPr lang="vi-VN" sz="1600">
                <a:solidFill>
                  <a:srgbClr val="E2E8F0"/>
                </a:solidFill>
                <a:latin typeface="Segoe UI" panose="020B0502040204020203" pitchFamily="34" charset="0"/>
              </a:rPr>
              <a:t>Chính vì vậy Nghị quyết 21 (khóa XII) xác định vấn đề dân số và phát triển: phân bố dân cư, dòng di cư và tiến trình đô thị hóa.</a:t>
            </a:r>
            <a:endParaRPr lang="en-US" sz="1600">
              <a:solidFill>
                <a:srgbClr val="E2E8F0"/>
              </a:solidFill>
              <a:latin typeface="Segoe UI" panose="020B0502040204020203" pitchFamily="34" charset="0"/>
            </a:endParaRPr>
          </a:p>
        </p:txBody>
      </p:sp>
      <p:grpSp>
        <p:nvGrpSpPr>
          <p:cNvPr id="9" name="Group 8">
            <a:extLst>
              <a:ext uri="{FF2B5EF4-FFF2-40B4-BE49-F238E27FC236}">
                <a16:creationId xmlns:a16="http://schemas.microsoft.com/office/drawing/2014/main" id="{C09979B8-0C37-0E57-5365-1CF78EB1069E}"/>
              </a:ext>
            </a:extLst>
          </p:cNvPr>
          <p:cNvGrpSpPr/>
          <p:nvPr/>
        </p:nvGrpSpPr>
        <p:grpSpPr>
          <a:xfrm>
            <a:off x="6400800" y="952500"/>
            <a:ext cx="5181600" cy="4572000"/>
            <a:chOff x="6400800" y="952500"/>
            <a:chExt cx="5181600" cy="4572000"/>
          </a:xfrm>
        </p:grpSpPr>
        <p:sp>
          <p:nvSpPr>
            <p:cNvPr id="6" name="Rectangle: Rounded Corners 5">
              <a:extLst>
                <a:ext uri="{FF2B5EF4-FFF2-40B4-BE49-F238E27FC236}">
                  <a16:creationId xmlns:a16="http://schemas.microsoft.com/office/drawing/2014/main" id="{1BAE59CC-9FF6-413C-E32E-780FB5FE95E2}"/>
                </a:ext>
              </a:extLst>
            </p:cNvPr>
            <p:cNvSpPr/>
            <p:nvPr/>
          </p:nvSpPr>
          <p:spPr>
            <a:xfrm>
              <a:off x="6400800" y="952500"/>
              <a:ext cx="5181600" cy="4572000"/>
            </a:xfrm>
            <a:prstGeom prst="roundRect">
              <a:avLst/>
            </a:prstGeom>
            <a:solidFill>
              <a:srgbClr val="0B1E38"/>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C744CF9-B397-82CE-985B-9F9921FCB91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477000" y="1028700"/>
              <a:ext cx="5029200" cy="4419600"/>
            </a:xfrm>
            <a:prstGeom prst="rect">
              <a:avLst/>
            </a:prstGeom>
          </p:spPr>
        </p:pic>
      </p:grpSp>
      <p:sp>
        <p:nvSpPr>
          <p:cNvPr id="10" name="TextBox 9">
            <a:extLst>
              <a:ext uri="{FF2B5EF4-FFF2-40B4-BE49-F238E27FC236}">
                <a16:creationId xmlns:a16="http://schemas.microsoft.com/office/drawing/2014/main" id="{5F8721E2-86F4-DAB6-D254-B47E091341C6}"/>
              </a:ext>
            </a:extLst>
          </p:cNvPr>
          <p:cNvSpPr txBox="1"/>
          <p:nvPr/>
        </p:nvSpPr>
        <p:spPr>
          <a:xfrm>
            <a:off x="609600" y="61976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Hệ Thống Bài Giảng Dân Số Học Chuẩn Hóa • Make Slide Pro V6.2 Certified</a:t>
            </a:r>
          </a:p>
        </p:txBody>
      </p:sp>
    </p:spTree>
    <p:extLst>
      <p:ext uri="{BB962C8B-B14F-4D97-AF65-F5344CB8AC3E}">
        <p14:creationId xmlns:p14="http://schemas.microsoft.com/office/powerpoint/2010/main" val="252450562"/>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07F1B79C-A00E-1413-6F61-A121151AB98B}"/>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MỤC TIÊU BÀI HỌC  •  TRỌNG TÂM</a:t>
            </a:r>
          </a:p>
        </p:txBody>
      </p:sp>
      <p:sp>
        <p:nvSpPr>
          <p:cNvPr id="3" name="!!Anchor_Slide_Tracker">
            <a:extLst>
              <a:ext uri="{FF2B5EF4-FFF2-40B4-BE49-F238E27FC236}">
                <a16:creationId xmlns:a16="http://schemas.microsoft.com/office/drawing/2014/main" id="{06F305C2-9951-B41C-8CF6-1F7377EA0B97}"/>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02 / 07</a:t>
            </a:r>
          </a:p>
        </p:txBody>
      </p:sp>
      <p:sp>
        <p:nvSpPr>
          <p:cNvPr id="4" name="!!Anchor_Assertion_Title">
            <a:extLst>
              <a:ext uri="{FF2B5EF4-FFF2-40B4-BE49-F238E27FC236}">
                <a16:creationId xmlns:a16="http://schemas.microsoft.com/office/drawing/2014/main" id="{800E7549-29C6-9CBA-AE6E-7591B3463524}"/>
              </a:ext>
            </a:extLst>
          </p:cNvPr>
          <p:cNvSpPr txBox="1"/>
          <p:nvPr/>
        </p:nvSpPr>
        <p:spPr>
          <a:xfrm>
            <a:off x="609600" y="711200"/>
            <a:ext cx="10972800" cy="738664"/>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Nắm Vững Khái Niệm Về Phân Bố Dân Số, Thước Đo Di Dân Và Tiến Trình Đô Thị Hóa</a:t>
            </a:r>
            <a:endParaRPr lang="en-US" sz="2400" b="1">
              <a:solidFill>
                <a:srgbClr val="0F172A"/>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B6A226D8-65E1-2F4A-9BA0-4D25AABA70F2}"/>
              </a:ext>
            </a:extLst>
          </p:cNvPr>
          <p:cNvGrpSpPr/>
          <p:nvPr/>
        </p:nvGrpSpPr>
        <p:grpSpPr>
          <a:xfrm>
            <a:off x="609600" y="1676400"/>
            <a:ext cx="6035040" cy="4521200"/>
            <a:chOff x="609600" y="1676400"/>
            <a:chExt cx="6035040" cy="4521200"/>
          </a:xfrm>
        </p:grpSpPr>
        <p:sp>
          <p:nvSpPr>
            <p:cNvPr id="5" name="Rectangle: Rounded Corners 4">
              <a:extLst>
                <a:ext uri="{FF2B5EF4-FFF2-40B4-BE49-F238E27FC236}">
                  <a16:creationId xmlns:a16="http://schemas.microsoft.com/office/drawing/2014/main" id="{EA8D58DE-1F66-B0E2-46BC-B8D117BD377C}"/>
                </a:ext>
              </a:extLst>
            </p:cNvPr>
            <p:cNvSpPr/>
            <p:nvPr/>
          </p:nvSpPr>
          <p:spPr>
            <a:xfrm>
              <a:off x="609600" y="1676400"/>
              <a:ext cx="6035040" cy="45212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7C61D18-6F04-68B2-3EE6-7383D1ED1BD7}"/>
                </a:ext>
              </a:extLst>
            </p:cNvPr>
            <p:cNvSpPr/>
            <p:nvPr/>
          </p:nvSpPr>
          <p:spPr>
            <a:xfrm>
              <a:off x="863600" y="1905000"/>
              <a:ext cx="1524000" cy="2794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284C7"/>
                  </a:solidFill>
                  <a:latin typeface="Segoe UI" panose="020B0502040204020203" pitchFamily="34" charset="0"/>
                </a:rPr>
                <a:t>TRỌNG TÂM CỐT LÕI</a:t>
              </a:r>
            </a:p>
          </p:txBody>
        </p:sp>
        <p:sp>
          <p:nvSpPr>
            <p:cNvPr id="7" name="Oval 6">
              <a:extLst>
                <a:ext uri="{FF2B5EF4-FFF2-40B4-BE49-F238E27FC236}">
                  <a16:creationId xmlns:a16="http://schemas.microsoft.com/office/drawing/2014/main" id="{EFE053DF-2C76-8293-DCE0-8E889D87E194}"/>
                </a:ext>
              </a:extLst>
            </p:cNvPr>
            <p:cNvSpPr/>
            <p:nvPr/>
          </p:nvSpPr>
          <p:spPr>
            <a:xfrm>
              <a:off x="863600" y="2286000"/>
              <a:ext cx="482600" cy="482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2BB717FC-55C3-0100-0E04-075E628E3642}"/>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62200"/>
              <a:ext cx="330200" cy="330200"/>
            </a:xfrm>
            <a:prstGeom prst="rect">
              <a:avLst/>
            </a:prstGeom>
          </p:spPr>
        </p:pic>
        <p:sp>
          <p:nvSpPr>
            <p:cNvPr id="10" name="TextBox 9">
              <a:extLst>
                <a:ext uri="{FF2B5EF4-FFF2-40B4-BE49-F238E27FC236}">
                  <a16:creationId xmlns:a16="http://schemas.microsoft.com/office/drawing/2014/main" id="{1C4F7124-E290-C1BC-4613-3EB51A90C14C}"/>
                </a:ext>
              </a:extLst>
            </p:cNvPr>
            <p:cNvSpPr txBox="1"/>
            <p:nvPr/>
          </p:nvSpPr>
          <p:spPr>
            <a:xfrm>
              <a:off x="863600" y="2870200"/>
              <a:ext cx="5527040" cy="1489447"/>
            </a:xfrm>
            <a:prstGeom prst="rect">
              <a:avLst/>
            </a:prstGeom>
            <a:noFill/>
          </p:spPr>
          <p:txBody>
            <a:bodyPr vert="horz" wrap="square" lIns="0" rtlCol="0">
              <a:spAutoFit/>
            </a:bodyPr>
            <a:lstStyle/>
            <a:p>
              <a:pPr>
                <a:lnSpc>
                  <a:spcPct val="130000"/>
                </a:lnSpc>
                <a:spcAft>
                  <a:spcPts val="1000"/>
                </a:spcAft>
              </a:pPr>
              <a:r>
                <a:rPr lang="en-US" sz="2000" b="1">
                  <a:solidFill>
                    <a:srgbClr val="0F172A"/>
                  </a:solidFill>
                  <a:latin typeface="Segoe UI" panose="020B0502040204020203" pitchFamily="34" charset="0"/>
                </a:rPr>
                <a:t>Khái Niệm Nghiên Cứu Di Dân
</a:t>
              </a:r>
              <a:r>
                <a:rPr lang="vi-VN" sz="1500" b="1">
                  <a:solidFill>
                    <a:srgbClr val="475569"/>
                  </a:solidFill>
                  <a:latin typeface="Segoe UI" panose="020B0502040204020203" pitchFamily="34" charset="0"/>
                </a:rPr>
                <a:t>Di dân là gì? Có nhiều định nghĩa về di dân được đưa ra, trong nghiên cứu di dân một số khái niệm cần quan tâm gồm nơi xuất cư, nơi nhập cư, di dân nội địa.</a:t>
              </a:r>
              <a:endParaRPr lang="en-US" sz="1500" b="1">
                <a:solidFill>
                  <a:srgbClr val="475569"/>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0171E174-0834-0DAC-8B91-4281CFAB5CEB}"/>
              </a:ext>
            </a:extLst>
          </p:cNvPr>
          <p:cNvGrpSpPr/>
          <p:nvPr/>
        </p:nvGrpSpPr>
        <p:grpSpPr>
          <a:xfrm>
            <a:off x="6873240" y="1676400"/>
            <a:ext cx="4709160" cy="2171700"/>
            <a:chOff x="6873240" y="1676400"/>
            <a:chExt cx="4709160" cy="2171700"/>
          </a:xfrm>
        </p:grpSpPr>
        <p:sp>
          <p:nvSpPr>
            <p:cNvPr id="12" name="Rectangle: Rounded Corners 11">
              <a:extLst>
                <a:ext uri="{FF2B5EF4-FFF2-40B4-BE49-F238E27FC236}">
                  <a16:creationId xmlns:a16="http://schemas.microsoft.com/office/drawing/2014/main" id="{27F992E2-15BA-1634-65A3-A2AE1ABC6ECA}"/>
                </a:ext>
              </a:extLst>
            </p:cNvPr>
            <p:cNvSpPr/>
            <p:nvPr/>
          </p:nvSpPr>
          <p:spPr>
            <a:xfrm>
              <a:off x="6873240" y="16764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DD3515D-2C86-C301-857C-789777C065B3}"/>
                </a:ext>
              </a:extLst>
            </p:cNvPr>
            <p:cNvSpPr/>
            <p:nvPr/>
          </p:nvSpPr>
          <p:spPr>
            <a:xfrm>
              <a:off x="7076440" y="18542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01</a:t>
              </a:r>
            </a:p>
          </p:txBody>
        </p:sp>
        <p:sp>
          <p:nvSpPr>
            <p:cNvPr id="14" name="Oval 13">
              <a:extLst>
                <a:ext uri="{FF2B5EF4-FFF2-40B4-BE49-F238E27FC236}">
                  <a16:creationId xmlns:a16="http://schemas.microsoft.com/office/drawing/2014/main" id="{5D20CDB6-093E-AD7A-5306-ECD822FCCF98}"/>
                </a:ext>
              </a:extLst>
            </p:cNvPr>
            <p:cNvSpPr/>
            <p:nvPr/>
          </p:nvSpPr>
          <p:spPr>
            <a:xfrm>
              <a:off x="7076440" y="21844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9BFDE538-C232-73F5-BD82-1C09EB7151F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139940" y="2247900"/>
              <a:ext cx="279400" cy="279400"/>
            </a:xfrm>
            <a:prstGeom prst="rect">
              <a:avLst/>
            </a:prstGeom>
          </p:spPr>
        </p:pic>
        <p:sp>
          <p:nvSpPr>
            <p:cNvPr id="17" name="TextBox 16">
              <a:extLst>
                <a:ext uri="{FF2B5EF4-FFF2-40B4-BE49-F238E27FC236}">
                  <a16:creationId xmlns:a16="http://schemas.microsoft.com/office/drawing/2014/main" id="{A674AC73-E587-EF53-CEF2-9901AFFB193F}"/>
                </a:ext>
              </a:extLst>
            </p:cNvPr>
            <p:cNvSpPr txBox="1"/>
            <p:nvPr/>
          </p:nvSpPr>
          <p:spPr>
            <a:xfrm>
              <a:off x="7609840" y="2108200"/>
              <a:ext cx="3820160" cy="1451679"/>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1. Phân Bố Dân Số &amp; Thước Đo Cơ Bản
</a:t>
              </a:r>
              <a:r>
                <a:rPr lang="vi-VN" sz="1400" b="1">
                  <a:solidFill>
                    <a:srgbClr val="475569"/>
                  </a:solidFill>
                  <a:latin typeface="Segoe UI" panose="020B0502040204020203" pitchFamily="34" charset="0"/>
                </a:rPr>
                <a:t>Nêu khái niệm về phân bố dân số, nêu một số thước đo cơ bản về phân bố dân số như mật độ dân số, tỷ suất nhập cư (InMR), xuất cư (OMR) và di cư thuần (NMR).</a:t>
              </a:r>
              <a:endParaRPr lang="en-US" sz="1400" b="1">
                <a:solidFill>
                  <a:srgbClr val="475569"/>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9C120FD3-B5C2-21C4-6DA7-2CB3CF53C2EA}"/>
              </a:ext>
            </a:extLst>
          </p:cNvPr>
          <p:cNvGrpSpPr/>
          <p:nvPr/>
        </p:nvGrpSpPr>
        <p:grpSpPr>
          <a:xfrm>
            <a:off x="6873240" y="4025900"/>
            <a:ext cx="4709160" cy="2171700"/>
            <a:chOff x="6873240" y="4025900"/>
            <a:chExt cx="4709160" cy="2171700"/>
          </a:xfrm>
        </p:grpSpPr>
        <p:sp>
          <p:nvSpPr>
            <p:cNvPr id="19" name="Rectangle: Rounded Corners 18">
              <a:extLst>
                <a:ext uri="{FF2B5EF4-FFF2-40B4-BE49-F238E27FC236}">
                  <a16:creationId xmlns:a16="http://schemas.microsoft.com/office/drawing/2014/main" id="{1B3CAEF4-6D8E-BBD9-4339-427B774149AE}"/>
                </a:ext>
              </a:extLst>
            </p:cNvPr>
            <p:cNvSpPr/>
            <p:nvPr/>
          </p:nvSpPr>
          <p:spPr>
            <a:xfrm>
              <a:off x="6873240" y="40259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4BFBA687-53C5-817E-1F39-B020D350C906}"/>
                </a:ext>
              </a:extLst>
            </p:cNvPr>
            <p:cNvSpPr/>
            <p:nvPr/>
          </p:nvSpPr>
          <p:spPr>
            <a:xfrm>
              <a:off x="7076440" y="42037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02</a:t>
              </a:r>
            </a:p>
          </p:txBody>
        </p:sp>
        <p:sp>
          <p:nvSpPr>
            <p:cNvPr id="21" name="Oval 20">
              <a:extLst>
                <a:ext uri="{FF2B5EF4-FFF2-40B4-BE49-F238E27FC236}">
                  <a16:creationId xmlns:a16="http://schemas.microsoft.com/office/drawing/2014/main" id="{B914D350-DFB9-0880-F880-E99EF3EA2BA7}"/>
                </a:ext>
              </a:extLst>
            </p:cNvPr>
            <p:cNvSpPr/>
            <p:nvPr/>
          </p:nvSpPr>
          <p:spPr>
            <a:xfrm>
              <a:off x="7076440" y="45339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109CBD37-978F-40A8-1100-0DF5B2C9D57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7139940" y="4597400"/>
              <a:ext cx="279400" cy="279400"/>
            </a:xfrm>
            <a:prstGeom prst="rect">
              <a:avLst/>
            </a:prstGeom>
          </p:spPr>
        </p:pic>
        <p:sp>
          <p:nvSpPr>
            <p:cNvPr id="24" name="TextBox 23">
              <a:extLst>
                <a:ext uri="{FF2B5EF4-FFF2-40B4-BE49-F238E27FC236}">
                  <a16:creationId xmlns:a16="http://schemas.microsoft.com/office/drawing/2014/main" id="{7D90B9A4-CDA1-4009-2567-F53F69B1DC19}"/>
                </a:ext>
              </a:extLst>
            </p:cNvPr>
            <p:cNvSpPr txBox="1"/>
            <p:nvPr/>
          </p:nvSpPr>
          <p:spPr>
            <a:xfrm>
              <a:off x="7609840" y="4457700"/>
              <a:ext cx="3820160" cy="1420902"/>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2. Đô Thị Hóa &amp; Bản Chất Khái Niệm
</a:t>
              </a:r>
              <a:r>
                <a:rPr lang="vi-VN" sz="1400" b="1">
                  <a:solidFill>
                    <a:srgbClr val="475569"/>
                  </a:solidFill>
                  <a:latin typeface="Segoe UI" panose="020B0502040204020203" pitchFamily="34" charset="0"/>
                </a:rPr>
                <a:t>Đô thị hoá là một khái niệm rộng bao hàm cả nội dung tăng trưởng dân số thành thị; trong khái niệm đô thị hoá, việc hiểu thế nào là một thành phố là tiêu chuẩn then chốt.</a:t>
              </a:r>
              <a:endParaRPr lang="en-US" sz="1400" b="1">
                <a:solidFill>
                  <a:srgbClr val="475569"/>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1B0CA78F-1745-CCFB-A0D2-7E5F15D5C8B4}"/>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Khung chuẩn đầu ra chuyên đề  |  Make Slide Pro V6.2 Certified</a:t>
            </a:r>
          </a:p>
        </p:txBody>
      </p:sp>
    </p:spTree>
    <p:extLst>
      <p:ext uri="{BB962C8B-B14F-4D97-AF65-F5344CB8AC3E}">
        <p14:creationId xmlns:p14="http://schemas.microsoft.com/office/powerpoint/2010/main" val="20961146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010269EF-0EB8-B63D-0292-D6AB64A6D4AB}"/>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PHÂN BỐ VÙNG LÃNH THỔ  •  TRỌNG TÂM</a:t>
            </a:r>
          </a:p>
        </p:txBody>
      </p:sp>
      <p:sp>
        <p:nvSpPr>
          <p:cNvPr id="3" name="!!Anchor_Slide_Tracker">
            <a:extLst>
              <a:ext uri="{FF2B5EF4-FFF2-40B4-BE49-F238E27FC236}">
                <a16:creationId xmlns:a16="http://schemas.microsoft.com/office/drawing/2014/main" id="{F492569E-C8D1-6672-D565-99DBE262A909}"/>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03 / 07</a:t>
            </a:r>
          </a:p>
        </p:txBody>
      </p:sp>
      <p:sp>
        <p:nvSpPr>
          <p:cNvPr id="4" name="!!Anchor_Assertion_Title">
            <a:extLst>
              <a:ext uri="{FF2B5EF4-FFF2-40B4-BE49-F238E27FC236}">
                <a16:creationId xmlns:a16="http://schemas.microsoft.com/office/drawing/2014/main" id="{E4E11505-9D77-03A7-214F-17C999060CA4}"/>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Mật Độ Dân Số Phân Bố Bất Bình Đẳng Sâu Sắc Giữa Các Vùng</a:t>
            </a:r>
          </a:p>
        </p:txBody>
      </p:sp>
      <p:grpSp>
        <p:nvGrpSpPr>
          <p:cNvPr id="8" name="!!Stage_Hero_Container">
            <a:extLst>
              <a:ext uri="{FF2B5EF4-FFF2-40B4-BE49-F238E27FC236}">
                <a16:creationId xmlns:a16="http://schemas.microsoft.com/office/drawing/2014/main" id="{03EFEF2F-E87B-7114-E1B9-D54F98CE1115}"/>
              </a:ext>
            </a:extLst>
          </p:cNvPr>
          <p:cNvGrpSpPr/>
          <p:nvPr/>
        </p:nvGrpSpPr>
        <p:grpSpPr>
          <a:xfrm>
            <a:off x="609600" y="1676400"/>
            <a:ext cx="5705856" cy="4521200"/>
            <a:chOff x="609600" y="1676400"/>
            <a:chExt cx="5705856" cy="4521200"/>
          </a:xfrm>
        </p:grpSpPr>
        <p:sp>
          <p:nvSpPr>
            <p:cNvPr id="5" name="Rectangle: Rounded Corners 4">
              <a:extLst>
                <a:ext uri="{FF2B5EF4-FFF2-40B4-BE49-F238E27FC236}">
                  <a16:creationId xmlns:a16="http://schemas.microsoft.com/office/drawing/2014/main" id="{7BB811AD-863C-B914-07E0-5AA1F94680E8}"/>
                </a:ext>
              </a:extLst>
            </p:cNvPr>
            <p:cNvSpPr/>
            <p:nvPr/>
          </p:nvSpPr>
          <p:spPr>
            <a:xfrm>
              <a:off x="609600" y="1676400"/>
              <a:ext cx="5705856"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DB2784C-830E-43DE-40EA-A32D8472264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11200" y="1778000"/>
              <a:ext cx="5502656" cy="4318000"/>
            </a:xfrm>
            <a:prstGeom prst="rect">
              <a:avLst/>
            </a:prstGeom>
          </p:spPr>
        </p:pic>
      </p:grpSp>
      <p:grpSp>
        <p:nvGrpSpPr>
          <p:cNvPr id="14" name="!!Stage_Sub_Card_1">
            <a:extLst>
              <a:ext uri="{FF2B5EF4-FFF2-40B4-BE49-F238E27FC236}">
                <a16:creationId xmlns:a16="http://schemas.microsoft.com/office/drawing/2014/main" id="{65EFDCCB-4BE3-269D-2DFC-1C4BE5D6A114}"/>
              </a:ext>
            </a:extLst>
          </p:cNvPr>
          <p:cNvGrpSpPr/>
          <p:nvPr/>
        </p:nvGrpSpPr>
        <p:grpSpPr>
          <a:xfrm>
            <a:off x="6644640" y="1676400"/>
            <a:ext cx="4937760" cy="1405467"/>
            <a:chOff x="6644640" y="1676400"/>
            <a:chExt cx="4937760" cy="1405467"/>
          </a:xfrm>
        </p:grpSpPr>
        <p:sp>
          <p:nvSpPr>
            <p:cNvPr id="9" name="Rectangle: Rounded Corners 8">
              <a:extLst>
                <a:ext uri="{FF2B5EF4-FFF2-40B4-BE49-F238E27FC236}">
                  <a16:creationId xmlns:a16="http://schemas.microsoft.com/office/drawing/2014/main" id="{A28DF3F6-EB8D-7C5B-DBE9-9B89987356BE}"/>
                </a:ext>
              </a:extLst>
            </p:cNvPr>
            <p:cNvSpPr/>
            <p:nvPr/>
          </p:nvSpPr>
          <p:spPr>
            <a:xfrm>
              <a:off x="6644640" y="1676400"/>
              <a:ext cx="4937760"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83EFB66-7D2A-0379-3353-B64DC010A8C8}"/>
                </a:ext>
              </a:extLst>
            </p:cNvPr>
            <p:cNvSpPr/>
            <p:nvPr/>
          </p:nvSpPr>
          <p:spPr>
            <a:xfrm>
              <a:off x="6822440"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32022B82-2EA2-410D-EF2A-5ABFA6CD7D85}"/>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3" name="TextBox 12">
              <a:extLst>
                <a:ext uri="{FF2B5EF4-FFF2-40B4-BE49-F238E27FC236}">
                  <a16:creationId xmlns:a16="http://schemas.microsoft.com/office/drawing/2014/main" id="{EF8EC02A-3C77-D6E2-3D08-FDB2C7C7143D}"/>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Đồng Bằng Sông Hồng (&gt;1.080 ng/km²)
</a:t>
              </a:r>
              <a:r>
                <a:rPr lang="en-US" sz="1400" b="1">
                  <a:solidFill>
                    <a:srgbClr val="475569"/>
                  </a:solidFill>
                  <a:latin typeface="Segoe UI" panose="020B0502040204020203" pitchFamily="34" charset="0"/>
                </a:rPr>
                <a:t>Mật độ cao kỷ lục, tập trung lớn tại Hà Nội và các tỉnh đồng bằng; tạo áp lực diện tích đất ở và tắc nghẽn hạ tầng.</a:t>
              </a:r>
            </a:p>
          </p:txBody>
        </p:sp>
      </p:grpSp>
      <p:grpSp>
        <p:nvGrpSpPr>
          <p:cNvPr id="20" name="!!Stage_Sub_Card_2">
            <a:extLst>
              <a:ext uri="{FF2B5EF4-FFF2-40B4-BE49-F238E27FC236}">
                <a16:creationId xmlns:a16="http://schemas.microsoft.com/office/drawing/2014/main" id="{F6296B24-6FF2-99AF-B431-7EBF8C843E16}"/>
              </a:ext>
            </a:extLst>
          </p:cNvPr>
          <p:cNvGrpSpPr/>
          <p:nvPr/>
        </p:nvGrpSpPr>
        <p:grpSpPr>
          <a:xfrm>
            <a:off x="6644640" y="3234267"/>
            <a:ext cx="4937760" cy="1405466"/>
            <a:chOff x="6644640" y="3234267"/>
            <a:chExt cx="4937760" cy="1405466"/>
          </a:xfrm>
        </p:grpSpPr>
        <p:sp>
          <p:nvSpPr>
            <p:cNvPr id="15" name="Rectangle: Rounded Corners 14">
              <a:extLst>
                <a:ext uri="{FF2B5EF4-FFF2-40B4-BE49-F238E27FC236}">
                  <a16:creationId xmlns:a16="http://schemas.microsoft.com/office/drawing/2014/main" id="{16BE0126-5B60-3F03-8A54-62E8BC45A09B}"/>
                </a:ext>
              </a:extLst>
            </p:cNvPr>
            <p:cNvSpPr/>
            <p:nvPr/>
          </p:nvSpPr>
          <p:spPr>
            <a:xfrm>
              <a:off x="6644640" y="3234267"/>
              <a:ext cx="4937760"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EFA2E0C-8FA1-CE50-86E1-4F5ED687A4CC}"/>
                </a:ext>
              </a:extLst>
            </p:cNvPr>
            <p:cNvSpPr/>
            <p:nvPr/>
          </p:nvSpPr>
          <p:spPr>
            <a:xfrm>
              <a:off x="6822440"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D69E74CB-5676-57BB-E5DF-3E690868E321}"/>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9" name="TextBox 18">
              <a:extLst>
                <a:ext uri="{FF2B5EF4-FFF2-40B4-BE49-F238E27FC236}">
                  <a16:creationId xmlns:a16="http://schemas.microsoft.com/office/drawing/2014/main" id="{E7850518-51FE-0C57-E344-AD5EEC796055}"/>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Đông Nam Bộ (&gt;780 ng/km²)
</a:t>
              </a:r>
              <a:r>
                <a:rPr lang="vi-VN" sz="1400" b="1">
                  <a:solidFill>
                    <a:srgbClr val="475569"/>
                  </a:solidFill>
                  <a:latin typeface="Segoe UI" panose="020B0502040204020203" pitchFamily="34" charset="0"/>
                </a:rPr>
                <a:t>Tốc độ tập trung dân cư nhanh nhất cả nước do dòng người nhập cư đổ về làm việc tại các khu công nghiệp trọng điểm.</a:t>
              </a:r>
              <a:endParaRPr lang="en-US" sz="1400" b="1">
                <a:solidFill>
                  <a:srgbClr val="475569"/>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782BDE90-1D50-E647-5BD3-9629CCBBC4CB}"/>
              </a:ext>
            </a:extLst>
          </p:cNvPr>
          <p:cNvGrpSpPr/>
          <p:nvPr/>
        </p:nvGrpSpPr>
        <p:grpSpPr>
          <a:xfrm>
            <a:off x="6644640" y="4792133"/>
            <a:ext cx="4937760" cy="1405467"/>
            <a:chOff x="6644640" y="4792133"/>
            <a:chExt cx="4937760" cy="1405467"/>
          </a:xfrm>
        </p:grpSpPr>
        <p:sp>
          <p:nvSpPr>
            <p:cNvPr id="21" name="Rectangle: Rounded Corners 20">
              <a:extLst>
                <a:ext uri="{FF2B5EF4-FFF2-40B4-BE49-F238E27FC236}">
                  <a16:creationId xmlns:a16="http://schemas.microsoft.com/office/drawing/2014/main" id="{9C6F6933-2D7B-DD41-9732-B4F4769DEE52}"/>
                </a:ext>
              </a:extLst>
            </p:cNvPr>
            <p:cNvSpPr/>
            <p:nvPr/>
          </p:nvSpPr>
          <p:spPr>
            <a:xfrm>
              <a:off x="6644640" y="4792133"/>
              <a:ext cx="4937760"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EB964D1-8DA8-248B-65E1-AF9BC89D3737}"/>
                </a:ext>
              </a:extLst>
            </p:cNvPr>
            <p:cNvSpPr/>
            <p:nvPr/>
          </p:nvSpPr>
          <p:spPr>
            <a:xfrm>
              <a:off x="6822440"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823EC1CB-77D1-2D89-1C96-984725A3D88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5" name="TextBox 24">
              <a:extLst>
                <a:ext uri="{FF2B5EF4-FFF2-40B4-BE49-F238E27FC236}">
                  <a16:creationId xmlns:a16="http://schemas.microsoft.com/office/drawing/2014/main" id="{1C506A76-B0AC-F7F2-9481-D1480E6B1995}"/>
                </a:ext>
              </a:extLst>
            </p:cNvPr>
            <p:cNvSpPr txBox="1"/>
            <p:nvPr/>
          </p:nvSpPr>
          <p:spPr>
            <a:xfrm>
              <a:off x="7305040" y="4919133"/>
              <a:ext cx="4150360" cy="1236236"/>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Miền Núi &amp; Tây Nguyên (~110-136 ng/km²)
</a:t>
              </a:r>
              <a:r>
                <a:rPr lang="vi-VN" sz="1400" b="1">
                  <a:solidFill>
                    <a:srgbClr val="475569"/>
                  </a:solidFill>
                  <a:latin typeface="Segoe UI" panose="020B0502040204020203" pitchFamily="34" charset="0"/>
                </a:rPr>
                <a:t>Địa bàn rộng lớn, mật độ thưa thớt; đối mặt khó khăn trong đầu tư hạ tầng giao thông, trường học và trạm y tế.</a:t>
              </a:r>
              <a:endParaRPr lang="en-US" sz="1400" b="1">
                <a:solidFill>
                  <a:srgbClr val="475569"/>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5B943E77-08A2-DBE9-6971-099F5A5D1CC7}"/>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Tổng cục Thống kê &amp; Niên giám Thống kê 2023  |  Make Slide Pro V6.2 Certified</a:t>
            </a:r>
          </a:p>
        </p:txBody>
      </p:sp>
    </p:spTree>
    <p:extLst>
      <p:ext uri="{BB962C8B-B14F-4D97-AF65-F5344CB8AC3E}">
        <p14:creationId xmlns:p14="http://schemas.microsoft.com/office/powerpoint/2010/main" val="20510808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95EB6FB8-8980-F33D-4A03-AC8D6267A234}"/>
              </a:ext>
            </a:extLst>
          </p:cNvPr>
          <p:cNvSpPr txBox="1"/>
          <p:nvPr/>
        </p:nvSpPr>
        <p:spPr>
          <a:xfrm>
            <a:off x="609600" y="457200"/>
            <a:ext cx="9956800" cy="276999"/>
          </a:xfrm>
          <a:prstGeom prst="rect">
            <a:avLst/>
          </a:prstGeom>
          <a:noFill/>
        </p:spPr>
        <p:txBody>
          <a:bodyPr vert="horz" rtlCol="0">
            <a:spAutoFit/>
          </a:bodyPr>
          <a:lstStyle/>
          <a:p>
            <a:r>
              <a:rPr lang="vi-VN" sz="1200" b="1">
                <a:solidFill>
                  <a:srgbClr val="0284C7"/>
                </a:solidFill>
                <a:latin typeface="Segoe UI" panose="020B0502040204020203" pitchFamily="34" charset="0"/>
              </a:rPr>
              <a:t>THƯỚC ĐO DI DÂN  •  TRỌNG TÂM</a:t>
            </a:r>
            <a:endParaRPr lang="en-US" sz="1200" b="1">
              <a:solidFill>
                <a:srgbClr val="0284C7"/>
              </a:solidFill>
              <a:latin typeface="Segoe UI" panose="020B0502040204020203" pitchFamily="34" charset="0"/>
            </a:endParaRPr>
          </a:p>
        </p:txBody>
      </p:sp>
      <p:sp>
        <p:nvSpPr>
          <p:cNvPr id="3" name="!!Anchor_Slide_Tracker">
            <a:extLst>
              <a:ext uri="{FF2B5EF4-FFF2-40B4-BE49-F238E27FC236}">
                <a16:creationId xmlns:a16="http://schemas.microsoft.com/office/drawing/2014/main" id="{20313516-D800-FCDB-15E6-4E85E339BF88}"/>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04 / 07</a:t>
            </a:r>
          </a:p>
        </p:txBody>
      </p:sp>
      <p:sp>
        <p:nvSpPr>
          <p:cNvPr id="4" name="!!Anchor_Assertion_Title">
            <a:extLst>
              <a:ext uri="{FF2B5EF4-FFF2-40B4-BE49-F238E27FC236}">
                <a16:creationId xmlns:a16="http://schemas.microsoft.com/office/drawing/2014/main" id="{A17ECBE0-2A69-94CE-6F61-6F0BB8A8AFC0}"/>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Hệ Thống Chỉ Số Đo Lường Dòng Chuyển Dịch Nhân Khẩu Học</a:t>
            </a:r>
            <a:endParaRPr lang="en-US" sz="2400" b="1">
              <a:solidFill>
                <a:srgbClr val="0F172A"/>
              </a:solidFill>
              <a:latin typeface="Segoe UI" panose="020B0502040204020203" pitchFamily="34" charset="0"/>
            </a:endParaRPr>
          </a:p>
        </p:txBody>
      </p:sp>
      <p:grpSp>
        <p:nvGrpSpPr>
          <p:cNvPr id="10" name="!!Stage_Hero_Container">
            <a:extLst>
              <a:ext uri="{FF2B5EF4-FFF2-40B4-BE49-F238E27FC236}">
                <a16:creationId xmlns:a16="http://schemas.microsoft.com/office/drawing/2014/main" id="{3FDEADD9-674F-1F11-E087-00DD81D78A66}"/>
              </a:ext>
            </a:extLst>
          </p:cNvPr>
          <p:cNvGrpSpPr/>
          <p:nvPr/>
        </p:nvGrpSpPr>
        <p:grpSpPr>
          <a:xfrm>
            <a:off x="609600" y="1676400"/>
            <a:ext cx="2609850" cy="4521200"/>
            <a:chOff x="609600" y="1676400"/>
            <a:chExt cx="2609850" cy="4521200"/>
          </a:xfrm>
        </p:grpSpPr>
        <p:sp>
          <p:nvSpPr>
            <p:cNvPr id="5" name="Rectangle: Rounded Corners 4">
              <a:extLst>
                <a:ext uri="{FF2B5EF4-FFF2-40B4-BE49-F238E27FC236}">
                  <a16:creationId xmlns:a16="http://schemas.microsoft.com/office/drawing/2014/main" id="{1699624F-47CB-13EC-E36D-C7E6EDFB95E5}"/>
                </a:ext>
              </a:extLst>
            </p:cNvPr>
            <p:cNvSpPr/>
            <p:nvPr/>
          </p:nvSpPr>
          <p:spPr>
            <a:xfrm>
              <a:off x="60960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900F61E-5E56-9439-9FBD-97DB153F066B}"/>
                </a:ext>
              </a:extLst>
            </p:cNvPr>
            <p:cNvSpPr/>
            <p:nvPr/>
          </p:nvSpPr>
          <p:spPr>
            <a:xfrm>
              <a:off x="81280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01</a:t>
              </a:r>
            </a:p>
          </p:txBody>
        </p:sp>
        <p:pic>
          <p:nvPicPr>
            <p:cNvPr id="8" name="Graphic 7">
              <a:extLst>
                <a:ext uri="{FF2B5EF4-FFF2-40B4-BE49-F238E27FC236}">
                  <a16:creationId xmlns:a16="http://schemas.microsoft.com/office/drawing/2014/main" id="{78DF1D5C-1C97-23F9-1FB2-29424EE9CCF5}"/>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2736850" y="1879600"/>
              <a:ext cx="279400" cy="279400"/>
            </a:xfrm>
            <a:prstGeom prst="rect">
              <a:avLst/>
            </a:prstGeom>
          </p:spPr>
        </p:pic>
        <p:sp>
          <p:nvSpPr>
            <p:cNvPr id="9" name="TextBox 8">
              <a:extLst>
                <a:ext uri="{FF2B5EF4-FFF2-40B4-BE49-F238E27FC236}">
                  <a16:creationId xmlns:a16="http://schemas.microsoft.com/office/drawing/2014/main" id="{0C634685-C84C-6982-46DD-D1CA6C3062D1}"/>
                </a:ext>
              </a:extLst>
            </p:cNvPr>
            <p:cNvSpPr txBox="1"/>
            <p:nvPr/>
          </p:nvSpPr>
          <p:spPr>
            <a:xfrm>
              <a:off x="812800" y="2336800"/>
              <a:ext cx="2203450" cy="2077492"/>
            </a:xfrm>
            <a:prstGeom prst="rect">
              <a:avLst/>
            </a:prstGeom>
            <a:noFill/>
          </p:spPr>
          <p:txBody>
            <a:bodyPr vert="horz" wrap="square" lIns="0" rtlCol="0">
              <a:spAutoFit/>
            </a:bodyPr>
            <a:lstStyle/>
            <a:p>
              <a:pPr>
                <a:spcAft>
                  <a:spcPts val="600"/>
                </a:spcAft>
              </a:pPr>
              <a:r>
                <a:rPr lang="vi-VN" sz="1700" b="1">
                  <a:solidFill>
                    <a:srgbClr val="0F172A"/>
                  </a:solidFill>
                  <a:latin typeface="Segoe UI" panose="020B0502040204020203" pitchFamily="34" charset="0"/>
                </a:rPr>
                <a:t>Tỷ Suất Nhập Cư (InMR)
</a:t>
              </a:r>
              <a:r>
                <a:rPr lang="vi-VN" sz="1500" b="1">
                  <a:solidFill>
                    <a:srgbClr val="475569"/>
                  </a:solidFill>
                  <a:latin typeface="Segoe UI" panose="020B0502040204020203" pitchFamily="34" charset="0"/>
                </a:rPr>
                <a:t>InMR = (I / P_bar) * 1.000 (‰). Phản ánh mức độ hấp dẫn cơ hội việc làm, giáo dục và điều kiện sống của nơi tiếp nhận.</a:t>
              </a:r>
              <a:endParaRPr lang="en-US" sz="1500" b="1">
                <a:solidFill>
                  <a:srgbClr val="475569"/>
                </a:solidFill>
                <a:latin typeface="Segoe UI" panose="020B0502040204020203" pitchFamily="34" charset="0"/>
              </a:endParaRPr>
            </a:p>
          </p:txBody>
        </p:sp>
      </p:grpSp>
      <p:grpSp>
        <p:nvGrpSpPr>
          <p:cNvPr id="16" name="!!Stage_Sub_Card_1">
            <a:extLst>
              <a:ext uri="{FF2B5EF4-FFF2-40B4-BE49-F238E27FC236}">
                <a16:creationId xmlns:a16="http://schemas.microsoft.com/office/drawing/2014/main" id="{18A31EFC-2984-C86C-2AD9-5CF039F2E1A0}"/>
              </a:ext>
            </a:extLst>
          </p:cNvPr>
          <p:cNvGrpSpPr/>
          <p:nvPr/>
        </p:nvGrpSpPr>
        <p:grpSpPr>
          <a:xfrm>
            <a:off x="3397250" y="1676400"/>
            <a:ext cx="2609850" cy="4521200"/>
            <a:chOff x="3397250" y="1676400"/>
            <a:chExt cx="2609850" cy="4521200"/>
          </a:xfrm>
        </p:grpSpPr>
        <p:sp>
          <p:nvSpPr>
            <p:cNvPr id="11" name="Rectangle: Rounded Corners 10">
              <a:extLst>
                <a:ext uri="{FF2B5EF4-FFF2-40B4-BE49-F238E27FC236}">
                  <a16:creationId xmlns:a16="http://schemas.microsoft.com/office/drawing/2014/main" id="{0FD8ACFD-651C-B327-C1DA-49301129FDD1}"/>
                </a:ext>
              </a:extLst>
            </p:cNvPr>
            <p:cNvSpPr/>
            <p:nvPr/>
          </p:nvSpPr>
          <p:spPr>
            <a:xfrm>
              <a:off x="339725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A53B192-C614-6797-B963-8B74477B57EE}"/>
                </a:ext>
              </a:extLst>
            </p:cNvPr>
            <p:cNvSpPr/>
            <p:nvPr/>
          </p:nvSpPr>
          <p:spPr>
            <a:xfrm>
              <a:off x="360045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02</a:t>
              </a:r>
            </a:p>
          </p:txBody>
        </p:sp>
        <p:pic>
          <p:nvPicPr>
            <p:cNvPr id="14" name="Graphic 13">
              <a:extLst>
                <a:ext uri="{FF2B5EF4-FFF2-40B4-BE49-F238E27FC236}">
                  <a16:creationId xmlns:a16="http://schemas.microsoft.com/office/drawing/2014/main" id="{EBCAED35-8873-0230-53E6-2BD7FF0F866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524500" y="1879600"/>
              <a:ext cx="279400" cy="279400"/>
            </a:xfrm>
            <a:prstGeom prst="rect">
              <a:avLst/>
            </a:prstGeom>
          </p:spPr>
        </p:pic>
        <p:sp>
          <p:nvSpPr>
            <p:cNvPr id="15" name="TextBox 14">
              <a:extLst>
                <a:ext uri="{FF2B5EF4-FFF2-40B4-BE49-F238E27FC236}">
                  <a16:creationId xmlns:a16="http://schemas.microsoft.com/office/drawing/2014/main" id="{40248811-7385-3DAA-C4FF-48DAF4CA74EF}"/>
                </a:ext>
              </a:extLst>
            </p:cNvPr>
            <p:cNvSpPr txBox="1"/>
            <p:nvPr/>
          </p:nvSpPr>
          <p:spPr>
            <a:xfrm>
              <a:off x="3600450" y="2336800"/>
              <a:ext cx="2203450" cy="2077492"/>
            </a:xfrm>
            <a:prstGeom prst="rect">
              <a:avLst/>
            </a:prstGeom>
            <a:noFill/>
          </p:spPr>
          <p:txBody>
            <a:bodyPr vert="horz" wrap="square" lIns="0" rtlCol="0">
              <a:spAutoFit/>
            </a:bodyPr>
            <a:lstStyle/>
            <a:p>
              <a:pPr>
                <a:spcAft>
                  <a:spcPts val="600"/>
                </a:spcAft>
              </a:pPr>
              <a:r>
                <a:rPr lang="vi-VN" sz="1700" b="1">
                  <a:solidFill>
                    <a:srgbClr val="0F172A"/>
                  </a:solidFill>
                  <a:latin typeface="Segoe UI" panose="020B0502040204020203" pitchFamily="34" charset="0"/>
                </a:rPr>
                <a:t>Tỷ Suất Xuất Cư (OMR)
</a:t>
              </a:r>
              <a:r>
                <a:rPr lang="vi-VN" sz="1500" b="1">
                  <a:solidFill>
                    <a:srgbClr val="475569"/>
                  </a:solidFill>
                  <a:latin typeface="Segoe UI" panose="020B0502040204020203" pitchFamily="34" charset="0"/>
                </a:rPr>
                <a:t>OMR = (O / P_bar) * 1.000 (‰). Thể hiện áp lực thiếu việc làm, đất đai canh tác hoặc thiên tai thúc đẩy người dân rời đi.</a:t>
              </a:r>
              <a:endParaRPr lang="en-US" sz="1500" b="1">
                <a:solidFill>
                  <a:srgbClr val="475569"/>
                </a:solidFill>
                <a:latin typeface="Segoe UI" panose="020B0502040204020203" pitchFamily="34" charset="0"/>
              </a:endParaRPr>
            </a:p>
          </p:txBody>
        </p:sp>
      </p:grpSp>
      <p:grpSp>
        <p:nvGrpSpPr>
          <p:cNvPr id="22" name="!!Stage_Sub_Card_2">
            <a:extLst>
              <a:ext uri="{FF2B5EF4-FFF2-40B4-BE49-F238E27FC236}">
                <a16:creationId xmlns:a16="http://schemas.microsoft.com/office/drawing/2014/main" id="{3BB1BBEE-D490-4CE2-B212-9B27BB30FEB5}"/>
              </a:ext>
            </a:extLst>
          </p:cNvPr>
          <p:cNvGrpSpPr/>
          <p:nvPr/>
        </p:nvGrpSpPr>
        <p:grpSpPr>
          <a:xfrm>
            <a:off x="6184900" y="1676400"/>
            <a:ext cx="2609850" cy="4521200"/>
            <a:chOff x="6184900" y="1676400"/>
            <a:chExt cx="2609850" cy="4521200"/>
          </a:xfrm>
        </p:grpSpPr>
        <p:sp>
          <p:nvSpPr>
            <p:cNvPr id="17" name="Rectangle: Rounded Corners 16">
              <a:extLst>
                <a:ext uri="{FF2B5EF4-FFF2-40B4-BE49-F238E27FC236}">
                  <a16:creationId xmlns:a16="http://schemas.microsoft.com/office/drawing/2014/main" id="{8F5289ED-47AF-8986-50CB-4538D2CE8C4F}"/>
                </a:ext>
              </a:extLst>
            </p:cNvPr>
            <p:cNvSpPr/>
            <p:nvPr/>
          </p:nvSpPr>
          <p:spPr>
            <a:xfrm>
              <a:off x="618490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96A1C44-53D4-D899-354E-B0725B0F7B6D}"/>
                </a:ext>
              </a:extLst>
            </p:cNvPr>
            <p:cNvSpPr/>
            <p:nvPr/>
          </p:nvSpPr>
          <p:spPr>
            <a:xfrm>
              <a:off x="638810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03</a:t>
              </a:r>
            </a:p>
          </p:txBody>
        </p:sp>
        <p:pic>
          <p:nvPicPr>
            <p:cNvPr id="20" name="Graphic 19">
              <a:extLst>
                <a:ext uri="{FF2B5EF4-FFF2-40B4-BE49-F238E27FC236}">
                  <a16:creationId xmlns:a16="http://schemas.microsoft.com/office/drawing/2014/main" id="{40B62E73-A35A-DEC1-3FCC-B04A67E85633}"/>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12150" y="1879600"/>
              <a:ext cx="279400" cy="279400"/>
            </a:xfrm>
            <a:prstGeom prst="rect">
              <a:avLst/>
            </a:prstGeom>
          </p:spPr>
        </p:pic>
        <p:sp>
          <p:nvSpPr>
            <p:cNvPr id="21" name="TextBox 20">
              <a:extLst>
                <a:ext uri="{FF2B5EF4-FFF2-40B4-BE49-F238E27FC236}">
                  <a16:creationId xmlns:a16="http://schemas.microsoft.com/office/drawing/2014/main" id="{AFD1CEC5-25EB-E73C-29BC-8294CF12B60B}"/>
                </a:ext>
              </a:extLst>
            </p:cNvPr>
            <p:cNvSpPr txBox="1"/>
            <p:nvPr/>
          </p:nvSpPr>
          <p:spPr>
            <a:xfrm>
              <a:off x="6388100" y="2336800"/>
              <a:ext cx="2203450" cy="2077492"/>
            </a:xfrm>
            <a:prstGeom prst="rect">
              <a:avLst/>
            </a:prstGeom>
            <a:noFill/>
          </p:spPr>
          <p:txBody>
            <a:bodyPr vert="horz" wrap="square" lIns="0" rtlCol="0">
              <a:spAutoFit/>
            </a:bodyPr>
            <a:lstStyle/>
            <a:p>
              <a:pPr>
                <a:spcAft>
                  <a:spcPts val="600"/>
                </a:spcAft>
              </a:pPr>
              <a:r>
                <a:rPr lang="vi-VN" sz="1700" b="1">
                  <a:solidFill>
                    <a:srgbClr val="0F172A"/>
                  </a:solidFill>
                  <a:latin typeface="Segoe UI" panose="020B0502040204020203" pitchFamily="34" charset="0"/>
                </a:rPr>
                <a:t>Tỷ Suất Di Cư Thuần (NMR)
</a:t>
              </a:r>
              <a:r>
                <a:rPr lang="vi-VN" sz="1500" b="1">
                  <a:solidFill>
                    <a:srgbClr val="475569"/>
                  </a:solidFill>
                  <a:latin typeface="Segoe UI" panose="020B0502040204020203" pitchFamily="34" charset="0"/>
                </a:rPr>
                <a:t>NMR = InMR - OMR (‰). Nếu NMR &gt; 0 là vùng thu hút dân cư thuần; nếu NMR &lt; 0 là vùng thất thoát dân số do di cư.</a:t>
              </a:r>
              <a:endParaRPr lang="en-US" sz="1500" b="1">
                <a:solidFill>
                  <a:srgbClr val="475569"/>
                </a:solidFill>
                <a:latin typeface="Segoe UI" panose="020B0502040204020203" pitchFamily="34" charset="0"/>
              </a:endParaRPr>
            </a:p>
          </p:txBody>
        </p:sp>
      </p:grpSp>
      <p:grpSp>
        <p:nvGrpSpPr>
          <p:cNvPr id="28" name="!!Stage_Sub_Card_3">
            <a:extLst>
              <a:ext uri="{FF2B5EF4-FFF2-40B4-BE49-F238E27FC236}">
                <a16:creationId xmlns:a16="http://schemas.microsoft.com/office/drawing/2014/main" id="{B66D6069-1D65-ACAA-59AC-8D062DC17DFB}"/>
              </a:ext>
            </a:extLst>
          </p:cNvPr>
          <p:cNvGrpSpPr/>
          <p:nvPr/>
        </p:nvGrpSpPr>
        <p:grpSpPr>
          <a:xfrm>
            <a:off x="8972550" y="1676400"/>
            <a:ext cx="2609850" cy="4521200"/>
            <a:chOff x="8972550" y="1676400"/>
            <a:chExt cx="2609850" cy="4521200"/>
          </a:xfrm>
        </p:grpSpPr>
        <p:sp>
          <p:nvSpPr>
            <p:cNvPr id="23" name="Rectangle: Rounded Corners 22">
              <a:extLst>
                <a:ext uri="{FF2B5EF4-FFF2-40B4-BE49-F238E27FC236}">
                  <a16:creationId xmlns:a16="http://schemas.microsoft.com/office/drawing/2014/main" id="{6476F34A-0E35-3B1E-3098-E84E4AA9E2E7}"/>
                </a:ext>
              </a:extLst>
            </p:cNvPr>
            <p:cNvSpPr/>
            <p:nvPr/>
          </p:nvSpPr>
          <p:spPr>
            <a:xfrm>
              <a:off x="897255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1363B79-7A65-2E71-E508-6572CEF27587}"/>
                </a:ext>
              </a:extLst>
            </p:cNvPr>
            <p:cNvSpPr/>
            <p:nvPr/>
          </p:nvSpPr>
          <p:spPr>
            <a:xfrm>
              <a:off x="917575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04</a:t>
              </a:r>
            </a:p>
          </p:txBody>
        </p:sp>
        <p:pic>
          <p:nvPicPr>
            <p:cNvPr id="26" name="Graphic 25">
              <a:extLst>
                <a:ext uri="{FF2B5EF4-FFF2-40B4-BE49-F238E27FC236}">
                  <a16:creationId xmlns:a16="http://schemas.microsoft.com/office/drawing/2014/main" id="{43DEA2FF-5C2B-B1A9-5311-1356A118E548}"/>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1099800" y="1879600"/>
              <a:ext cx="279400" cy="279400"/>
            </a:xfrm>
            <a:prstGeom prst="rect">
              <a:avLst/>
            </a:prstGeom>
          </p:spPr>
        </p:pic>
        <p:sp>
          <p:nvSpPr>
            <p:cNvPr id="27" name="TextBox 26">
              <a:extLst>
                <a:ext uri="{FF2B5EF4-FFF2-40B4-BE49-F238E27FC236}">
                  <a16:creationId xmlns:a16="http://schemas.microsoft.com/office/drawing/2014/main" id="{42835662-A993-21A7-C8C8-AE1B6C8BCBF3}"/>
                </a:ext>
              </a:extLst>
            </p:cNvPr>
            <p:cNvSpPr txBox="1"/>
            <p:nvPr/>
          </p:nvSpPr>
          <p:spPr>
            <a:xfrm>
              <a:off x="9175750" y="2336800"/>
              <a:ext cx="2203450" cy="2077492"/>
            </a:xfrm>
            <a:prstGeom prst="rect">
              <a:avLst/>
            </a:prstGeom>
            <a:noFill/>
          </p:spPr>
          <p:txBody>
            <a:bodyPr vert="horz" wrap="square" lIns="0" rtlCol="0">
              <a:spAutoFit/>
            </a:bodyPr>
            <a:lstStyle/>
            <a:p>
              <a:pPr>
                <a:spcAft>
                  <a:spcPts val="600"/>
                </a:spcAft>
              </a:pPr>
              <a:r>
                <a:rPr lang="vi-VN" sz="1700" b="1">
                  <a:solidFill>
                    <a:srgbClr val="0F172A"/>
                  </a:solidFill>
                  <a:latin typeface="Segoe UI" panose="020B0502040204020203" pitchFamily="34" charset="0"/>
                </a:rPr>
                <a:t>Tổng Tỷ Suất Di Cư (GMR)
</a:t>
              </a:r>
              <a:r>
                <a:rPr lang="vi-VN" sz="1500" b="1">
                  <a:solidFill>
                    <a:srgbClr val="475569"/>
                  </a:solidFill>
                  <a:latin typeface="Segoe UI" panose="020B0502040204020203" pitchFamily="34" charset="0"/>
                </a:rPr>
                <a:t>GMR = InMR + OMR (‰). Đo lường tổng cường độ dịch chuyển không gian của dân cư trong một thời kỳ nhất định.</a:t>
              </a:r>
              <a:endParaRPr lang="en-US" sz="1500" b="1">
                <a:solidFill>
                  <a:srgbClr val="475569"/>
                </a:solidFill>
                <a:latin typeface="Segoe UI" panose="020B0502040204020203" pitchFamily="34" charset="0"/>
              </a:endParaRPr>
            </a:p>
          </p:txBody>
        </p:sp>
      </p:grpSp>
      <p:sp>
        <p:nvSpPr>
          <p:cNvPr id="29" name="!!Anchor_Source_Footer">
            <a:extLst>
              <a:ext uri="{FF2B5EF4-FFF2-40B4-BE49-F238E27FC236}">
                <a16:creationId xmlns:a16="http://schemas.microsoft.com/office/drawing/2014/main" id="{8FCBA69A-B826-37B5-263B-AA3F31852047}"/>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Giáo trình Dân số học &amp; TĐTDS  |  Make Slide Pro V6.2 Certified</a:t>
            </a:r>
          </a:p>
        </p:txBody>
      </p:sp>
    </p:spTree>
    <p:extLst>
      <p:ext uri="{BB962C8B-B14F-4D97-AF65-F5344CB8AC3E}">
        <p14:creationId xmlns:p14="http://schemas.microsoft.com/office/powerpoint/2010/main" val="22067406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450" fill="hold"/>
                                        <p:tgtEl>
                                          <p:spTgt spid="16"/>
                                        </p:tgtEl>
                                        <p:attrNameLst>
                                          <p:attrName>ppt_x</p:attrName>
                                        </p:attrNameLst>
                                      </p:cBhvr>
                                      <p:tavLst>
                                        <p:tav tm="0">
                                          <p:val>
                                            <p:strVal val="#ppt_x"/>
                                          </p:val>
                                        </p:tav>
                                        <p:tav tm="100000">
                                          <p:val>
                                            <p:strVal val="#ppt_x"/>
                                          </p:val>
                                        </p:tav>
                                      </p:tavLst>
                                    </p:anim>
                                    <p:anim calcmode="lin" valueType="num">
                                      <p:cBhvr additive="base">
                                        <p:cTn id="8" dur="45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450" fill="hold"/>
                                        <p:tgtEl>
                                          <p:spTgt spid="22"/>
                                        </p:tgtEl>
                                        <p:attrNameLst>
                                          <p:attrName>ppt_x</p:attrName>
                                        </p:attrNameLst>
                                      </p:cBhvr>
                                      <p:tavLst>
                                        <p:tav tm="0">
                                          <p:val>
                                            <p:strVal val="#ppt_x"/>
                                          </p:val>
                                        </p:tav>
                                        <p:tav tm="100000">
                                          <p:val>
                                            <p:strVal val="#ppt_x"/>
                                          </p:val>
                                        </p:tav>
                                      </p:tavLst>
                                    </p:anim>
                                    <p:anim calcmode="lin" valueType="num">
                                      <p:cBhvr additive="base">
                                        <p:cTn id="14" dur="45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450" fill="hold"/>
                                        <p:tgtEl>
                                          <p:spTgt spid="28"/>
                                        </p:tgtEl>
                                        <p:attrNameLst>
                                          <p:attrName>ppt_x</p:attrName>
                                        </p:attrNameLst>
                                      </p:cBhvr>
                                      <p:tavLst>
                                        <p:tav tm="0">
                                          <p:val>
                                            <p:strVal val="#ppt_x"/>
                                          </p:val>
                                        </p:tav>
                                        <p:tav tm="100000">
                                          <p:val>
                                            <p:strVal val="#ppt_x"/>
                                          </p:val>
                                        </p:tav>
                                      </p:tavLst>
                                    </p:anim>
                                    <p:anim calcmode="lin" valueType="num">
                                      <p:cBhvr additive="base">
                                        <p:cTn id="20" dur="45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C9EB7CFB-5D38-73EE-5491-F8219956DE87}"/>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ĐÔ THỊ HÓA &amp; ĐỘNG LỰC  •  TRỌNG TÂM</a:t>
            </a:r>
          </a:p>
        </p:txBody>
      </p:sp>
      <p:sp>
        <p:nvSpPr>
          <p:cNvPr id="3" name="!!Anchor_Slide_Tracker">
            <a:extLst>
              <a:ext uri="{FF2B5EF4-FFF2-40B4-BE49-F238E27FC236}">
                <a16:creationId xmlns:a16="http://schemas.microsoft.com/office/drawing/2014/main" id="{B7E240DB-3625-3EFA-51FD-48B35827BEDC}"/>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05 / 07</a:t>
            </a:r>
          </a:p>
        </p:txBody>
      </p:sp>
      <p:sp>
        <p:nvSpPr>
          <p:cNvPr id="4" name="!!Anchor_Assertion_Title">
            <a:extLst>
              <a:ext uri="{FF2B5EF4-FFF2-40B4-BE49-F238E27FC236}">
                <a16:creationId xmlns:a16="http://schemas.microsoft.com/office/drawing/2014/main" id="{02785B09-F831-553F-32B5-4E324303E60D}"/>
              </a:ext>
            </a:extLst>
          </p:cNvPr>
          <p:cNvSpPr txBox="1"/>
          <p:nvPr/>
        </p:nvSpPr>
        <p:spPr>
          <a:xfrm>
            <a:off x="609600" y="711200"/>
            <a:ext cx="10972800" cy="738664"/>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Đô Thị Hoá Là Một Khái Niệm Rộng Bao Hàm Cả Nội Dung Tăng Trưởng Dân Số Thành Thị</a:t>
            </a:r>
            <a:endParaRPr lang="en-US" sz="2400" b="1">
              <a:solidFill>
                <a:srgbClr val="0F172A"/>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BB357CFB-013F-DD62-3DAE-0EDB4717349F}"/>
              </a:ext>
            </a:extLst>
          </p:cNvPr>
          <p:cNvGrpSpPr/>
          <p:nvPr/>
        </p:nvGrpSpPr>
        <p:grpSpPr>
          <a:xfrm>
            <a:off x="609600" y="1676400"/>
            <a:ext cx="5376672" cy="4521200"/>
            <a:chOff x="609600" y="1676400"/>
            <a:chExt cx="5376672" cy="4521200"/>
          </a:xfrm>
        </p:grpSpPr>
        <p:sp>
          <p:nvSpPr>
            <p:cNvPr id="5" name="Rectangle: Rounded Corners 4">
              <a:extLst>
                <a:ext uri="{FF2B5EF4-FFF2-40B4-BE49-F238E27FC236}">
                  <a16:creationId xmlns:a16="http://schemas.microsoft.com/office/drawing/2014/main" id="{405370FD-5B91-BB41-EC45-BCE6CCFCE12E}"/>
                </a:ext>
              </a:extLst>
            </p:cNvPr>
            <p:cNvSpPr/>
            <p:nvPr/>
          </p:nvSpPr>
          <p:spPr>
            <a:xfrm>
              <a:off x="609600" y="1676400"/>
              <a:ext cx="5376672"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FFF1864-9D29-B865-FB90-4A4B078B147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11200" y="1778000"/>
              <a:ext cx="5173472" cy="4318000"/>
            </a:xfrm>
            <a:prstGeom prst="rect">
              <a:avLst/>
            </a:prstGeom>
          </p:spPr>
        </p:pic>
      </p:grpSp>
      <p:grpSp>
        <p:nvGrpSpPr>
          <p:cNvPr id="14" name="!!Stage_Sub_Card_1">
            <a:extLst>
              <a:ext uri="{FF2B5EF4-FFF2-40B4-BE49-F238E27FC236}">
                <a16:creationId xmlns:a16="http://schemas.microsoft.com/office/drawing/2014/main" id="{7A70F967-6F7F-4B3C-8440-BAA8D2150061}"/>
              </a:ext>
            </a:extLst>
          </p:cNvPr>
          <p:cNvGrpSpPr/>
          <p:nvPr/>
        </p:nvGrpSpPr>
        <p:grpSpPr>
          <a:xfrm>
            <a:off x="6214872" y="1676400"/>
            <a:ext cx="5367528" cy="1405467"/>
            <a:chOff x="6214872" y="1676400"/>
            <a:chExt cx="5367528" cy="1405467"/>
          </a:xfrm>
        </p:grpSpPr>
        <p:sp>
          <p:nvSpPr>
            <p:cNvPr id="9" name="Rectangle: Rounded Corners 8">
              <a:extLst>
                <a:ext uri="{FF2B5EF4-FFF2-40B4-BE49-F238E27FC236}">
                  <a16:creationId xmlns:a16="http://schemas.microsoft.com/office/drawing/2014/main" id="{47839AC0-708D-EBC3-065C-B66C35B5E0FB}"/>
                </a:ext>
              </a:extLst>
            </p:cNvPr>
            <p:cNvSpPr/>
            <p:nvPr/>
          </p:nvSpPr>
          <p:spPr>
            <a:xfrm>
              <a:off x="6214872" y="1676400"/>
              <a:ext cx="5367528"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C6F14A5-C4D2-3D7F-8D3A-74F5D2844426}"/>
                </a:ext>
              </a:extLst>
            </p:cNvPr>
            <p:cNvSpPr/>
            <p:nvPr/>
          </p:nvSpPr>
          <p:spPr>
            <a:xfrm>
              <a:off x="6392672"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2421BAD0-C842-13BD-18A3-A8BA11EF364D}"/>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56172" y="1917700"/>
              <a:ext cx="254000" cy="254000"/>
            </a:xfrm>
            <a:prstGeom prst="rect">
              <a:avLst/>
            </a:prstGeom>
          </p:spPr>
        </p:pic>
        <p:sp>
          <p:nvSpPr>
            <p:cNvPr id="13" name="TextBox 12">
              <a:extLst>
                <a:ext uri="{FF2B5EF4-FFF2-40B4-BE49-F238E27FC236}">
                  <a16:creationId xmlns:a16="http://schemas.microsoft.com/office/drawing/2014/main" id="{37A30FF4-93FB-4627-1F02-57415004918F}"/>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1. Bản Chất Khái Niệm Đô Thị Hóa
</a:t>
              </a:r>
              <a:r>
                <a:rPr lang="vi-VN" sz="1400" b="1">
                  <a:solidFill>
                    <a:srgbClr val="475569"/>
                  </a:solidFill>
                  <a:latin typeface="Segoe UI" panose="020B0502040204020203" pitchFamily="34" charset="0"/>
                </a:rPr>
                <a:t>Đô thị hoá là một khái niệm rộng bao hàm cả nội dung tăng trưởng dân số thành thị do chuyển dịch cơ cấu kinh tế và di cư nông thôn - thành thị.</a:t>
              </a:r>
              <a:endParaRPr lang="en-US" sz="1400" b="1">
                <a:solidFill>
                  <a:srgbClr val="475569"/>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49652EAC-1B9A-C7A7-245A-D82213B15E19}"/>
              </a:ext>
            </a:extLst>
          </p:cNvPr>
          <p:cNvGrpSpPr/>
          <p:nvPr/>
        </p:nvGrpSpPr>
        <p:grpSpPr>
          <a:xfrm>
            <a:off x="6214872" y="3234267"/>
            <a:ext cx="5367528" cy="1405466"/>
            <a:chOff x="6214872" y="3234267"/>
            <a:chExt cx="5367528" cy="1405466"/>
          </a:xfrm>
        </p:grpSpPr>
        <p:sp>
          <p:nvSpPr>
            <p:cNvPr id="15" name="Rectangle: Rounded Corners 14">
              <a:extLst>
                <a:ext uri="{FF2B5EF4-FFF2-40B4-BE49-F238E27FC236}">
                  <a16:creationId xmlns:a16="http://schemas.microsoft.com/office/drawing/2014/main" id="{B46EEC4C-0116-70EB-2B1D-6E5146F05596}"/>
                </a:ext>
              </a:extLst>
            </p:cNvPr>
            <p:cNvSpPr/>
            <p:nvPr/>
          </p:nvSpPr>
          <p:spPr>
            <a:xfrm>
              <a:off x="6214872" y="3234267"/>
              <a:ext cx="5367528"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80BB9F3-D387-FBF1-6C56-B4B037ADFB26}"/>
                </a:ext>
              </a:extLst>
            </p:cNvPr>
            <p:cNvSpPr/>
            <p:nvPr/>
          </p:nvSpPr>
          <p:spPr>
            <a:xfrm>
              <a:off x="6392672"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0F79116C-EF69-C8BC-0FB7-E81A267267D1}"/>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3475567"/>
              <a:ext cx="254000" cy="254000"/>
            </a:xfrm>
            <a:prstGeom prst="rect">
              <a:avLst/>
            </a:prstGeom>
          </p:spPr>
        </p:pic>
        <p:sp>
          <p:nvSpPr>
            <p:cNvPr id="19" name="TextBox 18">
              <a:extLst>
                <a:ext uri="{FF2B5EF4-FFF2-40B4-BE49-F238E27FC236}">
                  <a16:creationId xmlns:a16="http://schemas.microsoft.com/office/drawing/2014/main" id="{F2EA81AD-A468-FD2B-DC59-23C9EFA38908}"/>
                </a:ext>
              </a:extLst>
            </p:cNvPr>
            <p:cNvSpPr txBox="1"/>
            <p:nvPr/>
          </p:nvSpPr>
          <p:spPr>
            <a:xfrm>
              <a:off x="6875272" y="3361267"/>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2. Tiêu Chí Phân Loại Thành Phố
</a:t>
              </a:r>
              <a:r>
                <a:rPr lang="vi-VN" sz="1400" b="1">
                  <a:solidFill>
                    <a:srgbClr val="475569"/>
                  </a:solidFill>
                  <a:latin typeface="Segoe UI" panose="020B0502040204020203" pitchFamily="34" charset="0"/>
                </a:rPr>
                <a:t>Trong khái niệm đô thị hoá, việc hiểu thế nào là một thành phố dựa trên 5 tiêu thức: quy mô dân số, mật độ cư trú, tỷ lệ phi nông nghiệp và hạ tầng.</a:t>
              </a:r>
              <a:endParaRPr lang="en-US" sz="1400" b="1">
                <a:solidFill>
                  <a:srgbClr val="475569"/>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0F2D317A-C8DD-EF55-69C2-5E2F6FB51E73}"/>
              </a:ext>
            </a:extLst>
          </p:cNvPr>
          <p:cNvGrpSpPr/>
          <p:nvPr/>
        </p:nvGrpSpPr>
        <p:grpSpPr>
          <a:xfrm>
            <a:off x="6214872" y="4792133"/>
            <a:ext cx="5367528" cy="1405467"/>
            <a:chOff x="6214872" y="4792133"/>
            <a:chExt cx="5367528" cy="1405467"/>
          </a:xfrm>
        </p:grpSpPr>
        <p:sp>
          <p:nvSpPr>
            <p:cNvPr id="21" name="Rectangle: Rounded Corners 20">
              <a:extLst>
                <a:ext uri="{FF2B5EF4-FFF2-40B4-BE49-F238E27FC236}">
                  <a16:creationId xmlns:a16="http://schemas.microsoft.com/office/drawing/2014/main" id="{81DF11B3-05A9-D6F6-4A11-391DA6F235D7}"/>
                </a:ext>
              </a:extLst>
            </p:cNvPr>
            <p:cNvSpPr/>
            <p:nvPr/>
          </p:nvSpPr>
          <p:spPr>
            <a:xfrm>
              <a:off x="6214872" y="4792133"/>
              <a:ext cx="5367528"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998B21A-2AB9-1918-47DC-B5A9185A6C99}"/>
                </a:ext>
              </a:extLst>
            </p:cNvPr>
            <p:cNvSpPr/>
            <p:nvPr/>
          </p:nvSpPr>
          <p:spPr>
            <a:xfrm>
              <a:off x="6392672"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3A37D127-59EE-256D-2236-A3951370DE4B}"/>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5033433"/>
              <a:ext cx="254000" cy="254000"/>
            </a:xfrm>
            <a:prstGeom prst="rect">
              <a:avLst/>
            </a:prstGeom>
          </p:spPr>
        </p:pic>
        <p:sp>
          <p:nvSpPr>
            <p:cNvPr id="25" name="TextBox 24">
              <a:extLst>
                <a:ext uri="{FF2B5EF4-FFF2-40B4-BE49-F238E27FC236}">
                  <a16:creationId xmlns:a16="http://schemas.microsoft.com/office/drawing/2014/main" id="{F6509A44-2625-03C6-D9C1-B908AC3AE0DB}"/>
                </a:ext>
              </a:extLst>
            </p:cNvPr>
            <p:cNvSpPr txBox="1"/>
            <p:nvPr/>
          </p:nvSpPr>
          <p:spPr>
            <a:xfrm>
              <a:off x="6875272" y="4919133"/>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3. Động Lực Lực Đẩy - Lực Hút
</a:t>
              </a:r>
              <a:r>
                <a:rPr lang="vi-VN" sz="1400" b="1">
                  <a:solidFill>
                    <a:srgbClr val="475569"/>
                  </a:solidFill>
                  <a:latin typeface="Segoe UI" panose="020B0502040204020203" pitchFamily="34" charset="0"/>
                </a:rPr>
                <a:t>Lực đẩy nông thôn (thu nhập thấp, thiếu việc) kết hợp lực hút đô thị (việc làm, giáo dục, dịch vụ) tạo nên động cơ di dân mạnh mẽ.</a:t>
              </a:r>
              <a:endParaRPr lang="en-US" sz="1400" b="1">
                <a:solidFill>
                  <a:srgbClr val="475569"/>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ECFFAA58-4512-3DE2-246F-3F0F0EBACAB0}"/>
              </a:ext>
            </a:extLst>
          </p:cNvPr>
          <p:cNvSpPr txBox="1"/>
          <p:nvPr/>
        </p:nvSpPr>
        <p:spPr>
          <a:xfrm>
            <a:off x="609600" y="6273800"/>
            <a:ext cx="10972800" cy="246221"/>
          </a:xfrm>
          <a:prstGeom prst="rect">
            <a:avLst/>
          </a:prstGeom>
          <a:noFill/>
        </p:spPr>
        <p:txBody>
          <a:bodyPr vert="horz" rtlCol="0">
            <a:spAutoFit/>
          </a:bodyPr>
          <a:lstStyle/>
          <a:p>
            <a:r>
              <a:rPr lang="vi-VN" sz="1000">
                <a:solidFill>
                  <a:srgbClr val="475569"/>
                </a:solidFill>
                <a:latin typeface="Segoe UI" panose="020B0502040204020203" pitchFamily="34" charset="0"/>
              </a:rPr>
              <a:t>Everett Lee Theory &amp; Báo cáo Di cư Quốc gia  |  Make Slide Pro V6.2 Certified</a:t>
            </a:r>
            <a:endParaRPr lang="en-US" sz="1000">
              <a:solidFill>
                <a:srgbClr val="475569"/>
              </a:solidFill>
              <a:latin typeface="Segoe UI" panose="020B0502040204020203" pitchFamily="34" charset="0"/>
            </a:endParaRPr>
          </a:p>
        </p:txBody>
      </p:sp>
    </p:spTree>
    <p:extLst>
      <p:ext uri="{BB962C8B-B14F-4D97-AF65-F5344CB8AC3E}">
        <p14:creationId xmlns:p14="http://schemas.microsoft.com/office/powerpoint/2010/main" val="39213186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7D53924A-0F1E-C247-B7CD-F6C76627ACB6}"/>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THỰC TIỄN VIỆT NAM  •  TRỌNG TÂM</a:t>
            </a:r>
          </a:p>
        </p:txBody>
      </p:sp>
      <p:sp>
        <p:nvSpPr>
          <p:cNvPr id="3" name="!!Anchor_Slide_Tracker">
            <a:extLst>
              <a:ext uri="{FF2B5EF4-FFF2-40B4-BE49-F238E27FC236}">
                <a16:creationId xmlns:a16="http://schemas.microsoft.com/office/drawing/2014/main" id="{E514E245-BE78-0F85-4DA8-16444D02A816}"/>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06 / 07</a:t>
            </a:r>
          </a:p>
        </p:txBody>
      </p:sp>
      <p:sp>
        <p:nvSpPr>
          <p:cNvPr id="4" name="!!Anchor_Assertion_Title">
            <a:extLst>
              <a:ext uri="{FF2B5EF4-FFF2-40B4-BE49-F238E27FC236}">
                <a16:creationId xmlns:a16="http://schemas.microsoft.com/office/drawing/2014/main" id="{51902E9F-C1D7-EBFD-8AE6-8C5535951936}"/>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Đông Nam Bộ Là Trọng Điểm Di Dân Gây Áp Lực Lớn Lên Hạ Tầng</a:t>
            </a:r>
          </a:p>
        </p:txBody>
      </p:sp>
      <p:grpSp>
        <p:nvGrpSpPr>
          <p:cNvPr id="11" name="!!Stage_Hero_Container">
            <a:extLst>
              <a:ext uri="{FF2B5EF4-FFF2-40B4-BE49-F238E27FC236}">
                <a16:creationId xmlns:a16="http://schemas.microsoft.com/office/drawing/2014/main" id="{C9608A9F-C19D-9786-DF44-90FA380ADE8D}"/>
              </a:ext>
            </a:extLst>
          </p:cNvPr>
          <p:cNvGrpSpPr/>
          <p:nvPr/>
        </p:nvGrpSpPr>
        <p:grpSpPr>
          <a:xfrm>
            <a:off x="609600" y="1676400"/>
            <a:ext cx="3522133" cy="4521200"/>
            <a:chOff x="609600" y="1676400"/>
            <a:chExt cx="3522133" cy="4521200"/>
          </a:xfrm>
        </p:grpSpPr>
        <p:sp>
          <p:nvSpPr>
            <p:cNvPr id="5" name="Rectangle: Rounded Corners 4">
              <a:extLst>
                <a:ext uri="{FF2B5EF4-FFF2-40B4-BE49-F238E27FC236}">
                  <a16:creationId xmlns:a16="http://schemas.microsoft.com/office/drawing/2014/main" id="{E8074AE7-AE9A-47CC-5261-A2D709C3E536}"/>
                </a:ext>
              </a:extLst>
            </p:cNvPr>
            <p:cNvSpPr/>
            <p:nvPr/>
          </p:nvSpPr>
          <p:spPr>
            <a:xfrm>
              <a:off x="609600"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0280191-DE80-B5FD-B9BE-DF7DE3E4F7BF}"/>
                </a:ext>
              </a:extLst>
            </p:cNvPr>
            <p:cNvSpPr/>
            <p:nvPr/>
          </p:nvSpPr>
          <p:spPr>
            <a:xfrm>
              <a:off x="812800"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E94E0C2-4E4C-F8F9-58D5-4A3F02F3C54D}"/>
                </a:ext>
              </a:extLst>
            </p:cNvPr>
            <p:cNvSpPr/>
            <p:nvPr/>
          </p:nvSpPr>
          <p:spPr>
            <a:xfrm>
              <a:off x="812800"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D0498FCC-3BEF-C56B-342D-34F26EBFAFD6}"/>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2070100"/>
              <a:ext cx="279400" cy="279400"/>
            </a:xfrm>
            <a:prstGeom prst="rect">
              <a:avLst/>
            </a:prstGeom>
          </p:spPr>
        </p:pic>
        <p:sp>
          <p:nvSpPr>
            <p:cNvPr id="10" name="TextBox 9">
              <a:extLst>
                <a:ext uri="{FF2B5EF4-FFF2-40B4-BE49-F238E27FC236}">
                  <a16:creationId xmlns:a16="http://schemas.microsoft.com/office/drawing/2014/main" id="{60FD2703-8DC6-E4F5-AF5D-57730132FB5F}"/>
                </a:ext>
              </a:extLst>
            </p:cNvPr>
            <p:cNvSpPr txBox="1"/>
            <p:nvPr/>
          </p:nvSpPr>
          <p:spPr>
            <a:xfrm>
              <a:off x="812800" y="2540000"/>
              <a:ext cx="3115733" cy="1620572"/>
            </a:xfrm>
            <a:prstGeom prst="rect">
              <a:avLst/>
            </a:prstGeom>
            <a:noFill/>
          </p:spPr>
          <p:txBody>
            <a:bodyPr vert="horz" wrap="square" lIns="0" tIns="0" rtlCol="0">
              <a:spAutoFit/>
            </a:bodyPr>
            <a:lstStyle/>
            <a:p>
              <a:pPr>
                <a:lnSpc>
                  <a:spcPct val="125000"/>
                </a:lnSpc>
                <a:spcAft>
                  <a:spcPts val="800"/>
                </a:spcAft>
              </a:pPr>
              <a:r>
                <a:rPr lang="vi-VN" b="1">
                  <a:solidFill>
                    <a:srgbClr val="0F172A"/>
                  </a:solidFill>
                  <a:latin typeface="Segoe UI" panose="020B0502040204020203" pitchFamily="34" charset="0"/>
                </a:rPr>
                <a:t>1. Dòng Di Cư Tập Trung
</a:t>
              </a:r>
              <a:r>
                <a:rPr lang="vi-VN" sz="1500">
                  <a:solidFill>
                    <a:srgbClr val="475569"/>
                  </a:solidFill>
                  <a:latin typeface="Segoe UI" panose="020B0502040204020203" pitchFamily="34" charset="0"/>
                </a:rPr>
                <a:t>Luồng di cư lớn nhất là từ Tây Nam Bộ và Bắc Trung Bộ đổ về TP.HCM, Bình Dương, Đồng Nai làm việc tại các khu chế xuất.</a:t>
              </a:r>
              <a:endParaRPr lang="en-US" sz="1500">
                <a:solidFill>
                  <a:srgbClr val="475569"/>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5048EC15-DB5A-90CF-3513-77EB370E6AAB}"/>
              </a:ext>
            </a:extLst>
          </p:cNvPr>
          <p:cNvGrpSpPr/>
          <p:nvPr/>
        </p:nvGrpSpPr>
        <p:grpSpPr>
          <a:xfrm>
            <a:off x="4334933" y="1676400"/>
            <a:ext cx="3522134" cy="4521200"/>
            <a:chOff x="4334933" y="1676400"/>
            <a:chExt cx="3522134" cy="4521200"/>
          </a:xfrm>
        </p:grpSpPr>
        <p:sp>
          <p:nvSpPr>
            <p:cNvPr id="12" name="Rectangle: Rounded Corners 11">
              <a:extLst>
                <a:ext uri="{FF2B5EF4-FFF2-40B4-BE49-F238E27FC236}">
                  <a16:creationId xmlns:a16="http://schemas.microsoft.com/office/drawing/2014/main" id="{CB3D575C-F410-8EAD-38C4-000D8C17F67C}"/>
                </a:ext>
              </a:extLst>
            </p:cNvPr>
            <p:cNvSpPr/>
            <p:nvPr/>
          </p:nvSpPr>
          <p:spPr>
            <a:xfrm>
              <a:off x="4334933" y="1676400"/>
              <a:ext cx="3522134"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AE8245-95E0-A798-D8CE-7BEE5A5519FC}"/>
                </a:ext>
              </a:extLst>
            </p:cNvPr>
            <p:cNvSpPr/>
            <p:nvPr/>
          </p:nvSpPr>
          <p:spPr>
            <a:xfrm>
              <a:off x="4538133"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B861168-C66A-A974-4957-0FAB83CC1F80}"/>
                </a:ext>
              </a:extLst>
            </p:cNvPr>
            <p:cNvSpPr/>
            <p:nvPr/>
          </p:nvSpPr>
          <p:spPr>
            <a:xfrm>
              <a:off x="4538133"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A149E869-438B-F846-C517-4A183E7EBA0C}"/>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2070100"/>
              <a:ext cx="279400" cy="279400"/>
            </a:xfrm>
            <a:prstGeom prst="rect">
              <a:avLst/>
            </a:prstGeom>
          </p:spPr>
        </p:pic>
        <p:sp>
          <p:nvSpPr>
            <p:cNvPr id="17" name="TextBox 16">
              <a:extLst>
                <a:ext uri="{FF2B5EF4-FFF2-40B4-BE49-F238E27FC236}">
                  <a16:creationId xmlns:a16="http://schemas.microsoft.com/office/drawing/2014/main" id="{EC3F7459-C09D-309C-B0E3-0EB9E752AFDA}"/>
                </a:ext>
              </a:extLst>
            </p:cNvPr>
            <p:cNvSpPr txBox="1"/>
            <p:nvPr/>
          </p:nvSpPr>
          <p:spPr>
            <a:xfrm>
              <a:off x="4538133" y="2540000"/>
              <a:ext cx="3115733" cy="1620572"/>
            </a:xfrm>
            <a:prstGeom prst="rect">
              <a:avLst/>
            </a:prstGeom>
            <a:noFill/>
          </p:spPr>
          <p:txBody>
            <a:bodyPr vert="horz" wrap="square" lIns="0" tIns="0" rtlCol="0">
              <a:spAutoFit/>
            </a:bodyPr>
            <a:lstStyle/>
            <a:p>
              <a:pPr>
                <a:lnSpc>
                  <a:spcPct val="125000"/>
                </a:lnSpc>
                <a:spcAft>
                  <a:spcPts val="800"/>
                </a:spcAft>
              </a:pPr>
              <a:r>
                <a:rPr lang="vi-VN" b="1">
                  <a:solidFill>
                    <a:srgbClr val="0F172A"/>
                  </a:solidFill>
                  <a:latin typeface="Segoe UI" panose="020B0502040204020203" pitchFamily="34" charset="0"/>
                </a:rPr>
                <a:t>2. Trẻ Hóa Và Nữ Hóa Di Cư
</a:t>
              </a:r>
              <a:r>
                <a:rPr lang="vi-VN" sz="1500">
                  <a:solidFill>
                    <a:srgbClr val="475569"/>
                  </a:solidFill>
                  <a:latin typeface="Segoe UI" panose="020B0502040204020203" pitchFamily="34" charset="0"/>
                </a:rPr>
                <a:t>Tỷ lệ phụ nữ tham gia di cư ngày càng cao; lao động di cư chủ yếu từ 18-35 tuổi, đóng góp quan trọng vào tăng trưởng GDP.</a:t>
              </a:r>
              <a:endParaRPr lang="en-US" sz="1500">
                <a:solidFill>
                  <a:srgbClr val="475569"/>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E90165B9-724E-68D6-B8D8-0915C03D22FF}"/>
              </a:ext>
            </a:extLst>
          </p:cNvPr>
          <p:cNvGrpSpPr/>
          <p:nvPr/>
        </p:nvGrpSpPr>
        <p:grpSpPr>
          <a:xfrm>
            <a:off x="8060267" y="1676400"/>
            <a:ext cx="3522133" cy="4521200"/>
            <a:chOff x="8060267" y="1676400"/>
            <a:chExt cx="3522133" cy="4521200"/>
          </a:xfrm>
        </p:grpSpPr>
        <p:sp>
          <p:nvSpPr>
            <p:cNvPr id="19" name="Rectangle: Rounded Corners 18">
              <a:extLst>
                <a:ext uri="{FF2B5EF4-FFF2-40B4-BE49-F238E27FC236}">
                  <a16:creationId xmlns:a16="http://schemas.microsoft.com/office/drawing/2014/main" id="{BBA7D070-11D1-EC37-C6F0-6E94C935D90E}"/>
                </a:ext>
              </a:extLst>
            </p:cNvPr>
            <p:cNvSpPr/>
            <p:nvPr/>
          </p:nvSpPr>
          <p:spPr>
            <a:xfrm>
              <a:off x="8060267"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194CDE-6573-221A-DDA9-C3C329CF2134}"/>
                </a:ext>
              </a:extLst>
            </p:cNvPr>
            <p:cNvSpPr/>
            <p:nvPr/>
          </p:nvSpPr>
          <p:spPr>
            <a:xfrm>
              <a:off x="8263467"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44122B7A-23E1-84AD-0590-0F03C94DF70F}"/>
                </a:ext>
              </a:extLst>
            </p:cNvPr>
            <p:cNvSpPr/>
            <p:nvPr/>
          </p:nvSpPr>
          <p:spPr>
            <a:xfrm>
              <a:off x="8263467"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31D8BA49-D43A-A1F5-4636-372B5BC07BC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2070100"/>
              <a:ext cx="279400" cy="279400"/>
            </a:xfrm>
            <a:prstGeom prst="rect">
              <a:avLst/>
            </a:prstGeom>
          </p:spPr>
        </p:pic>
        <p:sp>
          <p:nvSpPr>
            <p:cNvPr id="24" name="TextBox 23">
              <a:extLst>
                <a:ext uri="{FF2B5EF4-FFF2-40B4-BE49-F238E27FC236}">
                  <a16:creationId xmlns:a16="http://schemas.microsoft.com/office/drawing/2014/main" id="{1E76F0BC-E4B8-A6B5-E9FA-AF82D03CAF18}"/>
                </a:ext>
              </a:extLst>
            </p:cNvPr>
            <p:cNvSpPr txBox="1"/>
            <p:nvPr/>
          </p:nvSpPr>
          <p:spPr>
            <a:xfrm>
              <a:off x="8263467" y="2540000"/>
              <a:ext cx="3115733" cy="1966820"/>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3. Rào Cản An Sinh &amp; Hộ Khẩu
</a:t>
              </a:r>
              <a:r>
                <a:rPr lang="vi-VN" sz="1500">
                  <a:solidFill>
                    <a:srgbClr val="475569"/>
                  </a:solidFill>
                  <a:latin typeface="Segoe UI" panose="020B0502040204020203" pitchFamily="34" charset="0"/>
                </a:rPr>
                <a:t>Khó khăn trong tiếp cận nhà ở giá rẻ, trường học công lập cho con em lao động di cư và bảo hiểm xã hội tự nguyện.</a:t>
              </a:r>
              <a:endParaRPr lang="en-US" sz="1500">
                <a:solidFill>
                  <a:srgbClr val="475569"/>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6652EC6E-EFDF-A162-0332-39AD931B1E9A}"/>
              </a:ext>
            </a:extLst>
          </p:cNvPr>
          <p:cNvSpPr txBox="1"/>
          <p:nvPr/>
        </p:nvSpPr>
        <p:spPr>
          <a:xfrm>
            <a:off x="609600" y="6273800"/>
            <a:ext cx="10972800" cy="246221"/>
          </a:xfrm>
          <a:prstGeom prst="rect">
            <a:avLst/>
          </a:prstGeom>
          <a:noFill/>
        </p:spPr>
        <p:txBody>
          <a:bodyPr vert="horz" rtlCol="0">
            <a:spAutoFit/>
          </a:bodyPr>
          <a:lstStyle/>
          <a:p>
            <a:r>
              <a:rPr lang="vi-VN" sz="1000">
                <a:solidFill>
                  <a:srgbClr val="475569"/>
                </a:solidFill>
                <a:latin typeface="Segoe UI" panose="020B0502040204020203" pitchFamily="34" charset="0"/>
              </a:rPr>
              <a:t>Khảo sát Di cư Nội địa &amp; TĐTDS 2019  |  Make Slide Pro V6.2 Certified</a:t>
            </a:r>
            <a:endParaRPr lang="en-US" sz="1000">
              <a:solidFill>
                <a:srgbClr val="475569"/>
              </a:solidFill>
              <a:latin typeface="Segoe UI" panose="020B0502040204020203" pitchFamily="34" charset="0"/>
            </a:endParaRPr>
          </a:p>
        </p:txBody>
      </p:sp>
    </p:spTree>
    <p:extLst>
      <p:ext uri="{BB962C8B-B14F-4D97-AF65-F5344CB8AC3E}">
        <p14:creationId xmlns:p14="http://schemas.microsoft.com/office/powerpoint/2010/main" val="406762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72E"/>
        </a:solidFill>
        <a:effectLst/>
      </p:bgPr>
    </p:bg>
    <p:spTree>
      <p:nvGrpSpPr>
        <p:cNvPr id="1" name=""/>
        <p:cNvGrpSpPr/>
        <p:nvPr/>
      </p:nvGrpSpPr>
      <p:grpSpPr>
        <a:xfrm>
          <a:off x="0" y="0"/>
          <a:ext cx="0" cy="0"/>
          <a:chOff x="0" y="0"/>
          <a:chExt cx="0" cy="0"/>
        </a:xfrm>
      </p:grpSpPr>
      <p:sp>
        <p:nvSpPr>
          <p:cNvPr id="2" name="Deco_Accent_1">
            <a:extLst>
              <a:ext uri="{FF2B5EF4-FFF2-40B4-BE49-F238E27FC236}">
                <a16:creationId xmlns:a16="http://schemas.microsoft.com/office/drawing/2014/main" id="{8C49C407-FA43-4E74-2BE2-73C0B75593B8}"/>
              </a:ext>
            </a:extLst>
          </p:cNvPr>
          <p:cNvSpPr/>
          <p:nvPr/>
        </p:nvSpPr>
        <p:spPr>
          <a:xfrm>
            <a:off x="8534400" y="304800"/>
            <a:ext cx="3048000" cy="3048000"/>
          </a:xfrm>
          <a:prstGeom prst="ellipse">
            <a:avLst/>
          </a:prstGeom>
          <a:solidFill>
            <a:srgbClr val="0A21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eco_Accent_2">
            <a:extLst>
              <a:ext uri="{FF2B5EF4-FFF2-40B4-BE49-F238E27FC236}">
                <a16:creationId xmlns:a16="http://schemas.microsoft.com/office/drawing/2014/main" id="{462BE851-80B9-E904-EA2D-7CF37C501350}"/>
              </a:ext>
            </a:extLst>
          </p:cNvPr>
          <p:cNvSpPr/>
          <p:nvPr/>
        </p:nvSpPr>
        <p:spPr>
          <a:xfrm>
            <a:off x="9296400" y="4165600"/>
            <a:ext cx="2286000" cy="2286000"/>
          </a:xfrm>
          <a:prstGeom prst="rect">
            <a:avLst/>
          </a:prstGeom>
          <a:solidFill>
            <a:srgbClr val="061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B628142-2AAB-D25F-4577-A9CF427AE992}"/>
              </a:ext>
            </a:extLst>
          </p:cNvPr>
          <p:cNvSpPr/>
          <p:nvPr/>
        </p:nvSpPr>
        <p:spPr>
          <a:xfrm>
            <a:off x="609600" y="965200"/>
            <a:ext cx="609600" cy="635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CAAC55A-8A64-10CF-EAE5-573B092732FD}"/>
              </a:ext>
            </a:extLst>
          </p:cNvPr>
          <p:cNvSpPr txBox="1"/>
          <p:nvPr/>
        </p:nvSpPr>
        <p:spPr>
          <a:xfrm>
            <a:off x="609600" y="1168400"/>
            <a:ext cx="10972800" cy="276999"/>
          </a:xfrm>
          <a:prstGeom prst="rect">
            <a:avLst/>
          </a:prstGeom>
          <a:noFill/>
        </p:spPr>
        <p:txBody>
          <a:bodyPr vert="horz" rtlCol="0">
            <a:spAutoFit/>
          </a:bodyPr>
          <a:lstStyle/>
          <a:p>
            <a:r>
              <a:rPr lang="vi-VN" sz="1200" b="1">
                <a:solidFill>
                  <a:srgbClr val="0D9488"/>
                </a:solidFill>
                <a:latin typeface="Segoe UI" panose="020B0502040204020203" pitchFamily="34" charset="0"/>
              </a:rPr>
              <a:t>CHƯƠNG TRÌNH ĐÀO TẠO DÂN SỐ HỌC  •  TỔNG KẾT BÀI HỌC</a:t>
            </a:r>
            <a:endParaRPr lang="en-US" sz="1200" b="1">
              <a:solidFill>
                <a:srgbClr val="0D9488"/>
              </a:solidFill>
              <a:latin typeface="Segoe UI" panose="020B0502040204020203" pitchFamily="34" charset="0"/>
            </a:endParaRPr>
          </a:p>
        </p:txBody>
      </p:sp>
      <p:sp>
        <p:nvSpPr>
          <p:cNvPr id="6" name="TextBox 5">
            <a:extLst>
              <a:ext uri="{FF2B5EF4-FFF2-40B4-BE49-F238E27FC236}">
                <a16:creationId xmlns:a16="http://schemas.microsoft.com/office/drawing/2014/main" id="{14C68E19-475F-8F91-BAE7-5B0B9B471560}"/>
              </a:ext>
            </a:extLst>
          </p:cNvPr>
          <p:cNvSpPr txBox="1"/>
          <p:nvPr/>
        </p:nvSpPr>
        <p:spPr>
          <a:xfrm>
            <a:off x="609600" y="1600200"/>
            <a:ext cx="9875520" cy="1200329"/>
          </a:xfrm>
          <a:prstGeom prst="rect">
            <a:avLst/>
          </a:prstGeom>
          <a:noFill/>
        </p:spPr>
        <p:txBody>
          <a:bodyPr vert="horz" wrap="square" rtlCol="0">
            <a:spAutoFit/>
          </a:bodyPr>
          <a:lstStyle/>
          <a:p>
            <a:r>
              <a:rPr lang="vi-VN" sz="3600" b="1">
                <a:solidFill>
                  <a:srgbClr val="FFFFFF"/>
                </a:solidFill>
                <a:latin typeface="Segoe UI" panose="020B0502040204020203" pitchFamily="34" charset="0"/>
              </a:rPr>
              <a:t>Quy Hoạch Phân Bố Dân Cư Gắn Liền Với Phát Triển Chuỗi Đô Thị Vệ Tinh</a:t>
            </a:r>
            <a:endParaRPr lang="en-US" sz="3600" b="1">
              <a:solidFill>
                <a:srgbClr val="FFFFFF"/>
              </a:solidFill>
              <a:latin typeface="Segoe UI" panose="020B0502040204020203" pitchFamily="34" charset="0"/>
            </a:endParaRPr>
          </a:p>
        </p:txBody>
      </p:sp>
      <p:sp>
        <p:nvSpPr>
          <p:cNvPr id="7" name="TextBox 6">
            <a:extLst>
              <a:ext uri="{FF2B5EF4-FFF2-40B4-BE49-F238E27FC236}">
                <a16:creationId xmlns:a16="http://schemas.microsoft.com/office/drawing/2014/main" id="{F5F5C4AD-AA4E-CB9A-B51D-2C292FF99AE8}"/>
              </a:ext>
            </a:extLst>
          </p:cNvPr>
          <p:cNvSpPr txBox="1"/>
          <p:nvPr/>
        </p:nvSpPr>
        <p:spPr>
          <a:xfrm>
            <a:off x="609600" y="3378200"/>
            <a:ext cx="9326880" cy="646331"/>
          </a:xfrm>
          <a:prstGeom prst="rect">
            <a:avLst/>
          </a:prstGeom>
          <a:noFill/>
        </p:spPr>
        <p:txBody>
          <a:bodyPr vert="horz" wrap="square" rtlCol="0">
            <a:spAutoFit/>
          </a:bodyPr>
          <a:lstStyle/>
          <a:p>
            <a:r>
              <a:rPr lang="en-US">
                <a:solidFill>
                  <a:srgbClr val="E2E8F0"/>
                </a:solidFill>
                <a:latin typeface="Segoe UI" panose="020B0502040204020203" pitchFamily="34" charset="0"/>
              </a:rPr>
              <a:t>Chính vì vậy Nghị quyết 21 (khóa XII) xác định vấn đề dân số: Tái phân bố dân số hợp lý là chìa khóa để giảm tải áp lực cho siêu đô thị.</a:t>
            </a:r>
          </a:p>
        </p:txBody>
      </p:sp>
      <p:sp>
        <p:nvSpPr>
          <p:cNvPr id="8" name="TextBox 7">
            <a:extLst>
              <a:ext uri="{FF2B5EF4-FFF2-40B4-BE49-F238E27FC236}">
                <a16:creationId xmlns:a16="http://schemas.microsoft.com/office/drawing/2014/main" id="{19761F88-5F2A-ADD9-9B32-328A572334E8}"/>
              </a:ext>
            </a:extLst>
          </p:cNvPr>
          <p:cNvSpPr txBox="1"/>
          <p:nvPr/>
        </p:nvSpPr>
        <p:spPr>
          <a:xfrm>
            <a:off x="609600" y="61976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Hệ Thống Bài Giảng Dân Số Học Chuẩn Hóa • Make Slide Pro V6.2 Certified</a:t>
            </a:r>
          </a:p>
        </p:txBody>
      </p:sp>
    </p:spTree>
    <p:extLst>
      <p:ext uri="{BB962C8B-B14F-4D97-AF65-F5344CB8AC3E}">
        <p14:creationId xmlns:p14="http://schemas.microsoft.com/office/powerpoint/2010/main" val="4236147777"/>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1075</Words>
  <Application>Microsoft Office PowerPoint</Application>
  <PresentationFormat>Custom</PresentationFormat>
  <Paragraphs>51</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Bahnschrift</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Ninh Bui</dc:creator>
  <cp:lastModifiedBy>Thanh Ninh Bui</cp:lastModifiedBy>
  <cp:revision>1</cp:revision>
  <dcterms:created xsi:type="dcterms:W3CDTF">2026-09-18T04:39:54Z</dcterms:created>
  <dcterms:modified xsi:type="dcterms:W3CDTF">2026-09-18T04:39:54Z</dcterms:modified>
</cp:coreProperties>
</file>