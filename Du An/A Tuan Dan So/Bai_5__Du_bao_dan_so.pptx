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BC73-B667-303D-C1E7-E6AE81A43E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A32856-0012-915B-6448-17CE5C55F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F2154C-557E-B477-89CC-7F31D7F70BFE}"/>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D401F851-1681-631A-C18A-C204713CD4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FECA0-B1EF-9C54-9A30-C9181CEBC80D}"/>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2342932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D9BE-F72C-65A0-6B6B-F45A492D8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F12ABB-0E41-078F-1B84-E55B6A9B46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930F3-AB53-AEF2-4A4F-A14A5DDABC4F}"/>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AD0EEC16-941C-C7C1-6BBD-5E93BB031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2A614F-A419-7D4A-8897-824303A9328B}"/>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224245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CC396-3D5E-24F0-A194-6D6943D66D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494842-C5CC-D85D-4055-5C7146ED3E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C173EA-988E-55FA-73F1-0DEAA903A3E3}"/>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8635C0E7-A3B3-ADA7-8D39-BF8732F03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19E9E-7A98-B104-0138-97C7A146A19B}"/>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1354856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7A020-EE45-AC67-5B75-B8517D12F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6AB1D5-C30E-5289-AC7F-2793A3EB8D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6E286C-0B4C-800D-957D-DCE7936915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EA297D-2AF6-054E-6E3F-E72C4CD8B0EC}"/>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6" name="Footer Placeholder 5">
            <a:extLst>
              <a:ext uri="{FF2B5EF4-FFF2-40B4-BE49-F238E27FC236}">
                <a16:creationId xmlns:a16="http://schemas.microsoft.com/office/drawing/2014/main" id="{6994A3E2-73F5-E6D3-608F-293073403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39E519-292D-17A6-9BA8-0062DECD0BE6}"/>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708214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C004-E1EB-9A7E-5389-BEB91E55ED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AC0194-73D9-1977-C6A2-76CCF89941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AED983-AC13-3C8A-5879-6D9A388FA2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0D1102-7CC7-8389-BF60-0E25C79504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BE053F-A3B5-373E-89E4-E445F2369D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FE0B81-F978-DC3B-4634-C8A06871F575}"/>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8" name="Footer Placeholder 7">
            <a:extLst>
              <a:ext uri="{FF2B5EF4-FFF2-40B4-BE49-F238E27FC236}">
                <a16:creationId xmlns:a16="http://schemas.microsoft.com/office/drawing/2014/main" id="{BEF55841-0CF0-0CCE-CBB2-7C06EF235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E432C7-A442-2997-49EC-06B191E172CD}"/>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1022224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A185-2C85-DA01-119E-64B4B28EB7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311EC9-314F-7CB7-4FC9-5A69B68C80A2}"/>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4" name="Footer Placeholder 3">
            <a:extLst>
              <a:ext uri="{FF2B5EF4-FFF2-40B4-BE49-F238E27FC236}">
                <a16:creationId xmlns:a16="http://schemas.microsoft.com/office/drawing/2014/main" id="{9EAAAC20-C75B-9035-5B1C-35359A3BC0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EFD015-32D5-C194-3054-4EFA4D847996}"/>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2383147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F612C1-33A6-336C-FDE8-29DA19B7B711}"/>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3" name="Footer Placeholder 2">
            <a:extLst>
              <a:ext uri="{FF2B5EF4-FFF2-40B4-BE49-F238E27FC236}">
                <a16:creationId xmlns:a16="http://schemas.microsoft.com/office/drawing/2014/main" id="{029BEC6F-10A2-BCC4-4F47-92B7B87209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52D0F-7A7B-54F5-EF53-D85E03338E78}"/>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3239030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BE25-286D-85C3-6C5D-DAC3B11DC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7D63F1-7975-DE83-6AD9-516413EA5B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B4B5DE-59BE-86E3-5783-CF437D7F2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1948AE-DC8A-3F2A-7C1D-646FA40DDA18}"/>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6" name="Footer Placeholder 5">
            <a:extLst>
              <a:ext uri="{FF2B5EF4-FFF2-40B4-BE49-F238E27FC236}">
                <a16:creationId xmlns:a16="http://schemas.microsoft.com/office/drawing/2014/main" id="{CFF463E7-FFA4-B5DA-0361-73AE615469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4BAC6A-F65D-3E44-D073-D8F109BF125D}"/>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68270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43A07-262E-014A-9E85-D90470A0DB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55231D-86FC-3E4B-CC8E-AD4EF635E0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8DF296-C936-2138-3B1A-A5850403F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9A16E-6BE0-2E6F-3A4E-AF374576F5E5}"/>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6" name="Footer Placeholder 5">
            <a:extLst>
              <a:ext uri="{FF2B5EF4-FFF2-40B4-BE49-F238E27FC236}">
                <a16:creationId xmlns:a16="http://schemas.microsoft.com/office/drawing/2014/main" id="{A476D012-9D00-CC78-6531-D1EBD22E44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49F7C2-7EE8-DCDB-3BAE-1A650FD46826}"/>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3181888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36CD-CA66-449E-FE7D-00E38EC813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881A3F-5B07-B432-4966-29F5DCCB11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2BF37-01C5-55B1-1D97-AE5ADCEF5F16}"/>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F7449CAB-63C4-D5F2-1721-17A21A774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7EA96-9CD0-5E8A-877F-9CBF7ED01A6A}"/>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799501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7B5043-6286-D7E1-AD0B-61223A7DB8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AE15FA-0EA2-33F2-878A-EF0A1769F4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D2444-53C7-7F00-D9D6-DF05496105BD}"/>
              </a:ext>
            </a:extLst>
          </p:cNvPr>
          <p:cNvSpPr>
            <a:spLocks noGrp="1"/>
          </p:cNvSpPr>
          <p:nvPr>
            <p:ph type="dt" sz="half" idx="10"/>
          </p:nvPr>
        </p:nvSpPr>
        <p:spPr/>
        <p:txBody>
          <a:body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5EF16DBA-590E-3840-8AB0-F50F847CB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B7BE5-24B1-05D3-9E88-9569EC4B2019}"/>
              </a:ext>
            </a:extLst>
          </p:cNvPr>
          <p:cNvSpPr>
            <a:spLocks noGrp="1"/>
          </p:cNvSpPr>
          <p:nvPr>
            <p:ph type="sldNum" sz="quarter" idx="12"/>
          </p:nvPr>
        </p:nvSpPr>
        <p:spPr/>
        <p:txBody>
          <a:bodyPr/>
          <a:lstStyle/>
          <a:p>
            <a:fld id="{80D04E21-E6DE-4465-A57D-3D5617094B9F}" type="slidenum">
              <a:rPr lang="en-US" smtClean="0"/>
              <a:t>‹#›</a:t>
            </a:fld>
            <a:endParaRPr lang="en-US"/>
          </a:p>
        </p:txBody>
      </p:sp>
    </p:spTree>
    <p:extLst>
      <p:ext uri="{BB962C8B-B14F-4D97-AF65-F5344CB8AC3E}">
        <p14:creationId xmlns:p14="http://schemas.microsoft.com/office/powerpoint/2010/main" val="426588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D884D5-071E-83D3-075C-E3615D1EC4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634ABD-9A9B-3550-52FC-D7CFB2D7D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4A0CD4-0043-508A-1AFB-E66226796A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3EB87E-4230-461D-AE9A-3413BED593C7}" type="datetimeFigureOut">
              <a:rPr lang="en-US" smtClean="0"/>
              <a:t>9/18/2026</a:t>
            </a:fld>
            <a:endParaRPr lang="en-US"/>
          </a:p>
        </p:txBody>
      </p:sp>
      <p:sp>
        <p:nvSpPr>
          <p:cNvPr id="5" name="Footer Placeholder 4">
            <a:extLst>
              <a:ext uri="{FF2B5EF4-FFF2-40B4-BE49-F238E27FC236}">
                <a16:creationId xmlns:a16="http://schemas.microsoft.com/office/drawing/2014/main" id="{1B39FD33-A6A8-9459-4138-38438F420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C20519-6FA9-AC73-F8C4-526A33BCAC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D04E21-E6DE-4465-A57D-3D5617094B9F}" type="slidenum">
              <a:rPr lang="en-US" smtClean="0"/>
              <a:t>‹#›</a:t>
            </a:fld>
            <a:endParaRPr lang="en-US"/>
          </a:p>
        </p:txBody>
      </p:sp>
    </p:spTree>
    <p:extLst>
      <p:ext uri="{BB962C8B-B14F-4D97-AF65-F5344CB8AC3E}">
        <p14:creationId xmlns:p14="http://schemas.microsoft.com/office/powerpoint/2010/main" val="2548968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91E8D1-66DC-A553-8B5F-8EB1F7EC1442}"/>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FEB63EC-AF2D-28FA-4729-83D00EC65468}"/>
              </a:ext>
            </a:extLst>
          </p:cNvPr>
          <p:cNvSpPr txBox="1"/>
          <p:nvPr/>
        </p:nvSpPr>
        <p:spPr>
          <a:xfrm>
            <a:off x="609600" y="1041400"/>
            <a:ext cx="54864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QUAN CHUYÊN ĐỀ</a:t>
            </a:r>
            <a:endParaRPr lang="en-US" sz="1200" b="1">
              <a:solidFill>
                <a:srgbClr val="0D9488"/>
              </a:solidFill>
              <a:latin typeface="Segoe UI" panose="020B0502040204020203" pitchFamily="34" charset="0"/>
            </a:endParaRPr>
          </a:p>
        </p:txBody>
      </p:sp>
      <p:sp>
        <p:nvSpPr>
          <p:cNvPr id="4" name="TextBox 3">
            <a:extLst>
              <a:ext uri="{FF2B5EF4-FFF2-40B4-BE49-F238E27FC236}">
                <a16:creationId xmlns:a16="http://schemas.microsoft.com/office/drawing/2014/main" id="{5710CEE5-913F-0E63-521F-17E2DCA3C913}"/>
              </a:ext>
            </a:extLst>
          </p:cNvPr>
          <p:cNvSpPr txBox="1"/>
          <p:nvPr/>
        </p:nvSpPr>
        <p:spPr>
          <a:xfrm>
            <a:off x="609600" y="1447800"/>
            <a:ext cx="5486400" cy="1661993"/>
          </a:xfrm>
          <a:prstGeom prst="rect">
            <a:avLst/>
          </a:prstGeom>
          <a:noFill/>
        </p:spPr>
        <p:txBody>
          <a:bodyPr vert="horz" wrap="square" lIns="0" rtlCol="0">
            <a:spAutoFit/>
          </a:bodyPr>
          <a:lstStyle/>
          <a:p>
            <a:r>
              <a:rPr lang="vi-VN" sz="3400" b="1">
                <a:solidFill>
                  <a:srgbClr val="FFFFFF"/>
                </a:solidFill>
                <a:latin typeface="Segoe UI" panose="020B0502040204020203" pitchFamily="34" charset="0"/>
              </a:rPr>
              <a:t>BÀI 5: DỰ BÁO DÂN SỐ: PHƯƠNG PHÁP LUẬN VÀ ỨNG DỤNG</a:t>
            </a:r>
            <a:endParaRPr lang="en-US" sz="34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BEB2C4C0-4D8D-E1A8-0D63-9EC9BCF9F2F8}"/>
              </a:ext>
            </a:extLst>
          </p:cNvPr>
          <p:cNvSpPr txBox="1"/>
          <p:nvPr/>
        </p:nvSpPr>
        <p:spPr>
          <a:xfrm>
            <a:off x="609600" y="3187700"/>
            <a:ext cx="5486400" cy="830997"/>
          </a:xfrm>
          <a:prstGeom prst="rect">
            <a:avLst/>
          </a:prstGeom>
          <a:noFill/>
        </p:spPr>
        <p:txBody>
          <a:bodyPr vert="horz" wrap="square" lIns="0" rtlCol="0">
            <a:spAutoFit/>
          </a:bodyPr>
          <a:lstStyle/>
          <a:p>
            <a:r>
              <a:rPr lang="vi-VN" sz="1600">
                <a:solidFill>
                  <a:srgbClr val="E2E8F0"/>
                </a:solidFill>
                <a:latin typeface="Segoe UI" panose="020B0502040204020203" pitchFamily="34" charset="0"/>
              </a:rPr>
              <a:t>Nguyên lý xây dựng kịch bản tương lai, phương pháp mô hình toán học và phương pháp thành phần trong Tổng điều tra dân số.</a:t>
            </a:r>
            <a:endParaRPr lang="en-US" sz="1600">
              <a:solidFill>
                <a:srgbClr val="E2E8F0"/>
              </a:solidFill>
              <a:latin typeface="Segoe UI" panose="020B0502040204020203" pitchFamily="34" charset="0"/>
            </a:endParaRPr>
          </a:p>
        </p:txBody>
      </p:sp>
      <p:grpSp>
        <p:nvGrpSpPr>
          <p:cNvPr id="9" name="Group 8">
            <a:extLst>
              <a:ext uri="{FF2B5EF4-FFF2-40B4-BE49-F238E27FC236}">
                <a16:creationId xmlns:a16="http://schemas.microsoft.com/office/drawing/2014/main" id="{696AE21B-3406-5992-FCAD-DEC2F606D78B}"/>
              </a:ext>
            </a:extLst>
          </p:cNvPr>
          <p:cNvGrpSpPr/>
          <p:nvPr/>
        </p:nvGrpSpPr>
        <p:grpSpPr>
          <a:xfrm>
            <a:off x="6400800" y="952500"/>
            <a:ext cx="5181600" cy="4572000"/>
            <a:chOff x="6400800" y="952500"/>
            <a:chExt cx="5181600" cy="4572000"/>
          </a:xfrm>
        </p:grpSpPr>
        <p:sp>
          <p:nvSpPr>
            <p:cNvPr id="6" name="Rectangle: Rounded Corners 5">
              <a:extLst>
                <a:ext uri="{FF2B5EF4-FFF2-40B4-BE49-F238E27FC236}">
                  <a16:creationId xmlns:a16="http://schemas.microsoft.com/office/drawing/2014/main" id="{312728D0-8161-3BF7-7BBA-C0E39F575ECD}"/>
                </a:ext>
              </a:extLst>
            </p:cNvPr>
            <p:cNvSpPr/>
            <p:nvPr/>
          </p:nvSpPr>
          <p:spPr>
            <a:xfrm>
              <a:off x="6400800" y="952500"/>
              <a:ext cx="5181600" cy="4572000"/>
            </a:xfrm>
            <a:prstGeom prst="roundRect">
              <a:avLst/>
            </a:prstGeom>
            <a:solidFill>
              <a:srgbClr val="0B1E38"/>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E9FE9CF-BA70-B1FC-97FB-FBEC53E1E14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477000" y="1028700"/>
              <a:ext cx="5029200" cy="4419600"/>
            </a:xfrm>
            <a:prstGeom prst="rect">
              <a:avLst/>
            </a:prstGeom>
          </p:spPr>
        </p:pic>
      </p:grpSp>
      <p:sp>
        <p:nvSpPr>
          <p:cNvPr id="10" name="TextBox 9">
            <a:extLst>
              <a:ext uri="{FF2B5EF4-FFF2-40B4-BE49-F238E27FC236}">
                <a16:creationId xmlns:a16="http://schemas.microsoft.com/office/drawing/2014/main" id="{08E76139-84F0-8DAC-E369-69CB239B9D3B}"/>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2039187943"/>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D885AC66-C149-1850-2499-385BB3962844}"/>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5F1D82F7-FDBF-3D67-D7BE-74EB4871E2BC}"/>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02 / 07</a:t>
            </a:r>
          </a:p>
        </p:txBody>
      </p:sp>
      <p:sp>
        <p:nvSpPr>
          <p:cNvPr id="4" name="!!Anchor_Assertion_Title">
            <a:extLst>
              <a:ext uri="{FF2B5EF4-FFF2-40B4-BE49-F238E27FC236}">
                <a16:creationId xmlns:a16="http://schemas.microsoft.com/office/drawing/2014/main" id="{641184F6-F732-550C-99F3-C4FCCC03389E}"/>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Làm Chủ Kỹ Thuật Dự Báo Bằng Hàm Toán Học Và Phương Pháp Thành Phần</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6BF31785-52E8-9FBD-8E3E-0CFD4C1113DD}"/>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4B27AE6B-E201-02B7-10AD-E20B326C01DA}"/>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26112AF5-30DB-CC4D-08CD-85D4F3CA34E9}"/>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8BEA00C2-0D0F-687A-1950-DC9BA1F933D1}"/>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471B54F-0A87-3C84-2CAD-B2A1B98C4E5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59A6F5BD-32EE-7A67-4F76-8E5A532948FB}"/>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en-US" sz="2000" b="1">
                  <a:solidFill>
                    <a:srgbClr val="0F172A"/>
                  </a:solidFill>
                  <a:latin typeface="Segoe UI" panose="020B0502040204020203" pitchFamily="34" charset="0"/>
                </a:rPr>
                <a:t>Mục Tiêu Năng Lực Dự Báo
</a:t>
              </a:r>
              <a:r>
                <a:rPr lang="vi-VN" sz="1500" b="1">
                  <a:solidFill>
                    <a:srgbClr val="475569"/>
                  </a:solidFill>
                  <a:latin typeface="Segoe UI" panose="020B0502040204020203" pitchFamily="34" charset="0"/>
                </a:rPr>
                <a:t>Làm chủ quy trình xây dựng kịch bản dự báo dân số toàn diện, kết hợp giữa mô hình hàm toán học định lượng và phương pháp thành phần nhân khẩu học chuẩn mực.</a:t>
              </a:r>
              <a:endParaRPr lang="en-US" sz="1500" b="1">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878E8D6B-2A9C-A05C-7AB7-C8E39A1E1199}"/>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9CD9697A-BEA0-419A-FB1C-6A1932A4853F}"/>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447A6AF-4B72-887D-0AD0-5322CE52D2EC}"/>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F4441253-8D7D-537F-6505-345EBD36703E}"/>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D8766131-B888-1CE2-01A3-7388CC194E6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E58EAEDF-C90D-5BFA-C986-98087BF34104}"/>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1. Phương Pháp Hàm Số Toán Học
</a:t>
              </a:r>
              <a:r>
                <a:rPr lang="vi-VN" sz="1400" b="1">
                  <a:solidFill>
                    <a:srgbClr val="475569"/>
                  </a:solidFill>
                  <a:latin typeface="Segoe UI" panose="020B0502040204020203" pitchFamily="34" charset="0"/>
                </a:rPr>
                <a:t>Áp dụng thành thạo các hàm toán học (cấp số cộng, cấp số nhân, hàm số mũ, logistic) để dự báo dân số ngắn hạn và trung hạn.</a:t>
              </a:r>
              <a:endParaRPr lang="en-US" sz="1400" b="1">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9032DB8E-9B02-8067-AE6E-D1A9FE5C3AD6}"/>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8A4E36A3-9C0E-E8FA-EC3B-E8E6F75A3E0A}"/>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DDA78802-D437-08A8-8545-79DCB3372085}"/>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E6B493FB-1469-B9D5-B1D2-F654353B3876}"/>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FD87E32B-DEBE-CC4C-71AA-35C5FAC9E22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98CDF519-825F-AB9B-A14E-599095E2744B}"/>
                </a:ext>
              </a:extLst>
            </p:cNvPr>
            <p:cNvSpPr txBox="1"/>
            <p:nvPr/>
          </p:nvSpPr>
          <p:spPr>
            <a:xfrm>
              <a:off x="7609840" y="4457700"/>
              <a:ext cx="3820160" cy="1451679"/>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2. Phương Pháp Thành Phần Chuẩn Mực
</a:t>
              </a:r>
              <a:r>
                <a:rPr lang="vi-VN" sz="1400" b="1">
                  <a:solidFill>
                    <a:srgbClr val="475569"/>
                  </a:solidFill>
                  <a:latin typeface="Segoe UI" panose="020B0502040204020203" pitchFamily="34" charset="0"/>
                </a:rPr>
                <a:t>Hiểu rõ cơ chế dự báo chi tiết theo từng nhóm tuổi và giới tính dựa trên các giả thiết mức sinh, tử vong và di cư của Tổng điều tra dân số.</a:t>
              </a:r>
              <a:endParaRPr lang="en-US" sz="1400" b="1">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8A1D44B4-47F6-118E-DAC6-E646E507DA55}"/>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Khung chuẩn đầu ra chuyên đề  |  Make Slide Pro V6.2 Certified</a:t>
            </a:r>
          </a:p>
        </p:txBody>
      </p:sp>
    </p:spTree>
    <p:extLst>
      <p:ext uri="{BB962C8B-B14F-4D97-AF65-F5344CB8AC3E}">
        <p14:creationId xmlns:p14="http://schemas.microsoft.com/office/powerpoint/2010/main" val="26621564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C8D0E4B-D1B7-DA4B-B7B7-1D698DD7E64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KHÁI NIỆM &amp; PHÂN LOẠI  •  TRỌNG TÂM</a:t>
            </a:r>
          </a:p>
        </p:txBody>
      </p:sp>
      <p:sp>
        <p:nvSpPr>
          <p:cNvPr id="3" name="!!Anchor_Slide_Tracker">
            <a:extLst>
              <a:ext uri="{FF2B5EF4-FFF2-40B4-BE49-F238E27FC236}">
                <a16:creationId xmlns:a16="http://schemas.microsoft.com/office/drawing/2014/main" id="{3ACA67B7-5989-36CA-9DFF-DFD794C3BE0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03 / 07</a:t>
            </a:r>
          </a:p>
        </p:txBody>
      </p:sp>
      <p:sp>
        <p:nvSpPr>
          <p:cNvPr id="4" name="!!Anchor_Assertion_Title">
            <a:extLst>
              <a:ext uri="{FF2B5EF4-FFF2-40B4-BE49-F238E27FC236}">
                <a16:creationId xmlns:a16="http://schemas.microsoft.com/office/drawing/2014/main" id="{69BE4616-98B8-CA3E-8D47-410C59F54422}"/>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Dự Báo Dân Số Cung Cấp Luận Cứ Cơ Bản Cho Quy Hoạch Phát Triển</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942DC8D3-B01B-B6B3-57B9-52BDBA70F51E}"/>
              </a:ext>
            </a:extLst>
          </p:cNvPr>
          <p:cNvGrpSpPr/>
          <p:nvPr/>
        </p:nvGrpSpPr>
        <p:grpSpPr>
          <a:xfrm>
            <a:off x="609600" y="1676400"/>
            <a:ext cx="5376672" cy="4521200"/>
            <a:chOff x="609600" y="1676400"/>
            <a:chExt cx="5376672" cy="4521200"/>
          </a:xfrm>
        </p:grpSpPr>
        <p:sp>
          <p:nvSpPr>
            <p:cNvPr id="5" name="Rectangle: Rounded Corners 4">
              <a:extLst>
                <a:ext uri="{FF2B5EF4-FFF2-40B4-BE49-F238E27FC236}">
                  <a16:creationId xmlns:a16="http://schemas.microsoft.com/office/drawing/2014/main" id="{124418F8-1BB1-BB10-E2B0-901465313F71}"/>
                </a:ext>
              </a:extLst>
            </p:cNvPr>
            <p:cNvSpPr/>
            <p:nvPr/>
          </p:nvSpPr>
          <p:spPr>
            <a:xfrm>
              <a:off x="609600" y="1676400"/>
              <a:ext cx="5376672"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85BC423-DCBC-3CB1-2848-D723E13BB41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173472" cy="4318000"/>
            </a:xfrm>
            <a:prstGeom prst="rect">
              <a:avLst/>
            </a:prstGeom>
          </p:spPr>
        </p:pic>
      </p:grpSp>
      <p:grpSp>
        <p:nvGrpSpPr>
          <p:cNvPr id="14" name="!!Stage_Sub_Card_1">
            <a:extLst>
              <a:ext uri="{FF2B5EF4-FFF2-40B4-BE49-F238E27FC236}">
                <a16:creationId xmlns:a16="http://schemas.microsoft.com/office/drawing/2014/main" id="{D1FA369E-B633-8D8D-8E55-2821067AC909}"/>
              </a:ext>
            </a:extLst>
          </p:cNvPr>
          <p:cNvGrpSpPr/>
          <p:nvPr/>
        </p:nvGrpSpPr>
        <p:grpSpPr>
          <a:xfrm>
            <a:off x="6214872" y="1676400"/>
            <a:ext cx="5367528" cy="1405467"/>
            <a:chOff x="6214872" y="1676400"/>
            <a:chExt cx="5367528" cy="1405467"/>
          </a:xfrm>
        </p:grpSpPr>
        <p:sp>
          <p:nvSpPr>
            <p:cNvPr id="9" name="Rectangle: Rounded Corners 8">
              <a:extLst>
                <a:ext uri="{FF2B5EF4-FFF2-40B4-BE49-F238E27FC236}">
                  <a16:creationId xmlns:a16="http://schemas.microsoft.com/office/drawing/2014/main" id="{034DE005-2D63-9229-6367-D6AE4D3819A6}"/>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032977-42ED-1EC7-8244-FCC4FAFCDC52}"/>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9CE09ADA-F264-E558-653C-D9A6DC06C56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56172" y="1917700"/>
              <a:ext cx="254000" cy="254000"/>
            </a:xfrm>
            <a:prstGeom prst="rect">
              <a:avLst/>
            </a:prstGeom>
          </p:spPr>
        </p:pic>
        <p:sp>
          <p:nvSpPr>
            <p:cNvPr id="13" name="TextBox 12">
              <a:extLst>
                <a:ext uri="{FF2B5EF4-FFF2-40B4-BE49-F238E27FC236}">
                  <a16:creationId xmlns:a16="http://schemas.microsoft.com/office/drawing/2014/main" id="{9E04FEAF-9866-7AC9-BF60-6E48B9B56738}"/>
                </a:ext>
              </a:extLst>
            </p:cNvPr>
            <p:cNvSpPr txBox="1"/>
            <p:nvPr/>
          </p:nvSpPr>
          <p:spPr>
            <a:xfrm>
              <a:off x="6875272" y="1803400"/>
              <a:ext cx="4580128" cy="1205458"/>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Phân Loại Theo Thời Hạn
</a:t>
              </a:r>
              <a:r>
                <a:rPr lang="vi-VN" sz="1400" b="1">
                  <a:solidFill>
                    <a:srgbClr val="475569"/>
                  </a:solidFill>
                  <a:latin typeface="Segoe UI" panose="020B0502040204020203" pitchFamily="34" charset="0"/>
                </a:rPr>
                <a:t>Dự báo ngắn hạn (&lt; 5 năm): phục vụ kế hoạch ngân sách hàng năm. Trung hạn (5-15 năm): phục vụ kế hoạch 5 năm. Dài hạn (&gt; 15 năm): chiến lược quốc gia.</a:t>
              </a:r>
              <a:endParaRPr lang="en-US" sz="1400" b="1">
                <a:solidFill>
                  <a:srgbClr val="475569"/>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F78642D4-6D3F-01E3-561B-F466966FB62C}"/>
              </a:ext>
            </a:extLst>
          </p:cNvPr>
          <p:cNvGrpSpPr/>
          <p:nvPr/>
        </p:nvGrpSpPr>
        <p:grpSpPr>
          <a:xfrm>
            <a:off x="6214872" y="3234267"/>
            <a:ext cx="5367528" cy="1405466"/>
            <a:chOff x="6214872" y="3234267"/>
            <a:chExt cx="5367528" cy="1405466"/>
          </a:xfrm>
        </p:grpSpPr>
        <p:sp>
          <p:nvSpPr>
            <p:cNvPr id="15" name="Rectangle: Rounded Corners 14">
              <a:extLst>
                <a:ext uri="{FF2B5EF4-FFF2-40B4-BE49-F238E27FC236}">
                  <a16:creationId xmlns:a16="http://schemas.microsoft.com/office/drawing/2014/main" id="{0F379549-5FC3-7A23-349D-CC8A90456175}"/>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B96B503-6C60-168F-B48F-4A2F1876A7C2}"/>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7B9A4DAE-4C71-9EFC-E02F-AEC95ADE2FD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3475567"/>
              <a:ext cx="254000" cy="254000"/>
            </a:xfrm>
            <a:prstGeom prst="rect">
              <a:avLst/>
            </a:prstGeom>
          </p:spPr>
        </p:pic>
        <p:sp>
          <p:nvSpPr>
            <p:cNvPr id="19" name="TextBox 18">
              <a:extLst>
                <a:ext uri="{FF2B5EF4-FFF2-40B4-BE49-F238E27FC236}">
                  <a16:creationId xmlns:a16="http://schemas.microsoft.com/office/drawing/2014/main" id="{9048CD37-A7C2-9770-25C1-98083A3E986C}"/>
                </a:ext>
              </a:extLst>
            </p:cNvPr>
            <p:cNvSpPr txBox="1"/>
            <p:nvPr/>
          </p:nvSpPr>
          <p:spPr>
            <a:xfrm>
              <a:off x="6875272" y="3361267"/>
              <a:ext cx="4580128" cy="1205458"/>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Phân Loại Theo Phạm Vi
</a:t>
              </a:r>
              <a:r>
                <a:rPr lang="vi-VN" sz="1400" b="1">
                  <a:solidFill>
                    <a:srgbClr val="475569"/>
                  </a:solidFill>
                  <a:latin typeface="Segoe UI" panose="020B0502040204020203" pitchFamily="34" charset="0"/>
                </a:rPr>
                <a:t>Dự báo toàn bộ: quy mô và cơ cấu chung của cả nước. Dự báo bộ phận: dự báo riêng dân số trong độ tuổi đi học, phụ nữ trong tuổi sinh đẻ, người cao tuổi.</a:t>
              </a:r>
              <a:endParaRPr lang="en-US" sz="1400" b="1">
                <a:solidFill>
                  <a:srgbClr val="475569"/>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FD395EF2-590C-E0B0-48C4-8AAB348F131E}"/>
              </a:ext>
            </a:extLst>
          </p:cNvPr>
          <p:cNvGrpSpPr/>
          <p:nvPr/>
        </p:nvGrpSpPr>
        <p:grpSpPr>
          <a:xfrm>
            <a:off x="6214872" y="4792133"/>
            <a:ext cx="5367528" cy="1405467"/>
            <a:chOff x="6214872" y="4792133"/>
            <a:chExt cx="5367528" cy="1405467"/>
          </a:xfrm>
        </p:grpSpPr>
        <p:sp>
          <p:nvSpPr>
            <p:cNvPr id="21" name="Rectangle: Rounded Corners 20">
              <a:extLst>
                <a:ext uri="{FF2B5EF4-FFF2-40B4-BE49-F238E27FC236}">
                  <a16:creationId xmlns:a16="http://schemas.microsoft.com/office/drawing/2014/main" id="{88F47D27-FF2A-74B7-0223-869654BB9BFA}"/>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CA80BAF-984A-284C-F472-30F9499E67F0}"/>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DE345B3B-E420-37DE-CE3C-8FDC3D6F299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5033433"/>
              <a:ext cx="254000" cy="254000"/>
            </a:xfrm>
            <a:prstGeom prst="rect">
              <a:avLst/>
            </a:prstGeom>
          </p:spPr>
        </p:pic>
        <p:sp>
          <p:nvSpPr>
            <p:cNvPr id="25" name="TextBox 24">
              <a:extLst>
                <a:ext uri="{FF2B5EF4-FFF2-40B4-BE49-F238E27FC236}">
                  <a16:creationId xmlns:a16="http://schemas.microsoft.com/office/drawing/2014/main" id="{C79DDD3C-1D61-746E-B9C1-5989761118FD}"/>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Vai Trò Cơ Sở Hạ Tầng
</a:t>
              </a:r>
              <a:r>
                <a:rPr lang="vi-VN" sz="1400" b="1">
                  <a:solidFill>
                    <a:srgbClr val="475569"/>
                  </a:solidFill>
                  <a:latin typeface="Segoe UI" panose="020B0502040204020203" pitchFamily="34" charset="0"/>
                </a:rPr>
                <a:t>Dự báo dân số là luận cứ khoa học để quy hoạch trường học, bệnh viện, nhà ở và hệ thống giao thông công cộng đón đầu nhu cầu.</a:t>
              </a:r>
              <a:endParaRPr lang="en-US" sz="1400" b="1">
                <a:solidFill>
                  <a:srgbClr val="475569"/>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26FDFBB3-6AD2-636F-F6DA-248B9432C29C}"/>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Giáo trình Dự báo Dân số &amp; UN Manual X  |  Make Slide Pro V6.2 Certified</a:t>
            </a:r>
          </a:p>
        </p:txBody>
      </p:sp>
    </p:spTree>
    <p:extLst>
      <p:ext uri="{BB962C8B-B14F-4D97-AF65-F5344CB8AC3E}">
        <p14:creationId xmlns:p14="http://schemas.microsoft.com/office/powerpoint/2010/main" val="10430150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CBC9CC5-3D90-2D7F-443F-BB109E5EF7F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MÔ HÌNH HÀM TOÁN HỌC  •  TRỌNG TÂM</a:t>
            </a:r>
          </a:p>
        </p:txBody>
      </p:sp>
      <p:sp>
        <p:nvSpPr>
          <p:cNvPr id="3" name="!!Anchor_Slide_Tracker">
            <a:extLst>
              <a:ext uri="{FF2B5EF4-FFF2-40B4-BE49-F238E27FC236}">
                <a16:creationId xmlns:a16="http://schemas.microsoft.com/office/drawing/2014/main" id="{42208130-A915-DC80-A63C-023FEDC25EC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04 / 07</a:t>
            </a:r>
          </a:p>
        </p:txBody>
      </p:sp>
      <p:sp>
        <p:nvSpPr>
          <p:cNvPr id="4" name="!!Anchor_Assertion_Title">
            <a:extLst>
              <a:ext uri="{FF2B5EF4-FFF2-40B4-BE49-F238E27FC236}">
                <a16:creationId xmlns:a16="http://schemas.microsoft.com/office/drawing/2014/main" id="{4A91F709-9185-F985-93B9-10E1299C1B47}"/>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Bản Chất Tăng Trưởng Của Các Mô Hình Hàm Số Toán Học Dự Báo</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8CE03769-2F82-4CB2-7446-5349D722151F}"/>
              </a:ext>
            </a:extLst>
          </p:cNvPr>
          <p:cNvGrpSpPr/>
          <p:nvPr/>
        </p:nvGrpSpPr>
        <p:grpSpPr>
          <a:xfrm>
            <a:off x="609600" y="1676400"/>
            <a:ext cx="5705856" cy="4521200"/>
            <a:chOff x="609600" y="1676400"/>
            <a:chExt cx="5705856" cy="4521200"/>
          </a:xfrm>
        </p:grpSpPr>
        <p:sp>
          <p:nvSpPr>
            <p:cNvPr id="5" name="Rectangle: Rounded Corners 4">
              <a:extLst>
                <a:ext uri="{FF2B5EF4-FFF2-40B4-BE49-F238E27FC236}">
                  <a16:creationId xmlns:a16="http://schemas.microsoft.com/office/drawing/2014/main" id="{7F2C5DAE-922A-C30A-61D9-ABE63ACE829B}"/>
                </a:ext>
              </a:extLst>
            </p:cNvPr>
            <p:cNvSpPr/>
            <p:nvPr/>
          </p:nvSpPr>
          <p:spPr>
            <a:xfrm>
              <a:off x="609600" y="1676400"/>
              <a:ext cx="5705856"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10CFF7D-28D6-2BAF-697C-E36F2CDE621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11200" y="1778000"/>
              <a:ext cx="5502656" cy="4318000"/>
            </a:xfrm>
            <a:prstGeom prst="rect">
              <a:avLst/>
            </a:prstGeom>
          </p:spPr>
        </p:pic>
      </p:grpSp>
      <p:grpSp>
        <p:nvGrpSpPr>
          <p:cNvPr id="14" name="!!Stage_Sub_Card_1">
            <a:extLst>
              <a:ext uri="{FF2B5EF4-FFF2-40B4-BE49-F238E27FC236}">
                <a16:creationId xmlns:a16="http://schemas.microsoft.com/office/drawing/2014/main" id="{24FEAB11-029B-DB2D-92FB-444F7F77D1FC}"/>
              </a:ext>
            </a:extLst>
          </p:cNvPr>
          <p:cNvGrpSpPr/>
          <p:nvPr/>
        </p:nvGrpSpPr>
        <p:grpSpPr>
          <a:xfrm>
            <a:off x="6644640" y="1676400"/>
            <a:ext cx="4937760" cy="1405467"/>
            <a:chOff x="6644640" y="1676400"/>
            <a:chExt cx="4937760" cy="1405467"/>
          </a:xfrm>
        </p:grpSpPr>
        <p:sp>
          <p:nvSpPr>
            <p:cNvPr id="9" name="Rectangle: Rounded Corners 8">
              <a:extLst>
                <a:ext uri="{FF2B5EF4-FFF2-40B4-BE49-F238E27FC236}">
                  <a16:creationId xmlns:a16="http://schemas.microsoft.com/office/drawing/2014/main" id="{E32B841C-3477-14F1-CD67-7B2008FB0A4A}"/>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CC0264C-DE72-FCB3-E1B4-F123AC80EBF7}"/>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2D599080-94B9-392E-0D5B-6BA157ACFCF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3" name="TextBox 12">
              <a:extLst>
                <a:ext uri="{FF2B5EF4-FFF2-40B4-BE49-F238E27FC236}">
                  <a16:creationId xmlns:a16="http://schemas.microsoft.com/office/drawing/2014/main" id="{95CA7FD8-DA01-EA05-2CE4-2740CDECD606}"/>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Hàm Tuyến Tính &amp; Lãi Kép
</a:t>
              </a:r>
              <a:r>
                <a:rPr lang="vi-VN" sz="1400" b="1">
                  <a:solidFill>
                    <a:srgbClr val="475569"/>
                  </a:solidFill>
                  <a:latin typeface="Segoe UI" panose="020B0502040204020203" pitchFamily="34" charset="0"/>
                </a:rPr>
                <a:t>Cấp số cộng Pt = P0(1+rt) giả định tăng đều tuyệt đối; Cấp số nhân Pt = P0(1+r)^t tính theo cơ chế tăng trưởng lãi kép.</a:t>
              </a:r>
              <a:endParaRPr lang="en-US" sz="1400" b="1">
                <a:solidFill>
                  <a:srgbClr val="475569"/>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CAD98468-028D-9D12-C5F3-037CD3C93E76}"/>
              </a:ext>
            </a:extLst>
          </p:cNvPr>
          <p:cNvGrpSpPr/>
          <p:nvPr/>
        </p:nvGrpSpPr>
        <p:grpSpPr>
          <a:xfrm>
            <a:off x="6644640" y="3234267"/>
            <a:ext cx="4937760" cy="1405466"/>
            <a:chOff x="6644640" y="3234267"/>
            <a:chExt cx="4937760" cy="1405466"/>
          </a:xfrm>
        </p:grpSpPr>
        <p:sp>
          <p:nvSpPr>
            <p:cNvPr id="15" name="Rectangle: Rounded Corners 14">
              <a:extLst>
                <a:ext uri="{FF2B5EF4-FFF2-40B4-BE49-F238E27FC236}">
                  <a16:creationId xmlns:a16="http://schemas.microsoft.com/office/drawing/2014/main" id="{32ED74B2-0636-48BD-64A4-00BD1C372D79}"/>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A35EC2D-1D46-CD81-BBC1-8DE0BC3047B3}"/>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2CE8C23F-F0D5-A42A-4126-79F09A9373C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9" name="TextBox 18">
              <a:extLst>
                <a:ext uri="{FF2B5EF4-FFF2-40B4-BE49-F238E27FC236}">
                  <a16:creationId xmlns:a16="http://schemas.microsoft.com/office/drawing/2014/main" id="{B827D826-8CFD-C17C-FEE2-E13EE314AE80}"/>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Hàm Mũ &amp; Logistic (Trần K)
</a:t>
              </a:r>
              <a:r>
                <a:rPr lang="vi-VN" sz="1400" b="1">
                  <a:solidFill>
                    <a:srgbClr val="475569"/>
                  </a:solidFill>
                  <a:latin typeface="Segoe UI" panose="020B0502040204020203" pitchFamily="34" charset="0"/>
                </a:rPr>
                <a:t>Hàm mũ Pt = P0*e^(rt) biến động liên tục; Hàm Logistic phản ánh sự suy giảm tăng trưởng khi chạm sức chứa tối đa K.</a:t>
              </a:r>
              <a:endParaRPr lang="en-US" sz="1400" b="1">
                <a:solidFill>
                  <a:srgbClr val="475569"/>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DDF1679B-5CF5-80DF-4CD2-67E04E264739}"/>
              </a:ext>
            </a:extLst>
          </p:cNvPr>
          <p:cNvGrpSpPr/>
          <p:nvPr/>
        </p:nvGrpSpPr>
        <p:grpSpPr>
          <a:xfrm>
            <a:off x="6644640" y="4792133"/>
            <a:ext cx="4937760" cy="1405467"/>
            <a:chOff x="6644640" y="4792133"/>
            <a:chExt cx="4937760" cy="1405467"/>
          </a:xfrm>
        </p:grpSpPr>
        <p:sp>
          <p:nvSpPr>
            <p:cNvPr id="21" name="Rectangle: Rounded Corners 20">
              <a:extLst>
                <a:ext uri="{FF2B5EF4-FFF2-40B4-BE49-F238E27FC236}">
                  <a16:creationId xmlns:a16="http://schemas.microsoft.com/office/drawing/2014/main" id="{10A17A0C-4A2B-26FB-96E0-9205F9A85E6B}"/>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62009CA-5CF0-C60C-A334-52D037C79374}"/>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BC10CD74-3BF4-A85F-F789-559D9732952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5" name="TextBox 24">
              <a:extLst>
                <a:ext uri="{FF2B5EF4-FFF2-40B4-BE49-F238E27FC236}">
                  <a16:creationId xmlns:a16="http://schemas.microsoft.com/office/drawing/2014/main" id="{2B996348-365C-A50A-4ADE-E462F9EE0E0F}"/>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Ứng Dụng Thực Tiễn
</a:t>
              </a:r>
              <a:r>
                <a:rPr lang="vi-VN" sz="1400" b="1">
                  <a:solidFill>
                    <a:srgbClr val="475569"/>
                  </a:solidFill>
                  <a:latin typeface="Segoe UI" panose="020B0502040204020203" pitchFamily="34" charset="0"/>
                </a:rPr>
                <a:t>Phương pháp toán học đơn giản, nhanh chóng nhưng chỉ tính tổng số dân, không cho biết cơ cấu theo độ tuổi và giới tính.</a:t>
              </a:r>
              <a:endParaRPr lang="en-US" sz="1400" b="1">
                <a:solidFill>
                  <a:srgbClr val="475569"/>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5F568C5A-B91A-6C8D-B2FE-D05870B9503E}"/>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United Nations Demographic Forecasting Methods  |  Make Slide Pro V6.2 Certified</a:t>
            </a:r>
          </a:p>
        </p:txBody>
      </p:sp>
    </p:spTree>
    <p:extLst>
      <p:ext uri="{BB962C8B-B14F-4D97-AF65-F5344CB8AC3E}">
        <p14:creationId xmlns:p14="http://schemas.microsoft.com/office/powerpoint/2010/main" val="33941651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C2D2D7EA-998D-6317-C483-E5E27B68CF00}"/>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PHƯƠNG PHÁP THÀNH PHẦN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799E4184-6DF4-31F7-30FF-093807A9DC6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05 / 07</a:t>
            </a:r>
          </a:p>
        </p:txBody>
      </p:sp>
      <p:sp>
        <p:nvSpPr>
          <p:cNvPr id="4" name="!!Anchor_Assertion_Title">
            <a:extLst>
              <a:ext uri="{FF2B5EF4-FFF2-40B4-BE49-F238E27FC236}">
                <a16:creationId xmlns:a16="http://schemas.microsoft.com/office/drawing/2014/main" id="{BE7268BA-9C41-31D0-12F7-C158BEBD8FF0}"/>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Phương Pháp Thành Phần Là Chuẩn Mực Dự Báo Nhân Khẩu Học Toàn Diện</a:t>
            </a:r>
            <a:endParaRPr lang="en-US" sz="2400" b="1">
              <a:solidFill>
                <a:srgbClr val="0F172A"/>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6A4C4129-F202-DECD-6AD6-895069AEF9EE}"/>
              </a:ext>
            </a:extLst>
          </p:cNvPr>
          <p:cNvGrpSpPr/>
          <p:nvPr/>
        </p:nvGrpSpPr>
        <p:grpSpPr>
          <a:xfrm>
            <a:off x="609600" y="1676400"/>
            <a:ext cx="2609850" cy="4521200"/>
            <a:chOff x="609600" y="1676400"/>
            <a:chExt cx="2609850" cy="4521200"/>
          </a:xfrm>
        </p:grpSpPr>
        <p:sp>
          <p:nvSpPr>
            <p:cNvPr id="5" name="Rectangle: Rounded Corners 4">
              <a:extLst>
                <a:ext uri="{FF2B5EF4-FFF2-40B4-BE49-F238E27FC236}">
                  <a16:creationId xmlns:a16="http://schemas.microsoft.com/office/drawing/2014/main" id="{15EF9C86-2593-B488-91B1-D5C57A8FC05E}"/>
                </a:ext>
              </a:extLst>
            </p:cNvPr>
            <p:cNvSpPr/>
            <p:nvPr/>
          </p:nvSpPr>
          <p:spPr>
            <a:xfrm>
              <a:off x="6096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7AB118-3B6C-E6C9-4F21-CC50D96E017B}"/>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pic>
          <p:nvPicPr>
            <p:cNvPr id="8" name="Graphic 7">
              <a:extLst>
                <a:ext uri="{FF2B5EF4-FFF2-40B4-BE49-F238E27FC236}">
                  <a16:creationId xmlns:a16="http://schemas.microsoft.com/office/drawing/2014/main" id="{46FB291B-CFDB-B91C-D06A-790EB846026B}"/>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736850" y="1879600"/>
              <a:ext cx="279400" cy="279400"/>
            </a:xfrm>
            <a:prstGeom prst="rect">
              <a:avLst/>
            </a:prstGeom>
          </p:spPr>
        </p:pic>
        <p:sp>
          <p:nvSpPr>
            <p:cNvPr id="9" name="TextBox 8">
              <a:extLst>
                <a:ext uri="{FF2B5EF4-FFF2-40B4-BE49-F238E27FC236}">
                  <a16:creationId xmlns:a16="http://schemas.microsoft.com/office/drawing/2014/main" id="{5440F7FE-1313-B0AE-29BB-E83FD7D1C8DF}"/>
                </a:ext>
              </a:extLst>
            </p:cNvPr>
            <p:cNvSpPr txBox="1"/>
            <p:nvPr/>
          </p:nvSpPr>
          <p:spPr>
            <a:xfrm>
              <a:off x="812800" y="2336800"/>
              <a:ext cx="2203450" cy="2308324"/>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1. Giả Thiết Về Mức Sinh
</a:t>
              </a:r>
              <a:r>
                <a:rPr lang="vi-VN" sz="1500" b="1">
                  <a:solidFill>
                    <a:srgbClr val="475569"/>
                  </a:solidFill>
                  <a:latin typeface="Segoe UI" panose="020B0502040204020203" pitchFamily="34" charset="0"/>
                </a:rPr>
                <a:t>Dự báo xu hướng thay đổi của Tổng tỷ suất sinh (TFR) và tỷ suất sinh đặc trưng theo tuổi (ASFR) cho từng chu kỳ 5 năm tương lai.</a:t>
              </a:r>
              <a:endParaRPr lang="en-US" sz="1500" b="1">
                <a:solidFill>
                  <a:srgbClr val="475569"/>
                </a:solidFill>
                <a:latin typeface="Segoe UI" panose="020B0502040204020203" pitchFamily="34" charset="0"/>
              </a:endParaRPr>
            </a:p>
          </p:txBody>
        </p:sp>
      </p:grpSp>
      <p:grpSp>
        <p:nvGrpSpPr>
          <p:cNvPr id="16" name="!!Stage_Sub_Card_1">
            <a:extLst>
              <a:ext uri="{FF2B5EF4-FFF2-40B4-BE49-F238E27FC236}">
                <a16:creationId xmlns:a16="http://schemas.microsoft.com/office/drawing/2014/main" id="{D05B75B1-912E-1F67-704C-B274FCE5F81C}"/>
              </a:ext>
            </a:extLst>
          </p:cNvPr>
          <p:cNvGrpSpPr/>
          <p:nvPr/>
        </p:nvGrpSpPr>
        <p:grpSpPr>
          <a:xfrm>
            <a:off x="3397250" y="1676400"/>
            <a:ext cx="2609850" cy="4521200"/>
            <a:chOff x="3397250" y="1676400"/>
            <a:chExt cx="2609850" cy="4521200"/>
          </a:xfrm>
        </p:grpSpPr>
        <p:sp>
          <p:nvSpPr>
            <p:cNvPr id="11" name="Rectangle: Rounded Corners 10">
              <a:extLst>
                <a:ext uri="{FF2B5EF4-FFF2-40B4-BE49-F238E27FC236}">
                  <a16:creationId xmlns:a16="http://schemas.microsoft.com/office/drawing/2014/main" id="{78DA2B72-F889-E4AE-7759-8473A02AB939}"/>
                </a:ext>
              </a:extLst>
            </p:cNvPr>
            <p:cNvSpPr/>
            <p:nvPr/>
          </p:nvSpPr>
          <p:spPr>
            <a:xfrm>
              <a:off x="33972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F79B6D-1A21-4236-1CBC-A7688554B96E}"/>
                </a:ext>
              </a:extLst>
            </p:cNvPr>
            <p:cNvSpPr/>
            <p:nvPr/>
          </p:nvSpPr>
          <p:spPr>
            <a:xfrm>
              <a:off x="36004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pic>
          <p:nvPicPr>
            <p:cNvPr id="14" name="Graphic 13">
              <a:extLst>
                <a:ext uri="{FF2B5EF4-FFF2-40B4-BE49-F238E27FC236}">
                  <a16:creationId xmlns:a16="http://schemas.microsoft.com/office/drawing/2014/main" id="{DB31E26F-A943-3AD4-CA7E-FE1729375EEB}"/>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524500" y="1879600"/>
              <a:ext cx="279400" cy="279400"/>
            </a:xfrm>
            <a:prstGeom prst="rect">
              <a:avLst/>
            </a:prstGeom>
          </p:spPr>
        </p:pic>
        <p:sp>
          <p:nvSpPr>
            <p:cNvPr id="15" name="TextBox 14">
              <a:extLst>
                <a:ext uri="{FF2B5EF4-FFF2-40B4-BE49-F238E27FC236}">
                  <a16:creationId xmlns:a16="http://schemas.microsoft.com/office/drawing/2014/main" id="{91AB7C8E-AC61-5656-1A37-0458B2B3A9E6}"/>
                </a:ext>
              </a:extLst>
            </p:cNvPr>
            <p:cNvSpPr txBox="1"/>
            <p:nvPr/>
          </p:nvSpPr>
          <p:spPr>
            <a:xfrm>
              <a:off x="3600450" y="2336800"/>
              <a:ext cx="2203450" cy="2077492"/>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2. Giả Thiết Về Tử Vong
</a:t>
              </a:r>
              <a:r>
                <a:rPr lang="en-US" sz="1500" b="1">
                  <a:solidFill>
                    <a:srgbClr val="475569"/>
                  </a:solidFill>
                  <a:latin typeface="Segoe UI" panose="020B0502040204020203" pitchFamily="34" charset="0"/>
                </a:rPr>
                <a:t>Xây dựng bảng sống (Life Table) dự báo xác suất sống sót (Surviving Ratio) của từng thế hệ khi già đi thêm 5 tuổi.</a:t>
              </a:r>
            </a:p>
          </p:txBody>
        </p:sp>
      </p:grpSp>
      <p:grpSp>
        <p:nvGrpSpPr>
          <p:cNvPr id="22" name="!!Stage_Sub_Card_2">
            <a:extLst>
              <a:ext uri="{FF2B5EF4-FFF2-40B4-BE49-F238E27FC236}">
                <a16:creationId xmlns:a16="http://schemas.microsoft.com/office/drawing/2014/main" id="{790039D7-9052-7DAB-9F3F-C1F7C4D40613}"/>
              </a:ext>
            </a:extLst>
          </p:cNvPr>
          <p:cNvGrpSpPr/>
          <p:nvPr/>
        </p:nvGrpSpPr>
        <p:grpSpPr>
          <a:xfrm>
            <a:off x="6184900" y="1676400"/>
            <a:ext cx="2609850" cy="4521200"/>
            <a:chOff x="6184900" y="1676400"/>
            <a:chExt cx="2609850" cy="4521200"/>
          </a:xfrm>
        </p:grpSpPr>
        <p:sp>
          <p:nvSpPr>
            <p:cNvPr id="17" name="Rectangle: Rounded Corners 16">
              <a:extLst>
                <a:ext uri="{FF2B5EF4-FFF2-40B4-BE49-F238E27FC236}">
                  <a16:creationId xmlns:a16="http://schemas.microsoft.com/office/drawing/2014/main" id="{6CE5303B-231F-8AB0-8D1D-C59C6E231197}"/>
                </a:ext>
              </a:extLst>
            </p:cNvPr>
            <p:cNvSpPr/>
            <p:nvPr/>
          </p:nvSpPr>
          <p:spPr>
            <a:xfrm>
              <a:off x="618490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3868576-15E3-3BDC-E9D9-82843005BAA9}"/>
                </a:ext>
              </a:extLst>
            </p:cNvPr>
            <p:cNvSpPr/>
            <p:nvPr/>
          </p:nvSpPr>
          <p:spPr>
            <a:xfrm>
              <a:off x="63881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pic>
          <p:nvPicPr>
            <p:cNvPr id="20" name="Graphic 19">
              <a:extLst>
                <a:ext uri="{FF2B5EF4-FFF2-40B4-BE49-F238E27FC236}">
                  <a16:creationId xmlns:a16="http://schemas.microsoft.com/office/drawing/2014/main" id="{4F5BC8C0-ADD0-CCE3-640A-88FE9AB179CC}"/>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12150" y="1879600"/>
              <a:ext cx="279400" cy="279400"/>
            </a:xfrm>
            <a:prstGeom prst="rect">
              <a:avLst/>
            </a:prstGeom>
          </p:spPr>
        </p:pic>
        <p:sp>
          <p:nvSpPr>
            <p:cNvPr id="21" name="TextBox 20">
              <a:extLst>
                <a:ext uri="{FF2B5EF4-FFF2-40B4-BE49-F238E27FC236}">
                  <a16:creationId xmlns:a16="http://schemas.microsoft.com/office/drawing/2014/main" id="{4CC530BF-4C0F-02B1-A97B-6980EF42DE45}"/>
                </a:ext>
              </a:extLst>
            </p:cNvPr>
            <p:cNvSpPr txBox="1"/>
            <p:nvPr/>
          </p:nvSpPr>
          <p:spPr>
            <a:xfrm>
              <a:off x="6388100" y="2336800"/>
              <a:ext cx="2203450" cy="1846659"/>
            </a:xfrm>
            <a:prstGeom prst="rect">
              <a:avLst/>
            </a:prstGeom>
            <a:noFill/>
          </p:spPr>
          <p:txBody>
            <a:bodyPr vert="horz" wrap="square" lIns="0" rtlCol="0">
              <a:spAutoFit/>
            </a:bodyPr>
            <a:lstStyle/>
            <a:p>
              <a:pPr>
                <a:spcAft>
                  <a:spcPts val="600"/>
                </a:spcAft>
              </a:pPr>
              <a:r>
                <a:rPr lang="vi-VN" sz="1700" b="1">
                  <a:solidFill>
                    <a:srgbClr val="0F172A"/>
                  </a:solidFill>
                  <a:latin typeface="Segoe UI" panose="020B0502040204020203" pitchFamily="34" charset="0"/>
                </a:rPr>
                <a:t>3. Giả Thiết Về Di Cư Thuần
</a:t>
              </a:r>
              <a:r>
                <a:rPr lang="vi-VN" sz="1500" b="1">
                  <a:solidFill>
                    <a:srgbClr val="475569"/>
                  </a:solidFill>
                  <a:latin typeface="Segoe UI" panose="020B0502040204020203" pitchFamily="34" charset="0"/>
                </a:rPr>
                <a:t>Ước lượng số người nhập cư và xuất cư ròng theo nhóm tuổi đối với từng vùng lãnh thổ và cấp toàn quốc.</a:t>
              </a:r>
              <a:endParaRPr lang="en-US" sz="1500" b="1">
                <a:solidFill>
                  <a:srgbClr val="475569"/>
                </a:solidFill>
                <a:latin typeface="Segoe UI" panose="020B0502040204020203" pitchFamily="34" charset="0"/>
              </a:endParaRPr>
            </a:p>
          </p:txBody>
        </p:sp>
      </p:grpSp>
      <p:grpSp>
        <p:nvGrpSpPr>
          <p:cNvPr id="28" name="!!Stage_Sub_Card_3">
            <a:extLst>
              <a:ext uri="{FF2B5EF4-FFF2-40B4-BE49-F238E27FC236}">
                <a16:creationId xmlns:a16="http://schemas.microsoft.com/office/drawing/2014/main" id="{04E76884-0FE7-6A1D-D629-4B0027288024}"/>
              </a:ext>
            </a:extLst>
          </p:cNvPr>
          <p:cNvGrpSpPr/>
          <p:nvPr/>
        </p:nvGrpSpPr>
        <p:grpSpPr>
          <a:xfrm>
            <a:off x="8972550" y="1676400"/>
            <a:ext cx="2609850" cy="4521200"/>
            <a:chOff x="8972550" y="1676400"/>
            <a:chExt cx="2609850" cy="4521200"/>
          </a:xfrm>
        </p:grpSpPr>
        <p:sp>
          <p:nvSpPr>
            <p:cNvPr id="23" name="Rectangle: Rounded Corners 22">
              <a:extLst>
                <a:ext uri="{FF2B5EF4-FFF2-40B4-BE49-F238E27FC236}">
                  <a16:creationId xmlns:a16="http://schemas.microsoft.com/office/drawing/2014/main" id="{1E017457-0236-8FFB-94D3-CBB6EC4D4582}"/>
                </a:ext>
              </a:extLst>
            </p:cNvPr>
            <p:cNvSpPr/>
            <p:nvPr/>
          </p:nvSpPr>
          <p:spPr>
            <a:xfrm>
              <a:off x="8972550" y="1676400"/>
              <a:ext cx="2609850" cy="45212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C1BC210-BB58-8171-66AE-276EF24249C8}"/>
                </a:ext>
              </a:extLst>
            </p:cNvPr>
            <p:cNvSpPr/>
            <p:nvPr/>
          </p:nvSpPr>
          <p:spPr>
            <a:xfrm>
              <a:off x="91757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04</a:t>
              </a:r>
            </a:p>
          </p:txBody>
        </p:sp>
        <p:pic>
          <p:nvPicPr>
            <p:cNvPr id="26" name="Graphic 25">
              <a:extLst>
                <a:ext uri="{FF2B5EF4-FFF2-40B4-BE49-F238E27FC236}">
                  <a16:creationId xmlns:a16="http://schemas.microsoft.com/office/drawing/2014/main" id="{A92247F8-41B2-F12C-A222-AA645DF9317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1099800" y="1879600"/>
              <a:ext cx="279400" cy="279400"/>
            </a:xfrm>
            <a:prstGeom prst="rect">
              <a:avLst/>
            </a:prstGeom>
          </p:spPr>
        </p:pic>
        <p:sp>
          <p:nvSpPr>
            <p:cNvPr id="27" name="TextBox 26">
              <a:extLst>
                <a:ext uri="{FF2B5EF4-FFF2-40B4-BE49-F238E27FC236}">
                  <a16:creationId xmlns:a16="http://schemas.microsoft.com/office/drawing/2014/main" id="{EEDA4AE5-F495-6D8E-8708-E6F42B7B7B85}"/>
                </a:ext>
              </a:extLst>
            </p:cNvPr>
            <p:cNvSpPr txBox="1"/>
            <p:nvPr/>
          </p:nvSpPr>
          <p:spPr>
            <a:xfrm>
              <a:off x="9175750" y="2336800"/>
              <a:ext cx="2203450" cy="1846659"/>
            </a:xfrm>
            <a:prstGeom prst="rect">
              <a:avLst/>
            </a:prstGeom>
            <a:noFill/>
          </p:spPr>
          <p:txBody>
            <a:bodyPr vert="horz" wrap="square" lIns="0" rtlCol="0">
              <a:spAutoFit/>
            </a:bodyPr>
            <a:lstStyle/>
            <a:p>
              <a:pPr>
                <a:spcAft>
                  <a:spcPts val="600"/>
                </a:spcAft>
              </a:pPr>
              <a:r>
                <a:rPr lang="en-US" sz="1700" b="1">
                  <a:solidFill>
                    <a:srgbClr val="0F172A"/>
                  </a:solidFill>
                  <a:latin typeface="Segoe UI" panose="020B0502040204020203" pitchFamily="34" charset="0"/>
                </a:rPr>
                <a:t>4. Tổng Hợp Tháp Dân Số
</a:t>
              </a:r>
              <a:r>
                <a:rPr lang="vi-VN" sz="1500" b="1">
                  <a:solidFill>
                    <a:srgbClr val="475569"/>
                  </a:solidFill>
                  <a:latin typeface="Segoe UI" panose="020B0502040204020203" pitchFamily="34" charset="0"/>
                </a:rPr>
                <a:t>Kết hợp các dòng chảy để vẽ nên tháp dân số tương lai, phục vụ dự báo lực lượng lao động và người cao tuổi.</a:t>
              </a:r>
              <a:endParaRPr lang="en-US" sz="1500" b="1">
                <a:solidFill>
                  <a:srgbClr val="475569"/>
                </a:solidFill>
                <a:latin typeface="Segoe UI" panose="020B0502040204020203" pitchFamily="34" charset="0"/>
              </a:endParaRPr>
            </a:p>
          </p:txBody>
        </p:sp>
      </p:grpSp>
      <p:sp>
        <p:nvSpPr>
          <p:cNvPr id="29" name="!!Anchor_Source_Footer">
            <a:extLst>
              <a:ext uri="{FF2B5EF4-FFF2-40B4-BE49-F238E27FC236}">
                <a16:creationId xmlns:a16="http://schemas.microsoft.com/office/drawing/2014/main" id="{68926F89-5E63-B52F-F302-883CA122E806}"/>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Tổng điều tra Dân số và Nhà ở 2019  |  Make Slide Pro V6.2 Certified</a:t>
            </a:r>
          </a:p>
        </p:txBody>
      </p:sp>
    </p:spTree>
    <p:extLst>
      <p:ext uri="{BB962C8B-B14F-4D97-AF65-F5344CB8AC3E}">
        <p14:creationId xmlns:p14="http://schemas.microsoft.com/office/powerpoint/2010/main" val="36823328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450" fill="hold"/>
                                        <p:tgtEl>
                                          <p:spTgt spid="16"/>
                                        </p:tgtEl>
                                        <p:attrNameLst>
                                          <p:attrName>ppt_x</p:attrName>
                                        </p:attrNameLst>
                                      </p:cBhvr>
                                      <p:tavLst>
                                        <p:tav tm="0">
                                          <p:val>
                                            <p:strVal val="#ppt_x"/>
                                          </p:val>
                                        </p:tav>
                                        <p:tav tm="100000">
                                          <p:val>
                                            <p:strVal val="#ppt_x"/>
                                          </p:val>
                                        </p:tav>
                                      </p:tavLst>
                                    </p:anim>
                                    <p:anim calcmode="lin" valueType="num">
                                      <p:cBhvr additive="base">
                                        <p:cTn id="8" dur="4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450" fill="hold"/>
                                        <p:tgtEl>
                                          <p:spTgt spid="22"/>
                                        </p:tgtEl>
                                        <p:attrNameLst>
                                          <p:attrName>ppt_x</p:attrName>
                                        </p:attrNameLst>
                                      </p:cBhvr>
                                      <p:tavLst>
                                        <p:tav tm="0">
                                          <p:val>
                                            <p:strVal val="#ppt_x"/>
                                          </p:val>
                                        </p:tav>
                                        <p:tav tm="100000">
                                          <p:val>
                                            <p:strVal val="#ppt_x"/>
                                          </p:val>
                                        </p:tav>
                                      </p:tavLst>
                                    </p:anim>
                                    <p:anim calcmode="lin" valueType="num">
                                      <p:cBhvr additive="base">
                                        <p:cTn id="14" dur="45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450" fill="hold"/>
                                        <p:tgtEl>
                                          <p:spTgt spid="28"/>
                                        </p:tgtEl>
                                        <p:attrNameLst>
                                          <p:attrName>ppt_x</p:attrName>
                                        </p:attrNameLst>
                                      </p:cBhvr>
                                      <p:tavLst>
                                        <p:tav tm="0">
                                          <p:val>
                                            <p:strVal val="#ppt_x"/>
                                          </p:val>
                                        </p:tav>
                                        <p:tav tm="100000">
                                          <p:val>
                                            <p:strVal val="#ppt_x"/>
                                          </p:val>
                                        </p:tav>
                                      </p:tavLst>
                                    </p:anim>
                                    <p:anim calcmode="lin" valueType="num">
                                      <p:cBhvr additive="base">
                                        <p:cTn id="20" dur="45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F562F2AB-1953-00F0-A49A-0AF40F2CF3C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KỊCH BẢN VIỆT NAM 2019-2069  •  TRỌNG TÂM</a:t>
            </a:r>
          </a:p>
        </p:txBody>
      </p:sp>
      <p:sp>
        <p:nvSpPr>
          <p:cNvPr id="3" name="!!Anchor_Slide_Tracker">
            <a:extLst>
              <a:ext uri="{FF2B5EF4-FFF2-40B4-BE49-F238E27FC236}">
                <a16:creationId xmlns:a16="http://schemas.microsoft.com/office/drawing/2014/main" id="{1C2BA7AE-3FAE-638A-9F01-51659498747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475569"/>
                </a:solidFill>
                <a:latin typeface="Bahnschrift" panose="020B0502040204020203" pitchFamily="34" charset="0"/>
              </a:rPr>
              <a:t>06 / 07</a:t>
            </a:r>
          </a:p>
        </p:txBody>
      </p:sp>
      <p:sp>
        <p:nvSpPr>
          <p:cNvPr id="4" name="!!Anchor_Assertion_Title">
            <a:extLst>
              <a:ext uri="{FF2B5EF4-FFF2-40B4-BE49-F238E27FC236}">
                <a16:creationId xmlns:a16="http://schemas.microsoft.com/office/drawing/2014/main" id="{1DBE12C5-2A98-5140-BDFF-52D2B712BE7F}"/>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Dân Số Việt Nam Dự Báo Sẽ Đạt Đỉnh Trong Giai Đoạn 2040 - 2050</a:t>
            </a:r>
          </a:p>
        </p:txBody>
      </p:sp>
      <p:grpSp>
        <p:nvGrpSpPr>
          <p:cNvPr id="11" name="!!Stage_Hero_Container">
            <a:extLst>
              <a:ext uri="{FF2B5EF4-FFF2-40B4-BE49-F238E27FC236}">
                <a16:creationId xmlns:a16="http://schemas.microsoft.com/office/drawing/2014/main" id="{3E7E34C8-6720-7D53-69DA-5EFB494DDBE8}"/>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BAA61E24-218F-001C-A7EE-9FFE61F3312A}"/>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AC37FDE-3874-4F53-8533-36753EA2C760}"/>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E065479-86B3-C5B5-8D68-04494F787DA3}"/>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5EFC029A-E526-005C-A205-FD1DEBD91E7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25FC02F3-9ACD-DC04-1750-51020F0FE177}"/>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1. Dân Số Gốc Năm 2019
</a:t>
              </a:r>
              <a:r>
                <a:rPr lang="vi-VN" sz="1500">
                  <a:solidFill>
                    <a:srgbClr val="475569"/>
                  </a:solidFill>
                  <a:latin typeface="Segoe UI" panose="020B0502040204020203" pitchFamily="34" charset="0"/>
                </a:rPr>
                <a:t>Thời điểm gốc 01/4/2019 dân số Việt Nam là 96.2 triệu người; dự báo kịch bản trung bình đạt 100 triệu người vào năm 2023.</a:t>
              </a:r>
              <a:endParaRPr lang="en-US" sz="1500">
                <a:solidFill>
                  <a:srgbClr val="475569"/>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5BFD6531-964A-DFE2-F0BE-DC2F59D4843D}"/>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F144D24A-9EB4-61D6-B003-1C42AA9B0FB7}"/>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8D48021-467F-F866-CC41-624A2E0030F2}"/>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A207F71-2A0C-51DC-FA94-16036ABF5E6F}"/>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AC9DE268-6931-936C-460C-BB197B5F845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20D6109E-668D-FFCE-68F3-8C8324250CAB}"/>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2. Thời Điểm Đạt Đỉnh Cực Đại
</a:t>
              </a:r>
              <a:r>
                <a:rPr lang="vi-VN" sz="1500">
                  <a:solidFill>
                    <a:srgbClr val="475569"/>
                  </a:solidFill>
                  <a:latin typeface="Segoe UI" panose="020B0502040204020203" pitchFamily="34" charset="0"/>
                </a:rPr>
                <a:t>Theo kịch bản trung bình, dân số nước ta sẽ đạt đỉnh khoảng 107.5 triệu người vào năm 2044, sau đó tốc độ tăng trưởng âm.</a:t>
              </a:r>
              <a:endParaRPr lang="en-US" sz="1500">
                <a:solidFill>
                  <a:srgbClr val="475569"/>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CE611221-A9DC-16CF-7648-59CC141BB9AA}"/>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B04A4371-ADF5-955C-CD1A-9A8B83CB208E}"/>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7BB3CFF-FE3D-8D4E-91F0-D430C706EF5D}"/>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E41E5-986A-4E6D-74F1-9E4F07FE1EE7}"/>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E5E45430-CB7C-4C26-FDDD-EC83048D5F8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C9E2E224-F7A9-ADDE-912D-191FD4C51337}"/>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3. Chuyển Đổi Sang Dân Số Siêu Già
</a:t>
              </a:r>
              <a:r>
                <a:rPr lang="vi-VN" sz="1500">
                  <a:solidFill>
                    <a:srgbClr val="475569"/>
                  </a:solidFill>
                  <a:latin typeface="Segoe UI" panose="020B0502040204020203" pitchFamily="34" charset="0"/>
                </a:rPr>
                <a:t>Đến năm 2069, tỷ lệ người từ 65 tuổi trở lên sẽ chiếm gần 25% tổng dân số, đặt ra thách thức chưa từng có về hệ thống an sinh xã hội.</a:t>
              </a:r>
              <a:endParaRPr lang="en-US" sz="1500">
                <a:solidFill>
                  <a:srgbClr val="475569"/>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3E1C7FE3-78F4-21E1-53E6-A03ACC8F6CD9}"/>
              </a:ext>
            </a:extLst>
          </p:cNvPr>
          <p:cNvSpPr txBox="1"/>
          <p:nvPr/>
        </p:nvSpPr>
        <p:spPr>
          <a:xfrm>
            <a:off x="609600" y="62738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Báo cáo Dự báo Dân số Việt Nam 2019 - 2069 (GSO)  |  Make Slide Pro V6.2 Certified</a:t>
            </a:r>
          </a:p>
        </p:txBody>
      </p:sp>
    </p:spTree>
    <p:extLst>
      <p:ext uri="{BB962C8B-B14F-4D97-AF65-F5344CB8AC3E}">
        <p14:creationId xmlns:p14="http://schemas.microsoft.com/office/powerpoint/2010/main" val="3438954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Deco_Accent_1">
            <a:extLst>
              <a:ext uri="{FF2B5EF4-FFF2-40B4-BE49-F238E27FC236}">
                <a16:creationId xmlns:a16="http://schemas.microsoft.com/office/drawing/2014/main" id="{F40995B0-A627-CAA2-26EE-0FE2503629DB}"/>
              </a:ext>
            </a:extLst>
          </p:cNvPr>
          <p:cNvSpPr/>
          <p:nvPr/>
        </p:nvSpPr>
        <p:spPr>
          <a:xfrm>
            <a:off x="8534400" y="304800"/>
            <a:ext cx="3048000" cy="3048000"/>
          </a:xfrm>
          <a:prstGeom prst="ellipse">
            <a:avLst/>
          </a:prstGeom>
          <a:solidFill>
            <a:srgbClr val="0A21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eco_Accent_2">
            <a:extLst>
              <a:ext uri="{FF2B5EF4-FFF2-40B4-BE49-F238E27FC236}">
                <a16:creationId xmlns:a16="http://schemas.microsoft.com/office/drawing/2014/main" id="{C44EACA0-D4C0-6918-5CEF-2FC852B47365}"/>
              </a:ext>
            </a:extLst>
          </p:cNvPr>
          <p:cNvSpPr/>
          <p:nvPr/>
        </p:nvSpPr>
        <p:spPr>
          <a:xfrm>
            <a:off x="9296400" y="4165600"/>
            <a:ext cx="2286000" cy="2286000"/>
          </a:xfrm>
          <a:prstGeom prst="rect">
            <a:avLst/>
          </a:prstGeom>
          <a:solidFill>
            <a:srgbClr val="061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1822426-1840-9258-8B72-07F381D9B800}"/>
              </a:ext>
            </a:extLst>
          </p:cNvPr>
          <p:cNvSpPr/>
          <p:nvPr/>
        </p:nvSpPr>
        <p:spPr>
          <a:xfrm>
            <a:off x="609600" y="965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69128EB-C68C-46AB-4928-DA80FF682567}"/>
              </a:ext>
            </a:extLst>
          </p:cNvPr>
          <p:cNvSpPr txBox="1"/>
          <p:nvPr/>
        </p:nvSpPr>
        <p:spPr>
          <a:xfrm>
            <a:off x="609600" y="1168400"/>
            <a:ext cx="10972800" cy="276999"/>
          </a:xfrm>
          <a:prstGeom prst="rect">
            <a:avLst/>
          </a:prstGeom>
          <a:noFill/>
        </p:spPr>
        <p:txBody>
          <a:bodyPr vert="horz" rtlCol="0">
            <a:spAutoFit/>
          </a:bodyPr>
          <a:lstStyle/>
          <a:p>
            <a:r>
              <a:rPr lang="vi-VN" sz="1200" b="1">
                <a:solidFill>
                  <a:srgbClr val="0D9488"/>
                </a:solidFill>
                <a:latin typeface="Segoe UI" panose="020B0502040204020203" pitchFamily="34" charset="0"/>
              </a:rPr>
              <a:t>CHƯƠNG TRÌNH ĐÀO TẠO DÂN SỐ HỌC  •  TỔNG KẾT BÀI HỌC</a:t>
            </a:r>
            <a:endParaRPr lang="en-US" sz="1200" b="1">
              <a:solidFill>
                <a:srgbClr val="0D9488"/>
              </a:solidFill>
              <a:latin typeface="Segoe UI" panose="020B0502040204020203" pitchFamily="34" charset="0"/>
            </a:endParaRPr>
          </a:p>
        </p:txBody>
      </p:sp>
      <p:sp>
        <p:nvSpPr>
          <p:cNvPr id="6" name="TextBox 5">
            <a:extLst>
              <a:ext uri="{FF2B5EF4-FFF2-40B4-BE49-F238E27FC236}">
                <a16:creationId xmlns:a16="http://schemas.microsoft.com/office/drawing/2014/main" id="{8AB21DCB-64A7-3D2B-DD8C-DB624B0024F7}"/>
              </a:ext>
            </a:extLst>
          </p:cNvPr>
          <p:cNvSpPr txBox="1"/>
          <p:nvPr/>
        </p:nvSpPr>
        <p:spPr>
          <a:xfrm>
            <a:off x="609600" y="1600200"/>
            <a:ext cx="9875520" cy="1200329"/>
          </a:xfrm>
          <a:prstGeom prst="rect">
            <a:avLst/>
          </a:prstGeom>
          <a:noFill/>
        </p:spPr>
        <p:txBody>
          <a:bodyPr vert="horz" wrap="square" rtlCol="0">
            <a:spAutoFit/>
          </a:bodyPr>
          <a:lstStyle/>
          <a:p>
            <a:r>
              <a:rPr lang="vi-VN" sz="3600" b="1">
                <a:solidFill>
                  <a:srgbClr val="FFFFFF"/>
                </a:solidFill>
                <a:latin typeface="Segoe UI" panose="020B0502040204020203" pitchFamily="34" charset="0"/>
              </a:rPr>
              <a:t>Dự Báo Dân Số Là La Bàn Dẫn Đường Cho Hoạch Định Chính Sách Quốc Gia</a:t>
            </a:r>
            <a:endParaRPr lang="en-US" sz="3600" b="1">
              <a:solidFill>
                <a:srgbClr val="FFFFFF"/>
              </a:solidFill>
              <a:latin typeface="Segoe UI" panose="020B0502040204020203" pitchFamily="34" charset="0"/>
            </a:endParaRPr>
          </a:p>
        </p:txBody>
      </p:sp>
      <p:sp>
        <p:nvSpPr>
          <p:cNvPr id="7" name="TextBox 6">
            <a:extLst>
              <a:ext uri="{FF2B5EF4-FFF2-40B4-BE49-F238E27FC236}">
                <a16:creationId xmlns:a16="http://schemas.microsoft.com/office/drawing/2014/main" id="{CE41FE11-2BFA-3B61-CCA4-7C0E93636785}"/>
              </a:ext>
            </a:extLst>
          </p:cNvPr>
          <p:cNvSpPr txBox="1"/>
          <p:nvPr/>
        </p:nvSpPr>
        <p:spPr>
          <a:xfrm>
            <a:off x="609600" y="3378200"/>
            <a:ext cx="9326880" cy="646331"/>
          </a:xfrm>
          <a:prstGeom prst="rect">
            <a:avLst/>
          </a:prstGeom>
          <a:noFill/>
        </p:spPr>
        <p:txBody>
          <a:bodyPr vert="horz" wrap="square" rtlCol="0">
            <a:spAutoFit/>
          </a:bodyPr>
          <a:lstStyle/>
          <a:p>
            <a:r>
              <a:rPr lang="vi-VN">
                <a:solidFill>
                  <a:srgbClr val="E2E8F0"/>
                </a:solidFill>
                <a:latin typeface="Segoe UI" panose="020B0502040204020203" pitchFamily="34" charset="0"/>
              </a:rPr>
              <a:t>Chủ động nắm bắt xu hướng nhân khẩu học tương lai là chìa khóa để xây dựng một xã hội thịnh vượng, bao trùm và thích ứng.</a:t>
            </a:r>
            <a:endParaRPr lang="en-US">
              <a:solidFill>
                <a:srgbClr val="E2E8F0"/>
              </a:solidFill>
              <a:latin typeface="Segoe UI" panose="020B0502040204020203" pitchFamily="34" charset="0"/>
            </a:endParaRPr>
          </a:p>
        </p:txBody>
      </p:sp>
      <p:sp>
        <p:nvSpPr>
          <p:cNvPr id="8" name="TextBox 7">
            <a:extLst>
              <a:ext uri="{FF2B5EF4-FFF2-40B4-BE49-F238E27FC236}">
                <a16:creationId xmlns:a16="http://schemas.microsoft.com/office/drawing/2014/main" id="{E11905D3-9D70-6F05-30A6-BADCB47D58A9}"/>
              </a:ext>
            </a:extLst>
          </p:cNvPr>
          <p:cNvSpPr txBox="1"/>
          <p:nvPr/>
        </p:nvSpPr>
        <p:spPr>
          <a:xfrm>
            <a:off x="609600" y="6197600"/>
            <a:ext cx="10972800" cy="246221"/>
          </a:xfrm>
          <a:prstGeom prst="rect">
            <a:avLst/>
          </a:prstGeom>
          <a:noFill/>
        </p:spPr>
        <p:txBody>
          <a:bodyPr vert="horz" rtlCol="0">
            <a:spAutoFit/>
          </a:bodyPr>
          <a:lstStyle/>
          <a:p>
            <a:r>
              <a:rPr lang="en-US" sz="1000">
                <a:solidFill>
                  <a:srgbClr val="475569"/>
                </a:solidFill>
                <a:latin typeface="Segoe UI" panose="020B0502040204020203" pitchFamily="34" charset="0"/>
              </a:rPr>
              <a:t>Hệ Thống Bài Giảng Dân Số Học Chuẩn Hóa • Make Slide Pro V6.2 Certified</a:t>
            </a:r>
          </a:p>
        </p:txBody>
      </p:sp>
    </p:spTree>
    <p:extLst>
      <p:ext uri="{BB962C8B-B14F-4D97-AF65-F5344CB8AC3E}">
        <p14:creationId xmlns:p14="http://schemas.microsoft.com/office/powerpoint/2010/main" val="260240442"/>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1000</Words>
  <Application>Microsoft Office PowerPoint</Application>
  <PresentationFormat>Custom</PresentationFormat>
  <Paragraphs>51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2026-09-18T04:40:02Z</dcterms:created>
  <dcterms:modified xsi:type="dcterms:W3CDTF">2026-09-18T04:40:02Z</dcterms:modified>
</cp:coreProperties>
</file>