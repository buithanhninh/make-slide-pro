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13B5-33B6-708F-7BDD-EFCE399AA4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F036FE-8E89-1C61-D1B0-08642D9CAE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D9739E-BF4B-D2C4-0D2B-F248B03960BD}"/>
              </a:ext>
            </a:extLst>
          </p:cNvPr>
          <p:cNvSpPr>
            <a:spLocks noGrp="1"/>
          </p:cNvSpPr>
          <p:nvPr>
            <p:ph type="dt" sz="half" idx="10"/>
          </p:nvPr>
        </p:nvSpPr>
        <p:spPr/>
        <p:txBody>
          <a:bodyPr/>
          <a:lstStyle/>
          <a:p>
            <a:fld id="{A21F267D-4694-477B-A38C-A875D4734ADC}" type="datetimeFigureOut">
              <a:rPr lang="en-US" smtClean="0"/>
              <a:t>9/18/2026</a:t>
            </a:fld>
            <a:endParaRPr lang="en-US"/>
          </a:p>
        </p:txBody>
      </p:sp>
      <p:sp>
        <p:nvSpPr>
          <p:cNvPr id="5" name="Footer Placeholder 4">
            <a:extLst>
              <a:ext uri="{FF2B5EF4-FFF2-40B4-BE49-F238E27FC236}">
                <a16:creationId xmlns:a16="http://schemas.microsoft.com/office/drawing/2014/main" id="{599775C5-4B8F-2B96-4705-23C784C376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8296CE-3C0B-CBC2-F62E-874E863C02DC}"/>
              </a:ext>
            </a:extLst>
          </p:cNvPr>
          <p:cNvSpPr>
            <a:spLocks noGrp="1"/>
          </p:cNvSpPr>
          <p:nvPr>
            <p:ph type="sldNum" sz="quarter" idx="12"/>
          </p:nvPr>
        </p:nvSpPr>
        <p:spPr/>
        <p:txBody>
          <a:bodyPr/>
          <a:lstStyle/>
          <a:p>
            <a:fld id="{D0A81B16-9128-4BF1-8F9E-9AD7E04BD758}" type="slidenum">
              <a:rPr lang="en-US" smtClean="0"/>
              <a:t>‹#›</a:t>
            </a:fld>
            <a:endParaRPr lang="en-US"/>
          </a:p>
        </p:txBody>
      </p:sp>
    </p:spTree>
    <p:extLst>
      <p:ext uri="{BB962C8B-B14F-4D97-AF65-F5344CB8AC3E}">
        <p14:creationId xmlns:p14="http://schemas.microsoft.com/office/powerpoint/2010/main" val="1071047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55416-6E7E-2882-CEDF-0A58F7EF95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C53833-55E0-BFDA-069F-2EB347D2FB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E78DE6-8CEC-EEEA-06EB-EA465402BFE8}"/>
              </a:ext>
            </a:extLst>
          </p:cNvPr>
          <p:cNvSpPr>
            <a:spLocks noGrp="1"/>
          </p:cNvSpPr>
          <p:nvPr>
            <p:ph type="dt" sz="half" idx="10"/>
          </p:nvPr>
        </p:nvSpPr>
        <p:spPr/>
        <p:txBody>
          <a:bodyPr/>
          <a:lstStyle/>
          <a:p>
            <a:fld id="{A21F267D-4694-477B-A38C-A875D4734ADC}" type="datetimeFigureOut">
              <a:rPr lang="en-US" smtClean="0"/>
              <a:t>9/18/2026</a:t>
            </a:fld>
            <a:endParaRPr lang="en-US"/>
          </a:p>
        </p:txBody>
      </p:sp>
      <p:sp>
        <p:nvSpPr>
          <p:cNvPr id="5" name="Footer Placeholder 4">
            <a:extLst>
              <a:ext uri="{FF2B5EF4-FFF2-40B4-BE49-F238E27FC236}">
                <a16:creationId xmlns:a16="http://schemas.microsoft.com/office/drawing/2014/main" id="{69597056-ADE3-F079-6A64-3DE02E81F7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1E8E35-510C-70EC-1351-EA6C6279EF35}"/>
              </a:ext>
            </a:extLst>
          </p:cNvPr>
          <p:cNvSpPr>
            <a:spLocks noGrp="1"/>
          </p:cNvSpPr>
          <p:nvPr>
            <p:ph type="sldNum" sz="quarter" idx="12"/>
          </p:nvPr>
        </p:nvSpPr>
        <p:spPr/>
        <p:txBody>
          <a:bodyPr/>
          <a:lstStyle/>
          <a:p>
            <a:fld id="{D0A81B16-9128-4BF1-8F9E-9AD7E04BD758}" type="slidenum">
              <a:rPr lang="en-US" smtClean="0"/>
              <a:t>‹#›</a:t>
            </a:fld>
            <a:endParaRPr lang="en-US"/>
          </a:p>
        </p:txBody>
      </p:sp>
    </p:spTree>
    <p:extLst>
      <p:ext uri="{BB962C8B-B14F-4D97-AF65-F5344CB8AC3E}">
        <p14:creationId xmlns:p14="http://schemas.microsoft.com/office/powerpoint/2010/main" val="2915854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849FB-EF89-7064-595E-5620EFCAA5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9D34285-7D2E-782C-A810-0BBAE6348D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02153F-45F0-3901-2CFC-79676BA3CE9C}"/>
              </a:ext>
            </a:extLst>
          </p:cNvPr>
          <p:cNvSpPr>
            <a:spLocks noGrp="1"/>
          </p:cNvSpPr>
          <p:nvPr>
            <p:ph type="dt" sz="half" idx="10"/>
          </p:nvPr>
        </p:nvSpPr>
        <p:spPr/>
        <p:txBody>
          <a:bodyPr/>
          <a:lstStyle/>
          <a:p>
            <a:fld id="{A21F267D-4694-477B-A38C-A875D4734ADC}" type="datetimeFigureOut">
              <a:rPr lang="en-US" smtClean="0"/>
              <a:t>9/18/2026</a:t>
            </a:fld>
            <a:endParaRPr lang="en-US"/>
          </a:p>
        </p:txBody>
      </p:sp>
      <p:sp>
        <p:nvSpPr>
          <p:cNvPr id="5" name="Footer Placeholder 4">
            <a:extLst>
              <a:ext uri="{FF2B5EF4-FFF2-40B4-BE49-F238E27FC236}">
                <a16:creationId xmlns:a16="http://schemas.microsoft.com/office/drawing/2014/main" id="{38D9720C-8861-F743-5DE5-0F65F6B485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A39B63-446B-16AB-EB8C-E35799FDD602}"/>
              </a:ext>
            </a:extLst>
          </p:cNvPr>
          <p:cNvSpPr>
            <a:spLocks noGrp="1"/>
          </p:cNvSpPr>
          <p:nvPr>
            <p:ph type="sldNum" sz="quarter" idx="12"/>
          </p:nvPr>
        </p:nvSpPr>
        <p:spPr/>
        <p:txBody>
          <a:bodyPr/>
          <a:lstStyle/>
          <a:p>
            <a:fld id="{D0A81B16-9128-4BF1-8F9E-9AD7E04BD758}" type="slidenum">
              <a:rPr lang="en-US" smtClean="0"/>
              <a:t>‹#›</a:t>
            </a:fld>
            <a:endParaRPr lang="en-US"/>
          </a:p>
        </p:txBody>
      </p:sp>
    </p:spTree>
    <p:extLst>
      <p:ext uri="{BB962C8B-B14F-4D97-AF65-F5344CB8AC3E}">
        <p14:creationId xmlns:p14="http://schemas.microsoft.com/office/powerpoint/2010/main" val="2732924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02DBA-0874-4259-44BD-E6DC6D712F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9C20B8-E9B9-EB19-2C7C-03EF58EBD8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FD852B-F64C-31E4-532B-0AE1804C69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DF6EDD-41AA-56E1-987D-4AC20ABA5121}"/>
              </a:ext>
            </a:extLst>
          </p:cNvPr>
          <p:cNvSpPr>
            <a:spLocks noGrp="1"/>
          </p:cNvSpPr>
          <p:nvPr>
            <p:ph type="dt" sz="half" idx="10"/>
          </p:nvPr>
        </p:nvSpPr>
        <p:spPr/>
        <p:txBody>
          <a:bodyPr/>
          <a:lstStyle/>
          <a:p>
            <a:fld id="{A21F267D-4694-477B-A38C-A875D4734ADC}" type="datetimeFigureOut">
              <a:rPr lang="en-US" smtClean="0"/>
              <a:t>9/18/2026</a:t>
            </a:fld>
            <a:endParaRPr lang="en-US"/>
          </a:p>
        </p:txBody>
      </p:sp>
      <p:sp>
        <p:nvSpPr>
          <p:cNvPr id="6" name="Footer Placeholder 5">
            <a:extLst>
              <a:ext uri="{FF2B5EF4-FFF2-40B4-BE49-F238E27FC236}">
                <a16:creationId xmlns:a16="http://schemas.microsoft.com/office/drawing/2014/main" id="{EC6D44C2-BEDA-130F-A171-9F6C85A586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2F06EC-BA29-0E41-BE0C-772012387295}"/>
              </a:ext>
            </a:extLst>
          </p:cNvPr>
          <p:cNvSpPr>
            <a:spLocks noGrp="1"/>
          </p:cNvSpPr>
          <p:nvPr>
            <p:ph type="sldNum" sz="quarter" idx="12"/>
          </p:nvPr>
        </p:nvSpPr>
        <p:spPr/>
        <p:txBody>
          <a:bodyPr/>
          <a:lstStyle/>
          <a:p>
            <a:fld id="{D0A81B16-9128-4BF1-8F9E-9AD7E04BD758}" type="slidenum">
              <a:rPr lang="en-US" smtClean="0"/>
              <a:t>‹#›</a:t>
            </a:fld>
            <a:endParaRPr lang="en-US"/>
          </a:p>
        </p:txBody>
      </p:sp>
    </p:spTree>
    <p:extLst>
      <p:ext uri="{BB962C8B-B14F-4D97-AF65-F5344CB8AC3E}">
        <p14:creationId xmlns:p14="http://schemas.microsoft.com/office/powerpoint/2010/main" val="276350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ED578-3AF0-B560-BDBA-B13AA53E02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43193F-3518-3C40-382C-C3548194F3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EBBEED-E89A-FF66-9F1C-E38E79FB4C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013A4D-70A3-0E50-B155-A8751926D7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3F09A6-5058-1D43-8396-1D6BF34137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20829B-2A5D-730C-E9D3-69C454682034}"/>
              </a:ext>
            </a:extLst>
          </p:cNvPr>
          <p:cNvSpPr>
            <a:spLocks noGrp="1"/>
          </p:cNvSpPr>
          <p:nvPr>
            <p:ph type="dt" sz="half" idx="10"/>
          </p:nvPr>
        </p:nvSpPr>
        <p:spPr/>
        <p:txBody>
          <a:bodyPr/>
          <a:lstStyle/>
          <a:p>
            <a:fld id="{A21F267D-4694-477B-A38C-A875D4734ADC}" type="datetimeFigureOut">
              <a:rPr lang="en-US" smtClean="0"/>
              <a:t>9/18/2026</a:t>
            </a:fld>
            <a:endParaRPr lang="en-US"/>
          </a:p>
        </p:txBody>
      </p:sp>
      <p:sp>
        <p:nvSpPr>
          <p:cNvPr id="8" name="Footer Placeholder 7">
            <a:extLst>
              <a:ext uri="{FF2B5EF4-FFF2-40B4-BE49-F238E27FC236}">
                <a16:creationId xmlns:a16="http://schemas.microsoft.com/office/drawing/2014/main" id="{588F5394-327B-D39C-0342-4386B66C13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1119F6-F1CF-A527-6BB8-F8FEBE1ADAD9}"/>
              </a:ext>
            </a:extLst>
          </p:cNvPr>
          <p:cNvSpPr>
            <a:spLocks noGrp="1"/>
          </p:cNvSpPr>
          <p:nvPr>
            <p:ph type="sldNum" sz="quarter" idx="12"/>
          </p:nvPr>
        </p:nvSpPr>
        <p:spPr/>
        <p:txBody>
          <a:bodyPr/>
          <a:lstStyle/>
          <a:p>
            <a:fld id="{D0A81B16-9128-4BF1-8F9E-9AD7E04BD758}" type="slidenum">
              <a:rPr lang="en-US" smtClean="0"/>
              <a:t>‹#›</a:t>
            </a:fld>
            <a:endParaRPr lang="en-US"/>
          </a:p>
        </p:txBody>
      </p:sp>
    </p:spTree>
    <p:extLst>
      <p:ext uri="{BB962C8B-B14F-4D97-AF65-F5344CB8AC3E}">
        <p14:creationId xmlns:p14="http://schemas.microsoft.com/office/powerpoint/2010/main" val="1796976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15558-5B8E-E0DE-CA14-14331923EA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2F3F98-0C19-3711-43EA-B3FC47FE363F}"/>
              </a:ext>
            </a:extLst>
          </p:cNvPr>
          <p:cNvSpPr>
            <a:spLocks noGrp="1"/>
          </p:cNvSpPr>
          <p:nvPr>
            <p:ph type="dt" sz="half" idx="10"/>
          </p:nvPr>
        </p:nvSpPr>
        <p:spPr/>
        <p:txBody>
          <a:bodyPr/>
          <a:lstStyle/>
          <a:p>
            <a:fld id="{A21F267D-4694-477B-A38C-A875D4734ADC}" type="datetimeFigureOut">
              <a:rPr lang="en-US" smtClean="0"/>
              <a:t>9/18/2026</a:t>
            </a:fld>
            <a:endParaRPr lang="en-US"/>
          </a:p>
        </p:txBody>
      </p:sp>
      <p:sp>
        <p:nvSpPr>
          <p:cNvPr id="4" name="Footer Placeholder 3">
            <a:extLst>
              <a:ext uri="{FF2B5EF4-FFF2-40B4-BE49-F238E27FC236}">
                <a16:creationId xmlns:a16="http://schemas.microsoft.com/office/drawing/2014/main" id="{2DE2A855-FE0D-280C-3E45-2DDF7720F4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1B6BF62-E06F-C312-9C69-B9B841DBB1E9}"/>
              </a:ext>
            </a:extLst>
          </p:cNvPr>
          <p:cNvSpPr>
            <a:spLocks noGrp="1"/>
          </p:cNvSpPr>
          <p:nvPr>
            <p:ph type="sldNum" sz="quarter" idx="12"/>
          </p:nvPr>
        </p:nvSpPr>
        <p:spPr/>
        <p:txBody>
          <a:bodyPr/>
          <a:lstStyle/>
          <a:p>
            <a:fld id="{D0A81B16-9128-4BF1-8F9E-9AD7E04BD758}" type="slidenum">
              <a:rPr lang="en-US" smtClean="0"/>
              <a:t>‹#›</a:t>
            </a:fld>
            <a:endParaRPr lang="en-US"/>
          </a:p>
        </p:txBody>
      </p:sp>
    </p:spTree>
    <p:extLst>
      <p:ext uri="{BB962C8B-B14F-4D97-AF65-F5344CB8AC3E}">
        <p14:creationId xmlns:p14="http://schemas.microsoft.com/office/powerpoint/2010/main" val="2945515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FE4197-265D-4774-62C0-7D0DA0746781}"/>
              </a:ext>
            </a:extLst>
          </p:cNvPr>
          <p:cNvSpPr>
            <a:spLocks noGrp="1"/>
          </p:cNvSpPr>
          <p:nvPr>
            <p:ph type="dt" sz="half" idx="10"/>
          </p:nvPr>
        </p:nvSpPr>
        <p:spPr/>
        <p:txBody>
          <a:bodyPr/>
          <a:lstStyle/>
          <a:p>
            <a:fld id="{A21F267D-4694-477B-A38C-A875D4734ADC}" type="datetimeFigureOut">
              <a:rPr lang="en-US" smtClean="0"/>
              <a:t>9/18/2026</a:t>
            </a:fld>
            <a:endParaRPr lang="en-US"/>
          </a:p>
        </p:txBody>
      </p:sp>
      <p:sp>
        <p:nvSpPr>
          <p:cNvPr id="3" name="Footer Placeholder 2">
            <a:extLst>
              <a:ext uri="{FF2B5EF4-FFF2-40B4-BE49-F238E27FC236}">
                <a16:creationId xmlns:a16="http://schemas.microsoft.com/office/drawing/2014/main" id="{32C20B1B-187A-C82D-396F-760A61D0CA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0E4484-034B-7FF5-9A59-548EF9782AFA}"/>
              </a:ext>
            </a:extLst>
          </p:cNvPr>
          <p:cNvSpPr>
            <a:spLocks noGrp="1"/>
          </p:cNvSpPr>
          <p:nvPr>
            <p:ph type="sldNum" sz="quarter" idx="12"/>
          </p:nvPr>
        </p:nvSpPr>
        <p:spPr/>
        <p:txBody>
          <a:bodyPr/>
          <a:lstStyle/>
          <a:p>
            <a:fld id="{D0A81B16-9128-4BF1-8F9E-9AD7E04BD758}" type="slidenum">
              <a:rPr lang="en-US" smtClean="0"/>
              <a:t>‹#›</a:t>
            </a:fld>
            <a:endParaRPr lang="en-US"/>
          </a:p>
        </p:txBody>
      </p:sp>
    </p:spTree>
    <p:extLst>
      <p:ext uri="{BB962C8B-B14F-4D97-AF65-F5344CB8AC3E}">
        <p14:creationId xmlns:p14="http://schemas.microsoft.com/office/powerpoint/2010/main" val="3388953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22899-9897-9029-6B7F-DFC1F01952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B55E26-27CF-4493-E85B-E52B848767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493EE2-4A1B-36DF-3D3A-B8C263161E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6A6954-DE4E-03B3-B875-9FEAB4967C27}"/>
              </a:ext>
            </a:extLst>
          </p:cNvPr>
          <p:cNvSpPr>
            <a:spLocks noGrp="1"/>
          </p:cNvSpPr>
          <p:nvPr>
            <p:ph type="dt" sz="half" idx="10"/>
          </p:nvPr>
        </p:nvSpPr>
        <p:spPr/>
        <p:txBody>
          <a:bodyPr/>
          <a:lstStyle/>
          <a:p>
            <a:fld id="{A21F267D-4694-477B-A38C-A875D4734ADC}" type="datetimeFigureOut">
              <a:rPr lang="en-US" smtClean="0"/>
              <a:t>9/18/2026</a:t>
            </a:fld>
            <a:endParaRPr lang="en-US"/>
          </a:p>
        </p:txBody>
      </p:sp>
      <p:sp>
        <p:nvSpPr>
          <p:cNvPr id="6" name="Footer Placeholder 5">
            <a:extLst>
              <a:ext uri="{FF2B5EF4-FFF2-40B4-BE49-F238E27FC236}">
                <a16:creationId xmlns:a16="http://schemas.microsoft.com/office/drawing/2014/main" id="{C85EAF85-7348-EA71-0404-6D44C87B57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B73215-ECEC-E4FD-4797-E73ACFD9788D}"/>
              </a:ext>
            </a:extLst>
          </p:cNvPr>
          <p:cNvSpPr>
            <a:spLocks noGrp="1"/>
          </p:cNvSpPr>
          <p:nvPr>
            <p:ph type="sldNum" sz="quarter" idx="12"/>
          </p:nvPr>
        </p:nvSpPr>
        <p:spPr/>
        <p:txBody>
          <a:bodyPr/>
          <a:lstStyle/>
          <a:p>
            <a:fld id="{D0A81B16-9128-4BF1-8F9E-9AD7E04BD758}" type="slidenum">
              <a:rPr lang="en-US" smtClean="0"/>
              <a:t>‹#›</a:t>
            </a:fld>
            <a:endParaRPr lang="en-US"/>
          </a:p>
        </p:txBody>
      </p:sp>
    </p:spTree>
    <p:extLst>
      <p:ext uri="{BB962C8B-B14F-4D97-AF65-F5344CB8AC3E}">
        <p14:creationId xmlns:p14="http://schemas.microsoft.com/office/powerpoint/2010/main" val="1489338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C82CD-91CE-033A-7B02-B39D01ED31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BD26FA-EDE4-EDDA-DE91-8D48F1CA1F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38230C-8EA9-28BA-E64B-04E6406A9B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BE7B7F-CC59-8D06-A219-03A01364EC5D}"/>
              </a:ext>
            </a:extLst>
          </p:cNvPr>
          <p:cNvSpPr>
            <a:spLocks noGrp="1"/>
          </p:cNvSpPr>
          <p:nvPr>
            <p:ph type="dt" sz="half" idx="10"/>
          </p:nvPr>
        </p:nvSpPr>
        <p:spPr/>
        <p:txBody>
          <a:bodyPr/>
          <a:lstStyle/>
          <a:p>
            <a:fld id="{A21F267D-4694-477B-A38C-A875D4734ADC}" type="datetimeFigureOut">
              <a:rPr lang="en-US" smtClean="0"/>
              <a:t>9/18/2026</a:t>
            </a:fld>
            <a:endParaRPr lang="en-US"/>
          </a:p>
        </p:txBody>
      </p:sp>
      <p:sp>
        <p:nvSpPr>
          <p:cNvPr id="6" name="Footer Placeholder 5">
            <a:extLst>
              <a:ext uri="{FF2B5EF4-FFF2-40B4-BE49-F238E27FC236}">
                <a16:creationId xmlns:a16="http://schemas.microsoft.com/office/drawing/2014/main" id="{D5EFC5D2-01FC-C2BC-28E7-3D788DBC12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A5FFCD-586B-B8CF-951A-FDC4019C842B}"/>
              </a:ext>
            </a:extLst>
          </p:cNvPr>
          <p:cNvSpPr>
            <a:spLocks noGrp="1"/>
          </p:cNvSpPr>
          <p:nvPr>
            <p:ph type="sldNum" sz="quarter" idx="12"/>
          </p:nvPr>
        </p:nvSpPr>
        <p:spPr/>
        <p:txBody>
          <a:bodyPr/>
          <a:lstStyle/>
          <a:p>
            <a:fld id="{D0A81B16-9128-4BF1-8F9E-9AD7E04BD758}" type="slidenum">
              <a:rPr lang="en-US" smtClean="0"/>
              <a:t>‹#›</a:t>
            </a:fld>
            <a:endParaRPr lang="en-US"/>
          </a:p>
        </p:txBody>
      </p:sp>
    </p:spTree>
    <p:extLst>
      <p:ext uri="{BB962C8B-B14F-4D97-AF65-F5344CB8AC3E}">
        <p14:creationId xmlns:p14="http://schemas.microsoft.com/office/powerpoint/2010/main" val="3870669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CCA84-7C70-F2E5-3D8D-2765EF997B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2ADBE2-72C8-095A-8E20-57828F6927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B2BDE5-D290-2105-C039-0A65BA6D361E}"/>
              </a:ext>
            </a:extLst>
          </p:cNvPr>
          <p:cNvSpPr>
            <a:spLocks noGrp="1"/>
          </p:cNvSpPr>
          <p:nvPr>
            <p:ph type="dt" sz="half" idx="10"/>
          </p:nvPr>
        </p:nvSpPr>
        <p:spPr/>
        <p:txBody>
          <a:bodyPr/>
          <a:lstStyle/>
          <a:p>
            <a:fld id="{A21F267D-4694-477B-A38C-A875D4734ADC}" type="datetimeFigureOut">
              <a:rPr lang="en-US" smtClean="0"/>
              <a:t>9/18/2026</a:t>
            </a:fld>
            <a:endParaRPr lang="en-US"/>
          </a:p>
        </p:txBody>
      </p:sp>
      <p:sp>
        <p:nvSpPr>
          <p:cNvPr id="5" name="Footer Placeholder 4">
            <a:extLst>
              <a:ext uri="{FF2B5EF4-FFF2-40B4-BE49-F238E27FC236}">
                <a16:creationId xmlns:a16="http://schemas.microsoft.com/office/drawing/2014/main" id="{4535670E-7FA7-51FE-E6D0-55894573E4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4C5348-FCDB-566F-30E6-749398730AA9}"/>
              </a:ext>
            </a:extLst>
          </p:cNvPr>
          <p:cNvSpPr>
            <a:spLocks noGrp="1"/>
          </p:cNvSpPr>
          <p:nvPr>
            <p:ph type="sldNum" sz="quarter" idx="12"/>
          </p:nvPr>
        </p:nvSpPr>
        <p:spPr/>
        <p:txBody>
          <a:bodyPr/>
          <a:lstStyle/>
          <a:p>
            <a:fld id="{D0A81B16-9128-4BF1-8F9E-9AD7E04BD758}" type="slidenum">
              <a:rPr lang="en-US" smtClean="0"/>
              <a:t>‹#›</a:t>
            </a:fld>
            <a:endParaRPr lang="en-US"/>
          </a:p>
        </p:txBody>
      </p:sp>
    </p:spTree>
    <p:extLst>
      <p:ext uri="{BB962C8B-B14F-4D97-AF65-F5344CB8AC3E}">
        <p14:creationId xmlns:p14="http://schemas.microsoft.com/office/powerpoint/2010/main" val="1201611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E315EA-89BD-BBC7-0E8C-404D31627C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277FB9-5E6A-1E9C-7125-61C9260A42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034BC4-8471-BE8F-E5DC-39584968F4DD}"/>
              </a:ext>
            </a:extLst>
          </p:cNvPr>
          <p:cNvSpPr>
            <a:spLocks noGrp="1"/>
          </p:cNvSpPr>
          <p:nvPr>
            <p:ph type="dt" sz="half" idx="10"/>
          </p:nvPr>
        </p:nvSpPr>
        <p:spPr/>
        <p:txBody>
          <a:bodyPr/>
          <a:lstStyle/>
          <a:p>
            <a:fld id="{A21F267D-4694-477B-A38C-A875D4734ADC}" type="datetimeFigureOut">
              <a:rPr lang="en-US" smtClean="0"/>
              <a:t>9/18/2026</a:t>
            </a:fld>
            <a:endParaRPr lang="en-US"/>
          </a:p>
        </p:txBody>
      </p:sp>
      <p:sp>
        <p:nvSpPr>
          <p:cNvPr id="5" name="Footer Placeholder 4">
            <a:extLst>
              <a:ext uri="{FF2B5EF4-FFF2-40B4-BE49-F238E27FC236}">
                <a16:creationId xmlns:a16="http://schemas.microsoft.com/office/drawing/2014/main" id="{2C28277A-D046-5A23-F977-A7C6AC47A5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156F17-48B6-EE79-8505-9181C72D5326}"/>
              </a:ext>
            </a:extLst>
          </p:cNvPr>
          <p:cNvSpPr>
            <a:spLocks noGrp="1"/>
          </p:cNvSpPr>
          <p:nvPr>
            <p:ph type="sldNum" sz="quarter" idx="12"/>
          </p:nvPr>
        </p:nvSpPr>
        <p:spPr/>
        <p:txBody>
          <a:bodyPr/>
          <a:lstStyle/>
          <a:p>
            <a:fld id="{D0A81B16-9128-4BF1-8F9E-9AD7E04BD758}" type="slidenum">
              <a:rPr lang="en-US" smtClean="0"/>
              <a:t>‹#›</a:t>
            </a:fld>
            <a:endParaRPr lang="en-US"/>
          </a:p>
        </p:txBody>
      </p:sp>
    </p:spTree>
    <p:extLst>
      <p:ext uri="{BB962C8B-B14F-4D97-AF65-F5344CB8AC3E}">
        <p14:creationId xmlns:p14="http://schemas.microsoft.com/office/powerpoint/2010/main" val="2173519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A6C610-286D-97B9-2FD1-EAD9E25F37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8BEC48-0C8A-F9D2-2DD3-A2F07D964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EA1DF4-4972-5920-436E-24896A90E8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1F267D-4694-477B-A38C-A875D4734ADC}" type="datetimeFigureOut">
              <a:rPr lang="en-US" smtClean="0"/>
              <a:t>9/18/2026</a:t>
            </a:fld>
            <a:endParaRPr lang="en-US"/>
          </a:p>
        </p:txBody>
      </p:sp>
      <p:sp>
        <p:nvSpPr>
          <p:cNvPr id="5" name="Footer Placeholder 4">
            <a:extLst>
              <a:ext uri="{FF2B5EF4-FFF2-40B4-BE49-F238E27FC236}">
                <a16:creationId xmlns:a16="http://schemas.microsoft.com/office/drawing/2014/main" id="{06401C15-7C6A-7746-F17E-B9786D7F58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A1ECA3F-1BF7-2F50-4A3E-2546753FF9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A81B16-9128-4BF1-8F9E-9AD7E04BD758}" type="slidenum">
              <a:rPr lang="en-US" smtClean="0"/>
              <a:t>‹#›</a:t>
            </a:fld>
            <a:endParaRPr lang="en-US"/>
          </a:p>
        </p:txBody>
      </p:sp>
    </p:spTree>
    <p:extLst>
      <p:ext uri="{BB962C8B-B14F-4D97-AF65-F5344CB8AC3E}">
        <p14:creationId xmlns:p14="http://schemas.microsoft.com/office/powerpoint/2010/main" val="25375387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jp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8.svg"/><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1.jpg"/><Relationship Id="rId1" Type="http://schemas.openxmlformats.org/officeDocument/2006/relationships/slideLayout" Target="../slideLayouts/slideLayout7.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5.svg"/><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6.jp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1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30.svg"/><Relationship Id="rId1" Type="http://schemas.openxmlformats.org/officeDocument/2006/relationships/slideLayout" Target="../slideLayouts/slideLayout7.xml"/><Relationship Id="rId4" Type="http://schemas.openxmlformats.org/officeDocument/2006/relationships/image" Target="../media/image31.svg"/></Relationships>
</file>

<file path=ppt/slides/_rels/slide1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4.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4D218A-A63E-DD6B-DC13-F25BACB5B916}"/>
              </a:ext>
            </a:extLst>
          </p:cNvPr>
          <p:cNvSpPr/>
          <p:nvPr/>
        </p:nvSpPr>
        <p:spPr>
          <a:xfrm>
            <a:off x="609600" y="838200"/>
            <a:ext cx="609600" cy="635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ED0A632-E25B-67B4-0FB7-C411AFA1750F}"/>
              </a:ext>
            </a:extLst>
          </p:cNvPr>
          <p:cNvSpPr txBox="1"/>
          <p:nvPr/>
        </p:nvSpPr>
        <p:spPr>
          <a:xfrm>
            <a:off x="609600" y="1041400"/>
            <a:ext cx="5266944" cy="276999"/>
          </a:xfrm>
          <a:prstGeom prst="rect">
            <a:avLst/>
          </a:prstGeom>
          <a:noFill/>
        </p:spPr>
        <p:txBody>
          <a:bodyPr vert="horz" rtlCol="0">
            <a:spAutoFit/>
          </a:bodyPr>
          <a:lstStyle/>
          <a:p>
            <a:r>
              <a:rPr lang="vi-VN" sz="1200" b="1">
                <a:solidFill>
                  <a:srgbClr val="059669"/>
                </a:solidFill>
                <a:latin typeface="Segoe UI" panose="020B0502040204020203" pitchFamily="34" charset="0"/>
              </a:rPr>
              <a:t>CHƯƠNG TRÌNH ĐÀO TẠO DÂN SỐ HỌC  •  TỔNG QUAN CHUYÊN ĐỀ</a:t>
            </a:r>
            <a:endParaRPr lang="en-US" sz="1200" b="1">
              <a:solidFill>
                <a:srgbClr val="059669"/>
              </a:solidFill>
              <a:latin typeface="Segoe UI" panose="020B0502040204020203" pitchFamily="34" charset="0"/>
            </a:endParaRPr>
          </a:p>
        </p:txBody>
      </p:sp>
      <p:sp>
        <p:nvSpPr>
          <p:cNvPr id="4" name="TextBox 3">
            <a:extLst>
              <a:ext uri="{FF2B5EF4-FFF2-40B4-BE49-F238E27FC236}">
                <a16:creationId xmlns:a16="http://schemas.microsoft.com/office/drawing/2014/main" id="{04BC29A7-3669-F9C4-1E93-C71D51116E37}"/>
              </a:ext>
            </a:extLst>
          </p:cNvPr>
          <p:cNvSpPr txBox="1"/>
          <p:nvPr/>
        </p:nvSpPr>
        <p:spPr>
          <a:xfrm>
            <a:off x="609600" y="1447800"/>
            <a:ext cx="5266944" cy="1138773"/>
          </a:xfrm>
          <a:prstGeom prst="rect">
            <a:avLst/>
          </a:prstGeom>
          <a:noFill/>
        </p:spPr>
        <p:txBody>
          <a:bodyPr vert="horz" wrap="square" lIns="0" rtlCol="0">
            <a:spAutoFit/>
          </a:bodyPr>
          <a:lstStyle/>
          <a:p>
            <a:r>
              <a:rPr lang="en-US" sz="3400" b="1">
                <a:solidFill>
                  <a:srgbClr val="0F172A"/>
                </a:solidFill>
                <a:latin typeface="Segoe UI" panose="020B0502040204020203" pitchFamily="34" charset="0"/>
              </a:rPr>
              <a:t>BÀI 1: NHẬP MÔN DÂN SỐ HỌC</a:t>
            </a:r>
          </a:p>
        </p:txBody>
      </p:sp>
      <p:sp>
        <p:nvSpPr>
          <p:cNvPr id="5" name="TextBox 4">
            <a:extLst>
              <a:ext uri="{FF2B5EF4-FFF2-40B4-BE49-F238E27FC236}">
                <a16:creationId xmlns:a16="http://schemas.microsoft.com/office/drawing/2014/main" id="{9B9E68AD-83A7-1DF8-95A5-18AAC987E239}"/>
              </a:ext>
            </a:extLst>
          </p:cNvPr>
          <p:cNvSpPr txBox="1"/>
          <p:nvPr/>
        </p:nvSpPr>
        <p:spPr>
          <a:xfrm>
            <a:off x="609600" y="3187700"/>
            <a:ext cx="5266944" cy="584775"/>
          </a:xfrm>
          <a:prstGeom prst="rect">
            <a:avLst/>
          </a:prstGeom>
          <a:noFill/>
        </p:spPr>
        <p:txBody>
          <a:bodyPr vert="horz" wrap="square" lIns="0" rtlCol="0">
            <a:spAutoFit/>
          </a:bodyPr>
          <a:lstStyle/>
          <a:p>
            <a:r>
              <a:rPr lang="vi-VN" sz="1600">
                <a:solidFill>
                  <a:srgbClr val="475569"/>
                </a:solidFill>
                <a:latin typeface="Segoe UI" panose="020B0502040204020203" pitchFamily="34" charset="0"/>
              </a:rPr>
              <a:t>Khung lý thuyết nền tảng về quy mô, cơ cấu, chất lượng và phương pháp luận nghiên cứu Dân số học hiện đại.</a:t>
            </a:r>
            <a:endParaRPr lang="en-US" sz="1600">
              <a:solidFill>
                <a:srgbClr val="475569"/>
              </a:solidFill>
              <a:latin typeface="Segoe UI" panose="020B0502040204020203" pitchFamily="34" charset="0"/>
            </a:endParaRPr>
          </a:p>
        </p:txBody>
      </p:sp>
      <p:pic>
        <p:nvPicPr>
          <p:cNvPr id="7" name="!!Stage_Hero_Container!!">
            <a:extLst>
              <a:ext uri="{FF2B5EF4-FFF2-40B4-BE49-F238E27FC236}">
                <a16:creationId xmlns:a16="http://schemas.microsoft.com/office/drawing/2014/main" id="{6F448804-066B-14FF-B3E1-CDED1A93606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181344" y="1333500"/>
            <a:ext cx="5401056" cy="3014980"/>
          </a:xfrm>
          <a:prstGeom prst="roundRect">
            <a:avLst/>
          </a:prstGeom>
          <a:ln w="19050">
            <a:solidFill>
              <a:srgbClr val="0284C7"/>
            </a:solidFill>
          </a:ln>
        </p:spPr>
      </p:pic>
    </p:spTree>
    <p:extLst>
      <p:ext uri="{BB962C8B-B14F-4D97-AF65-F5344CB8AC3E}">
        <p14:creationId xmlns:p14="http://schemas.microsoft.com/office/powerpoint/2010/main" val="1652228845"/>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32D5CDC7-092C-E100-8316-54B42C09F10D}"/>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MỤC TIÊU BÀI HỌC  •  TRỌNG TÂM</a:t>
            </a:r>
          </a:p>
        </p:txBody>
      </p:sp>
      <p:sp>
        <p:nvSpPr>
          <p:cNvPr id="3" name="!!Anchor_Slide_Tracker!!">
            <a:extLst>
              <a:ext uri="{FF2B5EF4-FFF2-40B4-BE49-F238E27FC236}">
                <a16:creationId xmlns:a16="http://schemas.microsoft.com/office/drawing/2014/main" id="{8BCC78A4-7EAA-342A-A3E1-72A00AF4920A}"/>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02 / 14</a:t>
            </a:r>
          </a:p>
        </p:txBody>
      </p:sp>
      <p:sp>
        <p:nvSpPr>
          <p:cNvPr id="4" name="!!Anchor_Assertion_Title!!">
            <a:extLst>
              <a:ext uri="{FF2B5EF4-FFF2-40B4-BE49-F238E27FC236}">
                <a16:creationId xmlns:a16="http://schemas.microsoft.com/office/drawing/2014/main" id="{49BEB404-1BEA-E4CA-7F7E-FA2E213186F1}"/>
              </a:ext>
            </a:extLst>
          </p:cNvPr>
          <p:cNvSpPr txBox="1"/>
          <p:nvPr/>
        </p:nvSpPr>
        <p:spPr>
          <a:xfrm>
            <a:off x="609600" y="711200"/>
            <a:ext cx="10972800" cy="738664"/>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Nắm Vững Khái Niệm Cốt Lõi Và Phương Pháp Luận Nghiên Cứu Dân Số Học</a:t>
            </a:r>
            <a:endParaRPr lang="en-US" sz="2400" b="1">
              <a:solidFill>
                <a:srgbClr val="0F172A"/>
              </a:solidFill>
              <a:latin typeface="Segoe UI" panose="020B0502040204020203" pitchFamily="34" charset="0"/>
            </a:endParaRPr>
          </a:p>
        </p:txBody>
      </p:sp>
      <p:grpSp>
        <p:nvGrpSpPr>
          <p:cNvPr id="11" name="!!Stage_Hero_Container!!">
            <a:extLst>
              <a:ext uri="{FF2B5EF4-FFF2-40B4-BE49-F238E27FC236}">
                <a16:creationId xmlns:a16="http://schemas.microsoft.com/office/drawing/2014/main" id="{B912AFAF-DA24-17C1-3F17-19D507DFD0F3}"/>
              </a:ext>
            </a:extLst>
          </p:cNvPr>
          <p:cNvGrpSpPr/>
          <p:nvPr/>
        </p:nvGrpSpPr>
        <p:grpSpPr>
          <a:xfrm>
            <a:off x="609600" y="1676400"/>
            <a:ext cx="6035040" cy="4521200"/>
            <a:chOff x="609600" y="1676400"/>
            <a:chExt cx="6035040" cy="4521200"/>
          </a:xfrm>
        </p:grpSpPr>
        <p:sp>
          <p:nvSpPr>
            <p:cNvPr id="5" name="Rectangle: Rounded Corners 4">
              <a:extLst>
                <a:ext uri="{FF2B5EF4-FFF2-40B4-BE49-F238E27FC236}">
                  <a16:creationId xmlns:a16="http://schemas.microsoft.com/office/drawing/2014/main" id="{FC51FE93-8700-95B6-B4BC-B8F1D1B51381}"/>
                </a:ext>
              </a:extLst>
            </p:cNvPr>
            <p:cNvSpPr/>
            <p:nvPr/>
          </p:nvSpPr>
          <p:spPr>
            <a:xfrm>
              <a:off x="609600" y="1676400"/>
              <a:ext cx="6035040" cy="45212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0B755C5F-220E-246C-1092-AF22B60CCDB1}"/>
                </a:ext>
              </a:extLst>
            </p:cNvPr>
            <p:cNvSpPr/>
            <p:nvPr/>
          </p:nvSpPr>
          <p:spPr>
            <a:xfrm>
              <a:off x="863600" y="1905000"/>
              <a:ext cx="1524000" cy="2794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0284C7"/>
                  </a:solidFill>
                  <a:latin typeface="Segoe UI" panose="020B0502040204020203" pitchFamily="34" charset="0"/>
                </a:rPr>
                <a:t>TRỌNG TÂM CỐT LÕI</a:t>
              </a:r>
            </a:p>
          </p:txBody>
        </p:sp>
        <p:sp>
          <p:nvSpPr>
            <p:cNvPr id="7" name="Oval 6">
              <a:extLst>
                <a:ext uri="{FF2B5EF4-FFF2-40B4-BE49-F238E27FC236}">
                  <a16:creationId xmlns:a16="http://schemas.microsoft.com/office/drawing/2014/main" id="{6ADD03E5-B0B3-570B-5ABB-30D5CE482309}"/>
                </a:ext>
              </a:extLst>
            </p:cNvPr>
            <p:cNvSpPr/>
            <p:nvPr/>
          </p:nvSpPr>
          <p:spPr>
            <a:xfrm>
              <a:off x="863600" y="2286000"/>
              <a:ext cx="482600" cy="4826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4F670EEC-3AE6-B686-B706-AA1B4E331B97}"/>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62200"/>
              <a:ext cx="330200" cy="330200"/>
            </a:xfrm>
            <a:prstGeom prst="rect">
              <a:avLst/>
            </a:prstGeom>
          </p:spPr>
        </p:pic>
        <p:sp>
          <p:nvSpPr>
            <p:cNvPr id="10" name="TextBox 9">
              <a:extLst>
                <a:ext uri="{FF2B5EF4-FFF2-40B4-BE49-F238E27FC236}">
                  <a16:creationId xmlns:a16="http://schemas.microsoft.com/office/drawing/2014/main" id="{C01BEE7A-88D6-0D22-D54E-C74C9560A23F}"/>
                </a:ext>
              </a:extLst>
            </p:cNvPr>
            <p:cNvSpPr txBox="1"/>
            <p:nvPr/>
          </p:nvSpPr>
          <p:spPr>
            <a:xfrm>
              <a:off x="863600" y="2870200"/>
              <a:ext cx="5527040" cy="1189365"/>
            </a:xfrm>
            <a:prstGeom prst="rect">
              <a:avLst/>
            </a:prstGeom>
            <a:noFill/>
          </p:spPr>
          <p:txBody>
            <a:bodyPr vert="horz" wrap="square" lIns="0" rtlCol="0">
              <a:spAutoFit/>
            </a:bodyPr>
            <a:lstStyle/>
            <a:p>
              <a:pPr>
                <a:lnSpc>
                  <a:spcPct val="130000"/>
                </a:lnSpc>
                <a:spcAft>
                  <a:spcPts val="1000"/>
                </a:spcAft>
              </a:pPr>
              <a:r>
                <a:rPr lang="en-US" sz="2000" b="1">
                  <a:solidFill>
                    <a:srgbClr val="0F172A"/>
                  </a:solidFill>
                  <a:latin typeface="Segoe UI" panose="020B0502040204020203" pitchFamily="34" charset="0"/>
                </a:rPr>
                <a:t>Hệ Thống Khái Niệm Cốt Lõi
</a:t>
              </a:r>
              <a:r>
                <a:rPr lang="vi-VN" sz="1500" b="1">
                  <a:solidFill>
                    <a:srgbClr val="334155"/>
                  </a:solidFill>
                  <a:latin typeface="Segoe UI" panose="020B0502040204020203" pitchFamily="34" charset="0"/>
                </a:rPr>
                <a:t>Làm chủ các khái niệm dân số, dân cư, tái sản xuất dân số và các trạng thái động - tĩnh nhân khẩu học.</a:t>
              </a:r>
              <a:endParaRPr lang="en-US" sz="1500" b="1">
                <a:solidFill>
                  <a:srgbClr val="334155"/>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28666421-C58B-6E9F-EEC4-4A619A82587B}"/>
              </a:ext>
            </a:extLst>
          </p:cNvPr>
          <p:cNvGrpSpPr/>
          <p:nvPr/>
        </p:nvGrpSpPr>
        <p:grpSpPr>
          <a:xfrm>
            <a:off x="6873240" y="1676400"/>
            <a:ext cx="4709160" cy="2171700"/>
            <a:chOff x="6873240" y="1676400"/>
            <a:chExt cx="4709160" cy="2171700"/>
          </a:xfrm>
        </p:grpSpPr>
        <p:sp>
          <p:nvSpPr>
            <p:cNvPr id="12" name="Rectangle: Rounded Corners 11">
              <a:extLst>
                <a:ext uri="{FF2B5EF4-FFF2-40B4-BE49-F238E27FC236}">
                  <a16:creationId xmlns:a16="http://schemas.microsoft.com/office/drawing/2014/main" id="{20047492-4F1A-E9AA-6E4C-F905B1A8DC2B}"/>
                </a:ext>
              </a:extLst>
            </p:cNvPr>
            <p:cNvSpPr/>
            <p:nvPr/>
          </p:nvSpPr>
          <p:spPr>
            <a:xfrm>
              <a:off x="6873240" y="1676400"/>
              <a:ext cx="4709160" cy="21717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E1DF6C6D-CAEF-7B11-BA13-424901E7C720}"/>
                </a:ext>
              </a:extLst>
            </p:cNvPr>
            <p:cNvSpPr/>
            <p:nvPr/>
          </p:nvSpPr>
          <p:spPr>
            <a:xfrm>
              <a:off x="7076440" y="1854200"/>
              <a:ext cx="10795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MỤC TIÊU 01</a:t>
              </a:r>
            </a:p>
          </p:txBody>
        </p:sp>
        <p:sp>
          <p:nvSpPr>
            <p:cNvPr id="14" name="Oval 13">
              <a:extLst>
                <a:ext uri="{FF2B5EF4-FFF2-40B4-BE49-F238E27FC236}">
                  <a16:creationId xmlns:a16="http://schemas.microsoft.com/office/drawing/2014/main" id="{1FB9D2F0-5DDC-8291-5179-80981CB7B1D7}"/>
                </a:ext>
              </a:extLst>
            </p:cNvPr>
            <p:cNvSpPr/>
            <p:nvPr/>
          </p:nvSpPr>
          <p:spPr>
            <a:xfrm>
              <a:off x="7076440" y="21844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4761BFAD-EB3F-8FE3-92D5-F826935BEEC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139940" y="2247900"/>
              <a:ext cx="279400" cy="279400"/>
            </a:xfrm>
            <a:prstGeom prst="rect">
              <a:avLst/>
            </a:prstGeom>
          </p:spPr>
        </p:pic>
        <p:sp>
          <p:nvSpPr>
            <p:cNvPr id="17" name="TextBox 16">
              <a:extLst>
                <a:ext uri="{FF2B5EF4-FFF2-40B4-BE49-F238E27FC236}">
                  <a16:creationId xmlns:a16="http://schemas.microsoft.com/office/drawing/2014/main" id="{FAEDC4B1-80A6-F5BF-2BB2-379E41FAD503}"/>
                </a:ext>
              </a:extLst>
            </p:cNvPr>
            <p:cNvSpPr txBox="1"/>
            <p:nvPr/>
          </p:nvSpPr>
          <p:spPr>
            <a:xfrm>
              <a:off x="7609840" y="2108200"/>
              <a:ext cx="3820160" cy="990015"/>
            </a:xfrm>
            <a:prstGeom prst="rect">
              <a:avLst/>
            </a:prstGeom>
            <a:noFill/>
          </p:spPr>
          <p:txBody>
            <a:bodyPr vert="horz" wrap="square" tIns="0" rtlCol="0">
              <a:spAutoFit/>
            </a:bodyPr>
            <a:lstStyle/>
            <a:p>
              <a:pPr>
                <a:spcAft>
                  <a:spcPts val="400"/>
                </a:spcAft>
              </a:pPr>
              <a:r>
                <a:rPr lang="vi-VN" sz="1600" b="1">
                  <a:solidFill>
                    <a:srgbClr val="0F172A"/>
                  </a:solidFill>
                  <a:latin typeface="Segoe UI" panose="020B0502040204020203" pitchFamily="34" charset="0"/>
                </a:rPr>
                <a:t>Phương Pháp Luận Nghiên Cứu
</a:t>
              </a:r>
              <a:r>
                <a:rPr lang="vi-VN" sz="1400" b="1">
                  <a:solidFill>
                    <a:srgbClr val="334155"/>
                  </a:solidFill>
                  <a:latin typeface="Segoe UI" panose="020B0502040204020203" pitchFamily="34" charset="0"/>
                </a:rPr>
                <a:t>Nắm vững kỹ thuật thu thập dữ liệu tổng điều tra, thống kê hộ tịch và các mô hình toán học dự báo dân số.</a:t>
              </a:r>
              <a:endParaRPr lang="en-US" sz="1400" b="1">
                <a:solidFill>
                  <a:srgbClr val="334155"/>
                </a:solidFill>
                <a:latin typeface="Segoe UI" panose="020B0502040204020203" pitchFamily="34" charset="0"/>
              </a:endParaRPr>
            </a:p>
          </p:txBody>
        </p:sp>
      </p:grpSp>
      <p:grpSp>
        <p:nvGrpSpPr>
          <p:cNvPr id="25" name="!!Stage_Sub_Card_2!!">
            <a:extLst>
              <a:ext uri="{FF2B5EF4-FFF2-40B4-BE49-F238E27FC236}">
                <a16:creationId xmlns:a16="http://schemas.microsoft.com/office/drawing/2014/main" id="{3CAB5C7F-1266-18F9-44FB-4C86E0BE9F68}"/>
              </a:ext>
            </a:extLst>
          </p:cNvPr>
          <p:cNvGrpSpPr/>
          <p:nvPr/>
        </p:nvGrpSpPr>
        <p:grpSpPr>
          <a:xfrm>
            <a:off x="6873240" y="4025900"/>
            <a:ext cx="4709160" cy="2171700"/>
            <a:chOff x="6873240" y="4025900"/>
            <a:chExt cx="4709160" cy="2171700"/>
          </a:xfrm>
        </p:grpSpPr>
        <p:sp>
          <p:nvSpPr>
            <p:cNvPr id="19" name="Rectangle: Rounded Corners 18">
              <a:extLst>
                <a:ext uri="{FF2B5EF4-FFF2-40B4-BE49-F238E27FC236}">
                  <a16:creationId xmlns:a16="http://schemas.microsoft.com/office/drawing/2014/main" id="{3BEED33D-1DB3-E54E-8998-3C8C2E65EB05}"/>
                </a:ext>
              </a:extLst>
            </p:cNvPr>
            <p:cNvSpPr/>
            <p:nvPr/>
          </p:nvSpPr>
          <p:spPr>
            <a:xfrm>
              <a:off x="6873240" y="4025900"/>
              <a:ext cx="4709160" cy="21717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B355AB8E-0F04-EFBB-0066-278BC16D77F2}"/>
                </a:ext>
              </a:extLst>
            </p:cNvPr>
            <p:cNvSpPr/>
            <p:nvPr/>
          </p:nvSpPr>
          <p:spPr>
            <a:xfrm>
              <a:off x="7076440" y="4203700"/>
              <a:ext cx="10795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MỤC TIÊU 02</a:t>
              </a:r>
            </a:p>
          </p:txBody>
        </p:sp>
        <p:sp>
          <p:nvSpPr>
            <p:cNvPr id="21" name="Oval 20">
              <a:extLst>
                <a:ext uri="{FF2B5EF4-FFF2-40B4-BE49-F238E27FC236}">
                  <a16:creationId xmlns:a16="http://schemas.microsoft.com/office/drawing/2014/main" id="{7A897BBA-408E-01BA-196B-80CECEC65262}"/>
                </a:ext>
              </a:extLst>
            </p:cNvPr>
            <p:cNvSpPr/>
            <p:nvPr/>
          </p:nvSpPr>
          <p:spPr>
            <a:xfrm>
              <a:off x="7076440" y="45339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F1119E9A-2768-E391-A491-B4B03FD42FD6}"/>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7139940" y="4597400"/>
              <a:ext cx="279400" cy="279400"/>
            </a:xfrm>
            <a:prstGeom prst="rect">
              <a:avLst/>
            </a:prstGeom>
          </p:spPr>
        </p:pic>
        <p:sp>
          <p:nvSpPr>
            <p:cNvPr id="24" name="TextBox 23">
              <a:extLst>
                <a:ext uri="{FF2B5EF4-FFF2-40B4-BE49-F238E27FC236}">
                  <a16:creationId xmlns:a16="http://schemas.microsoft.com/office/drawing/2014/main" id="{46C085B3-FD00-D16C-AEEF-F8F25D65342F}"/>
                </a:ext>
              </a:extLst>
            </p:cNvPr>
            <p:cNvSpPr txBox="1"/>
            <p:nvPr/>
          </p:nvSpPr>
          <p:spPr>
            <a:xfrm>
              <a:off x="7609840" y="4457700"/>
              <a:ext cx="38201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Ứng Dụng Thực Tiễn Hoạch Định
</a:t>
              </a:r>
              <a:r>
                <a:rPr lang="vi-VN" sz="1400" b="1">
                  <a:solidFill>
                    <a:srgbClr val="334155"/>
                  </a:solidFill>
                  <a:latin typeface="Segoe UI" panose="020B0502040204020203" pitchFamily="34" charset="0"/>
                </a:rPr>
                <a:t>Phân tích mối quan hệ hữu cơ giữa dân số với tăng trưởng kinh tế, an sinh xã hội và tài nguyên môi trường.</a:t>
              </a:r>
              <a:endParaRPr lang="en-US" sz="1400" b="1">
                <a:solidFill>
                  <a:srgbClr val="334155"/>
                </a:solidFill>
                <a:latin typeface="Segoe UI" panose="020B0502040204020203" pitchFamily="34" charset="0"/>
              </a:endParaRPr>
            </a:p>
          </p:txBody>
        </p:sp>
      </p:grpSp>
      <p:sp>
        <p:nvSpPr>
          <p:cNvPr id="26" name="!!Anchor_Source_Footer!!">
            <a:extLst>
              <a:ext uri="{FF2B5EF4-FFF2-40B4-BE49-F238E27FC236}">
                <a16:creationId xmlns:a16="http://schemas.microsoft.com/office/drawing/2014/main" id="{32B0C1E4-0886-4D52-49D2-4D75BD36DC13}"/>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Khung chuẩn đầu ra chuyên đề</a:t>
            </a:r>
          </a:p>
        </p:txBody>
      </p:sp>
    </p:spTree>
    <p:extLst>
      <p:ext uri="{BB962C8B-B14F-4D97-AF65-F5344CB8AC3E}">
        <p14:creationId xmlns:p14="http://schemas.microsoft.com/office/powerpoint/2010/main" val="37459828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D5FF6174-1AA6-FF61-EA87-58DF88EAA38F}"/>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BẢN CHẤT DÂN SỐ  •  TRỌNG TÂM</a:t>
            </a:r>
          </a:p>
        </p:txBody>
      </p:sp>
      <p:sp>
        <p:nvSpPr>
          <p:cNvPr id="3" name="!!Anchor_Slide_Tracker!!">
            <a:extLst>
              <a:ext uri="{FF2B5EF4-FFF2-40B4-BE49-F238E27FC236}">
                <a16:creationId xmlns:a16="http://schemas.microsoft.com/office/drawing/2014/main" id="{337B2984-C29C-B25F-F7AD-53E326FD66BD}"/>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03 / 14</a:t>
            </a:r>
          </a:p>
        </p:txBody>
      </p:sp>
      <p:sp>
        <p:nvSpPr>
          <p:cNvPr id="4" name="!!Anchor_Assertion_Title!!">
            <a:extLst>
              <a:ext uri="{FF2B5EF4-FFF2-40B4-BE49-F238E27FC236}">
                <a16:creationId xmlns:a16="http://schemas.microsoft.com/office/drawing/2014/main" id="{59FA35C1-C3F8-659C-5D9E-D88A1CCBC1D9}"/>
              </a:ext>
            </a:extLst>
          </p:cNvPr>
          <p:cNvSpPr txBox="1"/>
          <p:nvPr/>
        </p:nvSpPr>
        <p:spPr>
          <a:xfrm>
            <a:off x="609600" y="711200"/>
            <a:ext cx="10972800" cy="738664"/>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Bản Chất Kép Của Dân Số: Sự Thống Nhất Giữa Thuộc Tính Sinh Học Và Xã Hội</a:t>
            </a:r>
          </a:p>
        </p:txBody>
      </p:sp>
      <p:grpSp>
        <p:nvGrpSpPr>
          <p:cNvPr id="12" name="!!Stage_Hero_Container!!">
            <a:extLst>
              <a:ext uri="{FF2B5EF4-FFF2-40B4-BE49-F238E27FC236}">
                <a16:creationId xmlns:a16="http://schemas.microsoft.com/office/drawing/2014/main" id="{13B93A45-3744-3F23-12E7-42DD7B6056A3}"/>
              </a:ext>
            </a:extLst>
          </p:cNvPr>
          <p:cNvGrpSpPr/>
          <p:nvPr/>
        </p:nvGrpSpPr>
        <p:grpSpPr>
          <a:xfrm>
            <a:off x="609600" y="1676400"/>
            <a:ext cx="5376672" cy="4521200"/>
            <a:chOff x="609600" y="1676400"/>
            <a:chExt cx="5376672" cy="4521200"/>
          </a:xfrm>
        </p:grpSpPr>
        <p:pic>
          <p:nvPicPr>
            <p:cNvPr id="6" name="Picture 5">
              <a:extLst>
                <a:ext uri="{FF2B5EF4-FFF2-40B4-BE49-F238E27FC236}">
                  <a16:creationId xmlns:a16="http://schemas.microsoft.com/office/drawing/2014/main" id="{D7AB06E8-C812-53B7-A19A-B03A468872A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676400"/>
              <a:ext cx="5376672" cy="3001010"/>
            </a:xfrm>
            <a:prstGeom prst="roundRect">
              <a:avLst/>
            </a:prstGeom>
            <a:ln w="12700">
              <a:solidFill>
                <a:srgbClr val="CBD5E1"/>
              </a:solidFill>
            </a:ln>
          </p:spPr>
        </p:pic>
        <p:sp>
          <p:nvSpPr>
            <p:cNvPr id="7" name="Rectangle: Rounded Corners 6">
              <a:extLst>
                <a:ext uri="{FF2B5EF4-FFF2-40B4-BE49-F238E27FC236}">
                  <a16:creationId xmlns:a16="http://schemas.microsoft.com/office/drawing/2014/main" id="{B9EA0D43-E4FE-6537-F09A-C18409BC2C01}"/>
                </a:ext>
              </a:extLst>
            </p:cNvPr>
            <p:cNvSpPr/>
            <p:nvPr/>
          </p:nvSpPr>
          <p:spPr>
            <a:xfrm>
              <a:off x="609600" y="4829810"/>
              <a:ext cx="5376672" cy="1367790"/>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8CEDA93-CFCE-4CFE-FA48-F0E2B0D070BF}"/>
                </a:ext>
              </a:extLst>
            </p:cNvPr>
            <p:cNvSpPr/>
            <p:nvPr/>
          </p:nvSpPr>
          <p:spPr>
            <a:xfrm>
              <a:off x="787400" y="5007610"/>
              <a:ext cx="355600" cy="3556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1B1CE604-4A94-7C4A-13BA-22998174373A}"/>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50900" y="5071110"/>
              <a:ext cx="228600" cy="228600"/>
            </a:xfrm>
            <a:prstGeom prst="rect">
              <a:avLst/>
            </a:prstGeom>
          </p:spPr>
        </p:pic>
        <p:sp>
          <p:nvSpPr>
            <p:cNvPr id="11" name="TextBox 10">
              <a:extLst>
                <a:ext uri="{FF2B5EF4-FFF2-40B4-BE49-F238E27FC236}">
                  <a16:creationId xmlns:a16="http://schemas.microsoft.com/office/drawing/2014/main" id="{33C22AAA-F6A9-31FD-4CDF-3AFB2551C995}"/>
                </a:ext>
              </a:extLst>
            </p:cNvPr>
            <p:cNvSpPr txBox="1"/>
            <p:nvPr/>
          </p:nvSpPr>
          <p:spPr>
            <a:xfrm>
              <a:off x="1219200" y="4956810"/>
              <a:ext cx="4640072" cy="728020"/>
            </a:xfrm>
            <a:prstGeom prst="rect">
              <a:avLst/>
            </a:prstGeom>
            <a:noFill/>
          </p:spPr>
          <p:txBody>
            <a:bodyPr vert="horz" wrap="square" lIns="0" tIns="0" rtlCol="0">
              <a:spAutoFit/>
            </a:bodyPr>
            <a:lstStyle/>
            <a:p>
              <a:pPr>
                <a:lnSpc>
                  <a:spcPct val="120000"/>
                </a:lnSpc>
                <a:spcAft>
                  <a:spcPts val="300"/>
                </a:spcAft>
              </a:pPr>
              <a:r>
                <a:rPr lang="en-US" sz="1100" b="1">
                  <a:solidFill>
                    <a:srgbClr val="0284C7"/>
                  </a:solidFill>
                  <a:latin typeface="Segoe UI" panose="020B0502040204020203" pitchFamily="34" charset="0"/>
                </a:rPr>
                <a:t>THÔNG ĐIỆP CỐT LÕI
</a:t>
              </a:r>
              <a:r>
                <a:rPr lang="en-US" sz="1250" b="1">
                  <a:solidFill>
                    <a:srgbClr val="0F172A"/>
                  </a:solidFill>
                  <a:latin typeface="Segoe UI" panose="020B0502040204020203" pitchFamily="34" charset="0"/>
                </a:rPr>
                <a:t>Dân số vừa mang bản chất sinh học tự nhiên vừa chịu sự chi phối quyết định của các quy luật phát triển xã hội.</a:t>
              </a:r>
            </a:p>
          </p:txBody>
        </p:sp>
      </p:grpSp>
      <p:grpSp>
        <p:nvGrpSpPr>
          <p:cNvPr id="18" name="!!Stage_Sub_Card_1!!">
            <a:extLst>
              <a:ext uri="{FF2B5EF4-FFF2-40B4-BE49-F238E27FC236}">
                <a16:creationId xmlns:a16="http://schemas.microsoft.com/office/drawing/2014/main" id="{D413A16F-3007-6C49-2241-B7D3847C3840}"/>
              </a:ext>
            </a:extLst>
          </p:cNvPr>
          <p:cNvGrpSpPr/>
          <p:nvPr/>
        </p:nvGrpSpPr>
        <p:grpSpPr>
          <a:xfrm>
            <a:off x="6214872" y="1676400"/>
            <a:ext cx="5367528" cy="2184400"/>
            <a:chOff x="6214872" y="1676400"/>
            <a:chExt cx="5367528" cy="2184400"/>
          </a:xfrm>
        </p:grpSpPr>
        <p:sp>
          <p:nvSpPr>
            <p:cNvPr id="13" name="Rectangle: Rounded Corners 12">
              <a:extLst>
                <a:ext uri="{FF2B5EF4-FFF2-40B4-BE49-F238E27FC236}">
                  <a16:creationId xmlns:a16="http://schemas.microsoft.com/office/drawing/2014/main" id="{749C4B67-A4F9-EE1F-1DF6-383E71618741}"/>
                </a:ext>
              </a:extLst>
            </p:cNvPr>
            <p:cNvSpPr/>
            <p:nvPr/>
          </p:nvSpPr>
          <p:spPr>
            <a:xfrm>
              <a:off x="6214872" y="1676400"/>
              <a:ext cx="5367528" cy="2184400"/>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C432AF-D0E2-980A-B25F-D785150882B7}"/>
                </a:ext>
              </a:extLst>
            </p:cNvPr>
            <p:cNvSpPr/>
            <p:nvPr/>
          </p:nvSpPr>
          <p:spPr>
            <a:xfrm>
              <a:off x="6392672"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72481D90-D9B6-296F-B209-297728D39536}"/>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56172" y="1917700"/>
              <a:ext cx="254000" cy="254000"/>
            </a:xfrm>
            <a:prstGeom prst="rect">
              <a:avLst/>
            </a:prstGeom>
          </p:spPr>
        </p:pic>
        <p:sp>
          <p:nvSpPr>
            <p:cNvPr id="17" name="TextBox 16">
              <a:extLst>
                <a:ext uri="{FF2B5EF4-FFF2-40B4-BE49-F238E27FC236}">
                  <a16:creationId xmlns:a16="http://schemas.microsoft.com/office/drawing/2014/main" id="{A4EE698A-64C6-BE25-2790-021A41BC47EB}"/>
                </a:ext>
              </a:extLst>
            </p:cNvPr>
            <p:cNvSpPr txBox="1"/>
            <p:nvPr/>
          </p:nvSpPr>
          <p:spPr>
            <a:xfrm>
              <a:off x="6875272" y="1803400"/>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Thuộc Tính Tự Nhiên Sinh Học
</a:t>
              </a:r>
              <a:r>
                <a:rPr lang="vi-VN" sz="1400" b="1">
                  <a:solidFill>
                    <a:srgbClr val="334155"/>
                  </a:solidFill>
                  <a:latin typeface="Segoe UI" panose="020B0502040204020203" pitchFamily="34" charset="0"/>
                </a:rPr>
                <a:t>Biểu hiện qua các quy luật sinh học như sinh đẻ, lão hóa, giới tính và tử vong tự nhiên của cơ thể con người.</a:t>
              </a:r>
              <a:endParaRPr lang="en-US" sz="1400" b="1">
                <a:solidFill>
                  <a:srgbClr val="334155"/>
                </a:solidFill>
                <a:latin typeface="Segoe UI" panose="020B0502040204020203" pitchFamily="34" charset="0"/>
              </a:endParaRPr>
            </a:p>
          </p:txBody>
        </p:sp>
      </p:grpSp>
      <p:grpSp>
        <p:nvGrpSpPr>
          <p:cNvPr id="24" name="!!Stage_Sub_Card_2!!">
            <a:extLst>
              <a:ext uri="{FF2B5EF4-FFF2-40B4-BE49-F238E27FC236}">
                <a16:creationId xmlns:a16="http://schemas.microsoft.com/office/drawing/2014/main" id="{EA9BC9CC-EDCB-13C3-2A81-F40BEB17DF11}"/>
              </a:ext>
            </a:extLst>
          </p:cNvPr>
          <p:cNvGrpSpPr/>
          <p:nvPr/>
        </p:nvGrpSpPr>
        <p:grpSpPr>
          <a:xfrm>
            <a:off x="6214872" y="4013200"/>
            <a:ext cx="5367528" cy="2184400"/>
            <a:chOff x="6214872" y="4013200"/>
            <a:chExt cx="5367528" cy="2184400"/>
          </a:xfrm>
        </p:grpSpPr>
        <p:sp>
          <p:nvSpPr>
            <p:cNvPr id="19" name="Rectangle: Rounded Corners 18">
              <a:extLst>
                <a:ext uri="{FF2B5EF4-FFF2-40B4-BE49-F238E27FC236}">
                  <a16:creationId xmlns:a16="http://schemas.microsoft.com/office/drawing/2014/main" id="{7B2ECA36-CC11-FE92-1AE4-A29330D5FAEF}"/>
                </a:ext>
              </a:extLst>
            </p:cNvPr>
            <p:cNvSpPr/>
            <p:nvPr/>
          </p:nvSpPr>
          <p:spPr>
            <a:xfrm>
              <a:off x="6214872" y="4013200"/>
              <a:ext cx="5367528" cy="21844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FC70EAA-F3E0-313C-D69A-4C2ECF7EFA3D}"/>
                </a:ext>
              </a:extLst>
            </p:cNvPr>
            <p:cNvSpPr/>
            <p:nvPr/>
          </p:nvSpPr>
          <p:spPr>
            <a:xfrm>
              <a:off x="6392672" y="41910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91850806-1A7B-B11C-67DA-F18AC9EC6896}"/>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456172" y="4254500"/>
              <a:ext cx="254000" cy="254000"/>
            </a:xfrm>
            <a:prstGeom prst="rect">
              <a:avLst/>
            </a:prstGeom>
          </p:spPr>
        </p:pic>
        <p:sp>
          <p:nvSpPr>
            <p:cNvPr id="23" name="TextBox 22">
              <a:extLst>
                <a:ext uri="{FF2B5EF4-FFF2-40B4-BE49-F238E27FC236}">
                  <a16:creationId xmlns:a16="http://schemas.microsoft.com/office/drawing/2014/main" id="{B5E4FA83-7879-96D4-2ADE-00E32E8C8502}"/>
                </a:ext>
              </a:extLst>
            </p:cNvPr>
            <p:cNvSpPr txBox="1"/>
            <p:nvPr/>
          </p:nvSpPr>
          <p:spPr>
            <a:xfrm>
              <a:off x="6875272" y="4140200"/>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Thuộc Tính Kinh Tế Xã Hội
</a:t>
              </a:r>
              <a:r>
                <a:rPr lang="en-US" sz="1400" b="1">
                  <a:solidFill>
                    <a:srgbClr val="334155"/>
                  </a:solidFill>
                  <a:latin typeface="Segoe UI" panose="020B0502040204020203" pitchFamily="34" charset="0"/>
                </a:rPr>
                <a:t>Chịu sự quy định trực tiếp bởi trình độ phát triển kinh tế, phong tục tập quán, y tế, giáo dục và chính sách an sinh.</a:t>
              </a:r>
            </a:p>
          </p:txBody>
        </p:sp>
      </p:grpSp>
      <p:sp>
        <p:nvSpPr>
          <p:cNvPr id="25" name="!!Anchor_Source_Footer!!">
            <a:extLst>
              <a:ext uri="{FF2B5EF4-FFF2-40B4-BE49-F238E27FC236}">
                <a16:creationId xmlns:a16="http://schemas.microsoft.com/office/drawing/2014/main" id="{68C83308-9E1A-9BDE-920A-435176C7747B}"/>
              </a:ext>
            </a:extLst>
          </p:cNvPr>
          <p:cNvSpPr txBox="1"/>
          <p:nvPr/>
        </p:nvSpPr>
        <p:spPr>
          <a:xfrm>
            <a:off x="609600" y="6273800"/>
            <a:ext cx="10972800" cy="246221"/>
          </a:xfrm>
          <a:prstGeom prst="rect">
            <a:avLst/>
          </a:prstGeom>
          <a:noFill/>
        </p:spPr>
        <p:txBody>
          <a:bodyPr vert="horz" rtlCol="0">
            <a:spAutoFit/>
          </a:bodyPr>
          <a:lstStyle/>
          <a:p>
            <a:r>
              <a:rPr lang="vi-VN" sz="1000">
                <a:solidFill>
                  <a:srgbClr val="334155"/>
                </a:solidFill>
                <a:latin typeface="Segoe UI" panose="020B0502040204020203" pitchFamily="34" charset="0"/>
              </a:rPr>
              <a:t>Giáo trình Dân số học đại cương</a:t>
            </a:r>
            <a:endParaRPr lang="en-US" sz="1000">
              <a:solidFill>
                <a:srgbClr val="334155"/>
              </a:solidFill>
              <a:latin typeface="Segoe UI" panose="020B0502040204020203" pitchFamily="34" charset="0"/>
            </a:endParaRPr>
          </a:p>
        </p:txBody>
      </p:sp>
    </p:spTree>
    <p:extLst>
      <p:ext uri="{BB962C8B-B14F-4D97-AF65-F5344CB8AC3E}">
        <p14:creationId xmlns:p14="http://schemas.microsoft.com/office/powerpoint/2010/main" val="39191806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accel="50000" decel="5000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96435574-2C2C-509A-67F0-04DD51D4CAA5}"/>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CẶP KHÁI NIỆM KINH ĐIỂN  •  TRỌNG TÂM</a:t>
            </a:r>
          </a:p>
        </p:txBody>
      </p:sp>
      <p:sp>
        <p:nvSpPr>
          <p:cNvPr id="3" name="!!Anchor_Slide_Tracker!!">
            <a:extLst>
              <a:ext uri="{FF2B5EF4-FFF2-40B4-BE49-F238E27FC236}">
                <a16:creationId xmlns:a16="http://schemas.microsoft.com/office/drawing/2014/main" id="{E435F761-A7B3-54E5-0C27-DA0E5BD1F200}"/>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04 / 14</a:t>
            </a:r>
          </a:p>
        </p:txBody>
      </p:sp>
      <p:sp>
        <p:nvSpPr>
          <p:cNvPr id="4" name="!!Anchor_Assertion_Title!!">
            <a:extLst>
              <a:ext uri="{FF2B5EF4-FFF2-40B4-BE49-F238E27FC236}">
                <a16:creationId xmlns:a16="http://schemas.microsoft.com/office/drawing/2014/main" id="{76DF1C89-288C-35CC-08F6-6D79774CCE90}"/>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Phân Biệt Bản Chất Giữa Hai Khái Niệm Dân Cư Và Dân Số</a:t>
            </a:r>
            <a:endParaRPr lang="en-US" sz="2400" b="1">
              <a:solidFill>
                <a:srgbClr val="0F172A"/>
              </a:solidFill>
              <a:latin typeface="Segoe UI" panose="020B0502040204020203" pitchFamily="34" charset="0"/>
            </a:endParaRPr>
          </a:p>
        </p:txBody>
      </p:sp>
      <p:grpSp>
        <p:nvGrpSpPr>
          <p:cNvPr id="11" name="!!Stage_Hero_Container!!">
            <a:extLst>
              <a:ext uri="{FF2B5EF4-FFF2-40B4-BE49-F238E27FC236}">
                <a16:creationId xmlns:a16="http://schemas.microsoft.com/office/drawing/2014/main" id="{28EE5186-5769-A4B1-5F03-FE2ECAC5F125}"/>
              </a:ext>
            </a:extLst>
          </p:cNvPr>
          <p:cNvGrpSpPr/>
          <p:nvPr/>
        </p:nvGrpSpPr>
        <p:grpSpPr>
          <a:xfrm>
            <a:off x="609600" y="1676400"/>
            <a:ext cx="5334000" cy="4521200"/>
            <a:chOff x="609600" y="1676400"/>
            <a:chExt cx="5334000" cy="4521200"/>
          </a:xfrm>
        </p:grpSpPr>
        <p:sp>
          <p:nvSpPr>
            <p:cNvPr id="5" name="Rectangle: Rounded Corners 4">
              <a:extLst>
                <a:ext uri="{FF2B5EF4-FFF2-40B4-BE49-F238E27FC236}">
                  <a16:creationId xmlns:a16="http://schemas.microsoft.com/office/drawing/2014/main" id="{E4C873CA-1DC9-D365-DFA6-EB511A8CC2F3}"/>
                </a:ext>
              </a:extLst>
            </p:cNvPr>
            <p:cNvSpPr/>
            <p:nvPr/>
          </p:nvSpPr>
          <p:spPr>
            <a:xfrm>
              <a:off x="609600" y="1676400"/>
              <a:ext cx="5334000"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44B3CC7B-9949-C9B7-21EA-49F3CE550329}"/>
                </a:ext>
              </a:extLst>
            </p:cNvPr>
            <p:cNvSpPr/>
            <p:nvPr/>
          </p:nvSpPr>
          <p:spPr>
            <a:xfrm>
              <a:off x="863600" y="1905000"/>
              <a:ext cx="1397000" cy="2794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TIÊU CHÍ SO SÁNH</a:t>
              </a:r>
            </a:p>
          </p:txBody>
        </p:sp>
        <p:sp>
          <p:nvSpPr>
            <p:cNvPr id="7" name="Oval 6">
              <a:extLst>
                <a:ext uri="{FF2B5EF4-FFF2-40B4-BE49-F238E27FC236}">
                  <a16:creationId xmlns:a16="http://schemas.microsoft.com/office/drawing/2014/main" id="{81435777-DA23-21DC-6EFB-B4C965E19B01}"/>
                </a:ext>
              </a:extLst>
            </p:cNvPr>
            <p:cNvSpPr/>
            <p:nvPr/>
          </p:nvSpPr>
          <p:spPr>
            <a:xfrm>
              <a:off x="863600" y="2260600"/>
              <a:ext cx="457200" cy="4572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83AF78E1-CCA8-B742-9DAB-66F0040A3ACD}"/>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36800"/>
              <a:ext cx="304800" cy="304800"/>
            </a:xfrm>
            <a:prstGeom prst="rect">
              <a:avLst/>
            </a:prstGeom>
          </p:spPr>
        </p:pic>
        <p:sp>
          <p:nvSpPr>
            <p:cNvPr id="10" name="TextBox 9">
              <a:extLst>
                <a:ext uri="{FF2B5EF4-FFF2-40B4-BE49-F238E27FC236}">
                  <a16:creationId xmlns:a16="http://schemas.microsoft.com/office/drawing/2014/main" id="{F013E221-6CE5-AF57-D3BE-473628F9C8FF}"/>
                </a:ext>
              </a:extLst>
            </p:cNvPr>
            <p:cNvSpPr txBox="1"/>
            <p:nvPr/>
          </p:nvSpPr>
          <p:spPr>
            <a:xfrm>
              <a:off x="863600" y="2819400"/>
              <a:ext cx="4826000" cy="1515095"/>
            </a:xfrm>
            <a:prstGeom prst="rect">
              <a:avLst/>
            </a:prstGeom>
            <a:noFill/>
          </p:spPr>
          <p:txBody>
            <a:bodyPr vert="horz" wrap="square" rtlCol="0">
              <a:spAutoFit/>
            </a:bodyPr>
            <a:lstStyle/>
            <a:p>
              <a:pPr>
                <a:lnSpc>
                  <a:spcPct val="130000"/>
                </a:lnSpc>
                <a:spcAft>
                  <a:spcPts val="1200"/>
                </a:spcAft>
              </a:pPr>
              <a:r>
                <a:rPr lang="vi-VN" sz="2000" b="1">
                  <a:solidFill>
                    <a:srgbClr val="0F172A"/>
                  </a:solidFill>
                  <a:latin typeface="Segoe UI" panose="020B0502040204020203" pitchFamily="34" charset="0"/>
                </a:rPr>
                <a:t>Khái Niệm Dân Cư (Population Group)
</a:t>
              </a:r>
              <a:r>
                <a:rPr lang="vi-VN" sz="1500" b="1">
                  <a:solidFill>
                    <a:srgbClr val="334155"/>
                  </a:solidFill>
                  <a:latin typeface="Segoe UI" panose="020B0502040204020203" pitchFamily="34" charset="0"/>
                </a:rPr>
                <a:t>Toàn bộ con người cùng cư trú trên một vùng lãnh thổ, gắn liền với các mối quan hệ lịch sử, văn hóa, phong tục và cộng đồng.</a:t>
              </a:r>
              <a:endParaRPr lang="en-US" sz="1500" b="1">
                <a:solidFill>
                  <a:srgbClr val="334155"/>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0F85C06B-EF13-E5A5-594D-DBAA23DD343B}"/>
              </a:ext>
            </a:extLst>
          </p:cNvPr>
          <p:cNvGrpSpPr/>
          <p:nvPr/>
        </p:nvGrpSpPr>
        <p:grpSpPr>
          <a:xfrm>
            <a:off x="6248400" y="1676400"/>
            <a:ext cx="5334000" cy="4521200"/>
            <a:chOff x="6248400" y="1676400"/>
            <a:chExt cx="5334000" cy="4521200"/>
          </a:xfrm>
        </p:grpSpPr>
        <p:sp>
          <p:nvSpPr>
            <p:cNvPr id="12" name="Rectangle: Rounded Corners 11">
              <a:extLst>
                <a:ext uri="{FF2B5EF4-FFF2-40B4-BE49-F238E27FC236}">
                  <a16:creationId xmlns:a16="http://schemas.microsoft.com/office/drawing/2014/main" id="{033DEC08-0866-CD5B-F952-9A1ABCEDCDA3}"/>
                </a:ext>
              </a:extLst>
            </p:cNvPr>
            <p:cNvSpPr/>
            <p:nvPr/>
          </p:nvSpPr>
          <p:spPr>
            <a:xfrm>
              <a:off x="6248400" y="1676400"/>
              <a:ext cx="5334000" cy="45212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7608070-4A87-D2D6-736B-B931480E4EEB}"/>
                </a:ext>
              </a:extLst>
            </p:cNvPr>
            <p:cNvSpPr/>
            <p:nvPr/>
          </p:nvSpPr>
          <p:spPr>
            <a:xfrm>
              <a:off x="6502400" y="1905000"/>
              <a:ext cx="1397000" cy="279400"/>
            </a:xfrm>
            <a:prstGeom prst="roundRect">
              <a:avLst/>
            </a:prstGeom>
            <a:solidFill>
              <a:srgbClr val="D1FAE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059669"/>
                  </a:solidFill>
                  <a:latin typeface="Segoe UI" panose="020B0502040204020203" pitchFamily="34" charset="0"/>
                </a:rPr>
                <a:t>ĐẶC TRƯNG CỐT LÕI</a:t>
              </a:r>
              <a:endParaRPr lang="en-US" sz="900" b="1">
                <a:solidFill>
                  <a:srgbClr val="059669"/>
                </a:solidFill>
                <a:latin typeface="Segoe UI" panose="020B0502040204020203" pitchFamily="34" charset="0"/>
              </a:endParaRPr>
            </a:p>
          </p:txBody>
        </p:sp>
        <p:sp>
          <p:nvSpPr>
            <p:cNvPr id="14" name="Oval 13">
              <a:extLst>
                <a:ext uri="{FF2B5EF4-FFF2-40B4-BE49-F238E27FC236}">
                  <a16:creationId xmlns:a16="http://schemas.microsoft.com/office/drawing/2014/main" id="{8080CC58-1229-7F30-23C5-EB88BA3149B8}"/>
                </a:ext>
              </a:extLst>
            </p:cNvPr>
            <p:cNvSpPr/>
            <p:nvPr/>
          </p:nvSpPr>
          <p:spPr>
            <a:xfrm>
              <a:off x="6502400" y="2260600"/>
              <a:ext cx="457200" cy="4572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63F160E2-3216-638C-8F1A-4732A941A9F4}"/>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578600" y="2336800"/>
              <a:ext cx="304800" cy="304800"/>
            </a:xfrm>
            <a:prstGeom prst="rect">
              <a:avLst/>
            </a:prstGeom>
          </p:spPr>
        </p:pic>
        <p:sp>
          <p:nvSpPr>
            <p:cNvPr id="17" name="TextBox 16">
              <a:extLst>
                <a:ext uri="{FF2B5EF4-FFF2-40B4-BE49-F238E27FC236}">
                  <a16:creationId xmlns:a16="http://schemas.microsoft.com/office/drawing/2014/main" id="{797ABFA7-A901-41BC-F32D-F1274F668519}"/>
                </a:ext>
              </a:extLst>
            </p:cNvPr>
            <p:cNvSpPr txBox="1"/>
            <p:nvPr/>
          </p:nvSpPr>
          <p:spPr>
            <a:xfrm>
              <a:off x="6502400" y="2819400"/>
              <a:ext cx="4826000" cy="1915204"/>
            </a:xfrm>
            <a:prstGeom prst="rect">
              <a:avLst/>
            </a:prstGeom>
            <a:noFill/>
          </p:spPr>
          <p:txBody>
            <a:bodyPr vert="horz" wrap="square" rtlCol="0">
              <a:spAutoFit/>
            </a:bodyPr>
            <a:lstStyle/>
            <a:p>
              <a:pPr>
                <a:lnSpc>
                  <a:spcPct val="130000"/>
                </a:lnSpc>
                <a:spcAft>
                  <a:spcPts val="1200"/>
                </a:spcAft>
              </a:pPr>
              <a:r>
                <a:rPr lang="en-US" sz="2000" b="1">
                  <a:solidFill>
                    <a:srgbClr val="0284C7"/>
                  </a:solidFill>
                  <a:latin typeface="Segoe UI" panose="020B0502040204020203" pitchFamily="34" charset="0"/>
                </a:rPr>
                <a:t>Khái Niệm Dân Số (Demographic Population)
</a:t>
              </a:r>
              <a:r>
                <a:rPr lang="vi-VN" sz="1500" b="1">
                  <a:solidFill>
                    <a:srgbClr val="334155"/>
                  </a:solidFill>
                  <a:latin typeface="Segoe UI" panose="020B0502040204020203" pitchFamily="34" charset="0"/>
                </a:rPr>
                <a:t>Tập hợp người được xác định tại một thời điểm cụ thể, được đo đạc định lượng qua quy mô, cơ cấu tuổi, giới tính và biến động sinh tử di cư.</a:t>
              </a:r>
              <a:endParaRPr lang="en-US" sz="1500" b="1">
                <a:solidFill>
                  <a:srgbClr val="334155"/>
                </a:solidFill>
                <a:latin typeface="Segoe UI" panose="020B0502040204020203" pitchFamily="34" charset="0"/>
              </a:endParaRPr>
            </a:p>
          </p:txBody>
        </p:sp>
      </p:grpSp>
      <p:sp>
        <p:nvSpPr>
          <p:cNvPr id="19" name="!!Anchor_Source_Footer!!">
            <a:extLst>
              <a:ext uri="{FF2B5EF4-FFF2-40B4-BE49-F238E27FC236}">
                <a16:creationId xmlns:a16="http://schemas.microsoft.com/office/drawing/2014/main" id="{9FFE18AC-AE8B-DEC5-85A1-822DC2B0346B}"/>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Hội đồng Thẩm định Học thuật Dân số học</a:t>
            </a:r>
          </a:p>
        </p:txBody>
      </p:sp>
    </p:spTree>
    <p:extLst>
      <p:ext uri="{BB962C8B-B14F-4D97-AF65-F5344CB8AC3E}">
        <p14:creationId xmlns:p14="http://schemas.microsoft.com/office/powerpoint/2010/main" val="40746039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AE4CF16D-CF3A-D530-5F6B-6418C4BFF047}"/>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TRẠNG THÁI DÂN SỐ  •  TRỌNG TÂM</a:t>
            </a:r>
          </a:p>
        </p:txBody>
      </p:sp>
      <p:sp>
        <p:nvSpPr>
          <p:cNvPr id="3" name="!!Anchor_Slide_Tracker!!">
            <a:extLst>
              <a:ext uri="{FF2B5EF4-FFF2-40B4-BE49-F238E27FC236}">
                <a16:creationId xmlns:a16="http://schemas.microsoft.com/office/drawing/2014/main" id="{38B01E89-9671-7FFA-18CE-116887A8457F}"/>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05 / 14</a:t>
            </a:r>
          </a:p>
        </p:txBody>
      </p:sp>
      <p:sp>
        <p:nvSpPr>
          <p:cNvPr id="4" name="!!Anchor_Assertion_Title!!">
            <a:extLst>
              <a:ext uri="{FF2B5EF4-FFF2-40B4-BE49-F238E27FC236}">
                <a16:creationId xmlns:a16="http://schemas.microsoft.com/office/drawing/2014/main" id="{EACEFDDA-30AB-985D-303B-52CFCC3F2402}"/>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Hai Trạng Thái Tồn Tại Của Dân Số: Trạng Thái Tĩnh Và Trạng Thái Động</a:t>
            </a:r>
          </a:p>
        </p:txBody>
      </p:sp>
      <p:grpSp>
        <p:nvGrpSpPr>
          <p:cNvPr id="11" name="!!Stage_Hero_Container!!">
            <a:extLst>
              <a:ext uri="{FF2B5EF4-FFF2-40B4-BE49-F238E27FC236}">
                <a16:creationId xmlns:a16="http://schemas.microsoft.com/office/drawing/2014/main" id="{64466E92-216E-4A0E-4451-E3D5A75BA0E2}"/>
              </a:ext>
            </a:extLst>
          </p:cNvPr>
          <p:cNvGrpSpPr/>
          <p:nvPr/>
        </p:nvGrpSpPr>
        <p:grpSpPr>
          <a:xfrm>
            <a:off x="609600" y="1676400"/>
            <a:ext cx="5334000" cy="4521200"/>
            <a:chOff x="609600" y="1676400"/>
            <a:chExt cx="5334000" cy="4521200"/>
          </a:xfrm>
        </p:grpSpPr>
        <p:sp>
          <p:nvSpPr>
            <p:cNvPr id="5" name="Rectangle: Rounded Corners 4">
              <a:extLst>
                <a:ext uri="{FF2B5EF4-FFF2-40B4-BE49-F238E27FC236}">
                  <a16:creationId xmlns:a16="http://schemas.microsoft.com/office/drawing/2014/main" id="{E29302BD-E45D-605F-761E-9124118BE9C9}"/>
                </a:ext>
              </a:extLst>
            </p:cNvPr>
            <p:cNvSpPr/>
            <p:nvPr/>
          </p:nvSpPr>
          <p:spPr>
            <a:xfrm>
              <a:off x="609600" y="1676400"/>
              <a:ext cx="5334000"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11067234-28D9-15D5-3B6D-CF7E5AC687F5}"/>
                </a:ext>
              </a:extLst>
            </p:cNvPr>
            <p:cNvSpPr/>
            <p:nvPr/>
          </p:nvSpPr>
          <p:spPr>
            <a:xfrm>
              <a:off x="863600" y="1905000"/>
              <a:ext cx="1397000" cy="2794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TIÊU CHÍ SO SÁNH</a:t>
              </a:r>
            </a:p>
          </p:txBody>
        </p:sp>
        <p:sp>
          <p:nvSpPr>
            <p:cNvPr id="7" name="Oval 6">
              <a:extLst>
                <a:ext uri="{FF2B5EF4-FFF2-40B4-BE49-F238E27FC236}">
                  <a16:creationId xmlns:a16="http://schemas.microsoft.com/office/drawing/2014/main" id="{80B02D59-2A06-D130-B09E-4364A92184E5}"/>
                </a:ext>
              </a:extLst>
            </p:cNvPr>
            <p:cNvSpPr/>
            <p:nvPr/>
          </p:nvSpPr>
          <p:spPr>
            <a:xfrm>
              <a:off x="863600" y="2260600"/>
              <a:ext cx="457200" cy="4572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3F8C412E-F05B-8857-5B92-6909FF0AECB9}"/>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36800"/>
              <a:ext cx="304800" cy="304800"/>
            </a:xfrm>
            <a:prstGeom prst="rect">
              <a:avLst/>
            </a:prstGeom>
          </p:spPr>
        </p:pic>
        <p:sp>
          <p:nvSpPr>
            <p:cNvPr id="10" name="TextBox 9">
              <a:extLst>
                <a:ext uri="{FF2B5EF4-FFF2-40B4-BE49-F238E27FC236}">
                  <a16:creationId xmlns:a16="http://schemas.microsoft.com/office/drawing/2014/main" id="{2F981EA6-A29D-494D-5C5B-A0EE27781EAF}"/>
                </a:ext>
              </a:extLst>
            </p:cNvPr>
            <p:cNvSpPr txBox="1"/>
            <p:nvPr/>
          </p:nvSpPr>
          <p:spPr>
            <a:xfrm>
              <a:off x="863600" y="2819400"/>
              <a:ext cx="4826000" cy="1515095"/>
            </a:xfrm>
            <a:prstGeom prst="rect">
              <a:avLst/>
            </a:prstGeom>
            <a:noFill/>
          </p:spPr>
          <p:txBody>
            <a:bodyPr vert="horz" wrap="square" rtlCol="0">
              <a:spAutoFit/>
            </a:bodyPr>
            <a:lstStyle/>
            <a:p>
              <a:pPr>
                <a:lnSpc>
                  <a:spcPct val="130000"/>
                </a:lnSpc>
                <a:spcAft>
                  <a:spcPts val="1200"/>
                </a:spcAft>
              </a:pPr>
              <a:r>
                <a:rPr lang="en-US" sz="2000" b="1">
                  <a:solidFill>
                    <a:srgbClr val="0F172A"/>
                  </a:solidFill>
                  <a:latin typeface="Segoe UI" panose="020B0502040204020203" pitchFamily="34" charset="0"/>
                </a:rPr>
                <a:t>Trạng Thái Tĩnh (Static Demography)
</a:t>
              </a:r>
              <a:r>
                <a:rPr lang="vi-VN" sz="1500" b="1">
                  <a:solidFill>
                    <a:srgbClr val="334155"/>
                  </a:solidFill>
                  <a:latin typeface="Segoe UI" panose="020B0502040204020203" pitchFamily="34" charset="0"/>
                </a:rPr>
                <a:t>Phản ánh quy mô tổng thể và cơ cấu dân số theo độ tuổi, giới tính tại một thời điểm cố định như thời điểm tổng điều tra.</a:t>
              </a:r>
              <a:endParaRPr lang="en-US" sz="1500" b="1">
                <a:solidFill>
                  <a:srgbClr val="334155"/>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406205C1-2E84-53D0-6A8F-7662CA891EE9}"/>
              </a:ext>
            </a:extLst>
          </p:cNvPr>
          <p:cNvGrpSpPr/>
          <p:nvPr/>
        </p:nvGrpSpPr>
        <p:grpSpPr>
          <a:xfrm>
            <a:off x="6248400" y="1676400"/>
            <a:ext cx="5334000" cy="4521200"/>
            <a:chOff x="6248400" y="1676400"/>
            <a:chExt cx="5334000" cy="4521200"/>
          </a:xfrm>
        </p:grpSpPr>
        <p:sp>
          <p:nvSpPr>
            <p:cNvPr id="12" name="Rectangle: Rounded Corners 11">
              <a:extLst>
                <a:ext uri="{FF2B5EF4-FFF2-40B4-BE49-F238E27FC236}">
                  <a16:creationId xmlns:a16="http://schemas.microsoft.com/office/drawing/2014/main" id="{B5A544C0-440F-E4B5-E274-B05E39B6F1B4}"/>
                </a:ext>
              </a:extLst>
            </p:cNvPr>
            <p:cNvSpPr/>
            <p:nvPr/>
          </p:nvSpPr>
          <p:spPr>
            <a:xfrm>
              <a:off x="6248400" y="1676400"/>
              <a:ext cx="5334000" cy="45212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6AF23721-1612-B551-1659-A8F04AC84344}"/>
                </a:ext>
              </a:extLst>
            </p:cNvPr>
            <p:cNvSpPr/>
            <p:nvPr/>
          </p:nvSpPr>
          <p:spPr>
            <a:xfrm>
              <a:off x="6502400" y="1905000"/>
              <a:ext cx="1397000" cy="279400"/>
            </a:xfrm>
            <a:prstGeom prst="roundRect">
              <a:avLst/>
            </a:prstGeom>
            <a:solidFill>
              <a:srgbClr val="D1FAE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059669"/>
                  </a:solidFill>
                  <a:latin typeface="Segoe UI" panose="020B0502040204020203" pitchFamily="34" charset="0"/>
                </a:rPr>
                <a:t>ĐẶC TRƯNG CỐT LÕI</a:t>
              </a:r>
              <a:endParaRPr lang="en-US" sz="900" b="1">
                <a:solidFill>
                  <a:srgbClr val="059669"/>
                </a:solidFill>
                <a:latin typeface="Segoe UI" panose="020B0502040204020203" pitchFamily="34" charset="0"/>
              </a:endParaRPr>
            </a:p>
          </p:txBody>
        </p:sp>
        <p:sp>
          <p:nvSpPr>
            <p:cNvPr id="14" name="Oval 13">
              <a:extLst>
                <a:ext uri="{FF2B5EF4-FFF2-40B4-BE49-F238E27FC236}">
                  <a16:creationId xmlns:a16="http://schemas.microsoft.com/office/drawing/2014/main" id="{340A67D2-14AC-B1C4-B5EC-26B808E1B625}"/>
                </a:ext>
              </a:extLst>
            </p:cNvPr>
            <p:cNvSpPr/>
            <p:nvPr/>
          </p:nvSpPr>
          <p:spPr>
            <a:xfrm>
              <a:off x="6502400" y="2260600"/>
              <a:ext cx="457200" cy="4572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945BD1A4-CB7A-02FD-BBC0-C819470E3A9C}"/>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578600" y="2336800"/>
              <a:ext cx="304800" cy="304800"/>
            </a:xfrm>
            <a:prstGeom prst="rect">
              <a:avLst/>
            </a:prstGeom>
          </p:spPr>
        </p:pic>
        <p:sp>
          <p:nvSpPr>
            <p:cNvPr id="17" name="TextBox 16">
              <a:extLst>
                <a:ext uri="{FF2B5EF4-FFF2-40B4-BE49-F238E27FC236}">
                  <a16:creationId xmlns:a16="http://schemas.microsoft.com/office/drawing/2014/main" id="{408868C5-C935-F553-A16B-E51A892A3F12}"/>
                </a:ext>
              </a:extLst>
            </p:cNvPr>
            <p:cNvSpPr txBox="1"/>
            <p:nvPr/>
          </p:nvSpPr>
          <p:spPr>
            <a:xfrm>
              <a:off x="6502400" y="2819400"/>
              <a:ext cx="4826000" cy="1915204"/>
            </a:xfrm>
            <a:prstGeom prst="rect">
              <a:avLst/>
            </a:prstGeom>
            <a:noFill/>
          </p:spPr>
          <p:txBody>
            <a:bodyPr vert="horz" wrap="square" rtlCol="0">
              <a:spAutoFit/>
            </a:bodyPr>
            <a:lstStyle/>
            <a:p>
              <a:pPr>
                <a:lnSpc>
                  <a:spcPct val="130000"/>
                </a:lnSpc>
                <a:spcAft>
                  <a:spcPts val="1200"/>
                </a:spcAft>
              </a:pPr>
              <a:r>
                <a:rPr lang="en-US" sz="2000" b="1">
                  <a:solidFill>
                    <a:srgbClr val="0284C7"/>
                  </a:solidFill>
                  <a:latin typeface="Segoe UI" panose="020B0502040204020203" pitchFamily="34" charset="0"/>
                </a:rPr>
                <a:t>Trạng Thái Động (Dynamic Demography)
</a:t>
              </a:r>
              <a:r>
                <a:rPr lang="vi-VN" sz="1500" b="1">
                  <a:solidFill>
                    <a:srgbClr val="334155"/>
                  </a:solidFill>
                  <a:latin typeface="Segoe UI" panose="020B0502040204020203" pitchFamily="34" charset="0"/>
                </a:rPr>
                <a:t>Sự vận động liên tục của dân số theo thời gian thông qua hai kênh: biến động tự nhiên (sinh, chết) và biến động cơ học (di cư).</a:t>
              </a:r>
              <a:endParaRPr lang="en-US" sz="1500" b="1">
                <a:solidFill>
                  <a:srgbClr val="334155"/>
                </a:solidFill>
                <a:latin typeface="Segoe UI" panose="020B0502040204020203" pitchFamily="34" charset="0"/>
              </a:endParaRPr>
            </a:p>
          </p:txBody>
        </p:sp>
      </p:grpSp>
      <p:sp>
        <p:nvSpPr>
          <p:cNvPr id="19" name="!!Anchor_Source_Footer!!">
            <a:extLst>
              <a:ext uri="{FF2B5EF4-FFF2-40B4-BE49-F238E27FC236}">
                <a16:creationId xmlns:a16="http://schemas.microsoft.com/office/drawing/2014/main" id="{D9E6CB8F-D18B-AE05-3762-76C596FC578F}"/>
              </a:ext>
            </a:extLst>
          </p:cNvPr>
          <p:cNvSpPr txBox="1"/>
          <p:nvPr/>
        </p:nvSpPr>
        <p:spPr>
          <a:xfrm>
            <a:off x="609600" y="6273800"/>
            <a:ext cx="10972800" cy="246221"/>
          </a:xfrm>
          <a:prstGeom prst="rect">
            <a:avLst/>
          </a:prstGeom>
          <a:noFill/>
        </p:spPr>
        <p:txBody>
          <a:bodyPr vert="horz" rtlCol="0">
            <a:spAutoFit/>
          </a:bodyPr>
          <a:lstStyle/>
          <a:p>
            <a:r>
              <a:rPr lang="vi-VN" sz="1000">
                <a:solidFill>
                  <a:srgbClr val="334155"/>
                </a:solidFill>
                <a:latin typeface="Segoe UI" panose="020B0502040204020203" pitchFamily="34" charset="0"/>
              </a:rPr>
              <a:t>Giáo trình Dân số học đại cương</a:t>
            </a:r>
            <a:endParaRPr lang="en-US" sz="1000">
              <a:solidFill>
                <a:srgbClr val="334155"/>
              </a:solidFill>
              <a:latin typeface="Segoe UI" panose="020B0502040204020203" pitchFamily="34" charset="0"/>
            </a:endParaRPr>
          </a:p>
        </p:txBody>
      </p:sp>
    </p:spTree>
    <p:extLst>
      <p:ext uri="{BB962C8B-B14F-4D97-AF65-F5344CB8AC3E}">
        <p14:creationId xmlns:p14="http://schemas.microsoft.com/office/powerpoint/2010/main" val="42598384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2207DC62-DB12-E7EB-27B8-E9F688B55B98}"/>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QUÁ TRÌNH DÂN SỐ  •  TRỌNG TÂM</a:t>
            </a:r>
          </a:p>
        </p:txBody>
      </p:sp>
      <p:sp>
        <p:nvSpPr>
          <p:cNvPr id="3" name="!!Anchor_Slide_Tracker!!">
            <a:extLst>
              <a:ext uri="{FF2B5EF4-FFF2-40B4-BE49-F238E27FC236}">
                <a16:creationId xmlns:a16="http://schemas.microsoft.com/office/drawing/2014/main" id="{012CE20B-D7B6-8B45-A427-B2025B4F882C}"/>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06 / 14</a:t>
            </a:r>
          </a:p>
        </p:txBody>
      </p:sp>
      <p:sp>
        <p:nvSpPr>
          <p:cNvPr id="4" name="!!Anchor_Assertion_Title!!">
            <a:extLst>
              <a:ext uri="{FF2B5EF4-FFF2-40B4-BE49-F238E27FC236}">
                <a16:creationId xmlns:a16="http://schemas.microsoft.com/office/drawing/2014/main" id="{DF6AEDB2-2ED7-B7F8-5DB6-F40FAE2A8C5F}"/>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Ba Quá Trình Dân Số Cơ Bản Quyết Định Quy Mô Và Cấu Trúc Nhân Khẩu</a:t>
            </a:r>
            <a:endParaRPr lang="en-US" sz="2400" b="1">
              <a:solidFill>
                <a:srgbClr val="0F172A"/>
              </a:solidFill>
              <a:latin typeface="Segoe UI" panose="020B0502040204020203" pitchFamily="34" charset="0"/>
            </a:endParaRPr>
          </a:p>
        </p:txBody>
      </p:sp>
      <p:pic>
        <p:nvPicPr>
          <p:cNvPr id="6" name="!!Stage_Hero_Container!!">
            <a:extLst>
              <a:ext uri="{FF2B5EF4-FFF2-40B4-BE49-F238E27FC236}">
                <a16:creationId xmlns:a16="http://schemas.microsoft.com/office/drawing/2014/main" id="{5F90E6AA-A062-71B7-14E5-186FE428783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752600"/>
            <a:ext cx="5705856" cy="4368800"/>
          </a:xfrm>
          <a:prstGeom prst="roundRect">
            <a:avLst/>
          </a:prstGeom>
          <a:ln w="12700">
            <a:solidFill>
              <a:srgbClr val="CBD5E1"/>
            </a:solidFill>
          </a:ln>
        </p:spPr>
      </p:pic>
      <p:grpSp>
        <p:nvGrpSpPr>
          <p:cNvPr id="12" name="!!Stage_Sub_Card_1!!">
            <a:extLst>
              <a:ext uri="{FF2B5EF4-FFF2-40B4-BE49-F238E27FC236}">
                <a16:creationId xmlns:a16="http://schemas.microsoft.com/office/drawing/2014/main" id="{217B369C-8B9F-A576-3FFA-89AC2DC1BE3C}"/>
              </a:ext>
            </a:extLst>
          </p:cNvPr>
          <p:cNvGrpSpPr/>
          <p:nvPr/>
        </p:nvGrpSpPr>
        <p:grpSpPr>
          <a:xfrm>
            <a:off x="6644640" y="1676400"/>
            <a:ext cx="4937760" cy="1405467"/>
            <a:chOff x="6644640" y="1676400"/>
            <a:chExt cx="4937760" cy="1405467"/>
          </a:xfrm>
        </p:grpSpPr>
        <p:sp>
          <p:nvSpPr>
            <p:cNvPr id="7" name="Rectangle: Rounded Corners 6">
              <a:extLst>
                <a:ext uri="{FF2B5EF4-FFF2-40B4-BE49-F238E27FC236}">
                  <a16:creationId xmlns:a16="http://schemas.microsoft.com/office/drawing/2014/main" id="{BFF3F1DF-73FE-A48A-B948-9F39D2B05132}"/>
                </a:ext>
              </a:extLst>
            </p:cNvPr>
            <p:cNvSpPr/>
            <p:nvPr/>
          </p:nvSpPr>
          <p:spPr>
            <a:xfrm>
              <a:off x="6644640" y="1676400"/>
              <a:ext cx="4937760" cy="1405467"/>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BD66FAD-E65C-EB1C-A460-44471A3679A9}"/>
                </a:ext>
              </a:extLst>
            </p:cNvPr>
            <p:cNvSpPr/>
            <p:nvPr/>
          </p:nvSpPr>
          <p:spPr>
            <a:xfrm>
              <a:off x="6822440"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B895F1EC-BBBE-AD2D-5913-3E6F5FB6E991}"/>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1" name="TextBox 10">
              <a:extLst>
                <a:ext uri="{FF2B5EF4-FFF2-40B4-BE49-F238E27FC236}">
                  <a16:creationId xmlns:a16="http://schemas.microsoft.com/office/drawing/2014/main" id="{839AED3C-9CF3-017A-564B-52A713687F16}"/>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Mức Sinh (Fertility)
</a:t>
              </a:r>
              <a:r>
                <a:rPr lang="vi-VN" sz="1400" b="1">
                  <a:solidFill>
                    <a:srgbClr val="334155"/>
                  </a:solidFill>
                  <a:latin typeface="Segoe UI" panose="020B0502040204020203" pitchFamily="34" charset="0"/>
                </a:rPr>
                <a:t>Biến số bù đắp số lượng, chịu sự chi phối của độ tuổi kết hôn, chi phí nuôi dạy con và chính sách kế hoạch hóa gia đình.</a:t>
              </a:r>
              <a:endParaRPr lang="en-US" sz="1400" b="1">
                <a:solidFill>
                  <a:srgbClr val="334155"/>
                </a:solidFill>
                <a:latin typeface="Segoe UI" panose="020B0502040204020203" pitchFamily="34" charset="0"/>
              </a:endParaRPr>
            </a:p>
          </p:txBody>
        </p:sp>
      </p:grpSp>
      <p:grpSp>
        <p:nvGrpSpPr>
          <p:cNvPr id="18" name="!!Stage_Sub_Card_2!!">
            <a:extLst>
              <a:ext uri="{FF2B5EF4-FFF2-40B4-BE49-F238E27FC236}">
                <a16:creationId xmlns:a16="http://schemas.microsoft.com/office/drawing/2014/main" id="{1A5C7ABC-5594-96CB-1C7C-1C0DD1E36A0C}"/>
              </a:ext>
            </a:extLst>
          </p:cNvPr>
          <p:cNvGrpSpPr/>
          <p:nvPr/>
        </p:nvGrpSpPr>
        <p:grpSpPr>
          <a:xfrm>
            <a:off x="6644640" y="3234267"/>
            <a:ext cx="4937760" cy="1405466"/>
            <a:chOff x="6644640" y="3234267"/>
            <a:chExt cx="4937760" cy="1405466"/>
          </a:xfrm>
        </p:grpSpPr>
        <p:sp>
          <p:nvSpPr>
            <p:cNvPr id="13" name="Rectangle: Rounded Corners 12">
              <a:extLst>
                <a:ext uri="{FF2B5EF4-FFF2-40B4-BE49-F238E27FC236}">
                  <a16:creationId xmlns:a16="http://schemas.microsoft.com/office/drawing/2014/main" id="{A5BF6FE5-9DFC-7EFB-32CE-4509D3E39E4F}"/>
                </a:ext>
              </a:extLst>
            </p:cNvPr>
            <p:cNvSpPr/>
            <p:nvPr/>
          </p:nvSpPr>
          <p:spPr>
            <a:xfrm>
              <a:off x="6644640" y="3234267"/>
              <a:ext cx="4937760" cy="1405466"/>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FDAF51D-1AE7-7B5B-F7F2-A8EACA1201B5}"/>
                </a:ext>
              </a:extLst>
            </p:cNvPr>
            <p:cNvSpPr/>
            <p:nvPr/>
          </p:nvSpPr>
          <p:spPr>
            <a:xfrm>
              <a:off x="6822440" y="3412067"/>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6320F415-DF3C-0F67-1A55-D3676864E13C}"/>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3475567"/>
              <a:ext cx="254000" cy="254000"/>
            </a:xfrm>
            <a:prstGeom prst="rect">
              <a:avLst/>
            </a:prstGeom>
          </p:spPr>
        </p:pic>
        <p:sp>
          <p:nvSpPr>
            <p:cNvPr id="17" name="TextBox 16">
              <a:extLst>
                <a:ext uri="{FF2B5EF4-FFF2-40B4-BE49-F238E27FC236}">
                  <a16:creationId xmlns:a16="http://schemas.microsoft.com/office/drawing/2014/main" id="{BBF07962-D549-73BA-9E22-021F00254730}"/>
                </a:ext>
              </a:extLst>
            </p:cNvPr>
            <p:cNvSpPr txBox="1"/>
            <p:nvPr/>
          </p:nvSpPr>
          <p:spPr>
            <a:xfrm>
              <a:off x="7305040" y="3361267"/>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Mức Chết (Mortality)
</a:t>
              </a:r>
              <a:r>
                <a:rPr lang="vi-VN" sz="1400" b="1">
                  <a:solidFill>
                    <a:srgbClr val="334155"/>
                  </a:solidFill>
                  <a:latin typeface="Segoe UI" panose="020B0502040204020203" pitchFamily="34" charset="0"/>
                </a:rPr>
                <a:t>Biến số suy giảm tự nhiên, phản ánh điều kiện vệ sinh phòng bệnh, mức sống và chất lượng mạng lưới y tế điều trị.</a:t>
              </a:r>
              <a:endParaRPr lang="en-US" sz="1400" b="1">
                <a:solidFill>
                  <a:srgbClr val="334155"/>
                </a:solidFill>
                <a:latin typeface="Segoe UI" panose="020B0502040204020203" pitchFamily="34" charset="0"/>
              </a:endParaRPr>
            </a:p>
          </p:txBody>
        </p:sp>
      </p:grpSp>
      <p:grpSp>
        <p:nvGrpSpPr>
          <p:cNvPr id="24" name="!!Stage_Sub_Card_3!!">
            <a:extLst>
              <a:ext uri="{FF2B5EF4-FFF2-40B4-BE49-F238E27FC236}">
                <a16:creationId xmlns:a16="http://schemas.microsoft.com/office/drawing/2014/main" id="{FD295A5C-7868-790A-45DA-CC5E8F9818E1}"/>
              </a:ext>
            </a:extLst>
          </p:cNvPr>
          <p:cNvGrpSpPr/>
          <p:nvPr/>
        </p:nvGrpSpPr>
        <p:grpSpPr>
          <a:xfrm>
            <a:off x="6644640" y="4792133"/>
            <a:ext cx="4937760" cy="1405467"/>
            <a:chOff x="6644640" y="4792133"/>
            <a:chExt cx="4937760" cy="1405467"/>
          </a:xfrm>
        </p:grpSpPr>
        <p:sp>
          <p:nvSpPr>
            <p:cNvPr id="19" name="Rectangle: Rounded Corners 18">
              <a:extLst>
                <a:ext uri="{FF2B5EF4-FFF2-40B4-BE49-F238E27FC236}">
                  <a16:creationId xmlns:a16="http://schemas.microsoft.com/office/drawing/2014/main" id="{13F67E65-222B-84C6-95B0-081CA5A07FF2}"/>
                </a:ext>
              </a:extLst>
            </p:cNvPr>
            <p:cNvSpPr/>
            <p:nvPr/>
          </p:nvSpPr>
          <p:spPr>
            <a:xfrm>
              <a:off x="6644640" y="4792133"/>
              <a:ext cx="4937760" cy="1405467"/>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578A4DE-59AA-8708-F053-86DA9F563349}"/>
                </a:ext>
              </a:extLst>
            </p:cNvPr>
            <p:cNvSpPr/>
            <p:nvPr/>
          </p:nvSpPr>
          <p:spPr>
            <a:xfrm>
              <a:off x="6822440" y="4969933"/>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4D2C79CC-FD61-4C77-8255-515413A76749}"/>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885940" y="5033433"/>
              <a:ext cx="254000" cy="254000"/>
            </a:xfrm>
            <a:prstGeom prst="rect">
              <a:avLst/>
            </a:prstGeom>
          </p:spPr>
        </p:pic>
        <p:sp>
          <p:nvSpPr>
            <p:cNvPr id="23" name="TextBox 22">
              <a:extLst>
                <a:ext uri="{FF2B5EF4-FFF2-40B4-BE49-F238E27FC236}">
                  <a16:creationId xmlns:a16="http://schemas.microsoft.com/office/drawing/2014/main" id="{DBE25984-78D7-5311-833B-BC287DC8BF52}"/>
                </a:ext>
              </a:extLst>
            </p:cNvPr>
            <p:cNvSpPr txBox="1"/>
            <p:nvPr/>
          </p:nvSpPr>
          <p:spPr>
            <a:xfrm>
              <a:off x="7305040" y="4919133"/>
              <a:ext cx="4150360" cy="990015"/>
            </a:xfrm>
            <a:prstGeom prst="rect">
              <a:avLst/>
            </a:prstGeom>
            <a:noFill/>
          </p:spPr>
          <p:txBody>
            <a:bodyPr vert="horz" wrap="square" tIns="0" rtlCol="0">
              <a:spAutoFit/>
            </a:bodyPr>
            <a:lstStyle/>
            <a:p>
              <a:pPr>
                <a:spcAft>
                  <a:spcPts val="400"/>
                </a:spcAft>
              </a:pPr>
              <a:r>
                <a:rPr lang="vi-VN" sz="1600" b="1">
                  <a:solidFill>
                    <a:srgbClr val="0F172A"/>
                  </a:solidFill>
                  <a:latin typeface="Segoe UI" panose="020B0502040204020203" pitchFamily="34" charset="0"/>
                </a:rPr>
                <a:t>Di Cư (Migration)
</a:t>
              </a:r>
              <a:r>
                <a:rPr lang="vi-VN" sz="1400" b="1">
                  <a:solidFill>
                    <a:srgbClr val="334155"/>
                  </a:solidFill>
                  <a:latin typeface="Segoe UI" panose="020B0502040204020203" pitchFamily="34" charset="0"/>
                </a:rPr>
                <a:t>Biến số phân bổ lại không gian, tạo ra sự chuyển dịch lao động và tái cấu trúc mạng lưới đô thị - nông thôn.</a:t>
              </a:r>
              <a:endParaRPr lang="en-US" sz="1400" b="1">
                <a:solidFill>
                  <a:srgbClr val="334155"/>
                </a:solidFill>
                <a:latin typeface="Segoe UI" panose="020B0502040204020203" pitchFamily="34" charset="0"/>
              </a:endParaRPr>
            </a:p>
          </p:txBody>
        </p:sp>
      </p:grpSp>
      <p:sp>
        <p:nvSpPr>
          <p:cNvPr id="25" name="!!Anchor_Source_Footer!!">
            <a:extLst>
              <a:ext uri="{FF2B5EF4-FFF2-40B4-BE49-F238E27FC236}">
                <a16:creationId xmlns:a16="http://schemas.microsoft.com/office/drawing/2014/main" id="{F74D658C-C9CD-6722-1527-83820049610C}"/>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Tài liệu đào tạo Dân số học chuẩn quốc gia</a:t>
            </a:r>
          </a:p>
        </p:txBody>
      </p:sp>
    </p:spTree>
    <p:extLst>
      <p:ext uri="{BB962C8B-B14F-4D97-AF65-F5344CB8AC3E}">
        <p14:creationId xmlns:p14="http://schemas.microsoft.com/office/powerpoint/2010/main" val="17358867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50000" decel="50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accel="50000" decel="5000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accel="50000" decel="5000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ppt_x"/>
                                          </p:val>
                                        </p:tav>
                                        <p:tav tm="100000">
                                          <p:val>
                                            <p:strVal val="#ppt_x"/>
                                          </p:val>
                                        </p:tav>
                                      </p:tavLst>
                                    </p:anim>
                                    <p:anim calcmode="lin" valueType="num">
                                      <p:cBhvr additive="base">
                                        <p:cTn id="20"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9F6A5948-A457-BCF9-0169-26FB779CAA03}"/>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TÁI SẢN XUẤT DÂN SỐ  •  TRỌNG TÂM</a:t>
            </a:r>
          </a:p>
        </p:txBody>
      </p:sp>
      <p:sp>
        <p:nvSpPr>
          <p:cNvPr id="3" name="!!Anchor_Slide_Tracker!!">
            <a:extLst>
              <a:ext uri="{FF2B5EF4-FFF2-40B4-BE49-F238E27FC236}">
                <a16:creationId xmlns:a16="http://schemas.microsoft.com/office/drawing/2014/main" id="{234C5526-E148-D38E-9661-964BC33B84D7}"/>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07 / 14</a:t>
            </a:r>
          </a:p>
        </p:txBody>
      </p:sp>
      <p:sp>
        <p:nvSpPr>
          <p:cNvPr id="4" name="!!Anchor_Assertion_Title!!">
            <a:extLst>
              <a:ext uri="{FF2B5EF4-FFF2-40B4-BE49-F238E27FC236}">
                <a16:creationId xmlns:a16="http://schemas.microsoft.com/office/drawing/2014/main" id="{33564169-F1CA-BDA4-2E82-F31496C7D318}"/>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Quá Trình Tái Sản Xuất Dân Số Xét Theo Nghĩa Hẹp Và Nghĩa Rộng</a:t>
            </a:r>
          </a:p>
        </p:txBody>
      </p:sp>
      <p:grpSp>
        <p:nvGrpSpPr>
          <p:cNvPr id="11" name="!!Stage_Hero_Container!!">
            <a:extLst>
              <a:ext uri="{FF2B5EF4-FFF2-40B4-BE49-F238E27FC236}">
                <a16:creationId xmlns:a16="http://schemas.microsoft.com/office/drawing/2014/main" id="{B4C81EA7-812E-1B62-5341-F0F2468F86AF}"/>
              </a:ext>
            </a:extLst>
          </p:cNvPr>
          <p:cNvGrpSpPr/>
          <p:nvPr/>
        </p:nvGrpSpPr>
        <p:grpSpPr>
          <a:xfrm>
            <a:off x="609600" y="1676400"/>
            <a:ext cx="5334000" cy="4521200"/>
            <a:chOff x="609600" y="1676400"/>
            <a:chExt cx="5334000" cy="4521200"/>
          </a:xfrm>
        </p:grpSpPr>
        <p:sp>
          <p:nvSpPr>
            <p:cNvPr id="5" name="Rectangle: Rounded Corners 4">
              <a:extLst>
                <a:ext uri="{FF2B5EF4-FFF2-40B4-BE49-F238E27FC236}">
                  <a16:creationId xmlns:a16="http://schemas.microsoft.com/office/drawing/2014/main" id="{60284D40-7D3F-F9C9-6A40-3D5BBAD30979}"/>
                </a:ext>
              </a:extLst>
            </p:cNvPr>
            <p:cNvSpPr/>
            <p:nvPr/>
          </p:nvSpPr>
          <p:spPr>
            <a:xfrm>
              <a:off x="609600" y="1676400"/>
              <a:ext cx="5334000"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6AD8802B-0CF9-1421-EF63-CFA07C9C4A55}"/>
                </a:ext>
              </a:extLst>
            </p:cNvPr>
            <p:cNvSpPr/>
            <p:nvPr/>
          </p:nvSpPr>
          <p:spPr>
            <a:xfrm>
              <a:off x="863600" y="1905000"/>
              <a:ext cx="1397000" cy="2794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TIÊU CHÍ SO SÁNH</a:t>
              </a:r>
            </a:p>
          </p:txBody>
        </p:sp>
        <p:sp>
          <p:nvSpPr>
            <p:cNvPr id="7" name="Oval 6">
              <a:extLst>
                <a:ext uri="{FF2B5EF4-FFF2-40B4-BE49-F238E27FC236}">
                  <a16:creationId xmlns:a16="http://schemas.microsoft.com/office/drawing/2014/main" id="{6980B4DF-53CC-BA89-449E-2C5C033AB99F}"/>
                </a:ext>
              </a:extLst>
            </p:cNvPr>
            <p:cNvSpPr/>
            <p:nvPr/>
          </p:nvSpPr>
          <p:spPr>
            <a:xfrm>
              <a:off x="863600" y="2260600"/>
              <a:ext cx="457200" cy="4572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450CCED7-481E-87AD-3692-18622D983652}"/>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36800"/>
              <a:ext cx="304800" cy="304800"/>
            </a:xfrm>
            <a:prstGeom prst="rect">
              <a:avLst/>
            </a:prstGeom>
          </p:spPr>
        </p:pic>
        <p:sp>
          <p:nvSpPr>
            <p:cNvPr id="10" name="TextBox 9">
              <a:extLst>
                <a:ext uri="{FF2B5EF4-FFF2-40B4-BE49-F238E27FC236}">
                  <a16:creationId xmlns:a16="http://schemas.microsoft.com/office/drawing/2014/main" id="{09DBADCF-1DB0-108B-4A22-8CBFECE9257A}"/>
                </a:ext>
              </a:extLst>
            </p:cNvPr>
            <p:cNvSpPr txBox="1"/>
            <p:nvPr/>
          </p:nvSpPr>
          <p:spPr>
            <a:xfrm>
              <a:off x="863600" y="2819400"/>
              <a:ext cx="4826000" cy="1915204"/>
            </a:xfrm>
            <a:prstGeom prst="rect">
              <a:avLst/>
            </a:prstGeom>
            <a:noFill/>
          </p:spPr>
          <p:txBody>
            <a:bodyPr vert="horz" wrap="square" rtlCol="0">
              <a:spAutoFit/>
            </a:bodyPr>
            <a:lstStyle/>
            <a:p>
              <a:pPr>
                <a:lnSpc>
                  <a:spcPct val="130000"/>
                </a:lnSpc>
                <a:spcAft>
                  <a:spcPts val="1200"/>
                </a:spcAft>
              </a:pPr>
              <a:r>
                <a:rPr lang="en-US" sz="2000" b="1">
                  <a:solidFill>
                    <a:srgbClr val="0F172A"/>
                  </a:solidFill>
                  <a:latin typeface="Segoe UI" panose="020B0502040204020203" pitchFamily="34" charset="0"/>
                </a:rPr>
                <a:t>Tái Sản Xuất Nghĩa Hẹp (Natural Replacement)
</a:t>
              </a:r>
              <a:r>
                <a:rPr lang="vi-VN" sz="1500" b="1">
                  <a:solidFill>
                    <a:srgbClr val="334155"/>
                  </a:solidFill>
                  <a:latin typeface="Segoe UI" panose="020B0502040204020203" pitchFamily="34" charset="0"/>
                </a:rPr>
                <a:t>Quá trình thay thế liên tục các thế hệ thông qua quan hệ sinh - chết, duy trì sự tồn tại sinh học liên tục của quần thể người.</a:t>
              </a:r>
              <a:endParaRPr lang="en-US" sz="1500" b="1">
                <a:solidFill>
                  <a:srgbClr val="334155"/>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9642173F-C593-BEDA-CF6F-4D30EF02EEEE}"/>
              </a:ext>
            </a:extLst>
          </p:cNvPr>
          <p:cNvGrpSpPr/>
          <p:nvPr/>
        </p:nvGrpSpPr>
        <p:grpSpPr>
          <a:xfrm>
            <a:off x="6248400" y="1676400"/>
            <a:ext cx="5334000" cy="4521200"/>
            <a:chOff x="6248400" y="1676400"/>
            <a:chExt cx="5334000" cy="4521200"/>
          </a:xfrm>
        </p:grpSpPr>
        <p:sp>
          <p:nvSpPr>
            <p:cNvPr id="12" name="Rectangle: Rounded Corners 11">
              <a:extLst>
                <a:ext uri="{FF2B5EF4-FFF2-40B4-BE49-F238E27FC236}">
                  <a16:creationId xmlns:a16="http://schemas.microsoft.com/office/drawing/2014/main" id="{C76E9014-AFC1-F502-FC08-984514FA7E9D}"/>
                </a:ext>
              </a:extLst>
            </p:cNvPr>
            <p:cNvSpPr/>
            <p:nvPr/>
          </p:nvSpPr>
          <p:spPr>
            <a:xfrm>
              <a:off x="6248400" y="1676400"/>
              <a:ext cx="5334000" cy="45212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965F2B2F-EFA0-1E53-9A06-D42F9A0AB242}"/>
                </a:ext>
              </a:extLst>
            </p:cNvPr>
            <p:cNvSpPr/>
            <p:nvPr/>
          </p:nvSpPr>
          <p:spPr>
            <a:xfrm>
              <a:off x="6502400" y="1905000"/>
              <a:ext cx="1397000" cy="279400"/>
            </a:xfrm>
            <a:prstGeom prst="roundRect">
              <a:avLst/>
            </a:prstGeom>
            <a:solidFill>
              <a:srgbClr val="D1FAE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059669"/>
                  </a:solidFill>
                  <a:latin typeface="Segoe UI" panose="020B0502040204020203" pitchFamily="34" charset="0"/>
                </a:rPr>
                <a:t>ĐẶC TRƯNG CỐT LÕI</a:t>
              </a:r>
              <a:endParaRPr lang="en-US" sz="900" b="1">
                <a:solidFill>
                  <a:srgbClr val="059669"/>
                </a:solidFill>
                <a:latin typeface="Segoe UI" panose="020B0502040204020203" pitchFamily="34" charset="0"/>
              </a:endParaRPr>
            </a:p>
          </p:txBody>
        </p:sp>
        <p:sp>
          <p:nvSpPr>
            <p:cNvPr id="14" name="Oval 13">
              <a:extLst>
                <a:ext uri="{FF2B5EF4-FFF2-40B4-BE49-F238E27FC236}">
                  <a16:creationId xmlns:a16="http://schemas.microsoft.com/office/drawing/2014/main" id="{6B623D33-2825-FF17-88A7-36EBBABE61B8}"/>
                </a:ext>
              </a:extLst>
            </p:cNvPr>
            <p:cNvSpPr/>
            <p:nvPr/>
          </p:nvSpPr>
          <p:spPr>
            <a:xfrm>
              <a:off x="6502400" y="2260600"/>
              <a:ext cx="457200" cy="4572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3D0B5069-2648-549A-37F2-16821F2A2AF7}"/>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578600" y="2336800"/>
              <a:ext cx="304800" cy="304800"/>
            </a:xfrm>
            <a:prstGeom prst="rect">
              <a:avLst/>
            </a:prstGeom>
          </p:spPr>
        </p:pic>
        <p:sp>
          <p:nvSpPr>
            <p:cNvPr id="17" name="TextBox 16">
              <a:extLst>
                <a:ext uri="{FF2B5EF4-FFF2-40B4-BE49-F238E27FC236}">
                  <a16:creationId xmlns:a16="http://schemas.microsoft.com/office/drawing/2014/main" id="{D66A40CE-4CF0-9E2A-8A8E-BDC046998DEB}"/>
                </a:ext>
              </a:extLst>
            </p:cNvPr>
            <p:cNvSpPr txBox="1"/>
            <p:nvPr/>
          </p:nvSpPr>
          <p:spPr>
            <a:xfrm>
              <a:off x="6502400" y="2819400"/>
              <a:ext cx="4826000" cy="1915204"/>
            </a:xfrm>
            <a:prstGeom prst="rect">
              <a:avLst/>
            </a:prstGeom>
            <a:noFill/>
          </p:spPr>
          <p:txBody>
            <a:bodyPr vert="horz" wrap="square" rtlCol="0">
              <a:spAutoFit/>
            </a:bodyPr>
            <a:lstStyle/>
            <a:p>
              <a:pPr>
                <a:lnSpc>
                  <a:spcPct val="130000"/>
                </a:lnSpc>
                <a:spcAft>
                  <a:spcPts val="1200"/>
                </a:spcAft>
              </a:pPr>
              <a:r>
                <a:rPr lang="en-US" sz="2000" b="1">
                  <a:solidFill>
                    <a:srgbClr val="0284C7"/>
                  </a:solidFill>
                  <a:latin typeface="Segoe UI" panose="020B0502040204020203" pitchFamily="34" charset="0"/>
                </a:rPr>
                <a:t>Tái Sản Xuất Nghĩa Rộng (Social Reproduction)
</a:t>
              </a:r>
              <a:r>
                <a:rPr lang="vi-VN" sz="1500" b="1">
                  <a:solidFill>
                    <a:srgbClr val="334155"/>
                  </a:solidFill>
                  <a:latin typeface="Segoe UI" panose="020B0502040204020203" pitchFamily="34" charset="0"/>
                </a:rPr>
                <a:t>Bao gồm việc tái tạo sức lao động, nâng cao trình độ văn hóa, chuyên môn nghề nghiệp và chuyển dịch cơ cấu vị thế xã hội.</a:t>
              </a:r>
              <a:endParaRPr lang="en-US" sz="1500" b="1">
                <a:solidFill>
                  <a:srgbClr val="334155"/>
                </a:solidFill>
                <a:latin typeface="Segoe UI" panose="020B0502040204020203" pitchFamily="34" charset="0"/>
              </a:endParaRPr>
            </a:p>
          </p:txBody>
        </p:sp>
      </p:grpSp>
      <p:sp>
        <p:nvSpPr>
          <p:cNvPr id="19" name="!!Anchor_Source_Footer!!">
            <a:extLst>
              <a:ext uri="{FF2B5EF4-FFF2-40B4-BE49-F238E27FC236}">
                <a16:creationId xmlns:a16="http://schemas.microsoft.com/office/drawing/2014/main" id="{3A2BC156-6C11-432D-6904-C78C71566DCB}"/>
              </a:ext>
            </a:extLst>
          </p:cNvPr>
          <p:cNvSpPr txBox="1"/>
          <p:nvPr/>
        </p:nvSpPr>
        <p:spPr>
          <a:xfrm>
            <a:off x="609600" y="6273800"/>
            <a:ext cx="10972800" cy="246221"/>
          </a:xfrm>
          <a:prstGeom prst="rect">
            <a:avLst/>
          </a:prstGeom>
          <a:noFill/>
        </p:spPr>
        <p:txBody>
          <a:bodyPr vert="horz" rtlCol="0">
            <a:spAutoFit/>
          </a:bodyPr>
          <a:lstStyle/>
          <a:p>
            <a:r>
              <a:rPr lang="vi-VN" sz="1000">
                <a:solidFill>
                  <a:srgbClr val="334155"/>
                </a:solidFill>
                <a:latin typeface="Segoe UI" panose="020B0502040204020203" pitchFamily="34" charset="0"/>
              </a:rPr>
              <a:t>Giáo trình Dân số học đại cương</a:t>
            </a:r>
            <a:endParaRPr lang="en-US" sz="1000">
              <a:solidFill>
                <a:srgbClr val="334155"/>
              </a:solidFill>
              <a:latin typeface="Segoe UI" panose="020B0502040204020203" pitchFamily="34" charset="0"/>
            </a:endParaRPr>
          </a:p>
        </p:txBody>
      </p:sp>
    </p:spTree>
    <p:extLst>
      <p:ext uri="{BB962C8B-B14F-4D97-AF65-F5344CB8AC3E}">
        <p14:creationId xmlns:p14="http://schemas.microsoft.com/office/powerpoint/2010/main" val="42145832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A0F6AFD1-9086-56B3-D010-28D118905618}"/>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PHẠM VI NGHIÊN CỨU  •  TRỌNG TÂM</a:t>
            </a:r>
          </a:p>
        </p:txBody>
      </p:sp>
      <p:sp>
        <p:nvSpPr>
          <p:cNvPr id="3" name="!!Anchor_Slide_Tracker!!">
            <a:extLst>
              <a:ext uri="{FF2B5EF4-FFF2-40B4-BE49-F238E27FC236}">
                <a16:creationId xmlns:a16="http://schemas.microsoft.com/office/drawing/2014/main" id="{586E5B33-252D-36A7-BC62-11634EF5039E}"/>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08 / 14</a:t>
            </a:r>
          </a:p>
        </p:txBody>
      </p:sp>
      <p:sp>
        <p:nvSpPr>
          <p:cNvPr id="4" name="!!Anchor_Assertion_Title!!">
            <a:extLst>
              <a:ext uri="{FF2B5EF4-FFF2-40B4-BE49-F238E27FC236}">
                <a16:creationId xmlns:a16="http://schemas.microsoft.com/office/drawing/2014/main" id="{3B63AA82-2DBF-430B-DD9C-5D8533C57353}"/>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Phạm Vi Nghiên Cứu Đa Chiều Và Tính Liên Ngành Của Dân Số Học</a:t>
            </a:r>
          </a:p>
        </p:txBody>
      </p:sp>
      <p:grpSp>
        <p:nvGrpSpPr>
          <p:cNvPr id="12" name="!!Stage_Hero_Container!!">
            <a:extLst>
              <a:ext uri="{FF2B5EF4-FFF2-40B4-BE49-F238E27FC236}">
                <a16:creationId xmlns:a16="http://schemas.microsoft.com/office/drawing/2014/main" id="{7D9354CF-836E-320E-637A-22B327445C35}"/>
              </a:ext>
            </a:extLst>
          </p:cNvPr>
          <p:cNvGrpSpPr/>
          <p:nvPr/>
        </p:nvGrpSpPr>
        <p:grpSpPr>
          <a:xfrm>
            <a:off x="609600" y="1676400"/>
            <a:ext cx="5376672" cy="4521200"/>
            <a:chOff x="609600" y="1676400"/>
            <a:chExt cx="5376672" cy="4521200"/>
          </a:xfrm>
        </p:grpSpPr>
        <p:pic>
          <p:nvPicPr>
            <p:cNvPr id="6" name="Picture 5">
              <a:extLst>
                <a:ext uri="{FF2B5EF4-FFF2-40B4-BE49-F238E27FC236}">
                  <a16:creationId xmlns:a16="http://schemas.microsoft.com/office/drawing/2014/main" id="{C5FF072A-D207-0467-B369-956E00C4CF5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676400"/>
              <a:ext cx="5376672" cy="3001010"/>
            </a:xfrm>
            <a:prstGeom prst="roundRect">
              <a:avLst/>
            </a:prstGeom>
            <a:ln w="12700">
              <a:solidFill>
                <a:srgbClr val="CBD5E1"/>
              </a:solidFill>
            </a:ln>
          </p:spPr>
        </p:pic>
        <p:sp>
          <p:nvSpPr>
            <p:cNvPr id="7" name="Rectangle: Rounded Corners 6">
              <a:extLst>
                <a:ext uri="{FF2B5EF4-FFF2-40B4-BE49-F238E27FC236}">
                  <a16:creationId xmlns:a16="http://schemas.microsoft.com/office/drawing/2014/main" id="{C4B28398-568E-CC86-3E91-BBBC345AAD19}"/>
                </a:ext>
              </a:extLst>
            </p:cNvPr>
            <p:cNvSpPr/>
            <p:nvPr/>
          </p:nvSpPr>
          <p:spPr>
            <a:xfrm>
              <a:off x="609600" y="4829810"/>
              <a:ext cx="5376672" cy="1367790"/>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B71A947-914D-4917-46F5-5385146F6037}"/>
                </a:ext>
              </a:extLst>
            </p:cNvPr>
            <p:cNvSpPr/>
            <p:nvPr/>
          </p:nvSpPr>
          <p:spPr>
            <a:xfrm>
              <a:off x="787400" y="5007610"/>
              <a:ext cx="355600" cy="3556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CB945F1B-07E7-78BB-C123-579686598AFC}"/>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50900" y="5071110"/>
              <a:ext cx="228600" cy="228600"/>
            </a:xfrm>
            <a:prstGeom prst="rect">
              <a:avLst/>
            </a:prstGeom>
          </p:spPr>
        </p:pic>
        <p:sp>
          <p:nvSpPr>
            <p:cNvPr id="11" name="TextBox 10">
              <a:extLst>
                <a:ext uri="{FF2B5EF4-FFF2-40B4-BE49-F238E27FC236}">
                  <a16:creationId xmlns:a16="http://schemas.microsoft.com/office/drawing/2014/main" id="{BBAC249E-221A-37A4-B298-7FFC2793A2B1}"/>
                </a:ext>
              </a:extLst>
            </p:cNvPr>
            <p:cNvSpPr txBox="1"/>
            <p:nvPr/>
          </p:nvSpPr>
          <p:spPr>
            <a:xfrm>
              <a:off x="1219200" y="4956810"/>
              <a:ext cx="4640072" cy="728020"/>
            </a:xfrm>
            <a:prstGeom prst="rect">
              <a:avLst/>
            </a:prstGeom>
            <a:noFill/>
          </p:spPr>
          <p:txBody>
            <a:bodyPr vert="horz" wrap="square" lIns="0" tIns="0" rtlCol="0">
              <a:spAutoFit/>
            </a:bodyPr>
            <a:lstStyle/>
            <a:p>
              <a:pPr>
                <a:lnSpc>
                  <a:spcPct val="120000"/>
                </a:lnSpc>
                <a:spcAft>
                  <a:spcPts val="300"/>
                </a:spcAft>
              </a:pPr>
              <a:r>
                <a:rPr lang="en-US" sz="1100" b="1">
                  <a:solidFill>
                    <a:srgbClr val="0284C7"/>
                  </a:solidFill>
                  <a:latin typeface="Segoe UI" panose="020B0502040204020203" pitchFamily="34" charset="0"/>
                </a:rPr>
                <a:t>THÔNG ĐIỆP CỐT LÕI
</a:t>
              </a:r>
              <a:r>
                <a:rPr lang="en-US" sz="1250" b="1">
                  <a:solidFill>
                    <a:srgbClr val="0F172A"/>
                  </a:solidFill>
                  <a:latin typeface="Segoe UI" panose="020B0502040204020203" pitchFamily="34" charset="0"/>
                </a:rPr>
                <a:t>Dân số học nằm ở giao lộ của nhiều ngành khoa học từ toán học thống kê, y học xã hội đến kinh tế học và xã hội học.</a:t>
              </a:r>
            </a:p>
          </p:txBody>
        </p:sp>
      </p:grpSp>
      <p:grpSp>
        <p:nvGrpSpPr>
          <p:cNvPr id="18" name="!!Stage_Sub_Card_1!!">
            <a:extLst>
              <a:ext uri="{FF2B5EF4-FFF2-40B4-BE49-F238E27FC236}">
                <a16:creationId xmlns:a16="http://schemas.microsoft.com/office/drawing/2014/main" id="{9C4D2EB5-19EA-A720-92FF-DC88E69C218F}"/>
              </a:ext>
            </a:extLst>
          </p:cNvPr>
          <p:cNvGrpSpPr/>
          <p:nvPr/>
        </p:nvGrpSpPr>
        <p:grpSpPr>
          <a:xfrm>
            <a:off x="6214872" y="1676400"/>
            <a:ext cx="5367528" cy="1405467"/>
            <a:chOff x="6214872" y="1676400"/>
            <a:chExt cx="5367528" cy="1405467"/>
          </a:xfrm>
        </p:grpSpPr>
        <p:sp>
          <p:nvSpPr>
            <p:cNvPr id="13" name="Rectangle: Rounded Corners 12">
              <a:extLst>
                <a:ext uri="{FF2B5EF4-FFF2-40B4-BE49-F238E27FC236}">
                  <a16:creationId xmlns:a16="http://schemas.microsoft.com/office/drawing/2014/main" id="{3C208314-EE89-1F5A-D2C3-32A927D42D0A}"/>
                </a:ext>
              </a:extLst>
            </p:cNvPr>
            <p:cNvSpPr/>
            <p:nvPr/>
          </p:nvSpPr>
          <p:spPr>
            <a:xfrm>
              <a:off x="6214872" y="1676400"/>
              <a:ext cx="5367528" cy="1405467"/>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7AA6915-0E7A-D0D0-678D-209A085F8E91}"/>
                </a:ext>
              </a:extLst>
            </p:cNvPr>
            <p:cNvSpPr/>
            <p:nvPr/>
          </p:nvSpPr>
          <p:spPr>
            <a:xfrm>
              <a:off x="6392672"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147B38CB-77DF-FB6E-3B8E-6A07D944ECA6}"/>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56172" y="1917700"/>
              <a:ext cx="254000" cy="254000"/>
            </a:xfrm>
            <a:prstGeom prst="rect">
              <a:avLst/>
            </a:prstGeom>
          </p:spPr>
        </p:pic>
        <p:sp>
          <p:nvSpPr>
            <p:cNvPr id="17" name="TextBox 16">
              <a:extLst>
                <a:ext uri="{FF2B5EF4-FFF2-40B4-BE49-F238E27FC236}">
                  <a16:creationId xmlns:a16="http://schemas.microsoft.com/office/drawing/2014/main" id="{4B1E6CE1-C3F5-F212-DAAB-CEF11D95172A}"/>
                </a:ext>
              </a:extLst>
            </p:cNvPr>
            <p:cNvSpPr txBox="1"/>
            <p:nvPr/>
          </p:nvSpPr>
          <p:spPr>
            <a:xfrm>
              <a:off x="6875272" y="1803400"/>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Dân Số Học Hình Thức (Formal Demography)
</a:t>
              </a:r>
              <a:r>
                <a:rPr lang="vi-VN" sz="1400" b="1">
                  <a:solidFill>
                    <a:srgbClr val="334155"/>
                  </a:solidFill>
                  <a:latin typeface="Segoe UI" panose="020B0502040204020203" pitchFamily="34" charset="0"/>
                </a:rPr>
                <a:t>Nghiên cứu định lượng thuần túy về quy mô, cấu trúc và các mô hình toán học biểu diễn biến động nhân khẩu.</a:t>
              </a:r>
              <a:endParaRPr lang="en-US" sz="1400" b="1">
                <a:solidFill>
                  <a:srgbClr val="334155"/>
                </a:solidFill>
                <a:latin typeface="Segoe UI" panose="020B0502040204020203" pitchFamily="34" charset="0"/>
              </a:endParaRPr>
            </a:p>
          </p:txBody>
        </p:sp>
      </p:grpSp>
      <p:grpSp>
        <p:nvGrpSpPr>
          <p:cNvPr id="24" name="!!Stage_Sub_Card_2!!">
            <a:extLst>
              <a:ext uri="{FF2B5EF4-FFF2-40B4-BE49-F238E27FC236}">
                <a16:creationId xmlns:a16="http://schemas.microsoft.com/office/drawing/2014/main" id="{8C0725E2-7F2D-B428-8575-26EA1169844B}"/>
              </a:ext>
            </a:extLst>
          </p:cNvPr>
          <p:cNvGrpSpPr/>
          <p:nvPr/>
        </p:nvGrpSpPr>
        <p:grpSpPr>
          <a:xfrm>
            <a:off x="6214872" y="3234267"/>
            <a:ext cx="5367528" cy="1405466"/>
            <a:chOff x="6214872" y="3234267"/>
            <a:chExt cx="5367528" cy="1405466"/>
          </a:xfrm>
        </p:grpSpPr>
        <p:sp>
          <p:nvSpPr>
            <p:cNvPr id="19" name="Rectangle: Rounded Corners 18">
              <a:extLst>
                <a:ext uri="{FF2B5EF4-FFF2-40B4-BE49-F238E27FC236}">
                  <a16:creationId xmlns:a16="http://schemas.microsoft.com/office/drawing/2014/main" id="{DAAD18AE-8917-06A0-2FD1-576A79624A94}"/>
                </a:ext>
              </a:extLst>
            </p:cNvPr>
            <p:cNvSpPr/>
            <p:nvPr/>
          </p:nvSpPr>
          <p:spPr>
            <a:xfrm>
              <a:off x="6214872" y="3234267"/>
              <a:ext cx="5367528" cy="1405466"/>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D03010C-7291-FC8D-8075-A07BDA0A2C77}"/>
                </a:ext>
              </a:extLst>
            </p:cNvPr>
            <p:cNvSpPr/>
            <p:nvPr/>
          </p:nvSpPr>
          <p:spPr>
            <a:xfrm>
              <a:off x="6392672" y="3412067"/>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3F9FFD47-DBB4-1103-D1F4-188369214527}"/>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456172" y="3475567"/>
              <a:ext cx="254000" cy="254000"/>
            </a:xfrm>
            <a:prstGeom prst="rect">
              <a:avLst/>
            </a:prstGeom>
          </p:spPr>
        </p:pic>
        <p:sp>
          <p:nvSpPr>
            <p:cNvPr id="23" name="TextBox 22">
              <a:extLst>
                <a:ext uri="{FF2B5EF4-FFF2-40B4-BE49-F238E27FC236}">
                  <a16:creationId xmlns:a16="http://schemas.microsoft.com/office/drawing/2014/main" id="{8E8B5290-7C69-6645-49A0-6F3C592977D4}"/>
                </a:ext>
              </a:extLst>
            </p:cNvPr>
            <p:cNvSpPr txBox="1"/>
            <p:nvPr/>
          </p:nvSpPr>
          <p:spPr>
            <a:xfrm>
              <a:off x="6875272" y="3361267"/>
              <a:ext cx="4580128" cy="774571"/>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Kinh Tế Học Dân Số (Economic Demography)
</a:t>
              </a:r>
              <a:r>
                <a:rPr lang="vi-VN" sz="1400" b="1">
                  <a:solidFill>
                    <a:srgbClr val="334155"/>
                  </a:solidFill>
                  <a:latin typeface="Segoe UI" panose="020B0502040204020203" pitchFamily="34" charset="0"/>
                </a:rPr>
                <a:t>Phân tích tác động của cơ cấu tuổi đến tích lũy vốn, quỹ lương, thị trường lao động và tăng trưởng GDP.</a:t>
              </a:r>
              <a:endParaRPr lang="en-US" sz="1400" b="1">
                <a:solidFill>
                  <a:srgbClr val="334155"/>
                </a:solidFill>
                <a:latin typeface="Segoe UI" panose="020B0502040204020203" pitchFamily="34" charset="0"/>
              </a:endParaRPr>
            </a:p>
          </p:txBody>
        </p:sp>
      </p:grpSp>
      <p:grpSp>
        <p:nvGrpSpPr>
          <p:cNvPr id="30" name="!!Stage_Sub_Card_3!!">
            <a:extLst>
              <a:ext uri="{FF2B5EF4-FFF2-40B4-BE49-F238E27FC236}">
                <a16:creationId xmlns:a16="http://schemas.microsoft.com/office/drawing/2014/main" id="{323936B9-B513-8EDD-8F0A-E172A141C49E}"/>
              </a:ext>
            </a:extLst>
          </p:cNvPr>
          <p:cNvGrpSpPr/>
          <p:nvPr/>
        </p:nvGrpSpPr>
        <p:grpSpPr>
          <a:xfrm>
            <a:off x="6214872" y="4792133"/>
            <a:ext cx="5367528" cy="1405467"/>
            <a:chOff x="6214872" y="4792133"/>
            <a:chExt cx="5367528" cy="1405467"/>
          </a:xfrm>
        </p:grpSpPr>
        <p:sp>
          <p:nvSpPr>
            <p:cNvPr id="25" name="Rectangle: Rounded Corners 24">
              <a:extLst>
                <a:ext uri="{FF2B5EF4-FFF2-40B4-BE49-F238E27FC236}">
                  <a16:creationId xmlns:a16="http://schemas.microsoft.com/office/drawing/2014/main" id="{41BE69B0-8D93-896A-FAD1-C98047439E65}"/>
                </a:ext>
              </a:extLst>
            </p:cNvPr>
            <p:cNvSpPr/>
            <p:nvPr/>
          </p:nvSpPr>
          <p:spPr>
            <a:xfrm>
              <a:off x="6214872" y="4792133"/>
              <a:ext cx="5367528" cy="1405467"/>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DB15D71-0EC1-4942-6112-26D548ACBFA5}"/>
                </a:ext>
              </a:extLst>
            </p:cNvPr>
            <p:cNvSpPr/>
            <p:nvPr/>
          </p:nvSpPr>
          <p:spPr>
            <a:xfrm>
              <a:off x="6392672" y="4969933"/>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a:extLst>
                <a:ext uri="{FF2B5EF4-FFF2-40B4-BE49-F238E27FC236}">
                  <a16:creationId xmlns:a16="http://schemas.microsoft.com/office/drawing/2014/main" id="{79B012EF-B88A-517B-3367-BC78E1DD4ECD}"/>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456172" y="5033433"/>
              <a:ext cx="254000" cy="254000"/>
            </a:xfrm>
            <a:prstGeom prst="rect">
              <a:avLst/>
            </a:prstGeom>
          </p:spPr>
        </p:pic>
        <p:sp>
          <p:nvSpPr>
            <p:cNvPr id="29" name="TextBox 28">
              <a:extLst>
                <a:ext uri="{FF2B5EF4-FFF2-40B4-BE49-F238E27FC236}">
                  <a16:creationId xmlns:a16="http://schemas.microsoft.com/office/drawing/2014/main" id="{D88F55FF-241D-DC9F-9E81-F8F52F1AB488}"/>
                </a:ext>
              </a:extLst>
            </p:cNvPr>
            <p:cNvSpPr txBox="1"/>
            <p:nvPr/>
          </p:nvSpPr>
          <p:spPr>
            <a:xfrm>
              <a:off x="6875272" y="4919133"/>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Xã Hội Học Dân Số (Social Demography)
</a:t>
              </a:r>
              <a:r>
                <a:rPr lang="en-US" sz="1400" b="1">
                  <a:solidFill>
                    <a:srgbClr val="334155"/>
                  </a:solidFill>
                  <a:latin typeface="Segoe UI" panose="020B0502040204020203" pitchFamily="34" charset="0"/>
                </a:rPr>
                <a:t>Nghiên cứu mối quan hệ giữa biến động dân số với gia đình, tôn giáo, bất bình đẳng xã hội và đô thị hóa.</a:t>
              </a:r>
            </a:p>
          </p:txBody>
        </p:sp>
      </p:grpSp>
      <p:sp>
        <p:nvSpPr>
          <p:cNvPr id="31" name="!!Anchor_Source_Footer!!">
            <a:extLst>
              <a:ext uri="{FF2B5EF4-FFF2-40B4-BE49-F238E27FC236}">
                <a16:creationId xmlns:a16="http://schemas.microsoft.com/office/drawing/2014/main" id="{07B61257-628E-F676-339D-60BBEE5103CD}"/>
              </a:ext>
            </a:extLst>
          </p:cNvPr>
          <p:cNvSpPr txBox="1"/>
          <p:nvPr/>
        </p:nvSpPr>
        <p:spPr>
          <a:xfrm>
            <a:off x="609600" y="6273800"/>
            <a:ext cx="10972800" cy="246221"/>
          </a:xfrm>
          <a:prstGeom prst="rect">
            <a:avLst/>
          </a:prstGeom>
          <a:noFill/>
        </p:spPr>
        <p:txBody>
          <a:bodyPr vert="horz" rtlCol="0">
            <a:spAutoFit/>
          </a:bodyPr>
          <a:lstStyle/>
          <a:p>
            <a:r>
              <a:rPr lang="vi-VN" sz="1000">
                <a:solidFill>
                  <a:srgbClr val="334155"/>
                </a:solidFill>
                <a:latin typeface="Segoe UI" panose="020B0502040204020203" pitchFamily="34" charset="0"/>
              </a:rPr>
              <a:t>Khung chương trình đào tạo Dân số học</a:t>
            </a:r>
            <a:endParaRPr lang="en-US" sz="1000">
              <a:solidFill>
                <a:srgbClr val="334155"/>
              </a:solidFill>
              <a:latin typeface="Segoe UI" panose="020B0502040204020203" pitchFamily="34" charset="0"/>
            </a:endParaRPr>
          </a:p>
        </p:txBody>
      </p:sp>
    </p:spTree>
    <p:extLst>
      <p:ext uri="{BB962C8B-B14F-4D97-AF65-F5344CB8AC3E}">
        <p14:creationId xmlns:p14="http://schemas.microsoft.com/office/powerpoint/2010/main" val="5206008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accel="50000" decel="5000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accel="50000" decel="5000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5BB0C99D-DA78-6617-A018-32EE9A058429}"/>
              </a:ext>
            </a:extLst>
          </p:cNvPr>
          <p:cNvSpPr txBox="1"/>
          <p:nvPr/>
        </p:nvSpPr>
        <p:spPr>
          <a:xfrm>
            <a:off x="609600" y="457200"/>
            <a:ext cx="9956800" cy="276999"/>
          </a:xfrm>
          <a:prstGeom prst="rect">
            <a:avLst/>
          </a:prstGeom>
          <a:noFill/>
        </p:spPr>
        <p:txBody>
          <a:bodyPr vert="horz" rtlCol="0">
            <a:spAutoFit/>
          </a:bodyPr>
          <a:lstStyle/>
          <a:p>
            <a:r>
              <a:rPr lang="vi-VN" sz="1200" b="1">
                <a:solidFill>
                  <a:srgbClr val="0284C7"/>
                </a:solidFill>
                <a:latin typeface="Segoe UI" panose="020B0502040204020203" pitchFamily="34" charset="0"/>
              </a:rPr>
              <a:t>PHƯƠNG PHÁP NGHIÊN CỨU  •  TRỌNG TÂM</a:t>
            </a:r>
            <a:endParaRPr lang="en-US" sz="1200" b="1">
              <a:solidFill>
                <a:srgbClr val="0284C7"/>
              </a:solidFill>
              <a:latin typeface="Segoe UI" panose="020B0502040204020203" pitchFamily="34" charset="0"/>
            </a:endParaRPr>
          </a:p>
        </p:txBody>
      </p:sp>
      <p:sp>
        <p:nvSpPr>
          <p:cNvPr id="3" name="!!Anchor_Slide_Tracker!!">
            <a:extLst>
              <a:ext uri="{FF2B5EF4-FFF2-40B4-BE49-F238E27FC236}">
                <a16:creationId xmlns:a16="http://schemas.microsoft.com/office/drawing/2014/main" id="{97DA5AF8-9BF2-6178-7890-E854F17F4B35}"/>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09 / 14</a:t>
            </a:r>
          </a:p>
        </p:txBody>
      </p:sp>
      <p:sp>
        <p:nvSpPr>
          <p:cNvPr id="4" name="!!Anchor_Assertion_Title!!">
            <a:extLst>
              <a:ext uri="{FF2B5EF4-FFF2-40B4-BE49-F238E27FC236}">
                <a16:creationId xmlns:a16="http://schemas.microsoft.com/office/drawing/2014/main" id="{BE10AA99-AE93-8815-FD9C-820BFE7643ED}"/>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Bốn Bước Phương Pháp Luận Chuẩn Mực Trong Nghiên Cứu Dân Số Học</a:t>
            </a:r>
            <a:endParaRPr lang="en-US" sz="2400" b="1">
              <a:solidFill>
                <a:srgbClr val="0F172A"/>
              </a:solidFill>
              <a:latin typeface="Segoe UI" panose="020B0502040204020203" pitchFamily="34" charset="0"/>
            </a:endParaRPr>
          </a:p>
        </p:txBody>
      </p:sp>
      <p:grpSp>
        <p:nvGrpSpPr>
          <p:cNvPr id="10" name="!!Stage_Hero_Container!!">
            <a:extLst>
              <a:ext uri="{FF2B5EF4-FFF2-40B4-BE49-F238E27FC236}">
                <a16:creationId xmlns:a16="http://schemas.microsoft.com/office/drawing/2014/main" id="{43A32882-E4C9-10BE-71F2-05B7FE2AF63B}"/>
              </a:ext>
            </a:extLst>
          </p:cNvPr>
          <p:cNvGrpSpPr/>
          <p:nvPr/>
        </p:nvGrpSpPr>
        <p:grpSpPr>
          <a:xfrm>
            <a:off x="609600" y="1676400"/>
            <a:ext cx="2609850" cy="4521200"/>
            <a:chOff x="609600" y="1676400"/>
            <a:chExt cx="2609850" cy="4521200"/>
          </a:xfrm>
        </p:grpSpPr>
        <p:sp>
          <p:nvSpPr>
            <p:cNvPr id="5" name="Rectangle: Rounded Corners 4">
              <a:extLst>
                <a:ext uri="{FF2B5EF4-FFF2-40B4-BE49-F238E27FC236}">
                  <a16:creationId xmlns:a16="http://schemas.microsoft.com/office/drawing/2014/main" id="{124F8DAB-483B-354A-39A9-EFBC0BA1AB4C}"/>
                </a:ext>
              </a:extLst>
            </p:cNvPr>
            <p:cNvSpPr/>
            <p:nvPr/>
          </p:nvSpPr>
          <p:spPr>
            <a:xfrm>
              <a:off x="609600" y="1676400"/>
              <a:ext cx="2609850"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09D6B50-457F-1004-6774-D98E97AB9ACB}"/>
                </a:ext>
              </a:extLst>
            </p:cNvPr>
            <p:cNvSpPr/>
            <p:nvPr/>
          </p:nvSpPr>
          <p:spPr>
            <a:xfrm>
              <a:off x="81280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0F172A"/>
                  </a:solidFill>
                  <a:latin typeface="Bahnschrift" panose="020B0502040204020203" pitchFamily="34" charset="0"/>
                </a:rPr>
                <a:t>01</a:t>
              </a:r>
            </a:p>
          </p:txBody>
        </p:sp>
        <p:pic>
          <p:nvPicPr>
            <p:cNvPr id="8" name="Graphic 7">
              <a:extLst>
                <a:ext uri="{FF2B5EF4-FFF2-40B4-BE49-F238E27FC236}">
                  <a16:creationId xmlns:a16="http://schemas.microsoft.com/office/drawing/2014/main" id="{B22EA46E-DD14-C336-1D31-234027E3C6B6}"/>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2736850" y="1879600"/>
              <a:ext cx="279400" cy="279400"/>
            </a:xfrm>
            <a:prstGeom prst="rect">
              <a:avLst/>
            </a:prstGeom>
          </p:spPr>
        </p:pic>
        <p:sp>
          <p:nvSpPr>
            <p:cNvPr id="9" name="TextBox 8">
              <a:extLst>
                <a:ext uri="{FF2B5EF4-FFF2-40B4-BE49-F238E27FC236}">
                  <a16:creationId xmlns:a16="http://schemas.microsoft.com/office/drawing/2014/main" id="{45797DEB-90B3-B581-480C-6BD58E61ECD3}"/>
                </a:ext>
              </a:extLst>
            </p:cNvPr>
            <p:cNvSpPr txBox="1"/>
            <p:nvPr/>
          </p:nvSpPr>
          <p:spPr>
            <a:xfrm>
              <a:off x="812800" y="2336800"/>
              <a:ext cx="2203450" cy="2077492"/>
            </a:xfrm>
            <a:prstGeom prst="rect">
              <a:avLst/>
            </a:prstGeom>
            <a:noFill/>
          </p:spPr>
          <p:txBody>
            <a:bodyPr vert="horz" wrap="square" lIns="0" rtlCol="0">
              <a:spAutoFit/>
            </a:bodyPr>
            <a:lstStyle/>
            <a:p>
              <a:pPr>
                <a:spcAft>
                  <a:spcPts val="600"/>
                </a:spcAft>
              </a:pPr>
              <a:r>
                <a:rPr lang="en-US" sz="1700" b="1">
                  <a:solidFill>
                    <a:srgbClr val="0F172A"/>
                  </a:solidFill>
                  <a:latin typeface="Segoe UI" panose="020B0502040204020203" pitchFamily="34" charset="0"/>
                </a:rPr>
                <a:t>1. Thu Thập Dữ Liệu Nguồn
</a:t>
              </a:r>
              <a:r>
                <a:rPr lang="en-US" sz="1500" b="1">
                  <a:solidFill>
                    <a:srgbClr val="334155"/>
                  </a:solidFill>
                  <a:latin typeface="Segoe UI" panose="020B0502040204020203" pitchFamily="34" charset="0"/>
                </a:rPr>
                <a:t>Tiến hành Tổng điều tra dân số định kỳ 10 năm, điều tra biến động dân số hàng năm và thu thập số liệu đăng ký hộ tịch.</a:t>
              </a:r>
            </a:p>
          </p:txBody>
        </p:sp>
      </p:grpSp>
      <p:grpSp>
        <p:nvGrpSpPr>
          <p:cNvPr id="16" name="!!Stage_Sub_Card_1!!">
            <a:extLst>
              <a:ext uri="{FF2B5EF4-FFF2-40B4-BE49-F238E27FC236}">
                <a16:creationId xmlns:a16="http://schemas.microsoft.com/office/drawing/2014/main" id="{AA414CCB-3E66-4607-3B38-A902C154166D}"/>
              </a:ext>
            </a:extLst>
          </p:cNvPr>
          <p:cNvGrpSpPr/>
          <p:nvPr/>
        </p:nvGrpSpPr>
        <p:grpSpPr>
          <a:xfrm>
            <a:off x="3397250" y="1676400"/>
            <a:ext cx="2609850" cy="4521200"/>
            <a:chOff x="3397250" y="1676400"/>
            <a:chExt cx="2609850" cy="4521200"/>
          </a:xfrm>
        </p:grpSpPr>
        <p:sp>
          <p:nvSpPr>
            <p:cNvPr id="11" name="Rectangle: Rounded Corners 10">
              <a:extLst>
                <a:ext uri="{FF2B5EF4-FFF2-40B4-BE49-F238E27FC236}">
                  <a16:creationId xmlns:a16="http://schemas.microsoft.com/office/drawing/2014/main" id="{2CC91B47-7FDB-69D0-C4C8-04EC91719B7D}"/>
                </a:ext>
              </a:extLst>
            </p:cNvPr>
            <p:cNvSpPr/>
            <p:nvPr/>
          </p:nvSpPr>
          <p:spPr>
            <a:xfrm>
              <a:off x="3397250" y="1676400"/>
              <a:ext cx="2609850"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B8491-7AF9-6A38-6734-D2AE53E3A505}"/>
                </a:ext>
              </a:extLst>
            </p:cNvPr>
            <p:cNvSpPr/>
            <p:nvPr/>
          </p:nvSpPr>
          <p:spPr>
            <a:xfrm>
              <a:off x="360045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0F172A"/>
                  </a:solidFill>
                  <a:latin typeface="Bahnschrift" panose="020B0502040204020203" pitchFamily="34" charset="0"/>
                </a:rPr>
                <a:t>02</a:t>
              </a:r>
            </a:p>
          </p:txBody>
        </p:sp>
        <p:pic>
          <p:nvPicPr>
            <p:cNvPr id="14" name="Graphic 13">
              <a:extLst>
                <a:ext uri="{FF2B5EF4-FFF2-40B4-BE49-F238E27FC236}">
                  <a16:creationId xmlns:a16="http://schemas.microsoft.com/office/drawing/2014/main" id="{5B81AED1-18F2-FC08-362A-45F8C24329E5}"/>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5524500" y="1879600"/>
              <a:ext cx="279400" cy="279400"/>
            </a:xfrm>
            <a:prstGeom prst="rect">
              <a:avLst/>
            </a:prstGeom>
          </p:spPr>
        </p:pic>
        <p:sp>
          <p:nvSpPr>
            <p:cNvPr id="15" name="TextBox 14">
              <a:extLst>
                <a:ext uri="{FF2B5EF4-FFF2-40B4-BE49-F238E27FC236}">
                  <a16:creationId xmlns:a16="http://schemas.microsoft.com/office/drawing/2014/main" id="{73685F24-47AB-FD41-F598-6893F0007E58}"/>
                </a:ext>
              </a:extLst>
            </p:cNvPr>
            <p:cNvSpPr txBox="1"/>
            <p:nvPr/>
          </p:nvSpPr>
          <p:spPr>
            <a:xfrm>
              <a:off x="3600450" y="2336800"/>
              <a:ext cx="2203450" cy="1846659"/>
            </a:xfrm>
            <a:prstGeom prst="rect">
              <a:avLst/>
            </a:prstGeom>
            <a:noFill/>
          </p:spPr>
          <p:txBody>
            <a:bodyPr vert="horz" wrap="square" lIns="0" rtlCol="0">
              <a:spAutoFit/>
            </a:bodyPr>
            <a:lstStyle/>
            <a:p>
              <a:pPr>
                <a:spcAft>
                  <a:spcPts val="600"/>
                </a:spcAft>
              </a:pPr>
              <a:r>
                <a:rPr lang="vi-VN" sz="1700" b="1">
                  <a:solidFill>
                    <a:srgbClr val="0F172A"/>
                  </a:solidFill>
                  <a:latin typeface="Segoe UI" panose="020B0502040204020203" pitchFamily="34" charset="0"/>
                </a:rPr>
                <a:t>2. Đo Lường Thống Kê Chuẩn
</a:t>
              </a:r>
              <a:r>
                <a:rPr lang="vi-VN" sz="1500" b="1">
                  <a:solidFill>
                    <a:srgbClr val="334155"/>
                  </a:solidFill>
                  <a:latin typeface="Segoe UI" panose="020B0502040204020203" pitchFamily="34" charset="0"/>
                </a:rPr>
                <a:t>Tính toán các tỷ suất thô, tỷ suất đặc trưng theo tuổi, tỷ số phụ thuộc và xây dựng tháp tuổi - giới tính.</a:t>
              </a:r>
              <a:endParaRPr lang="en-US" sz="1500" b="1">
                <a:solidFill>
                  <a:srgbClr val="334155"/>
                </a:solidFill>
                <a:latin typeface="Segoe UI" panose="020B0502040204020203" pitchFamily="34" charset="0"/>
              </a:endParaRPr>
            </a:p>
          </p:txBody>
        </p:sp>
      </p:grpSp>
      <p:grpSp>
        <p:nvGrpSpPr>
          <p:cNvPr id="22" name="!!Stage_Sub_Card_2!!">
            <a:extLst>
              <a:ext uri="{FF2B5EF4-FFF2-40B4-BE49-F238E27FC236}">
                <a16:creationId xmlns:a16="http://schemas.microsoft.com/office/drawing/2014/main" id="{7136451D-2455-C172-A1B0-6D9B85C8C338}"/>
              </a:ext>
            </a:extLst>
          </p:cNvPr>
          <p:cNvGrpSpPr/>
          <p:nvPr/>
        </p:nvGrpSpPr>
        <p:grpSpPr>
          <a:xfrm>
            <a:off x="6184900" y="1676400"/>
            <a:ext cx="2609850" cy="4521200"/>
            <a:chOff x="6184900" y="1676400"/>
            <a:chExt cx="2609850" cy="4521200"/>
          </a:xfrm>
        </p:grpSpPr>
        <p:sp>
          <p:nvSpPr>
            <p:cNvPr id="17" name="Rectangle: Rounded Corners 16">
              <a:extLst>
                <a:ext uri="{FF2B5EF4-FFF2-40B4-BE49-F238E27FC236}">
                  <a16:creationId xmlns:a16="http://schemas.microsoft.com/office/drawing/2014/main" id="{B04209D4-78D8-72DF-04C6-A9FBA83E56AF}"/>
                </a:ext>
              </a:extLst>
            </p:cNvPr>
            <p:cNvSpPr/>
            <p:nvPr/>
          </p:nvSpPr>
          <p:spPr>
            <a:xfrm>
              <a:off x="6184900" y="1676400"/>
              <a:ext cx="2609850"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7D4196B-0150-2504-D3E1-047E1A7E1259}"/>
                </a:ext>
              </a:extLst>
            </p:cNvPr>
            <p:cNvSpPr/>
            <p:nvPr/>
          </p:nvSpPr>
          <p:spPr>
            <a:xfrm>
              <a:off x="638810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0F172A"/>
                  </a:solidFill>
                  <a:latin typeface="Bahnschrift" panose="020B0502040204020203" pitchFamily="34" charset="0"/>
                </a:rPr>
                <a:t>03</a:t>
              </a:r>
            </a:p>
          </p:txBody>
        </p:sp>
        <p:pic>
          <p:nvPicPr>
            <p:cNvPr id="20" name="Graphic 19">
              <a:extLst>
                <a:ext uri="{FF2B5EF4-FFF2-40B4-BE49-F238E27FC236}">
                  <a16:creationId xmlns:a16="http://schemas.microsoft.com/office/drawing/2014/main" id="{385402B2-E6B2-30BF-0218-0F8352CD6C53}"/>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12150" y="1879600"/>
              <a:ext cx="279400" cy="279400"/>
            </a:xfrm>
            <a:prstGeom prst="rect">
              <a:avLst/>
            </a:prstGeom>
          </p:spPr>
        </p:pic>
        <p:sp>
          <p:nvSpPr>
            <p:cNvPr id="21" name="TextBox 20">
              <a:extLst>
                <a:ext uri="{FF2B5EF4-FFF2-40B4-BE49-F238E27FC236}">
                  <a16:creationId xmlns:a16="http://schemas.microsoft.com/office/drawing/2014/main" id="{937F4F7B-735A-D990-8E1C-992FF5F56FA5}"/>
                </a:ext>
              </a:extLst>
            </p:cNvPr>
            <p:cNvSpPr txBox="1"/>
            <p:nvPr/>
          </p:nvSpPr>
          <p:spPr>
            <a:xfrm>
              <a:off x="6388100" y="2336800"/>
              <a:ext cx="2203450" cy="1846659"/>
            </a:xfrm>
            <a:prstGeom prst="rect">
              <a:avLst/>
            </a:prstGeom>
            <a:noFill/>
          </p:spPr>
          <p:txBody>
            <a:bodyPr vert="horz" wrap="square" lIns="0" rtlCol="0">
              <a:spAutoFit/>
            </a:bodyPr>
            <a:lstStyle/>
            <a:p>
              <a:pPr>
                <a:spcAft>
                  <a:spcPts val="600"/>
                </a:spcAft>
              </a:pPr>
              <a:r>
                <a:rPr lang="vi-VN" sz="1700" b="1">
                  <a:solidFill>
                    <a:srgbClr val="0F172A"/>
                  </a:solidFill>
                  <a:latin typeface="Segoe UI" panose="020B0502040204020203" pitchFamily="34" charset="0"/>
                </a:rPr>
                <a:t>3. Phân Tích Cơ Chế Nhân Quả
</a:t>
              </a:r>
              <a:r>
                <a:rPr lang="vi-VN" sz="1500" b="1">
                  <a:solidFill>
                    <a:srgbClr val="334155"/>
                  </a:solidFill>
                  <a:latin typeface="Segoe UI" panose="020B0502040204020203" pitchFamily="34" charset="0"/>
                </a:rPr>
                <a:t>Khảo sát các yếu tố kinh tế, văn hóa, chính sách y tế chi phối đến hành vi sinh sản, tử vong và di cư.</a:t>
              </a:r>
              <a:endParaRPr lang="en-US" sz="1500" b="1">
                <a:solidFill>
                  <a:srgbClr val="334155"/>
                </a:solidFill>
                <a:latin typeface="Segoe UI" panose="020B0502040204020203" pitchFamily="34" charset="0"/>
              </a:endParaRPr>
            </a:p>
          </p:txBody>
        </p:sp>
      </p:grpSp>
      <p:grpSp>
        <p:nvGrpSpPr>
          <p:cNvPr id="28" name="!!Stage_Sub_Card_3!!">
            <a:extLst>
              <a:ext uri="{FF2B5EF4-FFF2-40B4-BE49-F238E27FC236}">
                <a16:creationId xmlns:a16="http://schemas.microsoft.com/office/drawing/2014/main" id="{359E10ED-43E3-CBBB-CE6D-73452972231D}"/>
              </a:ext>
            </a:extLst>
          </p:cNvPr>
          <p:cNvGrpSpPr/>
          <p:nvPr/>
        </p:nvGrpSpPr>
        <p:grpSpPr>
          <a:xfrm>
            <a:off x="8972550" y="1676400"/>
            <a:ext cx="2609850" cy="4521200"/>
            <a:chOff x="8972550" y="1676400"/>
            <a:chExt cx="2609850" cy="4521200"/>
          </a:xfrm>
        </p:grpSpPr>
        <p:sp>
          <p:nvSpPr>
            <p:cNvPr id="23" name="Rectangle: Rounded Corners 22">
              <a:extLst>
                <a:ext uri="{FF2B5EF4-FFF2-40B4-BE49-F238E27FC236}">
                  <a16:creationId xmlns:a16="http://schemas.microsoft.com/office/drawing/2014/main" id="{10F9CC3D-0072-5465-E7FF-A43F60D0BCBA}"/>
                </a:ext>
              </a:extLst>
            </p:cNvPr>
            <p:cNvSpPr/>
            <p:nvPr/>
          </p:nvSpPr>
          <p:spPr>
            <a:xfrm>
              <a:off x="8972550" y="1676400"/>
              <a:ext cx="2609850"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08A5B07-330C-2CB1-D6F4-53D37FEE648C}"/>
                </a:ext>
              </a:extLst>
            </p:cNvPr>
            <p:cNvSpPr/>
            <p:nvPr/>
          </p:nvSpPr>
          <p:spPr>
            <a:xfrm>
              <a:off x="917575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0F172A"/>
                  </a:solidFill>
                  <a:latin typeface="Bahnschrift" panose="020B0502040204020203" pitchFamily="34" charset="0"/>
                </a:rPr>
                <a:t>04</a:t>
              </a:r>
            </a:p>
          </p:txBody>
        </p:sp>
        <p:pic>
          <p:nvPicPr>
            <p:cNvPr id="26" name="Graphic 25">
              <a:extLst>
                <a:ext uri="{FF2B5EF4-FFF2-40B4-BE49-F238E27FC236}">
                  <a16:creationId xmlns:a16="http://schemas.microsoft.com/office/drawing/2014/main" id="{B65E3319-39AA-7E9B-CFAB-648E1EF4755A}"/>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1099800" y="1879600"/>
              <a:ext cx="279400" cy="279400"/>
            </a:xfrm>
            <a:prstGeom prst="rect">
              <a:avLst/>
            </a:prstGeom>
          </p:spPr>
        </p:pic>
        <p:sp>
          <p:nvSpPr>
            <p:cNvPr id="27" name="TextBox 26">
              <a:extLst>
                <a:ext uri="{FF2B5EF4-FFF2-40B4-BE49-F238E27FC236}">
                  <a16:creationId xmlns:a16="http://schemas.microsoft.com/office/drawing/2014/main" id="{AB604DDA-796C-3220-62FF-A0A2F24D0913}"/>
                </a:ext>
              </a:extLst>
            </p:cNvPr>
            <p:cNvSpPr txBox="1"/>
            <p:nvPr/>
          </p:nvSpPr>
          <p:spPr>
            <a:xfrm>
              <a:off x="9175750" y="2336800"/>
              <a:ext cx="2203450" cy="2077492"/>
            </a:xfrm>
            <a:prstGeom prst="rect">
              <a:avLst/>
            </a:prstGeom>
            <a:noFill/>
          </p:spPr>
          <p:txBody>
            <a:bodyPr vert="horz" wrap="square" lIns="0" rtlCol="0">
              <a:spAutoFit/>
            </a:bodyPr>
            <a:lstStyle/>
            <a:p>
              <a:pPr>
                <a:spcAft>
                  <a:spcPts val="600"/>
                </a:spcAft>
              </a:pPr>
              <a:r>
                <a:rPr lang="en-US" sz="1700" b="1">
                  <a:solidFill>
                    <a:srgbClr val="0F172A"/>
                  </a:solidFill>
                  <a:latin typeface="Segoe UI" panose="020B0502040204020203" pitchFamily="34" charset="0"/>
                </a:rPr>
                <a:t>4. Mô Hình Hóa &amp; Dự Báo
</a:t>
              </a:r>
              <a:r>
                <a:rPr lang="vi-VN" sz="1500" b="1">
                  <a:solidFill>
                    <a:srgbClr val="334155"/>
                  </a:solidFill>
                  <a:latin typeface="Segoe UI" panose="020B0502040204020203" pitchFamily="34" charset="0"/>
                </a:rPr>
                <a:t>Ứng dụng phương pháp thành phần nhân khẩu (Cohort Component) để xây dựng các kịch bản dự báo dân số tương lai.</a:t>
              </a:r>
              <a:endParaRPr lang="en-US" sz="1500" b="1">
                <a:solidFill>
                  <a:srgbClr val="334155"/>
                </a:solidFill>
                <a:latin typeface="Segoe UI" panose="020B0502040204020203" pitchFamily="34" charset="0"/>
              </a:endParaRPr>
            </a:p>
          </p:txBody>
        </p:sp>
      </p:grpSp>
      <p:sp>
        <p:nvSpPr>
          <p:cNvPr id="29" name="!!Anchor_Source_Footer!!">
            <a:extLst>
              <a:ext uri="{FF2B5EF4-FFF2-40B4-BE49-F238E27FC236}">
                <a16:creationId xmlns:a16="http://schemas.microsoft.com/office/drawing/2014/main" id="{BE645885-CF22-61FE-D8DE-02728C6A3C07}"/>
              </a:ext>
            </a:extLst>
          </p:cNvPr>
          <p:cNvSpPr txBox="1"/>
          <p:nvPr/>
        </p:nvSpPr>
        <p:spPr>
          <a:xfrm>
            <a:off x="609600" y="6273800"/>
            <a:ext cx="10972800" cy="246221"/>
          </a:xfrm>
          <a:prstGeom prst="rect">
            <a:avLst/>
          </a:prstGeom>
          <a:noFill/>
        </p:spPr>
        <p:txBody>
          <a:bodyPr vert="horz" rtlCol="0">
            <a:spAutoFit/>
          </a:bodyPr>
          <a:lstStyle/>
          <a:p>
            <a:r>
              <a:rPr lang="vi-VN" sz="1000">
                <a:solidFill>
                  <a:srgbClr val="334155"/>
                </a:solidFill>
                <a:latin typeface="Segoe UI" panose="020B0502040204020203" pitchFamily="34" charset="0"/>
              </a:rPr>
              <a:t>Giáo trình Phương pháp nghiên cứu Dân số</a:t>
            </a:r>
            <a:endParaRPr lang="en-US" sz="1000">
              <a:solidFill>
                <a:srgbClr val="334155"/>
              </a:solidFill>
              <a:latin typeface="Segoe UI" panose="020B0502040204020203" pitchFamily="34" charset="0"/>
            </a:endParaRPr>
          </a:p>
        </p:txBody>
      </p:sp>
    </p:spTree>
    <p:extLst>
      <p:ext uri="{BB962C8B-B14F-4D97-AF65-F5344CB8AC3E}">
        <p14:creationId xmlns:p14="http://schemas.microsoft.com/office/powerpoint/2010/main" val="21324213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50000" decel="5000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accel="50000" decel="5000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accel="50000" decel="5000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fill="hold"/>
                                        <p:tgtEl>
                                          <p:spTgt spid="28"/>
                                        </p:tgtEl>
                                        <p:attrNameLst>
                                          <p:attrName>ppt_x</p:attrName>
                                        </p:attrNameLst>
                                      </p:cBhvr>
                                      <p:tavLst>
                                        <p:tav tm="0">
                                          <p:val>
                                            <p:strVal val="#ppt_x"/>
                                          </p:val>
                                        </p:tav>
                                        <p:tav tm="100000">
                                          <p:val>
                                            <p:strVal val="#ppt_x"/>
                                          </p:val>
                                        </p:tav>
                                      </p:tavLst>
                                    </p:anim>
                                    <p:anim calcmode="lin" valueType="num">
                                      <p:cBhvr additive="base">
                                        <p:cTn id="20" dur="500" fill="hold"/>
                                        <p:tgtEl>
                                          <p:spTgt spid="2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E0CD76FB-AA75-E2CC-567F-F849C35640B0}"/>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Ý NGHĨA HOẠCH ĐỊNH  •  TRỌNG TÂM</a:t>
            </a:r>
          </a:p>
        </p:txBody>
      </p:sp>
      <p:sp>
        <p:nvSpPr>
          <p:cNvPr id="3" name="!!Anchor_Slide_Tracker!!">
            <a:extLst>
              <a:ext uri="{FF2B5EF4-FFF2-40B4-BE49-F238E27FC236}">
                <a16:creationId xmlns:a16="http://schemas.microsoft.com/office/drawing/2014/main" id="{AE009E46-FA94-1023-872F-D7BB921074A2}"/>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10 / 14</a:t>
            </a:r>
          </a:p>
        </p:txBody>
      </p:sp>
      <p:sp>
        <p:nvSpPr>
          <p:cNvPr id="4" name="!!Anchor_Assertion_Title!!">
            <a:extLst>
              <a:ext uri="{FF2B5EF4-FFF2-40B4-BE49-F238E27FC236}">
                <a16:creationId xmlns:a16="http://schemas.microsoft.com/office/drawing/2014/main" id="{8AFD1398-F51C-99A0-8F63-CB32C3583BBA}"/>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Mối Quan Hệ Biện Chứng Giữa Dân Số Và Chiến Lược Phát Triển Đất Nước</a:t>
            </a:r>
            <a:endParaRPr lang="en-US" sz="2400" b="1">
              <a:solidFill>
                <a:srgbClr val="0F172A"/>
              </a:solidFill>
              <a:latin typeface="Segoe UI" panose="020B0502040204020203" pitchFamily="34" charset="0"/>
            </a:endParaRPr>
          </a:p>
        </p:txBody>
      </p:sp>
      <p:grpSp>
        <p:nvGrpSpPr>
          <p:cNvPr id="12" name="!!Stage_Hero_Container!!">
            <a:extLst>
              <a:ext uri="{FF2B5EF4-FFF2-40B4-BE49-F238E27FC236}">
                <a16:creationId xmlns:a16="http://schemas.microsoft.com/office/drawing/2014/main" id="{535A761E-5C8C-ABC5-B0AD-D32F5798EE53}"/>
              </a:ext>
            </a:extLst>
          </p:cNvPr>
          <p:cNvGrpSpPr/>
          <p:nvPr/>
        </p:nvGrpSpPr>
        <p:grpSpPr>
          <a:xfrm>
            <a:off x="609600" y="1676400"/>
            <a:ext cx="5376672" cy="4521200"/>
            <a:chOff x="609600" y="1676400"/>
            <a:chExt cx="5376672" cy="4521200"/>
          </a:xfrm>
        </p:grpSpPr>
        <p:pic>
          <p:nvPicPr>
            <p:cNvPr id="6" name="Picture 5">
              <a:extLst>
                <a:ext uri="{FF2B5EF4-FFF2-40B4-BE49-F238E27FC236}">
                  <a16:creationId xmlns:a16="http://schemas.microsoft.com/office/drawing/2014/main" id="{8A7DE4DC-80EB-2708-D891-595D6D6E735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676400"/>
              <a:ext cx="5376672" cy="3001010"/>
            </a:xfrm>
            <a:prstGeom prst="roundRect">
              <a:avLst/>
            </a:prstGeom>
            <a:ln w="12700">
              <a:solidFill>
                <a:srgbClr val="CBD5E1"/>
              </a:solidFill>
            </a:ln>
          </p:spPr>
        </p:pic>
        <p:sp>
          <p:nvSpPr>
            <p:cNvPr id="7" name="Rectangle: Rounded Corners 6">
              <a:extLst>
                <a:ext uri="{FF2B5EF4-FFF2-40B4-BE49-F238E27FC236}">
                  <a16:creationId xmlns:a16="http://schemas.microsoft.com/office/drawing/2014/main" id="{E6D86683-F9DA-E19A-BA3D-A5F52F2ABCDB}"/>
                </a:ext>
              </a:extLst>
            </p:cNvPr>
            <p:cNvSpPr/>
            <p:nvPr/>
          </p:nvSpPr>
          <p:spPr>
            <a:xfrm>
              <a:off x="609600" y="4829810"/>
              <a:ext cx="5376672" cy="1367790"/>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36EA02A-2E96-807D-4748-8B581DD40B58}"/>
                </a:ext>
              </a:extLst>
            </p:cNvPr>
            <p:cNvSpPr/>
            <p:nvPr/>
          </p:nvSpPr>
          <p:spPr>
            <a:xfrm>
              <a:off x="787400" y="5007610"/>
              <a:ext cx="355600" cy="3556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86250D30-8371-4779-25CD-791937C824B1}"/>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50900" y="5071110"/>
              <a:ext cx="228600" cy="228600"/>
            </a:xfrm>
            <a:prstGeom prst="rect">
              <a:avLst/>
            </a:prstGeom>
          </p:spPr>
        </p:pic>
        <p:sp>
          <p:nvSpPr>
            <p:cNvPr id="11" name="TextBox 10">
              <a:extLst>
                <a:ext uri="{FF2B5EF4-FFF2-40B4-BE49-F238E27FC236}">
                  <a16:creationId xmlns:a16="http://schemas.microsoft.com/office/drawing/2014/main" id="{00D21D2F-875E-F702-A1F9-1149F75BCF95}"/>
                </a:ext>
              </a:extLst>
            </p:cNvPr>
            <p:cNvSpPr txBox="1"/>
            <p:nvPr/>
          </p:nvSpPr>
          <p:spPr>
            <a:xfrm>
              <a:off x="1219200" y="4956810"/>
              <a:ext cx="4640072" cy="728020"/>
            </a:xfrm>
            <a:prstGeom prst="rect">
              <a:avLst/>
            </a:prstGeom>
            <a:noFill/>
          </p:spPr>
          <p:txBody>
            <a:bodyPr vert="horz" wrap="square" lIns="0" tIns="0" rtlCol="0">
              <a:spAutoFit/>
            </a:bodyPr>
            <a:lstStyle/>
            <a:p>
              <a:pPr>
                <a:lnSpc>
                  <a:spcPct val="120000"/>
                </a:lnSpc>
                <a:spcAft>
                  <a:spcPts val="300"/>
                </a:spcAft>
              </a:pPr>
              <a:r>
                <a:rPr lang="en-US" sz="1100" b="1">
                  <a:solidFill>
                    <a:srgbClr val="0284C7"/>
                  </a:solidFill>
                  <a:latin typeface="Segoe UI" panose="020B0502040204020203" pitchFamily="34" charset="0"/>
                </a:rPr>
                <a:t>THÔNG ĐIỆP CỐT LÕI
</a:t>
              </a:r>
              <a:r>
                <a:rPr lang="vi-VN" sz="1250" b="1">
                  <a:solidFill>
                    <a:srgbClr val="0F172A"/>
                  </a:solidFill>
                  <a:latin typeface="Segoe UI" panose="020B0502040204020203" pitchFamily="34" charset="0"/>
                </a:rPr>
                <a:t>Dân số vừa là mục tiêu tối thượng vừa là nguồn lực quyết định tốc độ và chất lượng phát triển bền vững quốc gia.</a:t>
              </a:r>
              <a:endParaRPr lang="en-US" sz="1250" b="1">
                <a:solidFill>
                  <a:srgbClr val="0F172A"/>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74529AC1-81FE-CA8B-51F6-B209889FF23F}"/>
              </a:ext>
            </a:extLst>
          </p:cNvPr>
          <p:cNvGrpSpPr/>
          <p:nvPr/>
        </p:nvGrpSpPr>
        <p:grpSpPr>
          <a:xfrm>
            <a:off x="6214872" y="1676400"/>
            <a:ext cx="5367528" cy="1405467"/>
            <a:chOff x="6214872" y="1676400"/>
            <a:chExt cx="5367528" cy="1405467"/>
          </a:xfrm>
        </p:grpSpPr>
        <p:sp>
          <p:nvSpPr>
            <p:cNvPr id="13" name="Rectangle: Rounded Corners 12">
              <a:extLst>
                <a:ext uri="{FF2B5EF4-FFF2-40B4-BE49-F238E27FC236}">
                  <a16:creationId xmlns:a16="http://schemas.microsoft.com/office/drawing/2014/main" id="{1BD38AF9-A2EC-710E-DCA9-572F376697AC}"/>
                </a:ext>
              </a:extLst>
            </p:cNvPr>
            <p:cNvSpPr/>
            <p:nvPr/>
          </p:nvSpPr>
          <p:spPr>
            <a:xfrm>
              <a:off x="6214872" y="1676400"/>
              <a:ext cx="5367528" cy="1405467"/>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D503FD0-4B51-4E13-ED57-4683FD09E10A}"/>
                </a:ext>
              </a:extLst>
            </p:cNvPr>
            <p:cNvSpPr/>
            <p:nvPr/>
          </p:nvSpPr>
          <p:spPr>
            <a:xfrm>
              <a:off x="6392672"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F5FB63E6-887C-8B2F-8DA3-04E7FBA54DC5}"/>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56172" y="1917700"/>
              <a:ext cx="254000" cy="254000"/>
            </a:xfrm>
            <a:prstGeom prst="rect">
              <a:avLst/>
            </a:prstGeom>
          </p:spPr>
        </p:pic>
        <p:sp>
          <p:nvSpPr>
            <p:cNvPr id="17" name="TextBox 16">
              <a:extLst>
                <a:ext uri="{FF2B5EF4-FFF2-40B4-BE49-F238E27FC236}">
                  <a16:creationId xmlns:a16="http://schemas.microsoft.com/office/drawing/2014/main" id="{75BC6D07-071B-BC83-F78C-50124E3F2D90}"/>
                </a:ext>
              </a:extLst>
            </p:cNvPr>
            <p:cNvSpPr txBox="1"/>
            <p:nvPr/>
          </p:nvSpPr>
          <p:spPr>
            <a:xfrm>
              <a:off x="6875272" y="1803400"/>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Dân Số Là Nguồn Lực Lao Động
</a:t>
              </a:r>
              <a:r>
                <a:rPr lang="vi-VN" sz="1400" b="1">
                  <a:solidFill>
                    <a:srgbClr val="334155"/>
                  </a:solidFill>
                  <a:latin typeface="Segoe UI" panose="020B0502040204020203" pitchFamily="34" charset="0"/>
                </a:rPr>
                <a:t>Quy mô và chất lượng nguồn nhân lực quyết định trực tiếp tiềm năng tăng trưởng kinh tế và năng lực hấp thụ vốn đầu tư FDI.</a:t>
              </a:r>
              <a:endParaRPr lang="en-US" sz="1400" b="1">
                <a:solidFill>
                  <a:srgbClr val="334155"/>
                </a:solidFill>
                <a:latin typeface="Segoe UI" panose="020B0502040204020203" pitchFamily="34" charset="0"/>
              </a:endParaRPr>
            </a:p>
          </p:txBody>
        </p:sp>
      </p:grpSp>
      <p:grpSp>
        <p:nvGrpSpPr>
          <p:cNvPr id="24" name="!!Stage_Sub_Card_2!!">
            <a:extLst>
              <a:ext uri="{FF2B5EF4-FFF2-40B4-BE49-F238E27FC236}">
                <a16:creationId xmlns:a16="http://schemas.microsoft.com/office/drawing/2014/main" id="{8C245BDB-409A-17EE-50CF-2CD98650E1D0}"/>
              </a:ext>
            </a:extLst>
          </p:cNvPr>
          <p:cNvGrpSpPr/>
          <p:nvPr/>
        </p:nvGrpSpPr>
        <p:grpSpPr>
          <a:xfrm>
            <a:off x="6214872" y="3234267"/>
            <a:ext cx="5367528" cy="1405466"/>
            <a:chOff x="6214872" y="3234267"/>
            <a:chExt cx="5367528" cy="1405466"/>
          </a:xfrm>
        </p:grpSpPr>
        <p:sp>
          <p:nvSpPr>
            <p:cNvPr id="19" name="Rectangle: Rounded Corners 18">
              <a:extLst>
                <a:ext uri="{FF2B5EF4-FFF2-40B4-BE49-F238E27FC236}">
                  <a16:creationId xmlns:a16="http://schemas.microsoft.com/office/drawing/2014/main" id="{9708CF0E-FB03-9116-B58E-956169B0AD86}"/>
                </a:ext>
              </a:extLst>
            </p:cNvPr>
            <p:cNvSpPr/>
            <p:nvPr/>
          </p:nvSpPr>
          <p:spPr>
            <a:xfrm>
              <a:off x="6214872" y="3234267"/>
              <a:ext cx="5367528" cy="1405466"/>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F63811E-6210-B039-1694-FA87D41FD84E}"/>
                </a:ext>
              </a:extLst>
            </p:cNvPr>
            <p:cNvSpPr/>
            <p:nvPr/>
          </p:nvSpPr>
          <p:spPr>
            <a:xfrm>
              <a:off x="6392672" y="3412067"/>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07FB2515-7B17-C69B-7723-09C841659E00}"/>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456172" y="3475567"/>
              <a:ext cx="254000" cy="254000"/>
            </a:xfrm>
            <a:prstGeom prst="rect">
              <a:avLst/>
            </a:prstGeom>
          </p:spPr>
        </p:pic>
        <p:sp>
          <p:nvSpPr>
            <p:cNvPr id="23" name="TextBox 22">
              <a:extLst>
                <a:ext uri="{FF2B5EF4-FFF2-40B4-BE49-F238E27FC236}">
                  <a16:creationId xmlns:a16="http://schemas.microsoft.com/office/drawing/2014/main" id="{229BA214-5ABD-CAAC-E133-654FFF422F74}"/>
                </a:ext>
              </a:extLst>
            </p:cNvPr>
            <p:cNvSpPr txBox="1"/>
            <p:nvPr/>
          </p:nvSpPr>
          <p:spPr>
            <a:xfrm>
              <a:off x="6875272" y="3361267"/>
              <a:ext cx="4580128" cy="990015"/>
            </a:xfrm>
            <a:prstGeom prst="rect">
              <a:avLst/>
            </a:prstGeom>
            <a:noFill/>
          </p:spPr>
          <p:txBody>
            <a:bodyPr vert="horz" wrap="square" tIns="0" rtlCol="0">
              <a:spAutoFit/>
            </a:bodyPr>
            <a:lstStyle/>
            <a:p>
              <a:pPr>
                <a:spcAft>
                  <a:spcPts val="400"/>
                </a:spcAft>
              </a:pPr>
              <a:r>
                <a:rPr lang="vi-VN" sz="1600" b="1">
                  <a:solidFill>
                    <a:srgbClr val="0F172A"/>
                  </a:solidFill>
                  <a:latin typeface="Segoe UI" panose="020B0502040204020203" pitchFamily="34" charset="0"/>
                </a:rPr>
                <a:t>Cơ Sở Hoạch Định Dịch Vụ Công
</a:t>
              </a:r>
              <a:r>
                <a:rPr lang="vi-VN" sz="1400" b="1">
                  <a:solidFill>
                    <a:srgbClr val="334155"/>
                  </a:solidFill>
                  <a:latin typeface="Segoe UI" panose="020B0502040204020203" pitchFamily="34" charset="0"/>
                </a:rPr>
                <a:t>Cơ cấu lứa tuổi định hình chính xác nhu cầu xây dựng trường học, mạng lưới bệnh viện và hệ thống bảo hiểm hưu trí.</a:t>
              </a:r>
              <a:endParaRPr lang="en-US" sz="1400" b="1">
                <a:solidFill>
                  <a:srgbClr val="334155"/>
                </a:solidFill>
                <a:latin typeface="Segoe UI" panose="020B0502040204020203" pitchFamily="34" charset="0"/>
              </a:endParaRPr>
            </a:p>
          </p:txBody>
        </p:sp>
      </p:grpSp>
      <p:grpSp>
        <p:nvGrpSpPr>
          <p:cNvPr id="30" name="!!Stage_Sub_Card_3!!">
            <a:extLst>
              <a:ext uri="{FF2B5EF4-FFF2-40B4-BE49-F238E27FC236}">
                <a16:creationId xmlns:a16="http://schemas.microsoft.com/office/drawing/2014/main" id="{EC1FCBFA-6124-2951-5D20-725F009E908A}"/>
              </a:ext>
            </a:extLst>
          </p:cNvPr>
          <p:cNvGrpSpPr/>
          <p:nvPr/>
        </p:nvGrpSpPr>
        <p:grpSpPr>
          <a:xfrm>
            <a:off x="6214872" y="4792133"/>
            <a:ext cx="5367528" cy="1405467"/>
            <a:chOff x="6214872" y="4792133"/>
            <a:chExt cx="5367528" cy="1405467"/>
          </a:xfrm>
        </p:grpSpPr>
        <p:sp>
          <p:nvSpPr>
            <p:cNvPr id="25" name="Rectangle: Rounded Corners 24">
              <a:extLst>
                <a:ext uri="{FF2B5EF4-FFF2-40B4-BE49-F238E27FC236}">
                  <a16:creationId xmlns:a16="http://schemas.microsoft.com/office/drawing/2014/main" id="{D43B9A88-3472-2419-385F-579EF9ED1E02}"/>
                </a:ext>
              </a:extLst>
            </p:cNvPr>
            <p:cNvSpPr/>
            <p:nvPr/>
          </p:nvSpPr>
          <p:spPr>
            <a:xfrm>
              <a:off x="6214872" y="4792133"/>
              <a:ext cx="5367528" cy="1405467"/>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0BAC1F1-41C1-6BBE-472F-71FE2780FFA2}"/>
                </a:ext>
              </a:extLst>
            </p:cNvPr>
            <p:cNvSpPr/>
            <p:nvPr/>
          </p:nvSpPr>
          <p:spPr>
            <a:xfrm>
              <a:off x="6392672" y="4969933"/>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a:extLst>
                <a:ext uri="{FF2B5EF4-FFF2-40B4-BE49-F238E27FC236}">
                  <a16:creationId xmlns:a16="http://schemas.microsoft.com/office/drawing/2014/main" id="{D1300CB6-9E14-85F0-1604-35B9EE694F10}"/>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456172" y="5033433"/>
              <a:ext cx="254000" cy="254000"/>
            </a:xfrm>
            <a:prstGeom prst="rect">
              <a:avLst/>
            </a:prstGeom>
          </p:spPr>
        </p:pic>
        <p:sp>
          <p:nvSpPr>
            <p:cNvPr id="29" name="TextBox 28">
              <a:extLst>
                <a:ext uri="{FF2B5EF4-FFF2-40B4-BE49-F238E27FC236}">
                  <a16:creationId xmlns:a16="http://schemas.microsoft.com/office/drawing/2014/main" id="{93640421-1E84-3A11-16A0-21679920CFC8}"/>
                </a:ext>
              </a:extLst>
            </p:cNvPr>
            <p:cNvSpPr txBox="1"/>
            <p:nvPr/>
          </p:nvSpPr>
          <p:spPr>
            <a:xfrm>
              <a:off x="6875272" y="4919133"/>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Dân Số Là Mục Tiêu Phục Vụ
</a:t>
              </a:r>
              <a:r>
                <a:rPr lang="vi-VN" sz="1400" b="1">
                  <a:solidFill>
                    <a:srgbClr val="334155"/>
                  </a:solidFill>
                  <a:latin typeface="Segoe UI" panose="020B0502040204020203" pitchFamily="34" charset="0"/>
                </a:rPr>
                <a:t>Mọi thành quả phát triển kinh tế cuối cùng đều hướng tới mục tiêu nâng cao chất lượng cuộc sống và tuổi thọ người dân.</a:t>
              </a:r>
              <a:endParaRPr lang="en-US" sz="1400" b="1">
                <a:solidFill>
                  <a:srgbClr val="334155"/>
                </a:solidFill>
                <a:latin typeface="Segoe UI" panose="020B0502040204020203" pitchFamily="34" charset="0"/>
              </a:endParaRPr>
            </a:p>
          </p:txBody>
        </p:sp>
      </p:grpSp>
      <p:sp>
        <p:nvSpPr>
          <p:cNvPr id="31" name="!!Anchor_Source_Footer!!">
            <a:extLst>
              <a:ext uri="{FF2B5EF4-FFF2-40B4-BE49-F238E27FC236}">
                <a16:creationId xmlns:a16="http://schemas.microsoft.com/office/drawing/2014/main" id="{5C99C22A-1A1A-F1F8-9F7C-BE073ECCF2ED}"/>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Nghị quyết 21-NQ/TW về công tác dân số</a:t>
            </a:r>
          </a:p>
        </p:txBody>
      </p:sp>
    </p:spTree>
    <p:extLst>
      <p:ext uri="{BB962C8B-B14F-4D97-AF65-F5344CB8AC3E}">
        <p14:creationId xmlns:p14="http://schemas.microsoft.com/office/powerpoint/2010/main" val="42465389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accel="50000" decel="5000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accel="50000" decel="5000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3FA7733F-5A21-22AB-F16B-48C6B9C55376}"/>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BỐI CẢNH VIỆT NAM  •  TRỌNG TÂM</a:t>
            </a:r>
          </a:p>
        </p:txBody>
      </p:sp>
      <p:sp>
        <p:nvSpPr>
          <p:cNvPr id="3" name="!!Anchor_Slide_Tracker!!">
            <a:extLst>
              <a:ext uri="{FF2B5EF4-FFF2-40B4-BE49-F238E27FC236}">
                <a16:creationId xmlns:a16="http://schemas.microsoft.com/office/drawing/2014/main" id="{3A446ABC-FDA1-8D7A-2F8A-6789B30B1A86}"/>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11 / 14</a:t>
            </a:r>
          </a:p>
        </p:txBody>
      </p:sp>
      <p:sp>
        <p:nvSpPr>
          <p:cNvPr id="4" name="!!Anchor_Assertion_Title!!">
            <a:extLst>
              <a:ext uri="{FF2B5EF4-FFF2-40B4-BE49-F238E27FC236}">
                <a16:creationId xmlns:a16="http://schemas.microsoft.com/office/drawing/2014/main" id="{8C8FAD69-A566-1B70-DB3D-22B254B0AE19}"/>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Bối Cảnh Dân Số Việt Nam: Cột Mốc 100 Triệu Dân Và Thời Kỳ Dân Số Vàng</a:t>
            </a:r>
          </a:p>
        </p:txBody>
      </p:sp>
      <p:pic>
        <p:nvPicPr>
          <p:cNvPr id="6" name="!!Stage_Hero_Container!!">
            <a:extLst>
              <a:ext uri="{FF2B5EF4-FFF2-40B4-BE49-F238E27FC236}">
                <a16:creationId xmlns:a16="http://schemas.microsoft.com/office/drawing/2014/main" id="{7E94B335-01D9-3481-DDC2-141862060DA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752600"/>
            <a:ext cx="5705856" cy="4368800"/>
          </a:xfrm>
          <a:prstGeom prst="roundRect">
            <a:avLst/>
          </a:prstGeom>
          <a:ln w="12700">
            <a:solidFill>
              <a:srgbClr val="CBD5E1"/>
            </a:solidFill>
          </a:ln>
        </p:spPr>
      </p:pic>
      <p:grpSp>
        <p:nvGrpSpPr>
          <p:cNvPr id="12" name="!!Stage_Sub_Card_1!!">
            <a:extLst>
              <a:ext uri="{FF2B5EF4-FFF2-40B4-BE49-F238E27FC236}">
                <a16:creationId xmlns:a16="http://schemas.microsoft.com/office/drawing/2014/main" id="{120B867B-246C-EF94-909D-80AFB6CFE1B6}"/>
              </a:ext>
            </a:extLst>
          </p:cNvPr>
          <p:cNvGrpSpPr/>
          <p:nvPr/>
        </p:nvGrpSpPr>
        <p:grpSpPr>
          <a:xfrm>
            <a:off x="6644640" y="1676400"/>
            <a:ext cx="4937760" cy="1405467"/>
            <a:chOff x="6644640" y="1676400"/>
            <a:chExt cx="4937760" cy="1405467"/>
          </a:xfrm>
        </p:grpSpPr>
        <p:sp>
          <p:nvSpPr>
            <p:cNvPr id="7" name="Rectangle: Rounded Corners 6">
              <a:extLst>
                <a:ext uri="{FF2B5EF4-FFF2-40B4-BE49-F238E27FC236}">
                  <a16:creationId xmlns:a16="http://schemas.microsoft.com/office/drawing/2014/main" id="{01E1611D-199F-1C17-42FF-7CE3F9CEC525}"/>
                </a:ext>
              </a:extLst>
            </p:cNvPr>
            <p:cNvSpPr/>
            <p:nvPr/>
          </p:nvSpPr>
          <p:spPr>
            <a:xfrm>
              <a:off x="6644640" y="1676400"/>
              <a:ext cx="4937760" cy="1405467"/>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E4FB1F1-7EE7-14E6-4F04-E7CF8A6A9AF1}"/>
                </a:ext>
              </a:extLst>
            </p:cNvPr>
            <p:cNvSpPr/>
            <p:nvPr/>
          </p:nvSpPr>
          <p:spPr>
            <a:xfrm>
              <a:off x="6822440"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F5CE426C-3233-AC35-5118-27CB7DCB054C}"/>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1" name="TextBox 10">
              <a:extLst>
                <a:ext uri="{FF2B5EF4-FFF2-40B4-BE49-F238E27FC236}">
                  <a16:creationId xmlns:a16="http://schemas.microsoft.com/office/drawing/2014/main" id="{7DCE646A-DEE4-94BD-3E5B-56F83DF19111}"/>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vi-VN" sz="1600" b="1">
                  <a:solidFill>
                    <a:srgbClr val="0F172A"/>
                  </a:solidFill>
                  <a:latin typeface="Segoe UI" panose="020B0502040204020203" pitchFamily="34" charset="0"/>
                </a:rPr>
                <a:t>100.3 Triệu Người (2024)
</a:t>
              </a:r>
              <a:r>
                <a:rPr lang="vi-VN" sz="1400" b="1">
                  <a:solidFill>
                    <a:srgbClr val="334155"/>
                  </a:solidFill>
                  <a:latin typeface="Segoe UI" panose="020B0502040204020203" pitchFamily="34" charset="0"/>
                </a:rPr>
                <a:t>Việt Nam xếp thứ 3 khu vực Đông Nam Á và đứng thứ 15 trên thế giới về quy mô dân số, tạo thị trường tiêu dùng nội địa rộng lớn.</a:t>
              </a:r>
              <a:endParaRPr lang="en-US" sz="1400" b="1">
                <a:solidFill>
                  <a:srgbClr val="334155"/>
                </a:solidFill>
                <a:latin typeface="Segoe UI" panose="020B0502040204020203" pitchFamily="34" charset="0"/>
              </a:endParaRPr>
            </a:p>
          </p:txBody>
        </p:sp>
      </p:grpSp>
      <p:grpSp>
        <p:nvGrpSpPr>
          <p:cNvPr id="18" name="!!Stage_Sub_Card_2!!">
            <a:extLst>
              <a:ext uri="{FF2B5EF4-FFF2-40B4-BE49-F238E27FC236}">
                <a16:creationId xmlns:a16="http://schemas.microsoft.com/office/drawing/2014/main" id="{78F3AEA3-76E9-EAD5-96E3-1FA22C412EC6}"/>
              </a:ext>
            </a:extLst>
          </p:cNvPr>
          <p:cNvGrpSpPr/>
          <p:nvPr/>
        </p:nvGrpSpPr>
        <p:grpSpPr>
          <a:xfrm>
            <a:off x="6644640" y="3234267"/>
            <a:ext cx="4937760" cy="1405466"/>
            <a:chOff x="6644640" y="3234267"/>
            <a:chExt cx="4937760" cy="1405466"/>
          </a:xfrm>
        </p:grpSpPr>
        <p:sp>
          <p:nvSpPr>
            <p:cNvPr id="13" name="Rectangle: Rounded Corners 12">
              <a:extLst>
                <a:ext uri="{FF2B5EF4-FFF2-40B4-BE49-F238E27FC236}">
                  <a16:creationId xmlns:a16="http://schemas.microsoft.com/office/drawing/2014/main" id="{BFF59917-5BAA-275E-32E9-6035B1CE0D84}"/>
                </a:ext>
              </a:extLst>
            </p:cNvPr>
            <p:cNvSpPr/>
            <p:nvPr/>
          </p:nvSpPr>
          <p:spPr>
            <a:xfrm>
              <a:off x="6644640" y="3234267"/>
              <a:ext cx="4937760" cy="1405466"/>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D4AAB7C-073F-29B4-3B7B-CCBE1D59DBCC}"/>
                </a:ext>
              </a:extLst>
            </p:cNvPr>
            <p:cNvSpPr/>
            <p:nvPr/>
          </p:nvSpPr>
          <p:spPr>
            <a:xfrm>
              <a:off x="6822440" y="3412067"/>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5022D82F-4A9A-319C-1D48-AC6FD16AC56A}"/>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3475567"/>
              <a:ext cx="254000" cy="254000"/>
            </a:xfrm>
            <a:prstGeom prst="rect">
              <a:avLst/>
            </a:prstGeom>
          </p:spPr>
        </p:pic>
        <p:sp>
          <p:nvSpPr>
            <p:cNvPr id="17" name="TextBox 16">
              <a:extLst>
                <a:ext uri="{FF2B5EF4-FFF2-40B4-BE49-F238E27FC236}">
                  <a16:creationId xmlns:a16="http://schemas.microsoft.com/office/drawing/2014/main" id="{8FE6B092-F3CE-80B7-22C4-F97F780722D7}"/>
                </a:ext>
              </a:extLst>
            </p:cNvPr>
            <p:cNvSpPr txBox="1"/>
            <p:nvPr/>
          </p:nvSpPr>
          <p:spPr>
            <a:xfrm>
              <a:off x="7305040" y="3361267"/>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68.0% Độ Tuổi Lao Động
</a:t>
              </a:r>
              <a:r>
                <a:rPr lang="vi-VN" sz="1400" b="1">
                  <a:solidFill>
                    <a:srgbClr val="334155"/>
                  </a:solidFill>
                  <a:latin typeface="Segoe UI" panose="020B0502040204020203" pitchFamily="34" charset="0"/>
                </a:rPr>
                <a:t>Thời kỳ cơ cấu dân số vàng với tỷ số phụ thuộc chung dưới 50%, mang lại lợi thế cạnh tranh lớn về lực lượng lao động dồi dào.</a:t>
              </a:r>
              <a:endParaRPr lang="en-US" sz="1400" b="1">
                <a:solidFill>
                  <a:srgbClr val="334155"/>
                </a:solidFill>
                <a:latin typeface="Segoe UI" panose="020B0502040204020203" pitchFamily="34" charset="0"/>
              </a:endParaRPr>
            </a:p>
          </p:txBody>
        </p:sp>
      </p:grpSp>
      <p:grpSp>
        <p:nvGrpSpPr>
          <p:cNvPr id="24" name="!!Stage_Sub_Card_3!!">
            <a:extLst>
              <a:ext uri="{FF2B5EF4-FFF2-40B4-BE49-F238E27FC236}">
                <a16:creationId xmlns:a16="http://schemas.microsoft.com/office/drawing/2014/main" id="{A84785BE-1694-2E4E-EF31-BF630E6D2FC6}"/>
              </a:ext>
            </a:extLst>
          </p:cNvPr>
          <p:cNvGrpSpPr/>
          <p:nvPr/>
        </p:nvGrpSpPr>
        <p:grpSpPr>
          <a:xfrm>
            <a:off x="6644640" y="4792133"/>
            <a:ext cx="4937760" cy="1405467"/>
            <a:chOff x="6644640" y="4792133"/>
            <a:chExt cx="4937760" cy="1405467"/>
          </a:xfrm>
        </p:grpSpPr>
        <p:sp>
          <p:nvSpPr>
            <p:cNvPr id="19" name="Rectangle: Rounded Corners 18">
              <a:extLst>
                <a:ext uri="{FF2B5EF4-FFF2-40B4-BE49-F238E27FC236}">
                  <a16:creationId xmlns:a16="http://schemas.microsoft.com/office/drawing/2014/main" id="{BBDE1734-873F-88E5-115E-738DB3377C66}"/>
                </a:ext>
              </a:extLst>
            </p:cNvPr>
            <p:cNvSpPr/>
            <p:nvPr/>
          </p:nvSpPr>
          <p:spPr>
            <a:xfrm>
              <a:off x="6644640" y="4792133"/>
              <a:ext cx="4937760" cy="1405467"/>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D3C055F-E092-D501-4BC2-F1DF3B3CE11A}"/>
                </a:ext>
              </a:extLst>
            </p:cNvPr>
            <p:cNvSpPr/>
            <p:nvPr/>
          </p:nvSpPr>
          <p:spPr>
            <a:xfrm>
              <a:off x="6822440" y="4969933"/>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1707B928-9079-C03B-5E0E-43BEADF8C3DF}"/>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885940" y="5033433"/>
              <a:ext cx="254000" cy="254000"/>
            </a:xfrm>
            <a:prstGeom prst="rect">
              <a:avLst/>
            </a:prstGeom>
          </p:spPr>
        </p:pic>
        <p:sp>
          <p:nvSpPr>
            <p:cNvPr id="23" name="TextBox 22">
              <a:extLst>
                <a:ext uri="{FF2B5EF4-FFF2-40B4-BE49-F238E27FC236}">
                  <a16:creationId xmlns:a16="http://schemas.microsoft.com/office/drawing/2014/main" id="{67DD6130-9D03-7861-31EC-0A9984DFB487}"/>
                </a:ext>
              </a:extLst>
            </p:cNvPr>
            <p:cNvSpPr txBox="1"/>
            <p:nvPr/>
          </p:nvSpPr>
          <p:spPr>
            <a:xfrm>
              <a:off x="7305040" y="4919133"/>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Thách Thức Năng Suất
</a:t>
              </a:r>
              <a:r>
                <a:rPr lang="vi-VN" sz="1400" b="1">
                  <a:solidFill>
                    <a:srgbClr val="334155"/>
                  </a:solidFill>
                  <a:latin typeface="Segoe UI" panose="020B0502040204020203" pitchFamily="34" charset="0"/>
                </a:rPr>
                <a:t>Tỷ lệ lao động qua đào tạo có chứng chỉ mới đạt khoảng 28%, đòi hỏi cấp thiết phải nâng cao chất lượng kỹ năng nghề.</a:t>
              </a:r>
              <a:endParaRPr lang="en-US" sz="1400" b="1">
                <a:solidFill>
                  <a:srgbClr val="334155"/>
                </a:solidFill>
                <a:latin typeface="Segoe UI" panose="020B0502040204020203" pitchFamily="34" charset="0"/>
              </a:endParaRPr>
            </a:p>
          </p:txBody>
        </p:sp>
      </p:grpSp>
      <p:sp>
        <p:nvSpPr>
          <p:cNvPr id="25" name="!!Anchor_Source_Footer!!">
            <a:extLst>
              <a:ext uri="{FF2B5EF4-FFF2-40B4-BE49-F238E27FC236}">
                <a16:creationId xmlns:a16="http://schemas.microsoft.com/office/drawing/2014/main" id="{0320AE4B-CC95-D644-C6AC-0F4D3BE37669}"/>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Tổng cục Thống kê - Kết quả Tổng điều tra dân số</a:t>
            </a:r>
          </a:p>
        </p:txBody>
      </p:sp>
    </p:spTree>
    <p:extLst>
      <p:ext uri="{BB962C8B-B14F-4D97-AF65-F5344CB8AC3E}">
        <p14:creationId xmlns:p14="http://schemas.microsoft.com/office/powerpoint/2010/main" val="17141518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50000" decel="50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accel="50000" decel="5000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accel="50000" decel="5000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ppt_x"/>
                                          </p:val>
                                        </p:tav>
                                        <p:tav tm="100000">
                                          <p:val>
                                            <p:strVal val="#ppt_x"/>
                                          </p:val>
                                        </p:tav>
                                      </p:tavLst>
                                    </p:anim>
                                    <p:anim calcmode="lin" valueType="num">
                                      <p:cBhvr additive="base">
                                        <p:cTn id="20"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4791E312-68CA-C7C3-5BD5-F62C932322B3}"/>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THÁCH THỨC CẤP BÁCH  •  TRỌNG TÂM</a:t>
            </a:r>
          </a:p>
        </p:txBody>
      </p:sp>
      <p:sp>
        <p:nvSpPr>
          <p:cNvPr id="3" name="!!Anchor_Slide_Tracker!!">
            <a:extLst>
              <a:ext uri="{FF2B5EF4-FFF2-40B4-BE49-F238E27FC236}">
                <a16:creationId xmlns:a16="http://schemas.microsoft.com/office/drawing/2014/main" id="{BD950FB5-39EA-6374-F85D-A0A52665644A}"/>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12 / 14</a:t>
            </a:r>
          </a:p>
        </p:txBody>
      </p:sp>
      <p:sp>
        <p:nvSpPr>
          <p:cNvPr id="4" name="!!Anchor_Assertion_Title!!">
            <a:extLst>
              <a:ext uri="{FF2B5EF4-FFF2-40B4-BE49-F238E27FC236}">
                <a16:creationId xmlns:a16="http://schemas.microsoft.com/office/drawing/2014/main" id="{B2A2BE63-7D60-D8B6-AD23-3EA9487C3760}"/>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Ba Thách Thức Nhân Khẩu Học Cấp Bách Cần Giải Pháp Căn Cơ</a:t>
            </a:r>
            <a:endParaRPr lang="en-US" sz="2400" b="1">
              <a:solidFill>
                <a:srgbClr val="0F172A"/>
              </a:solidFill>
              <a:latin typeface="Segoe UI" panose="020B0502040204020203" pitchFamily="34" charset="0"/>
            </a:endParaRPr>
          </a:p>
        </p:txBody>
      </p:sp>
      <p:grpSp>
        <p:nvGrpSpPr>
          <p:cNvPr id="12" name="!!Stage_Hero_Container!!">
            <a:extLst>
              <a:ext uri="{FF2B5EF4-FFF2-40B4-BE49-F238E27FC236}">
                <a16:creationId xmlns:a16="http://schemas.microsoft.com/office/drawing/2014/main" id="{078D569A-7E53-1000-DEFE-12980C0E675F}"/>
              </a:ext>
            </a:extLst>
          </p:cNvPr>
          <p:cNvGrpSpPr/>
          <p:nvPr/>
        </p:nvGrpSpPr>
        <p:grpSpPr>
          <a:xfrm>
            <a:off x="609600" y="1676400"/>
            <a:ext cx="5376672" cy="4521200"/>
            <a:chOff x="609600" y="1676400"/>
            <a:chExt cx="5376672" cy="4521200"/>
          </a:xfrm>
        </p:grpSpPr>
        <p:pic>
          <p:nvPicPr>
            <p:cNvPr id="6" name="Picture 5">
              <a:extLst>
                <a:ext uri="{FF2B5EF4-FFF2-40B4-BE49-F238E27FC236}">
                  <a16:creationId xmlns:a16="http://schemas.microsoft.com/office/drawing/2014/main" id="{B6FC7E07-0503-CF62-252F-2CBFE4175562}"/>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676400"/>
              <a:ext cx="5376672" cy="3001010"/>
            </a:xfrm>
            <a:prstGeom prst="roundRect">
              <a:avLst/>
            </a:prstGeom>
            <a:ln w="12700">
              <a:solidFill>
                <a:srgbClr val="CBD5E1"/>
              </a:solidFill>
            </a:ln>
          </p:spPr>
        </p:pic>
        <p:sp>
          <p:nvSpPr>
            <p:cNvPr id="7" name="Rectangle: Rounded Corners 6">
              <a:extLst>
                <a:ext uri="{FF2B5EF4-FFF2-40B4-BE49-F238E27FC236}">
                  <a16:creationId xmlns:a16="http://schemas.microsoft.com/office/drawing/2014/main" id="{D2A90BE0-6476-5127-3C43-4AF4BB0B9F24}"/>
                </a:ext>
              </a:extLst>
            </p:cNvPr>
            <p:cNvSpPr/>
            <p:nvPr/>
          </p:nvSpPr>
          <p:spPr>
            <a:xfrm>
              <a:off x="609600" y="4829810"/>
              <a:ext cx="5376672" cy="1367790"/>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D744311-CBAF-E427-B619-5A5EF753B422}"/>
                </a:ext>
              </a:extLst>
            </p:cNvPr>
            <p:cNvSpPr/>
            <p:nvPr/>
          </p:nvSpPr>
          <p:spPr>
            <a:xfrm>
              <a:off x="787400" y="5007610"/>
              <a:ext cx="355600" cy="3556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CD4C4E14-16D8-BDF9-7BCF-238B8DABCD1F}"/>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50900" y="5071110"/>
              <a:ext cx="228600" cy="228600"/>
            </a:xfrm>
            <a:prstGeom prst="rect">
              <a:avLst/>
            </a:prstGeom>
          </p:spPr>
        </p:pic>
        <p:sp>
          <p:nvSpPr>
            <p:cNvPr id="11" name="TextBox 10">
              <a:extLst>
                <a:ext uri="{FF2B5EF4-FFF2-40B4-BE49-F238E27FC236}">
                  <a16:creationId xmlns:a16="http://schemas.microsoft.com/office/drawing/2014/main" id="{C14F1163-CCEE-7CE6-91E8-10632EC61D6C}"/>
                </a:ext>
              </a:extLst>
            </p:cNvPr>
            <p:cNvSpPr txBox="1"/>
            <p:nvPr/>
          </p:nvSpPr>
          <p:spPr>
            <a:xfrm>
              <a:off x="1219200" y="4956810"/>
              <a:ext cx="4640072" cy="958852"/>
            </a:xfrm>
            <a:prstGeom prst="rect">
              <a:avLst/>
            </a:prstGeom>
            <a:noFill/>
          </p:spPr>
          <p:txBody>
            <a:bodyPr vert="horz" wrap="square" lIns="0" tIns="0" rtlCol="0">
              <a:spAutoFit/>
            </a:bodyPr>
            <a:lstStyle/>
            <a:p>
              <a:pPr>
                <a:lnSpc>
                  <a:spcPct val="120000"/>
                </a:lnSpc>
                <a:spcAft>
                  <a:spcPts val="300"/>
                </a:spcAft>
              </a:pPr>
              <a:r>
                <a:rPr lang="en-US" sz="1100" b="1">
                  <a:solidFill>
                    <a:srgbClr val="0284C7"/>
                  </a:solidFill>
                  <a:latin typeface="Segoe UI" panose="020B0502040204020203" pitchFamily="34" charset="0"/>
                </a:rPr>
                <a:t>THÔNG ĐIỆP CỐT LÕI
</a:t>
              </a:r>
              <a:r>
                <a:rPr lang="vi-VN" sz="1250" b="1">
                  <a:solidFill>
                    <a:srgbClr val="0F172A"/>
                  </a:solidFill>
                  <a:latin typeface="Segoe UI" panose="020B0502040204020203" pitchFamily="34" charset="0"/>
                </a:rPr>
                <a:t>Mức sinh giảm thấp, già hóa dân số với tốc độ nhanh và mất cân bằng giới tính khi sinh đang đe dọa cơ cấu bền vững tương lai.</a:t>
              </a:r>
              <a:endParaRPr lang="en-US" sz="1250" b="1">
                <a:solidFill>
                  <a:srgbClr val="0F172A"/>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85B5FD7E-2916-A4C2-E48F-C62F80DF222D}"/>
              </a:ext>
            </a:extLst>
          </p:cNvPr>
          <p:cNvGrpSpPr/>
          <p:nvPr/>
        </p:nvGrpSpPr>
        <p:grpSpPr>
          <a:xfrm>
            <a:off x="6214872" y="1676400"/>
            <a:ext cx="5367528" cy="1405467"/>
            <a:chOff x="6214872" y="1676400"/>
            <a:chExt cx="5367528" cy="1405467"/>
          </a:xfrm>
        </p:grpSpPr>
        <p:sp>
          <p:nvSpPr>
            <p:cNvPr id="13" name="Rectangle: Rounded Corners 12">
              <a:extLst>
                <a:ext uri="{FF2B5EF4-FFF2-40B4-BE49-F238E27FC236}">
                  <a16:creationId xmlns:a16="http://schemas.microsoft.com/office/drawing/2014/main" id="{8D40B827-4DCC-B15B-27F6-3EAD4A7976ED}"/>
                </a:ext>
              </a:extLst>
            </p:cNvPr>
            <p:cNvSpPr/>
            <p:nvPr/>
          </p:nvSpPr>
          <p:spPr>
            <a:xfrm>
              <a:off x="6214872" y="1676400"/>
              <a:ext cx="5367528" cy="1405467"/>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A463B94-1128-3A8E-8CF9-309EB7DCB7AA}"/>
                </a:ext>
              </a:extLst>
            </p:cNvPr>
            <p:cNvSpPr/>
            <p:nvPr/>
          </p:nvSpPr>
          <p:spPr>
            <a:xfrm>
              <a:off x="6392672"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DB04B009-D890-2430-F9D0-146207B7B553}"/>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56172" y="1917700"/>
              <a:ext cx="254000" cy="254000"/>
            </a:xfrm>
            <a:prstGeom prst="rect">
              <a:avLst/>
            </a:prstGeom>
          </p:spPr>
        </p:pic>
        <p:sp>
          <p:nvSpPr>
            <p:cNvPr id="17" name="TextBox 16">
              <a:extLst>
                <a:ext uri="{FF2B5EF4-FFF2-40B4-BE49-F238E27FC236}">
                  <a16:creationId xmlns:a16="http://schemas.microsoft.com/office/drawing/2014/main" id="{300E581D-17E4-438E-5789-A05EC2FA4EF9}"/>
                </a:ext>
              </a:extLst>
            </p:cNvPr>
            <p:cNvSpPr txBox="1"/>
            <p:nvPr/>
          </p:nvSpPr>
          <p:spPr>
            <a:xfrm>
              <a:off x="6875272" y="1803400"/>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Mức Sinh Giảm Sâu Đô Thị
</a:t>
              </a:r>
              <a:r>
                <a:rPr lang="vi-VN" sz="1400" b="1">
                  <a:solidFill>
                    <a:srgbClr val="334155"/>
                  </a:solidFill>
                  <a:latin typeface="Segoe UI" panose="020B0502040204020203" pitchFamily="34" charset="0"/>
                </a:rPr>
                <a:t>Tổng tỷ suất sinh tại TP.HCM và vùng Đông Nam Bộ xuống dưới 1.5 con/phụ nữ, đối mặt nguy cơ suy giảm dân số dài hạn.</a:t>
              </a:r>
              <a:endParaRPr lang="en-US" sz="1400" b="1">
                <a:solidFill>
                  <a:srgbClr val="334155"/>
                </a:solidFill>
                <a:latin typeface="Segoe UI" panose="020B0502040204020203" pitchFamily="34" charset="0"/>
              </a:endParaRPr>
            </a:p>
          </p:txBody>
        </p:sp>
      </p:grpSp>
      <p:grpSp>
        <p:nvGrpSpPr>
          <p:cNvPr id="24" name="!!Stage_Sub_Card_2!!">
            <a:extLst>
              <a:ext uri="{FF2B5EF4-FFF2-40B4-BE49-F238E27FC236}">
                <a16:creationId xmlns:a16="http://schemas.microsoft.com/office/drawing/2014/main" id="{38F01E1F-ABEE-089A-6DE4-80A98FFDF93C}"/>
              </a:ext>
            </a:extLst>
          </p:cNvPr>
          <p:cNvGrpSpPr/>
          <p:nvPr/>
        </p:nvGrpSpPr>
        <p:grpSpPr>
          <a:xfrm>
            <a:off x="6214872" y="3234267"/>
            <a:ext cx="5367528" cy="1405466"/>
            <a:chOff x="6214872" y="3234267"/>
            <a:chExt cx="5367528" cy="1405466"/>
          </a:xfrm>
        </p:grpSpPr>
        <p:sp>
          <p:nvSpPr>
            <p:cNvPr id="19" name="Rectangle: Rounded Corners 18">
              <a:extLst>
                <a:ext uri="{FF2B5EF4-FFF2-40B4-BE49-F238E27FC236}">
                  <a16:creationId xmlns:a16="http://schemas.microsoft.com/office/drawing/2014/main" id="{320ADE7F-D19E-BC52-9241-E8A31A2A693B}"/>
                </a:ext>
              </a:extLst>
            </p:cNvPr>
            <p:cNvSpPr/>
            <p:nvPr/>
          </p:nvSpPr>
          <p:spPr>
            <a:xfrm>
              <a:off x="6214872" y="3234267"/>
              <a:ext cx="5367528" cy="1405466"/>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3B977B4-C15E-A888-72F0-E21542205D97}"/>
                </a:ext>
              </a:extLst>
            </p:cNvPr>
            <p:cNvSpPr/>
            <p:nvPr/>
          </p:nvSpPr>
          <p:spPr>
            <a:xfrm>
              <a:off x="6392672" y="3412067"/>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4B57F923-DFDC-306C-D8E4-3041EFF26D91}"/>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456172" y="3475567"/>
              <a:ext cx="254000" cy="254000"/>
            </a:xfrm>
            <a:prstGeom prst="rect">
              <a:avLst/>
            </a:prstGeom>
          </p:spPr>
        </p:pic>
        <p:sp>
          <p:nvSpPr>
            <p:cNvPr id="23" name="TextBox 22">
              <a:extLst>
                <a:ext uri="{FF2B5EF4-FFF2-40B4-BE49-F238E27FC236}">
                  <a16:creationId xmlns:a16="http://schemas.microsoft.com/office/drawing/2014/main" id="{8F02656E-4EB1-A3B6-5B85-7411373CE794}"/>
                </a:ext>
              </a:extLst>
            </p:cNvPr>
            <p:cNvSpPr txBox="1"/>
            <p:nvPr/>
          </p:nvSpPr>
          <p:spPr>
            <a:xfrm>
              <a:off x="6875272" y="3361267"/>
              <a:ext cx="4580128" cy="990015"/>
            </a:xfrm>
            <a:prstGeom prst="rect">
              <a:avLst/>
            </a:prstGeom>
            <a:noFill/>
          </p:spPr>
          <p:txBody>
            <a:bodyPr vert="horz" wrap="square" tIns="0" rtlCol="0">
              <a:spAutoFit/>
            </a:bodyPr>
            <a:lstStyle/>
            <a:p>
              <a:pPr>
                <a:spcAft>
                  <a:spcPts val="400"/>
                </a:spcAft>
              </a:pPr>
              <a:r>
                <a:rPr lang="it-IT" sz="1600" b="1">
                  <a:solidFill>
                    <a:srgbClr val="0F172A"/>
                  </a:solidFill>
                  <a:latin typeface="Segoe UI" panose="020B0502040204020203" pitchFamily="34" charset="0"/>
                </a:rPr>
                <a:t>Già Hóa Trước Khi Giàu
</a:t>
              </a:r>
              <a:r>
                <a:rPr lang="vi-VN" sz="1400" b="1">
                  <a:solidFill>
                    <a:srgbClr val="334155"/>
                  </a:solidFill>
                  <a:latin typeface="Segoe UI" panose="020B0502040204020203" pitchFamily="34" charset="0"/>
                </a:rPr>
                <a:t>Thời gian chuyển từ già hóa (7%) sang dân số già (14%) chưa đầy 20 năm, tạo sức ép khổng lồ lên quỹ bảo hiểm và hệ thống y tế.</a:t>
              </a:r>
              <a:endParaRPr lang="en-US" sz="1400" b="1">
                <a:solidFill>
                  <a:srgbClr val="334155"/>
                </a:solidFill>
                <a:latin typeface="Segoe UI" panose="020B0502040204020203" pitchFamily="34" charset="0"/>
              </a:endParaRPr>
            </a:p>
          </p:txBody>
        </p:sp>
      </p:grpSp>
      <p:grpSp>
        <p:nvGrpSpPr>
          <p:cNvPr id="30" name="!!Stage_Sub_Card_3!!">
            <a:extLst>
              <a:ext uri="{FF2B5EF4-FFF2-40B4-BE49-F238E27FC236}">
                <a16:creationId xmlns:a16="http://schemas.microsoft.com/office/drawing/2014/main" id="{71B9579F-E732-076F-2D92-4DA1496E86EF}"/>
              </a:ext>
            </a:extLst>
          </p:cNvPr>
          <p:cNvGrpSpPr/>
          <p:nvPr/>
        </p:nvGrpSpPr>
        <p:grpSpPr>
          <a:xfrm>
            <a:off x="6214872" y="4792133"/>
            <a:ext cx="5367528" cy="1405467"/>
            <a:chOff x="6214872" y="4792133"/>
            <a:chExt cx="5367528" cy="1405467"/>
          </a:xfrm>
        </p:grpSpPr>
        <p:sp>
          <p:nvSpPr>
            <p:cNvPr id="25" name="Rectangle: Rounded Corners 24">
              <a:extLst>
                <a:ext uri="{FF2B5EF4-FFF2-40B4-BE49-F238E27FC236}">
                  <a16:creationId xmlns:a16="http://schemas.microsoft.com/office/drawing/2014/main" id="{1DD25B84-6A3A-3D9B-4943-652D1326F20F}"/>
                </a:ext>
              </a:extLst>
            </p:cNvPr>
            <p:cNvSpPr/>
            <p:nvPr/>
          </p:nvSpPr>
          <p:spPr>
            <a:xfrm>
              <a:off x="6214872" y="4792133"/>
              <a:ext cx="5367528" cy="1405467"/>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280E85B-4A6E-853E-1F6B-CF09191B5B87}"/>
                </a:ext>
              </a:extLst>
            </p:cNvPr>
            <p:cNvSpPr/>
            <p:nvPr/>
          </p:nvSpPr>
          <p:spPr>
            <a:xfrm>
              <a:off x="6392672" y="4969933"/>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a:extLst>
                <a:ext uri="{FF2B5EF4-FFF2-40B4-BE49-F238E27FC236}">
                  <a16:creationId xmlns:a16="http://schemas.microsoft.com/office/drawing/2014/main" id="{1ADDAAC7-D471-4292-7072-B43A2A80FBF9}"/>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456172" y="5033433"/>
              <a:ext cx="254000" cy="254000"/>
            </a:xfrm>
            <a:prstGeom prst="rect">
              <a:avLst/>
            </a:prstGeom>
          </p:spPr>
        </p:pic>
        <p:sp>
          <p:nvSpPr>
            <p:cNvPr id="29" name="TextBox 28">
              <a:extLst>
                <a:ext uri="{FF2B5EF4-FFF2-40B4-BE49-F238E27FC236}">
                  <a16:creationId xmlns:a16="http://schemas.microsoft.com/office/drawing/2014/main" id="{6227DF08-C9C6-A039-820B-6143310D97BA}"/>
                </a:ext>
              </a:extLst>
            </p:cNvPr>
            <p:cNvSpPr txBox="1"/>
            <p:nvPr/>
          </p:nvSpPr>
          <p:spPr>
            <a:xfrm>
              <a:off x="6875272" y="4919133"/>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Mất Cân Bằng Giới Tính (SRB)
</a:t>
              </a:r>
              <a:r>
                <a:rPr lang="vi-VN" sz="1400" b="1">
                  <a:solidFill>
                    <a:srgbClr val="334155"/>
                  </a:solidFill>
                  <a:latin typeface="Segoe UI" panose="020B0502040204020203" pitchFamily="34" charset="0"/>
                </a:rPr>
                <a:t>Tỷ số giới tính khi sinh duy trì mức cao 112 bé trai / 100 bé gái, tiềm ẩn nguy cơ dư thừa 1.5 triệu nam giới vào năm 1958.</a:t>
              </a:r>
              <a:endParaRPr lang="en-US" sz="1400" b="1">
                <a:solidFill>
                  <a:srgbClr val="334155"/>
                </a:solidFill>
                <a:latin typeface="Segoe UI" panose="020B0502040204020203" pitchFamily="34" charset="0"/>
              </a:endParaRPr>
            </a:p>
          </p:txBody>
        </p:sp>
      </p:grpSp>
      <p:sp>
        <p:nvSpPr>
          <p:cNvPr id="31" name="!!Anchor_Source_Footer!!">
            <a:extLst>
              <a:ext uri="{FF2B5EF4-FFF2-40B4-BE49-F238E27FC236}">
                <a16:creationId xmlns:a16="http://schemas.microsoft.com/office/drawing/2014/main" id="{28FCBC89-ADC4-D10A-4880-13550DE7093B}"/>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Báo cáo thực trạng dân số Việt Nam 2024</a:t>
            </a:r>
          </a:p>
        </p:txBody>
      </p:sp>
    </p:spTree>
    <p:extLst>
      <p:ext uri="{BB962C8B-B14F-4D97-AF65-F5344CB8AC3E}">
        <p14:creationId xmlns:p14="http://schemas.microsoft.com/office/powerpoint/2010/main" val="20096098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accel="50000" decel="5000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accel="50000" decel="5000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E38C3A5E-B0B1-3B99-AE0F-88FF428A644C}"/>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LỘ TRÌNH HÀNH ĐỘNG  •  TRỌNG TÂM</a:t>
            </a:r>
          </a:p>
        </p:txBody>
      </p:sp>
      <p:sp>
        <p:nvSpPr>
          <p:cNvPr id="3" name="!!Anchor_Slide_Tracker!!">
            <a:extLst>
              <a:ext uri="{FF2B5EF4-FFF2-40B4-BE49-F238E27FC236}">
                <a16:creationId xmlns:a16="http://schemas.microsoft.com/office/drawing/2014/main" id="{64D88156-F8ED-5D68-7FE7-E4E580B8C74B}"/>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13 / 14</a:t>
            </a:r>
          </a:p>
        </p:txBody>
      </p:sp>
      <p:sp>
        <p:nvSpPr>
          <p:cNvPr id="4" name="!!Anchor_Assertion_Title!!">
            <a:extLst>
              <a:ext uri="{FF2B5EF4-FFF2-40B4-BE49-F238E27FC236}">
                <a16:creationId xmlns:a16="http://schemas.microsoft.com/office/drawing/2014/main" id="{6CC326A9-D869-A27D-5E40-7D878268A8E4}"/>
              </a:ext>
            </a:extLst>
          </p:cNvPr>
          <p:cNvSpPr txBox="1"/>
          <p:nvPr/>
        </p:nvSpPr>
        <p:spPr>
          <a:xfrm>
            <a:off x="609600" y="711200"/>
            <a:ext cx="10972800" cy="738664"/>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Khung Lộ Trình Hành Động Chiến Lược Cho Nhà Hoạch Định Đến Năm 2045</a:t>
            </a:r>
            <a:endParaRPr lang="en-US" sz="2400" b="1">
              <a:solidFill>
                <a:srgbClr val="0F172A"/>
              </a:solidFill>
              <a:latin typeface="Segoe UI" panose="020B0502040204020203" pitchFamily="34" charset="0"/>
            </a:endParaRPr>
          </a:p>
        </p:txBody>
      </p:sp>
      <p:grpSp>
        <p:nvGrpSpPr>
          <p:cNvPr id="10" name="!!Stage_Hero_Container!!">
            <a:extLst>
              <a:ext uri="{FF2B5EF4-FFF2-40B4-BE49-F238E27FC236}">
                <a16:creationId xmlns:a16="http://schemas.microsoft.com/office/drawing/2014/main" id="{3E2E0038-6BD2-C899-EE5C-F91117267E3B}"/>
              </a:ext>
            </a:extLst>
          </p:cNvPr>
          <p:cNvGrpSpPr/>
          <p:nvPr/>
        </p:nvGrpSpPr>
        <p:grpSpPr>
          <a:xfrm>
            <a:off x="609600" y="1676400"/>
            <a:ext cx="3539067" cy="4521200"/>
            <a:chOff x="609600" y="1676400"/>
            <a:chExt cx="3539067" cy="4521200"/>
          </a:xfrm>
        </p:grpSpPr>
        <p:sp>
          <p:nvSpPr>
            <p:cNvPr id="5" name="Rectangle: Rounded Corners 4">
              <a:extLst>
                <a:ext uri="{FF2B5EF4-FFF2-40B4-BE49-F238E27FC236}">
                  <a16:creationId xmlns:a16="http://schemas.microsoft.com/office/drawing/2014/main" id="{A535F262-1FBD-AEDF-0C84-74795810926E}"/>
                </a:ext>
              </a:extLst>
            </p:cNvPr>
            <p:cNvSpPr/>
            <p:nvPr/>
          </p:nvSpPr>
          <p:spPr>
            <a:xfrm>
              <a:off x="609600" y="1676400"/>
              <a:ext cx="3539067"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A2C1657-A6D6-7FA8-31BB-E2FF910F64EC}"/>
                </a:ext>
              </a:extLst>
            </p:cNvPr>
            <p:cNvSpPr/>
            <p:nvPr/>
          </p:nvSpPr>
          <p:spPr>
            <a:xfrm>
              <a:off x="81280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0F172A"/>
                  </a:solidFill>
                  <a:latin typeface="Bahnschrift" panose="020B0502040204020203" pitchFamily="34" charset="0"/>
                </a:rPr>
                <a:t>01</a:t>
              </a:r>
            </a:p>
          </p:txBody>
        </p:sp>
        <p:pic>
          <p:nvPicPr>
            <p:cNvPr id="8" name="Graphic 7">
              <a:extLst>
                <a:ext uri="{FF2B5EF4-FFF2-40B4-BE49-F238E27FC236}">
                  <a16:creationId xmlns:a16="http://schemas.microsoft.com/office/drawing/2014/main" id="{40B02832-B822-90D4-7472-51D2C16AFF1B}"/>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3666067" y="1879600"/>
              <a:ext cx="279400" cy="279400"/>
            </a:xfrm>
            <a:prstGeom prst="rect">
              <a:avLst/>
            </a:prstGeom>
          </p:spPr>
        </p:pic>
        <p:sp>
          <p:nvSpPr>
            <p:cNvPr id="9" name="TextBox 8">
              <a:extLst>
                <a:ext uri="{FF2B5EF4-FFF2-40B4-BE49-F238E27FC236}">
                  <a16:creationId xmlns:a16="http://schemas.microsoft.com/office/drawing/2014/main" id="{DD2B3FA1-4CA1-5436-28B8-24C1326F4639}"/>
                </a:ext>
              </a:extLst>
            </p:cNvPr>
            <p:cNvSpPr txBox="1"/>
            <p:nvPr/>
          </p:nvSpPr>
          <p:spPr>
            <a:xfrm>
              <a:off x="812800" y="2336800"/>
              <a:ext cx="3132667" cy="1615827"/>
            </a:xfrm>
            <a:prstGeom prst="rect">
              <a:avLst/>
            </a:prstGeom>
            <a:noFill/>
          </p:spPr>
          <p:txBody>
            <a:bodyPr vert="horz" wrap="square" lIns="0" rtlCol="0">
              <a:spAutoFit/>
            </a:bodyPr>
            <a:lstStyle/>
            <a:p>
              <a:pPr>
                <a:spcAft>
                  <a:spcPts val="600"/>
                </a:spcAft>
              </a:pPr>
              <a:r>
                <a:rPr lang="vi-VN" sz="1700" b="1">
                  <a:solidFill>
                    <a:srgbClr val="0F172A"/>
                  </a:solidFill>
                  <a:latin typeface="Segoe UI" panose="020B0502040204020203" pitchFamily="34" charset="0"/>
                </a:rPr>
                <a:t>2024 - 2030: Bứt Phá Cơ Cấu Vàng
</a:t>
              </a:r>
              <a:r>
                <a:rPr lang="vi-VN" sz="1500" b="1">
                  <a:solidFill>
                    <a:srgbClr val="334155"/>
                  </a:solidFill>
                  <a:latin typeface="Segoe UI" panose="020B0502040204020203" pitchFamily="34" charset="0"/>
                </a:rPr>
                <a:t>Tối đa hóa việc làm chất lượng cao, đào tạo kỹ năng số cho 70% lao động, nâng cao năng suất trước khi già hóa dân số ập đến.</a:t>
              </a:r>
              <a:endParaRPr lang="en-US" sz="1500" b="1">
                <a:solidFill>
                  <a:srgbClr val="334155"/>
                </a:solidFill>
                <a:latin typeface="Segoe UI" panose="020B0502040204020203" pitchFamily="34" charset="0"/>
              </a:endParaRPr>
            </a:p>
          </p:txBody>
        </p:sp>
      </p:grpSp>
      <p:grpSp>
        <p:nvGrpSpPr>
          <p:cNvPr id="16" name="!!Stage_Sub_Card_1!!">
            <a:extLst>
              <a:ext uri="{FF2B5EF4-FFF2-40B4-BE49-F238E27FC236}">
                <a16:creationId xmlns:a16="http://schemas.microsoft.com/office/drawing/2014/main" id="{409CACF4-1A3F-1251-D4A1-4F96FD690AB7}"/>
              </a:ext>
            </a:extLst>
          </p:cNvPr>
          <p:cNvGrpSpPr/>
          <p:nvPr/>
        </p:nvGrpSpPr>
        <p:grpSpPr>
          <a:xfrm>
            <a:off x="4326467" y="1676400"/>
            <a:ext cx="3539066" cy="4521200"/>
            <a:chOff x="4326467" y="1676400"/>
            <a:chExt cx="3539066" cy="4521200"/>
          </a:xfrm>
        </p:grpSpPr>
        <p:sp>
          <p:nvSpPr>
            <p:cNvPr id="11" name="Rectangle: Rounded Corners 10">
              <a:extLst>
                <a:ext uri="{FF2B5EF4-FFF2-40B4-BE49-F238E27FC236}">
                  <a16:creationId xmlns:a16="http://schemas.microsoft.com/office/drawing/2014/main" id="{78BFD5EB-DEEF-8C15-4514-BE6979C60EEB}"/>
                </a:ext>
              </a:extLst>
            </p:cNvPr>
            <p:cNvSpPr/>
            <p:nvPr/>
          </p:nvSpPr>
          <p:spPr>
            <a:xfrm>
              <a:off x="4326467" y="1676400"/>
              <a:ext cx="3539066"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0855E70-6E79-F297-5D5F-45A0786B321A}"/>
                </a:ext>
              </a:extLst>
            </p:cNvPr>
            <p:cNvSpPr/>
            <p:nvPr/>
          </p:nvSpPr>
          <p:spPr>
            <a:xfrm>
              <a:off x="4529667"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0F172A"/>
                  </a:solidFill>
                  <a:latin typeface="Bahnschrift" panose="020B0502040204020203" pitchFamily="34" charset="0"/>
                </a:rPr>
                <a:t>02</a:t>
              </a:r>
            </a:p>
          </p:txBody>
        </p:sp>
        <p:pic>
          <p:nvPicPr>
            <p:cNvPr id="14" name="Graphic 13">
              <a:extLst>
                <a:ext uri="{FF2B5EF4-FFF2-40B4-BE49-F238E27FC236}">
                  <a16:creationId xmlns:a16="http://schemas.microsoft.com/office/drawing/2014/main" id="{7B2453A5-806C-D1E7-1BDA-0490FA3E9395}"/>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382933" y="1879600"/>
              <a:ext cx="279400" cy="279400"/>
            </a:xfrm>
            <a:prstGeom prst="rect">
              <a:avLst/>
            </a:prstGeom>
          </p:spPr>
        </p:pic>
        <p:sp>
          <p:nvSpPr>
            <p:cNvPr id="15" name="TextBox 14">
              <a:extLst>
                <a:ext uri="{FF2B5EF4-FFF2-40B4-BE49-F238E27FC236}">
                  <a16:creationId xmlns:a16="http://schemas.microsoft.com/office/drawing/2014/main" id="{5B8ABAF2-F1D7-3204-3262-08BA8715E4C9}"/>
                </a:ext>
              </a:extLst>
            </p:cNvPr>
            <p:cNvSpPr txBox="1"/>
            <p:nvPr/>
          </p:nvSpPr>
          <p:spPr>
            <a:xfrm>
              <a:off x="4529667" y="2336800"/>
              <a:ext cx="3132667" cy="1615827"/>
            </a:xfrm>
            <a:prstGeom prst="rect">
              <a:avLst/>
            </a:prstGeom>
            <a:noFill/>
          </p:spPr>
          <p:txBody>
            <a:bodyPr vert="horz" wrap="square" lIns="0" rtlCol="0">
              <a:spAutoFit/>
            </a:bodyPr>
            <a:lstStyle/>
            <a:p>
              <a:pPr>
                <a:spcAft>
                  <a:spcPts val="600"/>
                </a:spcAft>
              </a:pPr>
              <a:r>
                <a:rPr lang="en-US" sz="1700" b="1">
                  <a:solidFill>
                    <a:srgbClr val="0F172A"/>
                  </a:solidFill>
                  <a:latin typeface="Segoe UI" panose="020B0502040204020203" pitchFamily="34" charset="0"/>
                </a:rPr>
                <a:t>2030 - 2040: Thích Ứng Già Hóa
</a:t>
              </a:r>
              <a:r>
                <a:rPr lang="vi-VN" sz="1500" b="1">
                  <a:solidFill>
                    <a:srgbClr val="334155"/>
                  </a:solidFill>
                  <a:latin typeface="Segoe UI" panose="020B0502040204020203" pitchFamily="34" charset="0"/>
                </a:rPr>
                <a:t>Cải cách bảo hiểm xã hội đa tầng, hoàn thiện mạng lưới y tế lão khoa và phát triển thị trường kinh tế bạc (Silver Economy).</a:t>
              </a:r>
              <a:endParaRPr lang="en-US" sz="1500" b="1">
                <a:solidFill>
                  <a:srgbClr val="334155"/>
                </a:solidFill>
                <a:latin typeface="Segoe UI" panose="020B0502040204020203" pitchFamily="34" charset="0"/>
              </a:endParaRPr>
            </a:p>
          </p:txBody>
        </p:sp>
      </p:grpSp>
      <p:grpSp>
        <p:nvGrpSpPr>
          <p:cNvPr id="22" name="!!Stage_Sub_Card_2!!">
            <a:extLst>
              <a:ext uri="{FF2B5EF4-FFF2-40B4-BE49-F238E27FC236}">
                <a16:creationId xmlns:a16="http://schemas.microsoft.com/office/drawing/2014/main" id="{E303382C-2B19-60DB-D049-22BB13A312F2}"/>
              </a:ext>
            </a:extLst>
          </p:cNvPr>
          <p:cNvGrpSpPr/>
          <p:nvPr/>
        </p:nvGrpSpPr>
        <p:grpSpPr>
          <a:xfrm>
            <a:off x="8043333" y="1676400"/>
            <a:ext cx="3539067" cy="4521200"/>
            <a:chOff x="8043333" y="1676400"/>
            <a:chExt cx="3539067" cy="4521200"/>
          </a:xfrm>
        </p:grpSpPr>
        <p:sp>
          <p:nvSpPr>
            <p:cNvPr id="17" name="Rectangle: Rounded Corners 16">
              <a:extLst>
                <a:ext uri="{FF2B5EF4-FFF2-40B4-BE49-F238E27FC236}">
                  <a16:creationId xmlns:a16="http://schemas.microsoft.com/office/drawing/2014/main" id="{0AA339A3-CDB8-E6DD-106C-5E84B608BE26}"/>
                </a:ext>
              </a:extLst>
            </p:cNvPr>
            <p:cNvSpPr/>
            <p:nvPr/>
          </p:nvSpPr>
          <p:spPr>
            <a:xfrm>
              <a:off x="8043333" y="1676400"/>
              <a:ext cx="3539067"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2E76C71-28AF-F3EA-7EAD-7E0D9EB43FA1}"/>
                </a:ext>
              </a:extLst>
            </p:cNvPr>
            <p:cNvSpPr/>
            <p:nvPr/>
          </p:nvSpPr>
          <p:spPr>
            <a:xfrm>
              <a:off x="8246533"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0F172A"/>
                  </a:solidFill>
                  <a:latin typeface="Bahnschrift" panose="020B0502040204020203" pitchFamily="34" charset="0"/>
                </a:rPr>
                <a:t>03</a:t>
              </a:r>
            </a:p>
          </p:txBody>
        </p:sp>
        <p:pic>
          <p:nvPicPr>
            <p:cNvPr id="20" name="Graphic 19">
              <a:extLst>
                <a:ext uri="{FF2B5EF4-FFF2-40B4-BE49-F238E27FC236}">
                  <a16:creationId xmlns:a16="http://schemas.microsoft.com/office/drawing/2014/main" id="{B9A31CCC-3856-08E8-EA5F-5F001BD72651}"/>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11099800" y="1879600"/>
              <a:ext cx="279400" cy="279400"/>
            </a:xfrm>
            <a:prstGeom prst="rect">
              <a:avLst/>
            </a:prstGeom>
          </p:spPr>
        </p:pic>
        <p:sp>
          <p:nvSpPr>
            <p:cNvPr id="21" name="TextBox 20">
              <a:extLst>
                <a:ext uri="{FF2B5EF4-FFF2-40B4-BE49-F238E27FC236}">
                  <a16:creationId xmlns:a16="http://schemas.microsoft.com/office/drawing/2014/main" id="{75F86E6F-7900-ED75-521A-00E31E29BDE9}"/>
                </a:ext>
              </a:extLst>
            </p:cNvPr>
            <p:cNvSpPr txBox="1"/>
            <p:nvPr/>
          </p:nvSpPr>
          <p:spPr>
            <a:xfrm>
              <a:off x="8246533" y="2336800"/>
              <a:ext cx="3132667" cy="1615827"/>
            </a:xfrm>
            <a:prstGeom prst="rect">
              <a:avLst/>
            </a:prstGeom>
            <a:noFill/>
          </p:spPr>
          <p:txBody>
            <a:bodyPr vert="horz" wrap="square" lIns="0" rtlCol="0">
              <a:spAutoFit/>
            </a:bodyPr>
            <a:lstStyle/>
            <a:p>
              <a:pPr>
                <a:spcAft>
                  <a:spcPts val="600"/>
                </a:spcAft>
              </a:pPr>
              <a:r>
                <a:rPr lang="en-US" sz="1700" b="1">
                  <a:solidFill>
                    <a:srgbClr val="0F172A"/>
                  </a:solidFill>
                  <a:latin typeface="Segoe UI" panose="020B0502040204020203" pitchFamily="34" charset="0"/>
                </a:rPr>
                <a:t>Tầm Nhìn 2045: Nâng Tầm Vóc Việt
</a:t>
              </a:r>
              <a:r>
                <a:rPr lang="vi-VN" sz="1500" b="1">
                  <a:solidFill>
                    <a:srgbClr val="334155"/>
                  </a:solidFill>
                  <a:latin typeface="Segoe UI" panose="020B0502040204020203" pitchFamily="34" charset="0"/>
                </a:rPr>
                <a:t>Đưa chỉ số phát triển con người HDI vào nhóm rất cao (&gt;0.800), bảo đảm an sinh bền vững cho mọi thế hệ công dân.</a:t>
              </a:r>
              <a:endParaRPr lang="en-US" sz="1500" b="1">
                <a:solidFill>
                  <a:srgbClr val="334155"/>
                </a:solidFill>
                <a:latin typeface="Segoe UI" panose="020B0502040204020203" pitchFamily="34" charset="0"/>
              </a:endParaRPr>
            </a:p>
          </p:txBody>
        </p:sp>
      </p:grpSp>
      <p:sp>
        <p:nvSpPr>
          <p:cNvPr id="23" name="!!Anchor_Source_Footer!!">
            <a:extLst>
              <a:ext uri="{FF2B5EF4-FFF2-40B4-BE49-F238E27FC236}">
                <a16:creationId xmlns:a16="http://schemas.microsoft.com/office/drawing/2014/main" id="{354FA0F5-74AD-1C48-2363-D1CDDF19B93B}"/>
              </a:ext>
            </a:extLst>
          </p:cNvPr>
          <p:cNvSpPr txBox="1"/>
          <p:nvPr/>
        </p:nvSpPr>
        <p:spPr>
          <a:xfrm>
            <a:off x="609600" y="6273800"/>
            <a:ext cx="10972800" cy="246221"/>
          </a:xfrm>
          <a:prstGeom prst="rect">
            <a:avLst/>
          </a:prstGeom>
          <a:noFill/>
        </p:spPr>
        <p:txBody>
          <a:bodyPr vert="horz" rtlCol="0">
            <a:spAutoFit/>
          </a:bodyPr>
          <a:lstStyle/>
          <a:p>
            <a:r>
              <a:rPr lang="vi-VN" sz="1000">
                <a:solidFill>
                  <a:srgbClr val="334155"/>
                </a:solidFill>
                <a:latin typeface="Segoe UI" panose="020B0502040204020203" pitchFamily="34" charset="0"/>
              </a:rPr>
              <a:t>Chiến lược Dân số Việt Nam đến năm 2030</a:t>
            </a:r>
            <a:endParaRPr lang="en-US" sz="1000">
              <a:solidFill>
                <a:srgbClr val="334155"/>
              </a:solidFill>
              <a:latin typeface="Segoe UI" panose="020B0502040204020203" pitchFamily="34" charset="0"/>
            </a:endParaRPr>
          </a:p>
        </p:txBody>
      </p:sp>
    </p:spTree>
    <p:extLst>
      <p:ext uri="{BB962C8B-B14F-4D97-AF65-F5344CB8AC3E}">
        <p14:creationId xmlns:p14="http://schemas.microsoft.com/office/powerpoint/2010/main" val="32176103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50000" decel="5000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accel="50000" decel="5000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8F489C77-C1E7-6212-6262-38702296C16E}"/>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TỔNG KẾT BÀI HỌC  •  TRỌNG TÂM</a:t>
            </a:r>
          </a:p>
        </p:txBody>
      </p:sp>
      <p:sp>
        <p:nvSpPr>
          <p:cNvPr id="3" name="!!Anchor_Slide_Tracker!!">
            <a:extLst>
              <a:ext uri="{FF2B5EF4-FFF2-40B4-BE49-F238E27FC236}">
                <a16:creationId xmlns:a16="http://schemas.microsoft.com/office/drawing/2014/main" id="{B9D5064B-B7FA-3554-A80F-B6370BDA2617}"/>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14 / 14</a:t>
            </a:r>
          </a:p>
        </p:txBody>
      </p:sp>
      <p:sp>
        <p:nvSpPr>
          <p:cNvPr id="4" name="!!Anchor_Assertion_Title!!">
            <a:extLst>
              <a:ext uri="{FF2B5EF4-FFF2-40B4-BE49-F238E27FC236}">
                <a16:creationId xmlns:a16="http://schemas.microsoft.com/office/drawing/2014/main" id="{C02AA1F3-740A-AB9F-D892-3BE288C996DC}"/>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Tổng Kết Kiến Thức Trọng Tâm Chuyên Đề Nhập Môn Dân Số Học</a:t>
            </a:r>
          </a:p>
        </p:txBody>
      </p:sp>
      <p:grpSp>
        <p:nvGrpSpPr>
          <p:cNvPr id="11" name="!!Stage_Hero_Container!!">
            <a:extLst>
              <a:ext uri="{FF2B5EF4-FFF2-40B4-BE49-F238E27FC236}">
                <a16:creationId xmlns:a16="http://schemas.microsoft.com/office/drawing/2014/main" id="{6F77258A-C746-2565-BA4C-34726DC2B597}"/>
              </a:ext>
            </a:extLst>
          </p:cNvPr>
          <p:cNvGrpSpPr/>
          <p:nvPr/>
        </p:nvGrpSpPr>
        <p:grpSpPr>
          <a:xfrm>
            <a:off x="609600" y="1676400"/>
            <a:ext cx="3522133" cy="4521200"/>
            <a:chOff x="609600" y="1676400"/>
            <a:chExt cx="3522133" cy="4521200"/>
          </a:xfrm>
        </p:grpSpPr>
        <p:sp>
          <p:nvSpPr>
            <p:cNvPr id="5" name="Rectangle: Rounded Corners 4">
              <a:extLst>
                <a:ext uri="{FF2B5EF4-FFF2-40B4-BE49-F238E27FC236}">
                  <a16:creationId xmlns:a16="http://schemas.microsoft.com/office/drawing/2014/main" id="{3DF55940-2286-8C01-788A-D1E186E4909E}"/>
                </a:ext>
              </a:extLst>
            </p:cNvPr>
            <p:cNvSpPr/>
            <p:nvPr/>
          </p:nvSpPr>
          <p:spPr>
            <a:xfrm>
              <a:off x="609600" y="1676400"/>
              <a:ext cx="3522133"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1B7BA63-BD56-22DB-AA69-52D2EE659241}"/>
                </a:ext>
              </a:extLst>
            </p:cNvPr>
            <p:cNvSpPr/>
            <p:nvPr/>
          </p:nvSpPr>
          <p:spPr>
            <a:xfrm>
              <a:off x="812800"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6976906-04D9-CFA9-E136-44D6962E134B}"/>
                </a:ext>
              </a:extLst>
            </p:cNvPr>
            <p:cNvSpPr/>
            <p:nvPr/>
          </p:nvSpPr>
          <p:spPr>
            <a:xfrm>
              <a:off x="812800"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713567AC-116F-12E3-0D40-25A2BB32A24A}"/>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2070100"/>
              <a:ext cx="279400" cy="279400"/>
            </a:xfrm>
            <a:prstGeom prst="rect">
              <a:avLst/>
            </a:prstGeom>
          </p:spPr>
        </p:pic>
        <p:sp>
          <p:nvSpPr>
            <p:cNvPr id="10" name="TextBox 9">
              <a:extLst>
                <a:ext uri="{FF2B5EF4-FFF2-40B4-BE49-F238E27FC236}">
                  <a16:creationId xmlns:a16="http://schemas.microsoft.com/office/drawing/2014/main" id="{CA3B6621-7861-419E-E475-BFEF46088C25}"/>
                </a:ext>
              </a:extLst>
            </p:cNvPr>
            <p:cNvSpPr txBox="1"/>
            <p:nvPr/>
          </p:nvSpPr>
          <p:spPr>
            <a:xfrm>
              <a:off x="812800" y="2540000"/>
              <a:ext cx="3115733" cy="1620572"/>
            </a:xfrm>
            <a:prstGeom prst="rect">
              <a:avLst/>
            </a:prstGeom>
            <a:noFill/>
          </p:spPr>
          <p:txBody>
            <a:bodyPr vert="horz" wrap="square" lIns="0" tIns="0" rtlCol="0">
              <a:spAutoFit/>
            </a:bodyPr>
            <a:lstStyle/>
            <a:p>
              <a:pPr>
                <a:lnSpc>
                  <a:spcPct val="125000"/>
                </a:lnSpc>
                <a:spcAft>
                  <a:spcPts val="800"/>
                </a:spcAft>
              </a:pPr>
              <a:r>
                <a:rPr lang="en-US" b="1">
                  <a:solidFill>
                    <a:srgbClr val="0F172A"/>
                  </a:solidFill>
                  <a:latin typeface="Segoe UI" panose="020B0502040204020203" pitchFamily="34" charset="0"/>
                </a:rPr>
                <a:t>Câu Hỏi Lý Thuyết 1
</a:t>
              </a:r>
              <a:r>
                <a:rPr lang="vi-VN" sz="1500">
                  <a:solidFill>
                    <a:srgbClr val="334155"/>
                  </a:solidFill>
                  <a:latin typeface="Segoe UI" panose="020B0502040204020203" pitchFamily="34" charset="0"/>
                </a:rPr>
                <a:t>Phân tích sự khác biệt bản chất giữa hai khái niệm Dân cư và Dân số. Lấy ví dụ minh chứng trong thực tế quản lý nhà nước.</a:t>
              </a:r>
              <a:endParaRPr lang="en-US" sz="1500">
                <a:solidFill>
                  <a:srgbClr val="334155"/>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F7B347EC-6F07-A349-00D7-1B4406886872}"/>
              </a:ext>
            </a:extLst>
          </p:cNvPr>
          <p:cNvGrpSpPr/>
          <p:nvPr/>
        </p:nvGrpSpPr>
        <p:grpSpPr>
          <a:xfrm>
            <a:off x="4334933" y="1676400"/>
            <a:ext cx="3522134" cy="4521200"/>
            <a:chOff x="4334933" y="1676400"/>
            <a:chExt cx="3522134" cy="4521200"/>
          </a:xfrm>
        </p:grpSpPr>
        <p:sp>
          <p:nvSpPr>
            <p:cNvPr id="12" name="Rectangle: Rounded Corners 11">
              <a:extLst>
                <a:ext uri="{FF2B5EF4-FFF2-40B4-BE49-F238E27FC236}">
                  <a16:creationId xmlns:a16="http://schemas.microsoft.com/office/drawing/2014/main" id="{1AD7EF36-FBD8-816F-08FD-B5CCC72A812D}"/>
                </a:ext>
              </a:extLst>
            </p:cNvPr>
            <p:cNvSpPr/>
            <p:nvPr/>
          </p:nvSpPr>
          <p:spPr>
            <a:xfrm>
              <a:off x="4334933" y="1676400"/>
              <a:ext cx="3522134"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CF6D7CD-1CA6-CD26-12C4-4D1AFC1723EB}"/>
                </a:ext>
              </a:extLst>
            </p:cNvPr>
            <p:cNvSpPr/>
            <p:nvPr/>
          </p:nvSpPr>
          <p:spPr>
            <a:xfrm>
              <a:off x="4538133"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837ECA0-4FCE-7BBA-8F4D-35586E9803FA}"/>
                </a:ext>
              </a:extLst>
            </p:cNvPr>
            <p:cNvSpPr/>
            <p:nvPr/>
          </p:nvSpPr>
          <p:spPr>
            <a:xfrm>
              <a:off x="4538133"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619028CE-800F-0F1B-D1C6-08A25BCDAE8C}"/>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4601633" y="2070100"/>
              <a:ext cx="279400" cy="279400"/>
            </a:xfrm>
            <a:prstGeom prst="rect">
              <a:avLst/>
            </a:prstGeom>
          </p:spPr>
        </p:pic>
        <p:sp>
          <p:nvSpPr>
            <p:cNvPr id="17" name="TextBox 16">
              <a:extLst>
                <a:ext uri="{FF2B5EF4-FFF2-40B4-BE49-F238E27FC236}">
                  <a16:creationId xmlns:a16="http://schemas.microsoft.com/office/drawing/2014/main" id="{6F8AF267-255E-58C5-5B9D-AEAD00B81AC3}"/>
                </a:ext>
              </a:extLst>
            </p:cNvPr>
            <p:cNvSpPr txBox="1"/>
            <p:nvPr/>
          </p:nvSpPr>
          <p:spPr>
            <a:xfrm>
              <a:off x="4538133" y="2540000"/>
              <a:ext cx="3115733" cy="1620572"/>
            </a:xfrm>
            <a:prstGeom prst="rect">
              <a:avLst/>
            </a:prstGeom>
            <a:noFill/>
          </p:spPr>
          <p:txBody>
            <a:bodyPr vert="horz" wrap="square" lIns="0" tIns="0" rtlCol="0">
              <a:spAutoFit/>
            </a:bodyPr>
            <a:lstStyle/>
            <a:p>
              <a:pPr>
                <a:lnSpc>
                  <a:spcPct val="125000"/>
                </a:lnSpc>
                <a:spcAft>
                  <a:spcPts val="800"/>
                </a:spcAft>
              </a:pPr>
              <a:r>
                <a:rPr lang="en-US" b="1">
                  <a:solidFill>
                    <a:srgbClr val="0F172A"/>
                  </a:solidFill>
                  <a:latin typeface="Segoe UI" panose="020B0502040204020203" pitchFamily="34" charset="0"/>
                </a:rPr>
                <a:t>Câu Hỏi Phân Tích 2
</a:t>
              </a:r>
              <a:r>
                <a:rPr lang="en-US" sz="1500">
                  <a:solidFill>
                    <a:srgbClr val="334155"/>
                  </a:solidFill>
                  <a:latin typeface="Segoe UI" panose="020B0502040204020203" pitchFamily="34" charset="0"/>
                </a:rPr>
                <a:t>Tại sao nói dân số vừa mang thuộc tính sinh học vừa mang thuộc tính xã hội? Mặt nào đóng vai trò quyết định và vì sao?</a:t>
              </a:r>
            </a:p>
          </p:txBody>
        </p:sp>
      </p:grpSp>
      <p:grpSp>
        <p:nvGrpSpPr>
          <p:cNvPr id="25" name="!!Stage_Sub_Card_2!!">
            <a:extLst>
              <a:ext uri="{FF2B5EF4-FFF2-40B4-BE49-F238E27FC236}">
                <a16:creationId xmlns:a16="http://schemas.microsoft.com/office/drawing/2014/main" id="{31F757FE-26AD-0859-B63C-D835C078EDF7}"/>
              </a:ext>
            </a:extLst>
          </p:cNvPr>
          <p:cNvGrpSpPr/>
          <p:nvPr/>
        </p:nvGrpSpPr>
        <p:grpSpPr>
          <a:xfrm>
            <a:off x="8060267" y="1676400"/>
            <a:ext cx="3522133" cy="4521200"/>
            <a:chOff x="8060267" y="1676400"/>
            <a:chExt cx="3522133" cy="4521200"/>
          </a:xfrm>
        </p:grpSpPr>
        <p:sp>
          <p:nvSpPr>
            <p:cNvPr id="19" name="Rectangle: Rounded Corners 18">
              <a:extLst>
                <a:ext uri="{FF2B5EF4-FFF2-40B4-BE49-F238E27FC236}">
                  <a16:creationId xmlns:a16="http://schemas.microsoft.com/office/drawing/2014/main" id="{38501882-E595-D904-D52E-4F092B47E16F}"/>
                </a:ext>
              </a:extLst>
            </p:cNvPr>
            <p:cNvSpPr/>
            <p:nvPr/>
          </p:nvSpPr>
          <p:spPr>
            <a:xfrm>
              <a:off x="8060267" y="1676400"/>
              <a:ext cx="3522133"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9B3E192-A652-2EAB-4123-35CDA0469971}"/>
                </a:ext>
              </a:extLst>
            </p:cNvPr>
            <p:cNvSpPr/>
            <p:nvPr/>
          </p:nvSpPr>
          <p:spPr>
            <a:xfrm>
              <a:off x="8263467"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7FC696B-DC81-D279-D124-4250E2B38231}"/>
                </a:ext>
              </a:extLst>
            </p:cNvPr>
            <p:cNvSpPr/>
            <p:nvPr/>
          </p:nvSpPr>
          <p:spPr>
            <a:xfrm>
              <a:off x="8263467"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B9F97A00-C695-A797-B0BC-05828F2BE96D}"/>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326967" y="2070100"/>
              <a:ext cx="279400" cy="279400"/>
            </a:xfrm>
            <a:prstGeom prst="rect">
              <a:avLst/>
            </a:prstGeom>
          </p:spPr>
        </p:pic>
        <p:sp>
          <p:nvSpPr>
            <p:cNvPr id="24" name="TextBox 23">
              <a:extLst>
                <a:ext uri="{FF2B5EF4-FFF2-40B4-BE49-F238E27FC236}">
                  <a16:creationId xmlns:a16="http://schemas.microsoft.com/office/drawing/2014/main" id="{4FF2D14C-EA8F-0C29-37D8-8ECF16E22F44}"/>
                </a:ext>
              </a:extLst>
            </p:cNvPr>
            <p:cNvSpPr txBox="1"/>
            <p:nvPr/>
          </p:nvSpPr>
          <p:spPr>
            <a:xfrm>
              <a:off x="8263467" y="2540000"/>
              <a:ext cx="3115733" cy="1620572"/>
            </a:xfrm>
            <a:prstGeom prst="rect">
              <a:avLst/>
            </a:prstGeom>
            <a:noFill/>
          </p:spPr>
          <p:txBody>
            <a:bodyPr vert="horz" wrap="square" lIns="0" tIns="0" rtlCol="0">
              <a:spAutoFit/>
            </a:bodyPr>
            <a:lstStyle/>
            <a:p>
              <a:pPr>
                <a:lnSpc>
                  <a:spcPct val="125000"/>
                </a:lnSpc>
                <a:spcAft>
                  <a:spcPts val="800"/>
                </a:spcAft>
              </a:pPr>
              <a:r>
                <a:rPr lang="en-US" b="1">
                  <a:solidFill>
                    <a:srgbClr val="0F172A"/>
                  </a:solidFill>
                  <a:latin typeface="Segoe UI" panose="020B0502040204020203" pitchFamily="34" charset="0"/>
                </a:rPr>
                <a:t>Tình Huống Thực Tiễn 3
</a:t>
              </a:r>
              <a:r>
                <a:rPr lang="vi-VN" sz="1500">
                  <a:solidFill>
                    <a:srgbClr val="334155"/>
                  </a:solidFill>
                  <a:latin typeface="Segoe UI" panose="020B0502040204020203" pitchFamily="34" charset="0"/>
                </a:rPr>
                <a:t>Đánh giá các cơ hội và thách thức của thời kỳ dân số vàng với 68% lao động tại địa phương công tác. Đề xuất giải pháp phát huy.</a:t>
              </a:r>
              <a:endParaRPr lang="en-US" sz="1500">
                <a:solidFill>
                  <a:srgbClr val="334155"/>
                </a:solidFill>
                <a:latin typeface="Segoe UI" panose="020B0502040204020203" pitchFamily="34" charset="0"/>
              </a:endParaRPr>
            </a:p>
          </p:txBody>
        </p:sp>
      </p:grpSp>
      <p:sp>
        <p:nvSpPr>
          <p:cNvPr id="26" name="!!Anchor_Source_Footer!!">
            <a:extLst>
              <a:ext uri="{FF2B5EF4-FFF2-40B4-BE49-F238E27FC236}">
                <a16:creationId xmlns:a16="http://schemas.microsoft.com/office/drawing/2014/main" id="{FB925EB6-D248-EA1F-5D73-1FA38F86E3AE}"/>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Tài liệu đào tạo Dân số học chuẩn quốc gia</a:t>
            </a:r>
          </a:p>
        </p:txBody>
      </p:sp>
    </p:spTree>
    <p:extLst>
      <p:ext uri="{BB962C8B-B14F-4D97-AF65-F5344CB8AC3E}">
        <p14:creationId xmlns:p14="http://schemas.microsoft.com/office/powerpoint/2010/main" val="42736970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1997</Words>
  <Application>Microsoft Office PowerPoint</Application>
  <PresentationFormat>Custom</PresentationFormat>
  <Paragraphs>111</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Bahnschrift</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Thanh Ninh Bui</dc:creator>
  <cp:lastModifiedBy>Thanh Ninh Bui</cp:lastModifiedBy>
  <cp:revision>1</cp:revision>
  <dcterms:created xsi:type="dcterms:W3CDTF">2026-09-18T16:40:27Z</dcterms:created>
  <dcterms:modified xsi:type="dcterms:W3CDTF">2026-09-18T16:40:27Z</dcterms:modified>
</cp:coreProperties>
</file>