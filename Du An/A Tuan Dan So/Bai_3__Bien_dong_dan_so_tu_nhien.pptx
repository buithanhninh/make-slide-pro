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139CB-9186-F2ED-9E46-A041A87CD7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6B3347-89D0-EED3-C285-5B2BE4350F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AD26C9D-82A7-86F6-1DB5-24C1D5C1B9F6}"/>
              </a:ext>
            </a:extLst>
          </p:cNvPr>
          <p:cNvSpPr>
            <a:spLocks noGrp="1"/>
          </p:cNvSpPr>
          <p:nvPr>
            <p:ph type="dt" sz="half" idx="10"/>
          </p:nvPr>
        </p:nvSpPr>
        <p:spPr/>
        <p:txBody>
          <a:bodyPr/>
          <a:lstStyle/>
          <a:p>
            <a:fld id="{C9E3DFCD-0654-4AF4-B5F5-60ABDA0E2B23}" type="datetimeFigureOut">
              <a:rPr lang="en-US" smtClean="0"/>
              <a:t>9/18/2026</a:t>
            </a:fld>
            <a:endParaRPr lang="en-US"/>
          </a:p>
        </p:txBody>
      </p:sp>
      <p:sp>
        <p:nvSpPr>
          <p:cNvPr id="5" name="Footer Placeholder 4">
            <a:extLst>
              <a:ext uri="{FF2B5EF4-FFF2-40B4-BE49-F238E27FC236}">
                <a16:creationId xmlns:a16="http://schemas.microsoft.com/office/drawing/2014/main" id="{DCDBA6E7-AF10-A93E-4B17-F7725A3575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AD9F2F-8BAA-266A-25C7-6174537915D2}"/>
              </a:ext>
            </a:extLst>
          </p:cNvPr>
          <p:cNvSpPr>
            <a:spLocks noGrp="1"/>
          </p:cNvSpPr>
          <p:nvPr>
            <p:ph type="sldNum" sz="quarter" idx="12"/>
          </p:nvPr>
        </p:nvSpPr>
        <p:spPr/>
        <p:txBody>
          <a:bodyPr/>
          <a:lstStyle/>
          <a:p>
            <a:fld id="{415D36AB-27A6-4E98-8E31-06F8ACF8F211}" type="slidenum">
              <a:rPr lang="en-US" smtClean="0"/>
              <a:t>‹#›</a:t>
            </a:fld>
            <a:endParaRPr lang="en-US"/>
          </a:p>
        </p:txBody>
      </p:sp>
    </p:spTree>
    <p:extLst>
      <p:ext uri="{BB962C8B-B14F-4D97-AF65-F5344CB8AC3E}">
        <p14:creationId xmlns:p14="http://schemas.microsoft.com/office/powerpoint/2010/main" val="3578914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4F77D-0EF3-B464-6EEA-5FD4E963A5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20F07E-17FD-B403-1579-B5B7CEDE12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3705B8-B99F-81A6-82FC-98DA2DF2E6D4}"/>
              </a:ext>
            </a:extLst>
          </p:cNvPr>
          <p:cNvSpPr>
            <a:spLocks noGrp="1"/>
          </p:cNvSpPr>
          <p:nvPr>
            <p:ph type="dt" sz="half" idx="10"/>
          </p:nvPr>
        </p:nvSpPr>
        <p:spPr/>
        <p:txBody>
          <a:bodyPr/>
          <a:lstStyle/>
          <a:p>
            <a:fld id="{C9E3DFCD-0654-4AF4-B5F5-60ABDA0E2B23}" type="datetimeFigureOut">
              <a:rPr lang="en-US" smtClean="0"/>
              <a:t>9/18/2026</a:t>
            </a:fld>
            <a:endParaRPr lang="en-US"/>
          </a:p>
        </p:txBody>
      </p:sp>
      <p:sp>
        <p:nvSpPr>
          <p:cNvPr id="5" name="Footer Placeholder 4">
            <a:extLst>
              <a:ext uri="{FF2B5EF4-FFF2-40B4-BE49-F238E27FC236}">
                <a16:creationId xmlns:a16="http://schemas.microsoft.com/office/drawing/2014/main" id="{17BAD05E-B8AA-9726-4AB6-D4009F384D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EBD8D0-28CA-39FD-D5EB-1C112FCF8E00}"/>
              </a:ext>
            </a:extLst>
          </p:cNvPr>
          <p:cNvSpPr>
            <a:spLocks noGrp="1"/>
          </p:cNvSpPr>
          <p:nvPr>
            <p:ph type="sldNum" sz="quarter" idx="12"/>
          </p:nvPr>
        </p:nvSpPr>
        <p:spPr/>
        <p:txBody>
          <a:bodyPr/>
          <a:lstStyle/>
          <a:p>
            <a:fld id="{415D36AB-27A6-4E98-8E31-06F8ACF8F211}" type="slidenum">
              <a:rPr lang="en-US" smtClean="0"/>
              <a:t>‹#›</a:t>
            </a:fld>
            <a:endParaRPr lang="en-US"/>
          </a:p>
        </p:txBody>
      </p:sp>
    </p:spTree>
    <p:extLst>
      <p:ext uri="{BB962C8B-B14F-4D97-AF65-F5344CB8AC3E}">
        <p14:creationId xmlns:p14="http://schemas.microsoft.com/office/powerpoint/2010/main" val="3672655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4E78C-F39F-35DA-4296-FEA69C4B3A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1D4AD62-833B-6AAE-C822-CA8ACE3BEE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6D0B09-746C-6832-061E-15FB5E893D8A}"/>
              </a:ext>
            </a:extLst>
          </p:cNvPr>
          <p:cNvSpPr>
            <a:spLocks noGrp="1"/>
          </p:cNvSpPr>
          <p:nvPr>
            <p:ph type="dt" sz="half" idx="10"/>
          </p:nvPr>
        </p:nvSpPr>
        <p:spPr/>
        <p:txBody>
          <a:bodyPr/>
          <a:lstStyle/>
          <a:p>
            <a:fld id="{C9E3DFCD-0654-4AF4-B5F5-60ABDA0E2B23}" type="datetimeFigureOut">
              <a:rPr lang="en-US" smtClean="0"/>
              <a:t>9/18/2026</a:t>
            </a:fld>
            <a:endParaRPr lang="en-US"/>
          </a:p>
        </p:txBody>
      </p:sp>
      <p:sp>
        <p:nvSpPr>
          <p:cNvPr id="5" name="Footer Placeholder 4">
            <a:extLst>
              <a:ext uri="{FF2B5EF4-FFF2-40B4-BE49-F238E27FC236}">
                <a16:creationId xmlns:a16="http://schemas.microsoft.com/office/drawing/2014/main" id="{08BD7E30-F9DC-AC6A-0AC2-650F789C9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1C9576-E2DC-44E9-FA12-7E8D8DD94017}"/>
              </a:ext>
            </a:extLst>
          </p:cNvPr>
          <p:cNvSpPr>
            <a:spLocks noGrp="1"/>
          </p:cNvSpPr>
          <p:nvPr>
            <p:ph type="sldNum" sz="quarter" idx="12"/>
          </p:nvPr>
        </p:nvSpPr>
        <p:spPr/>
        <p:txBody>
          <a:bodyPr/>
          <a:lstStyle/>
          <a:p>
            <a:fld id="{415D36AB-27A6-4E98-8E31-06F8ACF8F211}" type="slidenum">
              <a:rPr lang="en-US" smtClean="0"/>
              <a:t>‹#›</a:t>
            </a:fld>
            <a:endParaRPr lang="en-US"/>
          </a:p>
        </p:txBody>
      </p:sp>
    </p:spTree>
    <p:extLst>
      <p:ext uri="{BB962C8B-B14F-4D97-AF65-F5344CB8AC3E}">
        <p14:creationId xmlns:p14="http://schemas.microsoft.com/office/powerpoint/2010/main" val="1622142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872DA-1890-FB14-67FD-E327B472E3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454C15-4851-B976-3396-CDB2E16D4D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FA48D5-698D-89FB-28A7-8B793B401B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A717CB2-7840-8C58-2205-65663F4D5F38}"/>
              </a:ext>
            </a:extLst>
          </p:cNvPr>
          <p:cNvSpPr>
            <a:spLocks noGrp="1"/>
          </p:cNvSpPr>
          <p:nvPr>
            <p:ph type="dt" sz="half" idx="10"/>
          </p:nvPr>
        </p:nvSpPr>
        <p:spPr/>
        <p:txBody>
          <a:bodyPr/>
          <a:lstStyle/>
          <a:p>
            <a:fld id="{C9E3DFCD-0654-4AF4-B5F5-60ABDA0E2B23}" type="datetimeFigureOut">
              <a:rPr lang="en-US" smtClean="0"/>
              <a:t>9/18/2026</a:t>
            </a:fld>
            <a:endParaRPr lang="en-US"/>
          </a:p>
        </p:txBody>
      </p:sp>
      <p:sp>
        <p:nvSpPr>
          <p:cNvPr id="6" name="Footer Placeholder 5">
            <a:extLst>
              <a:ext uri="{FF2B5EF4-FFF2-40B4-BE49-F238E27FC236}">
                <a16:creationId xmlns:a16="http://schemas.microsoft.com/office/drawing/2014/main" id="{6241853D-649B-4ECE-2D38-8DD6268024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125EB6-CA1C-72F7-DF7A-BFDBF8E8209F}"/>
              </a:ext>
            </a:extLst>
          </p:cNvPr>
          <p:cNvSpPr>
            <a:spLocks noGrp="1"/>
          </p:cNvSpPr>
          <p:nvPr>
            <p:ph type="sldNum" sz="quarter" idx="12"/>
          </p:nvPr>
        </p:nvSpPr>
        <p:spPr/>
        <p:txBody>
          <a:bodyPr/>
          <a:lstStyle/>
          <a:p>
            <a:fld id="{415D36AB-27A6-4E98-8E31-06F8ACF8F211}" type="slidenum">
              <a:rPr lang="en-US" smtClean="0"/>
              <a:t>‹#›</a:t>
            </a:fld>
            <a:endParaRPr lang="en-US"/>
          </a:p>
        </p:txBody>
      </p:sp>
    </p:spTree>
    <p:extLst>
      <p:ext uri="{BB962C8B-B14F-4D97-AF65-F5344CB8AC3E}">
        <p14:creationId xmlns:p14="http://schemas.microsoft.com/office/powerpoint/2010/main" val="1387182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B9DCB-1302-5261-7AB7-5AC1725A30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CC2C99-45E4-B9BE-2A55-9EE0076B57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07A6A7-A5E4-5B0C-AC66-21CAF58F44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0FB940-DB80-0C21-37E9-3647FC7C7C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CAC2BB-7CBC-67C3-F51C-21913FD703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0537FC-5898-1BAB-080D-9786BCEA0017}"/>
              </a:ext>
            </a:extLst>
          </p:cNvPr>
          <p:cNvSpPr>
            <a:spLocks noGrp="1"/>
          </p:cNvSpPr>
          <p:nvPr>
            <p:ph type="dt" sz="half" idx="10"/>
          </p:nvPr>
        </p:nvSpPr>
        <p:spPr/>
        <p:txBody>
          <a:bodyPr/>
          <a:lstStyle/>
          <a:p>
            <a:fld id="{C9E3DFCD-0654-4AF4-B5F5-60ABDA0E2B23}" type="datetimeFigureOut">
              <a:rPr lang="en-US" smtClean="0"/>
              <a:t>9/18/2026</a:t>
            </a:fld>
            <a:endParaRPr lang="en-US"/>
          </a:p>
        </p:txBody>
      </p:sp>
      <p:sp>
        <p:nvSpPr>
          <p:cNvPr id="8" name="Footer Placeholder 7">
            <a:extLst>
              <a:ext uri="{FF2B5EF4-FFF2-40B4-BE49-F238E27FC236}">
                <a16:creationId xmlns:a16="http://schemas.microsoft.com/office/drawing/2014/main" id="{8862CBBA-E123-1704-15EA-357D3B5A5C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3C0C2F-1D62-A401-6244-EB0C6A491881}"/>
              </a:ext>
            </a:extLst>
          </p:cNvPr>
          <p:cNvSpPr>
            <a:spLocks noGrp="1"/>
          </p:cNvSpPr>
          <p:nvPr>
            <p:ph type="sldNum" sz="quarter" idx="12"/>
          </p:nvPr>
        </p:nvSpPr>
        <p:spPr/>
        <p:txBody>
          <a:bodyPr/>
          <a:lstStyle/>
          <a:p>
            <a:fld id="{415D36AB-27A6-4E98-8E31-06F8ACF8F211}" type="slidenum">
              <a:rPr lang="en-US" smtClean="0"/>
              <a:t>‹#›</a:t>
            </a:fld>
            <a:endParaRPr lang="en-US"/>
          </a:p>
        </p:txBody>
      </p:sp>
    </p:spTree>
    <p:extLst>
      <p:ext uri="{BB962C8B-B14F-4D97-AF65-F5344CB8AC3E}">
        <p14:creationId xmlns:p14="http://schemas.microsoft.com/office/powerpoint/2010/main" val="206874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1A1A3-BC83-44A2-A294-108F7A3586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5D250F-3782-2EA0-813B-4034F280B27A}"/>
              </a:ext>
            </a:extLst>
          </p:cNvPr>
          <p:cNvSpPr>
            <a:spLocks noGrp="1"/>
          </p:cNvSpPr>
          <p:nvPr>
            <p:ph type="dt" sz="half" idx="10"/>
          </p:nvPr>
        </p:nvSpPr>
        <p:spPr/>
        <p:txBody>
          <a:bodyPr/>
          <a:lstStyle/>
          <a:p>
            <a:fld id="{C9E3DFCD-0654-4AF4-B5F5-60ABDA0E2B23}" type="datetimeFigureOut">
              <a:rPr lang="en-US" smtClean="0"/>
              <a:t>9/18/2026</a:t>
            </a:fld>
            <a:endParaRPr lang="en-US"/>
          </a:p>
        </p:txBody>
      </p:sp>
      <p:sp>
        <p:nvSpPr>
          <p:cNvPr id="4" name="Footer Placeholder 3">
            <a:extLst>
              <a:ext uri="{FF2B5EF4-FFF2-40B4-BE49-F238E27FC236}">
                <a16:creationId xmlns:a16="http://schemas.microsoft.com/office/drawing/2014/main" id="{217EF5A7-55EF-19ED-ADB4-33E4C713E1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76B7ED2-19BD-8B4F-839E-98CD38176477}"/>
              </a:ext>
            </a:extLst>
          </p:cNvPr>
          <p:cNvSpPr>
            <a:spLocks noGrp="1"/>
          </p:cNvSpPr>
          <p:nvPr>
            <p:ph type="sldNum" sz="quarter" idx="12"/>
          </p:nvPr>
        </p:nvSpPr>
        <p:spPr/>
        <p:txBody>
          <a:bodyPr/>
          <a:lstStyle/>
          <a:p>
            <a:fld id="{415D36AB-27A6-4E98-8E31-06F8ACF8F211}" type="slidenum">
              <a:rPr lang="en-US" smtClean="0"/>
              <a:t>‹#›</a:t>
            </a:fld>
            <a:endParaRPr lang="en-US"/>
          </a:p>
        </p:txBody>
      </p:sp>
    </p:spTree>
    <p:extLst>
      <p:ext uri="{BB962C8B-B14F-4D97-AF65-F5344CB8AC3E}">
        <p14:creationId xmlns:p14="http://schemas.microsoft.com/office/powerpoint/2010/main" val="1659113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3C6B94-404C-162E-49F9-8631EF6A474A}"/>
              </a:ext>
            </a:extLst>
          </p:cNvPr>
          <p:cNvSpPr>
            <a:spLocks noGrp="1"/>
          </p:cNvSpPr>
          <p:nvPr>
            <p:ph type="dt" sz="half" idx="10"/>
          </p:nvPr>
        </p:nvSpPr>
        <p:spPr/>
        <p:txBody>
          <a:bodyPr/>
          <a:lstStyle/>
          <a:p>
            <a:fld id="{C9E3DFCD-0654-4AF4-B5F5-60ABDA0E2B23}" type="datetimeFigureOut">
              <a:rPr lang="en-US" smtClean="0"/>
              <a:t>9/18/2026</a:t>
            </a:fld>
            <a:endParaRPr lang="en-US"/>
          </a:p>
        </p:txBody>
      </p:sp>
      <p:sp>
        <p:nvSpPr>
          <p:cNvPr id="3" name="Footer Placeholder 2">
            <a:extLst>
              <a:ext uri="{FF2B5EF4-FFF2-40B4-BE49-F238E27FC236}">
                <a16:creationId xmlns:a16="http://schemas.microsoft.com/office/drawing/2014/main" id="{4C93D2DD-11BC-1E69-7F85-3B0E1C08CBD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D7C890-FFA9-3BFD-14AB-921BFD5399D4}"/>
              </a:ext>
            </a:extLst>
          </p:cNvPr>
          <p:cNvSpPr>
            <a:spLocks noGrp="1"/>
          </p:cNvSpPr>
          <p:nvPr>
            <p:ph type="sldNum" sz="quarter" idx="12"/>
          </p:nvPr>
        </p:nvSpPr>
        <p:spPr/>
        <p:txBody>
          <a:bodyPr/>
          <a:lstStyle/>
          <a:p>
            <a:fld id="{415D36AB-27A6-4E98-8E31-06F8ACF8F211}" type="slidenum">
              <a:rPr lang="en-US" smtClean="0"/>
              <a:t>‹#›</a:t>
            </a:fld>
            <a:endParaRPr lang="en-US"/>
          </a:p>
        </p:txBody>
      </p:sp>
    </p:spTree>
    <p:extLst>
      <p:ext uri="{BB962C8B-B14F-4D97-AF65-F5344CB8AC3E}">
        <p14:creationId xmlns:p14="http://schemas.microsoft.com/office/powerpoint/2010/main" val="2769093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63BED-A3D9-A4B7-802B-A431291476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192E4E-6E56-C7F8-C1F9-32C05D58A0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89A71E-0781-2A71-D2E4-769758E619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3E7BD5-D91A-2D06-9228-0C258C171654}"/>
              </a:ext>
            </a:extLst>
          </p:cNvPr>
          <p:cNvSpPr>
            <a:spLocks noGrp="1"/>
          </p:cNvSpPr>
          <p:nvPr>
            <p:ph type="dt" sz="half" idx="10"/>
          </p:nvPr>
        </p:nvSpPr>
        <p:spPr/>
        <p:txBody>
          <a:bodyPr/>
          <a:lstStyle/>
          <a:p>
            <a:fld id="{C9E3DFCD-0654-4AF4-B5F5-60ABDA0E2B23}" type="datetimeFigureOut">
              <a:rPr lang="en-US" smtClean="0"/>
              <a:t>9/18/2026</a:t>
            </a:fld>
            <a:endParaRPr lang="en-US"/>
          </a:p>
        </p:txBody>
      </p:sp>
      <p:sp>
        <p:nvSpPr>
          <p:cNvPr id="6" name="Footer Placeholder 5">
            <a:extLst>
              <a:ext uri="{FF2B5EF4-FFF2-40B4-BE49-F238E27FC236}">
                <a16:creationId xmlns:a16="http://schemas.microsoft.com/office/drawing/2014/main" id="{2B9694CF-BE01-5A06-A462-4562A979DB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1514CE-2AEE-C418-08E8-0AE736087363}"/>
              </a:ext>
            </a:extLst>
          </p:cNvPr>
          <p:cNvSpPr>
            <a:spLocks noGrp="1"/>
          </p:cNvSpPr>
          <p:nvPr>
            <p:ph type="sldNum" sz="quarter" idx="12"/>
          </p:nvPr>
        </p:nvSpPr>
        <p:spPr/>
        <p:txBody>
          <a:bodyPr/>
          <a:lstStyle/>
          <a:p>
            <a:fld id="{415D36AB-27A6-4E98-8E31-06F8ACF8F211}" type="slidenum">
              <a:rPr lang="en-US" smtClean="0"/>
              <a:t>‹#›</a:t>
            </a:fld>
            <a:endParaRPr lang="en-US"/>
          </a:p>
        </p:txBody>
      </p:sp>
    </p:spTree>
    <p:extLst>
      <p:ext uri="{BB962C8B-B14F-4D97-AF65-F5344CB8AC3E}">
        <p14:creationId xmlns:p14="http://schemas.microsoft.com/office/powerpoint/2010/main" val="3960779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05B26-8B3E-1091-4983-3DD15BD144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EEC2AE-F73B-7234-863A-B6AFD64E43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781592A-ADBB-2752-D9D2-334B5BDB23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9996CB-0F83-499E-8AD9-AE5A3E4CC5CB}"/>
              </a:ext>
            </a:extLst>
          </p:cNvPr>
          <p:cNvSpPr>
            <a:spLocks noGrp="1"/>
          </p:cNvSpPr>
          <p:nvPr>
            <p:ph type="dt" sz="half" idx="10"/>
          </p:nvPr>
        </p:nvSpPr>
        <p:spPr/>
        <p:txBody>
          <a:bodyPr/>
          <a:lstStyle/>
          <a:p>
            <a:fld id="{C9E3DFCD-0654-4AF4-B5F5-60ABDA0E2B23}" type="datetimeFigureOut">
              <a:rPr lang="en-US" smtClean="0"/>
              <a:t>9/18/2026</a:t>
            </a:fld>
            <a:endParaRPr lang="en-US"/>
          </a:p>
        </p:txBody>
      </p:sp>
      <p:sp>
        <p:nvSpPr>
          <p:cNvPr id="6" name="Footer Placeholder 5">
            <a:extLst>
              <a:ext uri="{FF2B5EF4-FFF2-40B4-BE49-F238E27FC236}">
                <a16:creationId xmlns:a16="http://schemas.microsoft.com/office/drawing/2014/main" id="{7FB430B1-A4DF-0E4F-1810-60E4817993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BB0D64-C4D8-6846-0AEF-981F1AFBCFFD}"/>
              </a:ext>
            </a:extLst>
          </p:cNvPr>
          <p:cNvSpPr>
            <a:spLocks noGrp="1"/>
          </p:cNvSpPr>
          <p:nvPr>
            <p:ph type="sldNum" sz="quarter" idx="12"/>
          </p:nvPr>
        </p:nvSpPr>
        <p:spPr/>
        <p:txBody>
          <a:bodyPr/>
          <a:lstStyle/>
          <a:p>
            <a:fld id="{415D36AB-27A6-4E98-8E31-06F8ACF8F211}" type="slidenum">
              <a:rPr lang="en-US" smtClean="0"/>
              <a:t>‹#›</a:t>
            </a:fld>
            <a:endParaRPr lang="en-US"/>
          </a:p>
        </p:txBody>
      </p:sp>
    </p:spTree>
    <p:extLst>
      <p:ext uri="{BB962C8B-B14F-4D97-AF65-F5344CB8AC3E}">
        <p14:creationId xmlns:p14="http://schemas.microsoft.com/office/powerpoint/2010/main" val="2139270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17B7-2061-093A-18D1-F574B68CE5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D01D72-932D-7288-8EE6-742C63275E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C149E0-C424-C7C2-0AF4-6F37725EBBC3}"/>
              </a:ext>
            </a:extLst>
          </p:cNvPr>
          <p:cNvSpPr>
            <a:spLocks noGrp="1"/>
          </p:cNvSpPr>
          <p:nvPr>
            <p:ph type="dt" sz="half" idx="10"/>
          </p:nvPr>
        </p:nvSpPr>
        <p:spPr/>
        <p:txBody>
          <a:bodyPr/>
          <a:lstStyle/>
          <a:p>
            <a:fld id="{C9E3DFCD-0654-4AF4-B5F5-60ABDA0E2B23}" type="datetimeFigureOut">
              <a:rPr lang="en-US" smtClean="0"/>
              <a:t>9/18/2026</a:t>
            </a:fld>
            <a:endParaRPr lang="en-US"/>
          </a:p>
        </p:txBody>
      </p:sp>
      <p:sp>
        <p:nvSpPr>
          <p:cNvPr id="5" name="Footer Placeholder 4">
            <a:extLst>
              <a:ext uri="{FF2B5EF4-FFF2-40B4-BE49-F238E27FC236}">
                <a16:creationId xmlns:a16="http://schemas.microsoft.com/office/drawing/2014/main" id="{10DFC8EE-90C9-13FE-FC60-A33C70D856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8DBE6F-78FA-8370-11BF-8C3BE1B364B5}"/>
              </a:ext>
            </a:extLst>
          </p:cNvPr>
          <p:cNvSpPr>
            <a:spLocks noGrp="1"/>
          </p:cNvSpPr>
          <p:nvPr>
            <p:ph type="sldNum" sz="quarter" idx="12"/>
          </p:nvPr>
        </p:nvSpPr>
        <p:spPr/>
        <p:txBody>
          <a:bodyPr/>
          <a:lstStyle/>
          <a:p>
            <a:fld id="{415D36AB-27A6-4E98-8E31-06F8ACF8F211}" type="slidenum">
              <a:rPr lang="en-US" smtClean="0"/>
              <a:t>‹#›</a:t>
            </a:fld>
            <a:endParaRPr lang="en-US"/>
          </a:p>
        </p:txBody>
      </p:sp>
    </p:spTree>
    <p:extLst>
      <p:ext uri="{BB962C8B-B14F-4D97-AF65-F5344CB8AC3E}">
        <p14:creationId xmlns:p14="http://schemas.microsoft.com/office/powerpoint/2010/main" val="2106067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E5020F-1BD0-6E8F-872E-35D4C9D3A4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342BB0-16AA-E1DB-AF66-28BD472227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848F49-67AC-27F4-8D5F-744B888C0BC8}"/>
              </a:ext>
            </a:extLst>
          </p:cNvPr>
          <p:cNvSpPr>
            <a:spLocks noGrp="1"/>
          </p:cNvSpPr>
          <p:nvPr>
            <p:ph type="dt" sz="half" idx="10"/>
          </p:nvPr>
        </p:nvSpPr>
        <p:spPr/>
        <p:txBody>
          <a:bodyPr/>
          <a:lstStyle/>
          <a:p>
            <a:fld id="{C9E3DFCD-0654-4AF4-B5F5-60ABDA0E2B23}" type="datetimeFigureOut">
              <a:rPr lang="en-US" smtClean="0"/>
              <a:t>9/18/2026</a:t>
            </a:fld>
            <a:endParaRPr lang="en-US"/>
          </a:p>
        </p:txBody>
      </p:sp>
      <p:sp>
        <p:nvSpPr>
          <p:cNvPr id="5" name="Footer Placeholder 4">
            <a:extLst>
              <a:ext uri="{FF2B5EF4-FFF2-40B4-BE49-F238E27FC236}">
                <a16:creationId xmlns:a16="http://schemas.microsoft.com/office/drawing/2014/main" id="{B78F6AAD-A9A4-F591-265F-188CFEAB89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70841E-3935-A0CD-42F3-DCF3D2C2FDDD}"/>
              </a:ext>
            </a:extLst>
          </p:cNvPr>
          <p:cNvSpPr>
            <a:spLocks noGrp="1"/>
          </p:cNvSpPr>
          <p:nvPr>
            <p:ph type="sldNum" sz="quarter" idx="12"/>
          </p:nvPr>
        </p:nvSpPr>
        <p:spPr/>
        <p:txBody>
          <a:bodyPr/>
          <a:lstStyle/>
          <a:p>
            <a:fld id="{415D36AB-27A6-4E98-8E31-06F8ACF8F211}" type="slidenum">
              <a:rPr lang="en-US" smtClean="0"/>
              <a:t>‹#›</a:t>
            </a:fld>
            <a:endParaRPr lang="en-US"/>
          </a:p>
        </p:txBody>
      </p:sp>
    </p:spTree>
    <p:extLst>
      <p:ext uri="{BB962C8B-B14F-4D97-AF65-F5344CB8AC3E}">
        <p14:creationId xmlns:p14="http://schemas.microsoft.com/office/powerpoint/2010/main" val="898016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D0492E-1EB7-B300-67AE-BECD679F61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2DFC80-D32A-4F75-82BF-D079A5CE7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E5E399-C359-EB08-E160-596EA5D853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E3DFCD-0654-4AF4-B5F5-60ABDA0E2B23}" type="datetimeFigureOut">
              <a:rPr lang="en-US" smtClean="0"/>
              <a:t>9/18/2026</a:t>
            </a:fld>
            <a:endParaRPr lang="en-US"/>
          </a:p>
        </p:txBody>
      </p:sp>
      <p:sp>
        <p:nvSpPr>
          <p:cNvPr id="5" name="Footer Placeholder 4">
            <a:extLst>
              <a:ext uri="{FF2B5EF4-FFF2-40B4-BE49-F238E27FC236}">
                <a16:creationId xmlns:a16="http://schemas.microsoft.com/office/drawing/2014/main" id="{BF0320B1-76F2-787D-B4FC-C3C5540A66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4EE760-4046-AC2B-BE45-6C3AD711B0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5D36AB-27A6-4E98-8E31-06F8ACF8F211}" type="slidenum">
              <a:rPr lang="en-US" smtClean="0"/>
              <a:t>‹#›</a:t>
            </a:fld>
            <a:endParaRPr lang="en-US"/>
          </a:p>
        </p:txBody>
      </p:sp>
    </p:spTree>
    <p:extLst>
      <p:ext uri="{BB962C8B-B14F-4D97-AF65-F5344CB8AC3E}">
        <p14:creationId xmlns:p14="http://schemas.microsoft.com/office/powerpoint/2010/main" val="2164918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72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0AD53C-C861-6807-DC3C-BDCDD7CD1567}"/>
              </a:ext>
            </a:extLst>
          </p:cNvPr>
          <p:cNvSpPr/>
          <p:nvPr/>
        </p:nvSpPr>
        <p:spPr>
          <a:xfrm>
            <a:off x="609600" y="838200"/>
            <a:ext cx="609600" cy="635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1FD92F2-44D2-47D1-4B54-C0F8B7CFBDE8}"/>
              </a:ext>
            </a:extLst>
          </p:cNvPr>
          <p:cNvSpPr txBox="1"/>
          <p:nvPr/>
        </p:nvSpPr>
        <p:spPr>
          <a:xfrm>
            <a:off x="609600" y="1041400"/>
            <a:ext cx="5486400" cy="276999"/>
          </a:xfrm>
          <a:prstGeom prst="rect">
            <a:avLst/>
          </a:prstGeom>
          <a:noFill/>
        </p:spPr>
        <p:txBody>
          <a:bodyPr vert="horz" rtlCol="0">
            <a:spAutoFit/>
          </a:bodyPr>
          <a:lstStyle/>
          <a:p>
            <a:r>
              <a:rPr lang="vi-VN" sz="1200" b="1">
                <a:solidFill>
                  <a:srgbClr val="0D9488"/>
                </a:solidFill>
                <a:latin typeface="Segoe UI" panose="020B0502040204020203" pitchFamily="34" charset="0"/>
              </a:rPr>
              <a:t>CHƯƠNG TRÌNH ĐÀO TẠO DÂN SỐ HỌC  •  TỔNG QUAN CHUYÊN ĐỀ</a:t>
            </a:r>
            <a:endParaRPr lang="en-US" sz="1200" b="1">
              <a:solidFill>
                <a:srgbClr val="0D9488"/>
              </a:solidFill>
              <a:latin typeface="Segoe UI" panose="020B0502040204020203" pitchFamily="34" charset="0"/>
            </a:endParaRPr>
          </a:p>
        </p:txBody>
      </p:sp>
      <p:sp>
        <p:nvSpPr>
          <p:cNvPr id="4" name="TextBox 3">
            <a:extLst>
              <a:ext uri="{FF2B5EF4-FFF2-40B4-BE49-F238E27FC236}">
                <a16:creationId xmlns:a16="http://schemas.microsoft.com/office/drawing/2014/main" id="{C178B97A-7868-D8A6-4909-C47761E7A536}"/>
              </a:ext>
            </a:extLst>
          </p:cNvPr>
          <p:cNvSpPr txBox="1"/>
          <p:nvPr/>
        </p:nvSpPr>
        <p:spPr>
          <a:xfrm>
            <a:off x="609600" y="1447800"/>
            <a:ext cx="5486400" cy="1661993"/>
          </a:xfrm>
          <a:prstGeom prst="rect">
            <a:avLst/>
          </a:prstGeom>
          <a:noFill/>
        </p:spPr>
        <p:txBody>
          <a:bodyPr vert="horz" wrap="square" lIns="0" rtlCol="0">
            <a:spAutoFit/>
          </a:bodyPr>
          <a:lstStyle/>
          <a:p>
            <a:r>
              <a:rPr lang="en-US" sz="3400" b="1">
                <a:solidFill>
                  <a:srgbClr val="FFFFFF"/>
                </a:solidFill>
                <a:latin typeface="Segoe UI" panose="020B0502040204020203" pitchFamily="34" charset="0"/>
              </a:rPr>
              <a:t>BÀI 3: BIẾN ĐỘNG TỰ NHIÊN DÂN SỐ: MỨC SINH VÀ MỨC CHẾT</a:t>
            </a:r>
          </a:p>
        </p:txBody>
      </p:sp>
      <p:sp>
        <p:nvSpPr>
          <p:cNvPr id="5" name="TextBox 4">
            <a:extLst>
              <a:ext uri="{FF2B5EF4-FFF2-40B4-BE49-F238E27FC236}">
                <a16:creationId xmlns:a16="http://schemas.microsoft.com/office/drawing/2014/main" id="{A686C679-8F32-D93B-82DC-2874C8B56E1E}"/>
              </a:ext>
            </a:extLst>
          </p:cNvPr>
          <p:cNvSpPr txBox="1"/>
          <p:nvPr/>
        </p:nvSpPr>
        <p:spPr>
          <a:xfrm>
            <a:off x="609600" y="3187700"/>
            <a:ext cx="5486400" cy="584775"/>
          </a:xfrm>
          <a:prstGeom prst="rect">
            <a:avLst/>
          </a:prstGeom>
          <a:noFill/>
        </p:spPr>
        <p:txBody>
          <a:bodyPr vert="horz" wrap="square" lIns="0" rtlCol="0">
            <a:spAutoFit/>
          </a:bodyPr>
          <a:lstStyle/>
          <a:p>
            <a:r>
              <a:rPr lang="vi-VN" sz="1600">
                <a:solidFill>
                  <a:srgbClr val="E2E8F0"/>
                </a:solidFill>
                <a:latin typeface="Segoe UI" panose="020B0502040204020203" pitchFamily="34" charset="0"/>
              </a:rPr>
              <a:t>Các thước đo khoa học về sinh - chết, mức sinh thay thế, mất cân bằng giới tính khi sinh và các yếu tố quyết định.</a:t>
            </a:r>
            <a:endParaRPr lang="en-US" sz="1600">
              <a:solidFill>
                <a:srgbClr val="E2E8F0"/>
              </a:solidFill>
              <a:latin typeface="Segoe UI" panose="020B0502040204020203" pitchFamily="34" charset="0"/>
            </a:endParaRPr>
          </a:p>
        </p:txBody>
      </p:sp>
      <p:grpSp>
        <p:nvGrpSpPr>
          <p:cNvPr id="9" name="Group 8">
            <a:extLst>
              <a:ext uri="{FF2B5EF4-FFF2-40B4-BE49-F238E27FC236}">
                <a16:creationId xmlns:a16="http://schemas.microsoft.com/office/drawing/2014/main" id="{6F6492A1-E783-6801-50BB-5D609081EC27}"/>
              </a:ext>
            </a:extLst>
          </p:cNvPr>
          <p:cNvGrpSpPr/>
          <p:nvPr/>
        </p:nvGrpSpPr>
        <p:grpSpPr>
          <a:xfrm>
            <a:off x="6400800" y="952500"/>
            <a:ext cx="5181600" cy="4572000"/>
            <a:chOff x="6400800" y="952500"/>
            <a:chExt cx="5181600" cy="4572000"/>
          </a:xfrm>
        </p:grpSpPr>
        <p:sp>
          <p:nvSpPr>
            <p:cNvPr id="6" name="Rectangle: Rounded Corners 5">
              <a:extLst>
                <a:ext uri="{FF2B5EF4-FFF2-40B4-BE49-F238E27FC236}">
                  <a16:creationId xmlns:a16="http://schemas.microsoft.com/office/drawing/2014/main" id="{AFC2DE3E-8372-32F0-FACB-073E362C8053}"/>
                </a:ext>
              </a:extLst>
            </p:cNvPr>
            <p:cNvSpPr/>
            <p:nvPr/>
          </p:nvSpPr>
          <p:spPr>
            <a:xfrm>
              <a:off x="6400800" y="952500"/>
              <a:ext cx="5181600" cy="4572000"/>
            </a:xfrm>
            <a:prstGeom prst="roundRect">
              <a:avLst/>
            </a:prstGeom>
            <a:solidFill>
              <a:srgbClr val="0B1E38"/>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0187ECE1-47E0-93C7-9385-996A4BF26922}"/>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477000" y="1028700"/>
              <a:ext cx="5029200" cy="4419600"/>
            </a:xfrm>
            <a:prstGeom prst="rect">
              <a:avLst/>
            </a:prstGeom>
          </p:spPr>
        </p:pic>
      </p:grpSp>
      <p:sp>
        <p:nvSpPr>
          <p:cNvPr id="10" name="TextBox 9">
            <a:extLst>
              <a:ext uri="{FF2B5EF4-FFF2-40B4-BE49-F238E27FC236}">
                <a16:creationId xmlns:a16="http://schemas.microsoft.com/office/drawing/2014/main" id="{081CF610-1CA8-423E-1256-F6366A499847}"/>
              </a:ext>
            </a:extLst>
          </p:cNvPr>
          <p:cNvSpPr txBox="1"/>
          <p:nvPr/>
        </p:nvSpPr>
        <p:spPr>
          <a:xfrm>
            <a:off x="609600" y="61976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Hệ Thống Bài Giảng Dân Số Học Chuẩn Hóa • Make Slide Pro V6.2 Certified</a:t>
            </a:r>
          </a:p>
        </p:txBody>
      </p:sp>
    </p:spTree>
    <p:extLst>
      <p:ext uri="{BB962C8B-B14F-4D97-AF65-F5344CB8AC3E}">
        <p14:creationId xmlns:p14="http://schemas.microsoft.com/office/powerpoint/2010/main" val="2803208981"/>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AF247605-953E-9999-30BD-E8BBCE5FF4C8}"/>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MỤC TIÊU BÀI HỌC  •  TRỌNG TÂM</a:t>
            </a:r>
          </a:p>
        </p:txBody>
      </p:sp>
      <p:sp>
        <p:nvSpPr>
          <p:cNvPr id="3" name="!!Anchor_Slide_Tracker">
            <a:extLst>
              <a:ext uri="{FF2B5EF4-FFF2-40B4-BE49-F238E27FC236}">
                <a16:creationId xmlns:a16="http://schemas.microsoft.com/office/drawing/2014/main" id="{539B96D5-87EF-2ACE-6684-53BF17368BCA}"/>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475569"/>
                </a:solidFill>
                <a:latin typeface="Bahnschrift" panose="020B0502040204020203" pitchFamily="34" charset="0"/>
              </a:rPr>
              <a:t>02 / 07</a:t>
            </a:r>
          </a:p>
        </p:txBody>
      </p:sp>
      <p:sp>
        <p:nvSpPr>
          <p:cNvPr id="4" name="!!Anchor_Assertion_Title">
            <a:extLst>
              <a:ext uri="{FF2B5EF4-FFF2-40B4-BE49-F238E27FC236}">
                <a16:creationId xmlns:a16="http://schemas.microsoft.com/office/drawing/2014/main" id="{03CE31D7-ED7C-0AB3-11A3-1DB4803A807D}"/>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Năng Lực Đo Lường Mức Sinh, Mức Chết Và Phân Tích Yếu Tố Ảnh Hưởng</a:t>
            </a:r>
            <a:endParaRPr lang="en-US" sz="2400" b="1">
              <a:solidFill>
                <a:srgbClr val="0F172A"/>
              </a:solidFill>
              <a:latin typeface="Segoe UI" panose="020B0502040204020203" pitchFamily="34" charset="0"/>
            </a:endParaRPr>
          </a:p>
        </p:txBody>
      </p:sp>
      <p:grpSp>
        <p:nvGrpSpPr>
          <p:cNvPr id="11" name="!!Stage_Hero_Container">
            <a:extLst>
              <a:ext uri="{FF2B5EF4-FFF2-40B4-BE49-F238E27FC236}">
                <a16:creationId xmlns:a16="http://schemas.microsoft.com/office/drawing/2014/main" id="{1C697F1C-6C63-7601-9434-82E6130F11F0}"/>
              </a:ext>
            </a:extLst>
          </p:cNvPr>
          <p:cNvGrpSpPr/>
          <p:nvPr/>
        </p:nvGrpSpPr>
        <p:grpSpPr>
          <a:xfrm>
            <a:off x="609600" y="1676400"/>
            <a:ext cx="6035040" cy="4521200"/>
            <a:chOff x="609600" y="1676400"/>
            <a:chExt cx="6035040" cy="4521200"/>
          </a:xfrm>
        </p:grpSpPr>
        <p:sp>
          <p:nvSpPr>
            <p:cNvPr id="5" name="Rectangle: Rounded Corners 4">
              <a:extLst>
                <a:ext uri="{FF2B5EF4-FFF2-40B4-BE49-F238E27FC236}">
                  <a16:creationId xmlns:a16="http://schemas.microsoft.com/office/drawing/2014/main" id="{E7431A83-87A5-5EA7-6CF1-B64098535518}"/>
                </a:ext>
              </a:extLst>
            </p:cNvPr>
            <p:cNvSpPr/>
            <p:nvPr/>
          </p:nvSpPr>
          <p:spPr>
            <a:xfrm>
              <a:off x="609600" y="1676400"/>
              <a:ext cx="6035040" cy="45212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80112549-308D-2180-9F36-0061613A0BB9}"/>
                </a:ext>
              </a:extLst>
            </p:cNvPr>
            <p:cNvSpPr/>
            <p:nvPr/>
          </p:nvSpPr>
          <p:spPr>
            <a:xfrm>
              <a:off x="863600" y="1905000"/>
              <a:ext cx="1524000" cy="2794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0284C7"/>
                  </a:solidFill>
                  <a:latin typeface="Segoe UI" panose="020B0502040204020203" pitchFamily="34" charset="0"/>
                </a:rPr>
                <a:t>TRỌNG TÂM CỐT LÕI</a:t>
              </a:r>
            </a:p>
          </p:txBody>
        </p:sp>
        <p:sp>
          <p:nvSpPr>
            <p:cNvPr id="7" name="Oval 6">
              <a:extLst>
                <a:ext uri="{FF2B5EF4-FFF2-40B4-BE49-F238E27FC236}">
                  <a16:creationId xmlns:a16="http://schemas.microsoft.com/office/drawing/2014/main" id="{BF9747CD-561F-B6D7-4C1B-90C8F3FCF9ED}"/>
                </a:ext>
              </a:extLst>
            </p:cNvPr>
            <p:cNvSpPr/>
            <p:nvPr/>
          </p:nvSpPr>
          <p:spPr>
            <a:xfrm>
              <a:off x="863600" y="2286000"/>
              <a:ext cx="482600" cy="4826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4BA46179-3FF6-43AD-30F5-8065B1C9F0E7}"/>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62200"/>
              <a:ext cx="330200" cy="330200"/>
            </a:xfrm>
            <a:prstGeom prst="rect">
              <a:avLst/>
            </a:prstGeom>
          </p:spPr>
        </p:pic>
        <p:sp>
          <p:nvSpPr>
            <p:cNvPr id="10" name="TextBox 9">
              <a:extLst>
                <a:ext uri="{FF2B5EF4-FFF2-40B4-BE49-F238E27FC236}">
                  <a16:creationId xmlns:a16="http://schemas.microsoft.com/office/drawing/2014/main" id="{04442012-CF49-1C8F-C4F3-7C81D71ECF2F}"/>
                </a:ext>
              </a:extLst>
            </p:cNvPr>
            <p:cNvSpPr txBox="1"/>
            <p:nvPr/>
          </p:nvSpPr>
          <p:spPr>
            <a:xfrm>
              <a:off x="863600" y="2870200"/>
              <a:ext cx="5527040" cy="1789529"/>
            </a:xfrm>
            <a:prstGeom prst="rect">
              <a:avLst/>
            </a:prstGeom>
            <a:noFill/>
          </p:spPr>
          <p:txBody>
            <a:bodyPr vert="horz" wrap="square" lIns="0" rtlCol="0">
              <a:spAutoFit/>
            </a:bodyPr>
            <a:lstStyle/>
            <a:p>
              <a:pPr>
                <a:lnSpc>
                  <a:spcPct val="130000"/>
                </a:lnSpc>
                <a:spcAft>
                  <a:spcPts val="1000"/>
                </a:spcAft>
              </a:pPr>
              <a:r>
                <a:rPr lang="vi-VN" sz="2000" b="1">
                  <a:solidFill>
                    <a:srgbClr val="0F172A"/>
                  </a:solidFill>
                  <a:latin typeface="Segoe UI" panose="020B0502040204020203" pitchFamily="34" charset="0"/>
                </a:rPr>
                <a:t>Mục Tiêu Đo Lường Sinh - Chết
</a:t>
              </a:r>
              <a:r>
                <a:rPr lang="vi-VN" sz="1500" b="1">
                  <a:solidFill>
                    <a:srgbClr val="475569"/>
                  </a:solidFill>
                  <a:latin typeface="Segoe UI" panose="020B0502040204020203" pitchFamily="34" charset="0"/>
                </a:rPr>
                <a:t>MỤC TIÊU: Sau khi học xong bài này học viên có khả năng làm chủ phương pháp tính CBR, ASFR, TFR, CDR, ASDR và IMR; hiểu rõ ý nghĩa mức sinh thay thế (TFR = 2.1 con/phụ nữ).</a:t>
              </a:r>
              <a:endParaRPr lang="en-US" sz="1500" b="1">
                <a:solidFill>
                  <a:srgbClr val="475569"/>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07709444-B56D-5123-7D17-77E759F03399}"/>
              </a:ext>
            </a:extLst>
          </p:cNvPr>
          <p:cNvGrpSpPr/>
          <p:nvPr/>
        </p:nvGrpSpPr>
        <p:grpSpPr>
          <a:xfrm>
            <a:off x="6873240" y="1676400"/>
            <a:ext cx="4709160" cy="2171700"/>
            <a:chOff x="6873240" y="1676400"/>
            <a:chExt cx="4709160" cy="2171700"/>
          </a:xfrm>
        </p:grpSpPr>
        <p:sp>
          <p:nvSpPr>
            <p:cNvPr id="12" name="Rectangle: Rounded Corners 11">
              <a:extLst>
                <a:ext uri="{FF2B5EF4-FFF2-40B4-BE49-F238E27FC236}">
                  <a16:creationId xmlns:a16="http://schemas.microsoft.com/office/drawing/2014/main" id="{ECFED65B-46E9-6F2F-09FB-F1358D4F8583}"/>
                </a:ext>
              </a:extLst>
            </p:cNvPr>
            <p:cNvSpPr/>
            <p:nvPr/>
          </p:nvSpPr>
          <p:spPr>
            <a:xfrm>
              <a:off x="6873240" y="1676400"/>
              <a:ext cx="4709160" cy="21717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6560C7D3-4D0A-8FA3-293B-424CA091B5D8}"/>
                </a:ext>
              </a:extLst>
            </p:cNvPr>
            <p:cNvSpPr/>
            <p:nvPr/>
          </p:nvSpPr>
          <p:spPr>
            <a:xfrm>
              <a:off x="7076440" y="1854200"/>
              <a:ext cx="10795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MỤC TIÊU 01</a:t>
              </a:r>
            </a:p>
          </p:txBody>
        </p:sp>
        <p:sp>
          <p:nvSpPr>
            <p:cNvPr id="14" name="Oval 13">
              <a:extLst>
                <a:ext uri="{FF2B5EF4-FFF2-40B4-BE49-F238E27FC236}">
                  <a16:creationId xmlns:a16="http://schemas.microsoft.com/office/drawing/2014/main" id="{DC7E8FAF-1F78-0CE6-99EC-95547F35E5F4}"/>
                </a:ext>
              </a:extLst>
            </p:cNvPr>
            <p:cNvSpPr/>
            <p:nvPr/>
          </p:nvSpPr>
          <p:spPr>
            <a:xfrm>
              <a:off x="7076440" y="21844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B752012E-7C8E-4F5C-C525-A8E5864898AA}"/>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139940" y="2247900"/>
              <a:ext cx="279400" cy="279400"/>
            </a:xfrm>
            <a:prstGeom prst="rect">
              <a:avLst/>
            </a:prstGeom>
          </p:spPr>
        </p:pic>
        <p:sp>
          <p:nvSpPr>
            <p:cNvPr id="17" name="TextBox 16">
              <a:extLst>
                <a:ext uri="{FF2B5EF4-FFF2-40B4-BE49-F238E27FC236}">
                  <a16:creationId xmlns:a16="http://schemas.microsoft.com/office/drawing/2014/main" id="{D4289EBF-29C5-BBDB-7A07-21B4B9CB5052}"/>
                </a:ext>
              </a:extLst>
            </p:cNvPr>
            <p:cNvSpPr txBox="1"/>
            <p:nvPr/>
          </p:nvSpPr>
          <p:spPr>
            <a:xfrm>
              <a:off x="7609840" y="2108200"/>
              <a:ext cx="3820160" cy="1205458"/>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1. Mức Sinh Thay Thế (TFR = 2.1)
</a:t>
              </a:r>
              <a:r>
                <a:rPr lang="vi-VN" sz="1400" b="1">
                  <a:solidFill>
                    <a:srgbClr val="475569"/>
                  </a:solidFill>
                  <a:latin typeface="Segoe UI" panose="020B0502040204020203" pitchFamily="34" charset="0"/>
                </a:rPr>
                <a:t>Phân tích tác động của việc giữ vững mức sinh thay thế đối với sự ổn định dân số và quy mô lực lượng lao động trong tương lai.</a:t>
              </a:r>
              <a:endParaRPr lang="en-US" sz="1400" b="1">
                <a:solidFill>
                  <a:srgbClr val="475569"/>
                </a:solidFill>
                <a:latin typeface="Segoe UI" panose="020B0502040204020203" pitchFamily="34" charset="0"/>
              </a:endParaRPr>
            </a:p>
          </p:txBody>
        </p:sp>
      </p:grpSp>
      <p:grpSp>
        <p:nvGrpSpPr>
          <p:cNvPr id="25" name="!!Stage_Sub_Card_2">
            <a:extLst>
              <a:ext uri="{FF2B5EF4-FFF2-40B4-BE49-F238E27FC236}">
                <a16:creationId xmlns:a16="http://schemas.microsoft.com/office/drawing/2014/main" id="{9863EEED-C9F9-2114-7B46-BF97FC35447C}"/>
              </a:ext>
            </a:extLst>
          </p:cNvPr>
          <p:cNvGrpSpPr/>
          <p:nvPr/>
        </p:nvGrpSpPr>
        <p:grpSpPr>
          <a:xfrm>
            <a:off x="6873240" y="4025900"/>
            <a:ext cx="4709160" cy="2171700"/>
            <a:chOff x="6873240" y="4025900"/>
            <a:chExt cx="4709160" cy="2171700"/>
          </a:xfrm>
        </p:grpSpPr>
        <p:sp>
          <p:nvSpPr>
            <p:cNvPr id="19" name="Rectangle: Rounded Corners 18">
              <a:extLst>
                <a:ext uri="{FF2B5EF4-FFF2-40B4-BE49-F238E27FC236}">
                  <a16:creationId xmlns:a16="http://schemas.microsoft.com/office/drawing/2014/main" id="{EE004A43-E4BA-0504-F8DB-D1345E658250}"/>
                </a:ext>
              </a:extLst>
            </p:cNvPr>
            <p:cNvSpPr/>
            <p:nvPr/>
          </p:nvSpPr>
          <p:spPr>
            <a:xfrm>
              <a:off x="6873240" y="4025900"/>
              <a:ext cx="4709160" cy="21717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53C5FC71-C0C8-8711-ECE9-CB456235F6AB}"/>
                </a:ext>
              </a:extLst>
            </p:cNvPr>
            <p:cNvSpPr/>
            <p:nvPr/>
          </p:nvSpPr>
          <p:spPr>
            <a:xfrm>
              <a:off x="7076440" y="4203700"/>
              <a:ext cx="10795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MỤC TIÊU 02</a:t>
              </a:r>
            </a:p>
          </p:txBody>
        </p:sp>
        <p:sp>
          <p:nvSpPr>
            <p:cNvPr id="21" name="Oval 20">
              <a:extLst>
                <a:ext uri="{FF2B5EF4-FFF2-40B4-BE49-F238E27FC236}">
                  <a16:creationId xmlns:a16="http://schemas.microsoft.com/office/drawing/2014/main" id="{48AC38E7-4EFD-90B3-4E9D-7EFC69BA10C2}"/>
                </a:ext>
              </a:extLst>
            </p:cNvPr>
            <p:cNvSpPr/>
            <p:nvPr/>
          </p:nvSpPr>
          <p:spPr>
            <a:xfrm>
              <a:off x="7076440" y="45339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F94EA79D-8AF0-E12B-BD25-F4F984A884FA}"/>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7139940" y="4597400"/>
              <a:ext cx="279400" cy="279400"/>
            </a:xfrm>
            <a:prstGeom prst="rect">
              <a:avLst/>
            </a:prstGeom>
          </p:spPr>
        </p:pic>
        <p:sp>
          <p:nvSpPr>
            <p:cNvPr id="24" name="TextBox 23">
              <a:extLst>
                <a:ext uri="{FF2B5EF4-FFF2-40B4-BE49-F238E27FC236}">
                  <a16:creationId xmlns:a16="http://schemas.microsoft.com/office/drawing/2014/main" id="{D23ED7D4-6EFE-8A38-6AA8-6F71A7880DB7}"/>
                </a:ext>
              </a:extLst>
            </p:cNvPr>
            <p:cNvSpPr txBox="1"/>
            <p:nvPr/>
          </p:nvSpPr>
          <p:spPr>
            <a:xfrm>
              <a:off x="7609840" y="4457700"/>
              <a:ext cx="38201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2. Chênh Lệch Mức Sinh &amp; SRB
</a:t>
              </a:r>
              <a:r>
                <a:rPr lang="vi-VN" sz="1400" b="1">
                  <a:solidFill>
                    <a:srgbClr val="475569"/>
                  </a:solidFill>
                  <a:latin typeface="Segoe UI" panose="020B0502040204020203" pitchFamily="34" charset="0"/>
                </a:rPr>
                <a:t>Đánh giá mức sinh giảm sâu tại Đông Nam Bộ và hiện tượng mất cân bằng tỷ số giới tính khi sinh (SRB) ở mức báo động.</a:t>
              </a:r>
              <a:endParaRPr lang="en-US" sz="1400" b="1">
                <a:solidFill>
                  <a:srgbClr val="475569"/>
                </a:solidFill>
                <a:latin typeface="Segoe UI" panose="020B0502040204020203" pitchFamily="34" charset="0"/>
              </a:endParaRPr>
            </a:p>
          </p:txBody>
        </p:sp>
      </p:grpSp>
      <p:sp>
        <p:nvSpPr>
          <p:cNvPr id="26" name="!!Anchor_Source_Footer">
            <a:extLst>
              <a:ext uri="{FF2B5EF4-FFF2-40B4-BE49-F238E27FC236}">
                <a16:creationId xmlns:a16="http://schemas.microsoft.com/office/drawing/2014/main" id="{1339A8EC-200A-6A81-E017-52410ED30572}"/>
              </a:ext>
            </a:extLst>
          </p:cNvPr>
          <p:cNvSpPr txBox="1"/>
          <p:nvPr/>
        </p:nvSpPr>
        <p:spPr>
          <a:xfrm>
            <a:off x="609600" y="62738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Khung chuẩn đầu ra chuyên đề  |  Make Slide Pro V6.2 Certified</a:t>
            </a:r>
          </a:p>
        </p:txBody>
      </p:sp>
    </p:spTree>
    <p:extLst>
      <p:ext uri="{BB962C8B-B14F-4D97-AF65-F5344CB8AC3E}">
        <p14:creationId xmlns:p14="http://schemas.microsoft.com/office/powerpoint/2010/main" val="13846563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7BD11427-5FAF-2942-A630-C611F829C672}"/>
              </a:ext>
            </a:extLst>
          </p:cNvPr>
          <p:cNvSpPr txBox="1"/>
          <p:nvPr/>
        </p:nvSpPr>
        <p:spPr>
          <a:xfrm>
            <a:off x="609600" y="457200"/>
            <a:ext cx="9956800" cy="276999"/>
          </a:xfrm>
          <a:prstGeom prst="rect">
            <a:avLst/>
          </a:prstGeom>
          <a:noFill/>
        </p:spPr>
        <p:txBody>
          <a:bodyPr vert="horz" rtlCol="0">
            <a:spAutoFit/>
          </a:bodyPr>
          <a:lstStyle/>
          <a:p>
            <a:r>
              <a:rPr lang="vi-VN" sz="1200" b="1">
                <a:solidFill>
                  <a:srgbClr val="0284C7"/>
                </a:solidFill>
                <a:latin typeface="Segoe UI" panose="020B0502040204020203" pitchFamily="34" charset="0"/>
              </a:rPr>
              <a:t>XU HƯỚNG MỨC SINH  •  TRỌNG TÂM</a:t>
            </a:r>
            <a:endParaRPr lang="en-US" sz="1200" b="1">
              <a:solidFill>
                <a:srgbClr val="0284C7"/>
              </a:solidFill>
              <a:latin typeface="Segoe UI" panose="020B0502040204020203" pitchFamily="34" charset="0"/>
            </a:endParaRPr>
          </a:p>
        </p:txBody>
      </p:sp>
      <p:sp>
        <p:nvSpPr>
          <p:cNvPr id="3" name="!!Anchor_Slide_Tracker">
            <a:extLst>
              <a:ext uri="{FF2B5EF4-FFF2-40B4-BE49-F238E27FC236}">
                <a16:creationId xmlns:a16="http://schemas.microsoft.com/office/drawing/2014/main" id="{7F532C59-5410-6D52-210D-2C3AA54A674E}"/>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475569"/>
                </a:solidFill>
                <a:latin typeface="Bahnschrift" panose="020B0502040204020203" pitchFamily="34" charset="0"/>
              </a:rPr>
              <a:t>03 / 07</a:t>
            </a:r>
          </a:p>
        </p:txBody>
      </p:sp>
      <p:sp>
        <p:nvSpPr>
          <p:cNvPr id="4" name="!!Anchor_Assertion_Title">
            <a:extLst>
              <a:ext uri="{FF2B5EF4-FFF2-40B4-BE49-F238E27FC236}">
                <a16:creationId xmlns:a16="http://schemas.microsoft.com/office/drawing/2014/main" id="{9EEF1AD6-082B-31AB-790C-E51AE63923C7}"/>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Tổng Tỷ Suất Sinh (TFR) Việt Nam Đang Chạm Ngưỡng Suy Giảm Sâu</a:t>
            </a:r>
            <a:endParaRPr lang="en-US" sz="2400" b="1">
              <a:solidFill>
                <a:srgbClr val="0F172A"/>
              </a:solidFill>
              <a:latin typeface="Segoe UI" panose="020B0502040204020203" pitchFamily="34" charset="0"/>
            </a:endParaRPr>
          </a:p>
        </p:txBody>
      </p:sp>
      <p:grpSp>
        <p:nvGrpSpPr>
          <p:cNvPr id="8" name="!!Stage_Hero_Container">
            <a:extLst>
              <a:ext uri="{FF2B5EF4-FFF2-40B4-BE49-F238E27FC236}">
                <a16:creationId xmlns:a16="http://schemas.microsoft.com/office/drawing/2014/main" id="{3732FABA-AC2E-7EE9-21E8-5B5DE3C37FE5}"/>
              </a:ext>
            </a:extLst>
          </p:cNvPr>
          <p:cNvGrpSpPr/>
          <p:nvPr/>
        </p:nvGrpSpPr>
        <p:grpSpPr>
          <a:xfrm>
            <a:off x="609600" y="1676400"/>
            <a:ext cx="5705856" cy="4521200"/>
            <a:chOff x="609600" y="1676400"/>
            <a:chExt cx="5705856" cy="4521200"/>
          </a:xfrm>
        </p:grpSpPr>
        <p:sp>
          <p:nvSpPr>
            <p:cNvPr id="5" name="Rectangle: Rounded Corners 4">
              <a:extLst>
                <a:ext uri="{FF2B5EF4-FFF2-40B4-BE49-F238E27FC236}">
                  <a16:creationId xmlns:a16="http://schemas.microsoft.com/office/drawing/2014/main" id="{C3FAFFF4-6AA7-69CB-8D60-0CB6B229213D}"/>
                </a:ext>
              </a:extLst>
            </p:cNvPr>
            <p:cNvSpPr/>
            <p:nvPr/>
          </p:nvSpPr>
          <p:spPr>
            <a:xfrm>
              <a:off x="609600" y="1676400"/>
              <a:ext cx="5705856"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8DCFFFAC-95A4-8901-3233-3B6449F1B0D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711200" y="1778000"/>
              <a:ext cx="5502656" cy="4318000"/>
            </a:xfrm>
            <a:prstGeom prst="rect">
              <a:avLst/>
            </a:prstGeom>
          </p:spPr>
        </p:pic>
      </p:grpSp>
      <p:grpSp>
        <p:nvGrpSpPr>
          <p:cNvPr id="14" name="!!Stage_Sub_Card_1">
            <a:extLst>
              <a:ext uri="{FF2B5EF4-FFF2-40B4-BE49-F238E27FC236}">
                <a16:creationId xmlns:a16="http://schemas.microsoft.com/office/drawing/2014/main" id="{8007FE06-85F0-928B-3822-9EF15735CE80}"/>
              </a:ext>
            </a:extLst>
          </p:cNvPr>
          <p:cNvGrpSpPr/>
          <p:nvPr/>
        </p:nvGrpSpPr>
        <p:grpSpPr>
          <a:xfrm>
            <a:off x="6644640" y="1676400"/>
            <a:ext cx="4937760" cy="1405467"/>
            <a:chOff x="6644640" y="1676400"/>
            <a:chExt cx="4937760" cy="1405467"/>
          </a:xfrm>
        </p:grpSpPr>
        <p:sp>
          <p:nvSpPr>
            <p:cNvPr id="9" name="Rectangle: Rounded Corners 8">
              <a:extLst>
                <a:ext uri="{FF2B5EF4-FFF2-40B4-BE49-F238E27FC236}">
                  <a16:creationId xmlns:a16="http://schemas.microsoft.com/office/drawing/2014/main" id="{4BC674EB-EBAD-447E-FCE3-6BEFB21D4708}"/>
                </a:ext>
              </a:extLst>
            </p:cNvPr>
            <p:cNvSpPr/>
            <p:nvPr/>
          </p:nvSpPr>
          <p:spPr>
            <a:xfrm>
              <a:off x="6644640" y="1676400"/>
              <a:ext cx="4937760" cy="1405467"/>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07D6A12-7995-66DD-E914-C2ECAC4C5B7D}"/>
                </a:ext>
              </a:extLst>
            </p:cNvPr>
            <p:cNvSpPr/>
            <p:nvPr/>
          </p:nvSpPr>
          <p:spPr>
            <a:xfrm>
              <a:off x="6822440"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A9723F1A-BF3A-8FE8-73A6-198508B29DC7}"/>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3" name="TextBox 12">
              <a:extLst>
                <a:ext uri="{FF2B5EF4-FFF2-40B4-BE49-F238E27FC236}">
                  <a16:creationId xmlns:a16="http://schemas.microsoft.com/office/drawing/2014/main" id="{3EE74277-0688-2686-45AE-DAEFC90284BD}"/>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Mức Sinh Thay Thế (TFR = 2.1)
</a:t>
              </a:r>
              <a:r>
                <a:rPr lang="vi-VN" sz="1400" b="1">
                  <a:solidFill>
                    <a:srgbClr val="475569"/>
                  </a:solidFill>
                  <a:latin typeface="Segoe UI" panose="020B0502040204020203" pitchFamily="34" charset="0"/>
                </a:rPr>
                <a:t>Việt Nam duy trì thành công mức sinh thay thế suốt giai đoạn 2006-2020 nhưng có xu hướng giảm sâu từ năm 2021.</a:t>
              </a:r>
              <a:endParaRPr lang="en-US" sz="1400" b="1">
                <a:solidFill>
                  <a:srgbClr val="475569"/>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23DF990E-E110-255D-8F49-A815E2241825}"/>
              </a:ext>
            </a:extLst>
          </p:cNvPr>
          <p:cNvGrpSpPr/>
          <p:nvPr/>
        </p:nvGrpSpPr>
        <p:grpSpPr>
          <a:xfrm>
            <a:off x="6644640" y="3234267"/>
            <a:ext cx="4937760" cy="1405466"/>
            <a:chOff x="6644640" y="3234267"/>
            <a:chExt cx="4937760" cy="1405466"/>
          </a:xfrm>
        </p:grpSpPr>
        <p:sp>
          <p:nvSpPr>
            <p:cNvPr id="15" name="Rectangle: Rounded Corners 14">
              <a:extLst>
                <a:ext uri="{FF2B5EF4-FFF2-40B4-BE49-F238E27FC236}">
                  <a16:creationId xmlns:a16="http://schemas.microsoft.com/office/drawing/2014/main" id="{AEAA250D-B4C9-DDEC-02BB-E6591928FAF2}"/>
                </a:ext>
              </a:extLst>
            </p:cNvPr>
            <p:cNvSpPr/>
            <p:nvPr/>
          </p:nvSpPr>
          <p:spPr>
            <a:xfrm>
              <a:off x="6644640" y="3234267"/>
              <a:ext cx="4937760" cy="1405466"/>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F08717A-C668-F65C-4458-1ED038315D64}"/>
                </a:ext>
              </a:extLst>
            </p:cNvPr>
            <p:cNvSpPr/>
            <p:nvPr/>
          </p:nvSpPr>
          <p:spPr>
            <a:xfrm>
              <a:off x="6822440" y="3412067"/>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8A4FF8F9-F795-00E7-F322-E7D44983F34A}"/>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3475567"/>
              <a:ext cx="254000" cy="254000"/>
            </a:xfrm>
            <a:prstGeom prst="rect">
              <a:avLst/>
            </a:prstGeom>
          </p:spPr>
        </p:pic>
        <p:sp>
          <p:nvSpPr>
            <p:cNvPr id="19" name="TextBox 18">
              <a:extLst>
                <a:ext uri="{FF2B5EF4-FFF2-40B4-BE49-F238E27FC236}">
                  <a16:creationId xmlns:a16="http://schemas.microsoft.com/office/drawing/2014/main" id="{10F3477C-772C-6608-B8E5-4A29126E27E5}"/>
                </a:ext>
              </a:extLst>
            </p:cNvPr>
            <p:cNvSpPr txBox="1"/>
            <p:nvPr/>
          </p:nvSpPr>
          <p:spPr>
            <a:xfrm>
              <a:off x="7305040" y="3361267"/>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Vực Sâu Mức Sinh Đông Nam Bộ
</a:t>
              </a:r>
              <a:r>
                <a:rPr lang="en-US" sz="1400" b="1">
                  <a:solidFill>
                    <a:srgbClr val="475569"/>
                  </a:solidFill>
                  <a:latin typeface="Segoe UI" panose="020B0502040204020203" pitchFamily="34" charset="0"/>
                </a:rPr>
                <a:t>TP.HCM và Đông Nam Bộ mức sinh giảm xuống chỉ còn 1.39 - 1.48 con/phụ nữ do áp lực kinh tế và đô thị hóa.</a:t>
              </a:r>
            </a:p>
          </p:txBody>
        </p:sp>
      </p:grpSp>
      <p:grpSp>
        <p:nvGrpSpPr>
          <p:cNvPr id="26" name="!!Stage_Sub_Card_3">
            <a:extLst>
              <a:ext uri="{FF2B5EF4-FFF2-40B4-BE49-F238E27FC236}">
                <a16:creationId xmlns:a16="http://schemas.microsoft.com/office/drawing/2014/main" id="{A8468909-3145-AC3A-BFD3-6C9A1D04ED94}"/>
              </a:ext>
            </a:extLst>
          </p:cNvPr>
          <p:cNvGrpSpPr/>
          <p:nvPr/>
        </p:nvGrpSpPr>
        <p:grpSpPr>
          <a:xfrm>
            <a:off x="6644640" y="4792133"/>
            <a:ext cx="4937760" cy="1405467"/>
            <a:chOff x="6644640" y="4792133"/>
            <a:chExt cx="4937760" cy="1405467"/>
          </a:xfrm>
        </p:grpSpPr>
        <p:sp>
          <p:nvSpPr>
            <p:cNvPr id="21" name="Rectangle: Rounded Corners 20">
              <a:extLst>
                <a:ext uri="{FF2B5EF4-FFF2-40B4-BE49-F238E27FC236}">
                  <a16:creationId xmlns:a16="http://schemas.microsoft.com/office/drawing/2014/main" id="{FAA63E74-A6DA-61F0-D806-9A8B18EF8D43}"/>
                </a:ext>
              </a:extLst>
            </p:cNvPr>
            <p:cNvSpPr/>
            <p:nvPr/>
          </p:nvSpPr>
          <p:spPr>
            <a:xfrm>
              <a:off x="6644640" y="4792133"/>
              <a:ext cx="4937760" cy="1405467"/>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7AA9E94-AE15-8C17-A1EB-61AF4CEE5FD6}"/>
                </a:ext>
              </a:extLst>
            </p:cNvPr>
            <p:cNvSpPr/>
            <p:nvPr/>
          </p:nvSpPr>
          <p:spPr>
            <a:xfrm>
              <a:off x="6822440" y="4969933"/>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50205F63-4F71-438E-4DC9-81F045F6733F}"/>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885940" y="5033433"/>
              <a:ext cx="254000" cy="254000"/>
            </a:xfrm>
            <a:prstGeom prst="rect">
              <a:avLst/>
            </a:prstGeom>
          </p:spPr>
        </p:pic>
        <p:sp>
          <p:nvSpPr>
            <p:cNvPr id="25" name="TextBox 24">
              <a:extLst>
                <a:ext uri="{FF2B5EF4-FFF2-40B4-BE49-F238E27FC236}">
                  <a16:creationId xmlns:a16="http://schemas.microsoft.com/office/drawing/2014/main" id="{88F180C2-A61B-6BD2-7C4E-F1C37C3FB0D5}"/>
                </a:ext>
              </a:extLst>
            </p:cNvPr>
            <p:cNvSpPr txBox="1"/>
            <p:nvPr/>
          </p:nvSpPr>
          <p:spPr>
            <a:xfrm>
              <a:off x="7305040" y="4919133"/>
              <a:ext cx="4150360" cy="990015"/>
            </a:xfrm>
            <a:prstGeom prst="rect">
              <a:avLst/>
            </a:prstGeom>
            <a:noFill/>
          </p:spPr>
          <p:txBody>
            <a:bodyPr vert="horz" wrap="square" tIns="0" rtlCol="0">
              <a:spAutoFit/>
            </a:bodyPr>
            <a:lstStyle/>
            <a:p>
              <a:pPr>
                <a:spcAft>
                  <a:spcPts val="400"/>
                </a:spcAft>
              </a:pPr>
              <a:r>
                <a:rPr lang="vi-VN" sz="1600" b="1">
                  <a:solidFill>
                    <a:srgbClr val="0F172A"/>
                  </a:solidFill>
                  <a:latin typeface="Segoe UI" panose="020B0502040204020203" pitchFamily="34" charset="0"/>
                </a:rPr>
                <a:t>Nguy Cơ Thiếu Hụt Lao Động
</a:t>
              </a:r>
              <a:r>
                <a:rPr lang="vi-VN" sz="1400" b="1">
                  <a:solidFill>
                    <a:srgbClr val="475569"/>
                  </a:solidFill>
                  <a:latin typeface="Segoe UI" panose="020B0502040204020203" pitchFamily="34" charset="0"/>
                </a:rPr>
                <a:t>Mức sinh thấp kéo dài sẽ đẩy nhanh tốc độ già hóa và làm suy giảm quy mô lực lượng lao động tương lai.</a:t>
              </a:r>
              <a:endParaRPr lang="en-US" sz="1400" b="1">
                <a:solidFill>
                  <a:srgbClr val="475569"/>
                </a:solidFill>
                <a:latin typeface="Segoe UI" panose="020B0502040204020203" pitchFamily="34" charset="0"/>
              </a:endParaRPr>
            </a:p>
          </p:txBody>
        </p:sp>
      </p:grpSp>
      <p:sp>
        <p:nvSpPr>
          <p:cNvPr id="27" name="!!Anchor_Source_Footer">
            <a:extLst>
              <a:ext uri="{FF2B5EF4-FFF2-40B4-BE49-F238E27FC236}">
                <a16:creationId xmlns:a16="http://schemas.microsoft.com/office/drawing/2014/main" id="{E33AC95F-378D-2330-1259-0E8EEC16BD0C}"/>
              </a:ext>
            </a:extLst>
          </p:cNvPr>
          <p:cNvSpPr txBox="1"/>
          <p:nvPr/>
        </p:nvSpPr>
        <p:spPr>
          <a:xfrm>
            <a:off x="609600" y="62738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UN Demographic Principles &amp; TĐTDS  |  Make Slide Pro V6.2 Certified</a:t>
            </a:r>
          </a:p>
        </p:txBody>
      </p:sp>
    </p:spTree>
    <p:extLst>
      <p:ext uri="{BB962C8B-B14F-4D97-AF65-F5344CB8AC3E}">
        <p14:creationId xmlns:p14="http://schemas.microsoft.com/office/powerpoint/2010/main" val="2815677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702DC67A-8D42-6BB3-6B9D-1B7035A53CF2}"/>
              </a:ext>
            </a:extLst>
          </p:cNvPr>
          <p:cNvSpPr txBox="1"/>
          <p:nvPr/>
        </p:nvSpPr>
        <p:spPr>
          <a:xfrm>
            <a:off x="609600" y="457200"/>
            <a:ext cx="9956800" cy="276999"/>
          </a:xfrm>
          <a:prstGeom prst="rect">
            <a:avLst/>
          </a:prstGeom>
          <a:noFill/>
        </p:spPr>
        <p:txBody>
          <a:bodyPr vert="horz" rtlCol="0">
            <a:spAutoFit/>
          </a:bodyPr>
          <a:lstStyle/>
          <a:p>
            <a:r>
              <a:rPr lang="vi-VN" sz="1200" b="1">
                <a:solidFill>
                  <a:srgbClr val="0284C7"/>
                </a:solidFill>
                <a:latin typeface="Segoe UI" panose="020B0502040204020203" pitchFamily="34" charset="0"/>
              </a:rPr>
              <a:t>THƯỚC ĐO MỨC CHẾT  •  TRỌNG TÂM</a:t>
            </a:r>
            <a:endParaRPr lang="en-US" sz="1200" b="1">
              <a:solidFill>
                <a:srgbClr val="0284C7"/>
              </a:solidFill>
              <a:latin typeface="Segoe UI" panose="020B0502040204020203" pitchFamily="34" charset="0"/>
            </a:endParaRPr>
          </a:p>
        </p:txBody>
      </p:sp>
      <p:sp>
        <p:nvSpPr>
          <p:cNvPr id="3" name="!!Anchor_Slide_Tracker">
            <a:extLst>
              <a:ext uri="{FF2B5EF4-FFF2-40B4-BE49-F238E27FC236}">
                <a16:creationId xmlns:a16="http://schemas.microsoft.com/office/drawing/2014/main" id="{378F2E1D-45AA-5427-286A-F59EBA6C9A8D}"/>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475569"/>
                </a:solidFill>
                <a:latin typeface="Bahnschrift" panose="020B0502040204020203" pitchFamily="34" charset="0"/>
              </a:rPr>
              <a:t>04 / 07</a:t>
            </a:r>
          </a:p>
        </p:txBody>
      </p:sp>
      <p:sp>
        <p:nvSpPr>
          <p:cNvPr id="4" name="!!Anchor_Assertion_Title">
            <a:extLst>
              <a:ext uri="{FF2B5EF4-FFF2-40B4-BE49-F238E27FC236}">
                <a16:creationId xmlns:a16="http://schemas.microsoft.com/office/drawing/2014/main" id="{06431E4C-2636-ADB5-D251-4EE92AC28D53}"/>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Tỷ Suất Chết Trẻ Em Và Tuổi Thọ Phản Ánh Chất Lượng Phát Triển Xã Hội</a:t>
            </a:r>
            <a:endParaRPr lang="en-US" sz="2400" b="1">
              <a:solidFill>
                <a:srgbClr val="0F172A"/>
              </a:solidFill>
              <a:latin typeface="Segoe UI" panose="020B0502040204020203" pitchFamily="34" charset="0"/>
            </a:endParaRPr>
          </a:p>
        </p:txBody>
      </p:sp>
      <p:grpSp>
        <p:nvGrpSpPr>
          <p:cNvPr id="11" name="!!Stage_Hero_Container">
            <a:extLst>
              <a:ext uri="{FF2B5EF4-FFF2-40B4-BE49-F238E27FC236}">
                <a16:creationId xmlns:a16="http://schemas.microsoft.com/office/drawing/2014/main" id="{15D1033A-10A2-3275-0707-5A5F4BFF6089}"/>
              </a:ext>
            </a:extLst>
          </p:cNvPr>
          <p:cNvGrpSpPr/>
          <p:nvPr/>
        </p:nvGrpSpPr>
        <p:grpSpPr>
          <a:xfrm>
            <a:off x="609600" y="1676400"/>
            <a:ext cx="5334000" cy="4521200"/>
            <a:chOff x="609600" y="1676400"/>
            <a:chExt cx="5334000" cy="4521200"/>
          </a:xfrm>
        </p:grpSpPr>
        <p:sp>
          <p:nvSpPr>
            <p:cNvPr id="5" name="Rectangle: Rounded Corners 4">
              <a:extLst>
                <a:ext uri="{FF2B5EF4-FFF2-40B4-BE49-F238E27FC236}">
                  <a16:creationId xmlns:a16="http://schemas.microsoft.com/office/drawing/2014/main" id="{010A6294-0177-F8B3-45A7-3B5577C56F40}"/>
                </a:ext>
              </a:extLst>
            </p:cNvPr>
            <p:cNvSpPr/>
            <p:nvPr/>
          </p:nvSpPr>
          <p:spPr>
            <a:xfrm>
              <a:off x="609600" y="1676400"/>
              <a:ext cx="5334000"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ADF0462A-E326-43BF-472D-7F9F797714CF}"/>
                </a:ext>
              </a:extLst>
            </p:cNvPr>
            <p:cNvSpPr/>
            <p:nvPr/>
          </p:nvSpPr>
          <p:spPr>
            <a:xfrm>
              <a:off x="863600" y="1905000"/>
              <a:ext cx="1397000" cy="2794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TIÊU CHÍ SO SÁNH</a:t>
              </a:r>
            </a:p>
          </p:txBody>
        </p:sp>
        <p:sp>
          <p:nvSpPr>
            <p:cNvPr id="7" name="Oval 6">
              <a:extLst>
                <a:ext uri="{FF2B5EF4-FFF2-40B4-BE49-F238E27FC236}">
                  <a16:creationId xmlns:a16="http://schemas.microsoft.com/office/drawing/2014/main" id="{750701A2-70C8-7A05-5390-91F34628766E}"/>
                </a:ext>
              </a:extLst>
            </p:cNvPr>
            <p:cNvSpPr/>
            <p:nvPr/>
          </p:nvSpPr>
          <p:spPr>
            <a:xfrm>
              <a:off x="863600" y="2260600"/>
              <a:ext cx="457200" cy="4572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91131548-E0C1-A59E-3BD4-37286FF5B703}"/>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36800"/>
              <a:ext cx="304800" cy="304800"/>
            </a:xfrm>
            <a:prstGeom prst="rect">
              <a:avLst/>
            </a:prstGeom>
          </p:spPr>
        </p:pic>
        <p:sp>
          <p:nvSpPr>
            <p:cNvPr id="10" name="TextBox 9">
              <a:extLst>
                <a:ext uri="{FF2B5EF4-FFF2-40B4-BE49-F238E27FC236}">
                  <a16:creationId xmlns:a16="http://schemas.microsoft.com/office/drawing/2014/main" id="{AA2FE5ED-CBE7-8F64-DCEF-92A3B5296021}"/>
                </a:ext>
              </a:extLst>
            </p:cNvPr>
            <p:cNvSpPr txBox="1"/>
            <p:nvPr/>
          </p:nvSpPr>
          <p:spPr>
            <a:xfrm>
              <a:off x="863600" y="2819400"/>
              <a:ext cx="4826000" cy="1515095"/>
            </a:xfrm>
            <a:prstGeom prst="rect">
              <a:avLst/>
            </a:prstGeom>
            <a:noFill/>
          </p:spPr>
          <p:txBody>
            <a:bodyPr vert="horz" wrap="square" rtlCol="0">
              <a:spAutoFit/>
            </a:bodyPr>
            <a:lstStyle/>
            <a:p>
              <a:pPr>
                <a:lnSpc>
                  <a:spcPct val="130000"/>
                </a:lnSpc>
                <a:spcAft>
                  <a:spcPts val="1200"/>
                </a:spcAft>
              </a:pPr>
              <a:r>
                <a:rPr lang="vi-VN" sz="2000" b="1">
                  <a:solidFill>
                    <a:srgbClr val="0F172A"/>
                  </a:solidFill>
                  <a:latin typeface="Segoe UI" panose="020B0502040204020203" pitchFamily="34" charset="0"/>
                </a:rPr>
                <a:t>Tử Vong Trẻ Em Dưới 1 Tuổi (IMR)
</a:t>
              </a:r>
              <a:r>
                <a:rPr lang="vi-VN" sz="1500" b="1">
                  <a:solidFill>
                    <a:srgbClr val="475569"/>
                  </a:solidFill>
                  <a:latin typeface="Segoe UI" panose="020B0502040204020203" pitchFamily="34" charset="0"/>
                </a:rPr>
                <a:t>IMR = (D[0] / B) * 1.000. Phản ánh trực tiếp trình độ chăm sóc sức khỏe sinh sản, vệ sinh môi trường và an toàn dinh dưỡng cho trẻ nhỏ.</a:t>
              </a:r>
              <a:endParaRPr lang="en-US" sz="1500" b="1">
                <a:solidFill>
                  <a:srgbClr val="475569"/>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4545778F-CCAF-C57A-2000-8399BF86DAC1}"/>
              </a:ext>
            </a:extLst>
          </p:cNvPr>
          <p:cNvGrpSpPr/>
          <p:nvPr/>
        </p:nvGrpSpPr>
        <p:grpSpPr>
          <a:xfrm>
            <a:off x="6248400" y="1676400"/>
            <a:ext cx="5334000" cy="4521200"/>
            <a:chOff x="6248400" y="1676400"/>
            <a:chExt cx="5334000" cy="4521200"/>
          </a:xfrm>
        </p:grpSpPr>
        <p:sp>
          <p:nvSpPr>
            <p:cNvPr id="12" name="Rectangle: Rounded Corners 11">
              <a:extLst>
                <a:ext uri="{FF2B5EF4-FFF2-40B4-BE49-F238E27FC236}">
                  <a16:creationId xmlns:a16="http://schemas.microsoft.com/office/drawing/2014/main" id="{4908C122-4DCB-A365-4B9F-69C514AD2A6B}"/>
                </a:ext>
              </a:extLst>
            </p:cNvPr>
            <p:cNvSpPr/>
            <p:nvPr/>
          </p:nvSpPr>
          <p:spPr>
            <a:xfrm>
              <a:off x="6248400" y="1676400"/>
              <a:ext cx="5334000" cy="45212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80796EB-3C1F-0E3C-7418-0F4510FCDB22}"/>
                </a:ext>
              </a:extLst>
            </p:cNvPr>
            <p:cNvSpPr/>
            <p:nvPr/>
          </p:nvSpPr>
          <p:spPr>
            <a:xfrm>
              <a:off x="6502400" y="1905000"/>
              <a:ext cx="1397000" cy="279400"/>
            </a:xfrm>
            <a:prstGeom prst="roundRect">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0D9488"/>
                  </a:solidFill>
                  <a:latin typeface="Segoe UI" panose="020B0502040204020203" pitchFamily="34" charset="0"/>
                </a:rPr>
                <a:t>ĐẶC TRƯNG CỐT LÕI</a:t>
              </a:r>
              <a:endParaRPr lang="en-US" sz="900" b="1">
                <a:solidFill>
                  <a:srgbClr val="0D9488"/>
                </a:solidFill>
                <a:latin typeface="Segoe UI" panose="020B0502040204020203" pitchFamily="34" charset="0"/>
              </a:endParaRPr>
            </a:p>
          </p:txBody>
        </p:sp>
        <p:sp>
          <p:nvSpPr>
            <p:cNvPr id="14" name="Oval 13">
              <a:extLst>
                <a:ext uri="{FF2B5EF4-FFF2-40B4-BE49-F238E27FC236}">
                  <a16:creationId xmlns:a16="http://schemas.microsoft.com/office/drawing/2014/main" id="{0F4EEB5B-6688-1EB2-6B0A-B23970F88C6F}"/>
                </a:ext>
              </a:extLst>
            </p:cNvPr>
            <p:cNvSpPr/>
            <p:nvPr/>
          </p:nvSpPr>
          <p:spPr>
            <a:xfrm>
              <a:off x="6502400" y="2260600"/>
              <a:ext cx="457200" cy="4572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50377E9D-2F37-7563-933E-A7653F5630CC}"/>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578600" y="2336800"/>
              <a:ext cx="304800" cy="304800"/>
            </a:xfrm>
            <a:prstGeom prst="rect">
              <a:avLst/>
            </a:prstGeom>
          </p:spPr>
        </p:pic>
        <p:sp>
          <p:nvSpPr>
            <p:cNvPr id="17" name="TextBox 16">
              <a:extLst>
                <a:ext uri="{FF2B5EF4-FFF2-40B4-BE49-F238E27FC236}">
                  <a16:creationId xmlns:a16="http://schemas.microsoft.com/office/drawing/2014/main" id="{2017E869-0ADF-96E6-9CA4-E8ADE0032FA3}"/>
                </a:ext>
              </a:extLst>
            </p:cNvPr>
            <p:cNvSpPr txBox="1"/>
            <p:nvPr/>
          </p:nvSpPr>
          <p:spPr>
            <a:xfrm>
              <a:off x="6502400" y="2819400"/>
              <a:ext cx="4826000" cy="1515095"/>
            </a:xfrm>
            <a:prstGeom prst="rect">
              <a:avLst/>
            </a:prstGeom>
            <a:noFill/>
          </p:spPr>
          <p:txBody>
            <a:bodyPr vert="horz" wrap="square" rtlCol="0">
              <a:spAutoFit/>
            </a:bodyPr>
            <a:lstStyle/>
            <a:p>
              <a:pPr>
                <a:lnSpc>
                  <a:spcPct val="130000"/>
                </a:lnSpc>
                <a:spcAft>
                  <a:spcPts val="1200"/>
                </a:spcAft>
              </a:pPr>
              <a:r>
                <a:rPr lang="en-US" sz="2000" b="1">
                  <a:solidFill>
                    <a:srgbClr val="2563EB"/>
                  </a:solidFill>
                  <a:latin typeface="Segoe UI" panose="020B0502040204020203" pitchFamily="34" charset="0"/>
                </a:rPr>
                <a:t>Tuổi Thọ Bình Quân Khi Sinh (e0)
</a:t>
              </a:r>
              <a:r>
                <a:rPr lang="en-US" sz="1500" b="1">
                  <a:solidFill>
                    <a:srgbClr val="475569"/>
                  </a:solidFill>
                  <a:latin typeface="Segoe UI" panose="020B0502040204020203" pitchFamily="34" charset="0"/>
                </a:rPr>
                <a:t>Số năm bình quân một đứa trẻ mới sinh kỳ vọng sống nếu mô hình tử vong hiện tại duy trì. Tuổi thọ bình quân của Việt Nam đạt 73.7 tuổi.</a:t>
              </a:r>
            </a:p>
          </p:txBody>
        </p:sp>
      </p:grpSp>
      <p:sp>
        <p:nvSpPr>
          <p:cNvPr id="19" name="!!Anchor_Source_Footer">
            <a:extLst>
              <a:ext uri="{FF2B5EF4-FFF2-40B4-BE49-F238E27FC236}">
                <a16:creationId xmlns:a16="http://schemas.microsoft.com/office/drawing/2014/main" id="{6F990B85-B918-2B32-FFF2-5BC8EE787062}"/>
              </a:ext>
            </a:extLst>
          </p:cNvPr>
          <p:cNvSpPr txBox="1"/>
          <p:nvPr/>
        </p:nvSpPr>
        <p:spPr>
          <a:xfrm>
            <a:off x="609600" y="62738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WHO &amp; Tổng cục Thống kê Việt Nam  |  Make Slide Pro V6.2 Certified</a:t>
            </a:r>
          </a:p>
        </p:txBody>
      </p:sp>
    </p:spTree>
    <p:extLst>
      <p:ext uri="{BB962C8B-B14F-4D97-AF65-F5344CB8AC3E}">
        <p14:creationId xmlns:p14="http://schemas.microsoft.com/office/powerpoint/2010/main" val="35434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D1028197-0B60-E60C-4B06-330354C0466D}"/>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YẾU TỐ TÁC ĐỘNG  •  TRỌNG TÂM</a:t>
            </a:r>
          </a:p>
        </p:txBody>
      </p:sp>
      <p:sp>
        <p:nvSpPr>
          <p:cNvPr id="3" name="!!Anchor_Slide_Tracker">
            <a:extLst>
              <a:ext uri="{FF2B5EF4-FFF2-40B4-BE49-F238E27FC236}">
                <a16:creationId xmlns:a16="http://schemas.microsoft.com/office/drawing/2014/main" id="{9D9D46FC-30A1-BDBB-EBF4-5FA899F5503B}"/>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475569"/>
                </a:solidFill>
                <a:latin typeface="Bahnschrift" panose="020B0502040204020203" pitchFamily="34" charset="0"/>
              </a:rPr>
              <a:t>05 / 07</a:t>
            </a:r>
          </a:p>
        </p:txBody>
      </p:sp>
      <p:sp>
        <p:nvSpPr>
          <p:cNvPr id="4" name="!!Anchor_Assertion_Title">
            <a:extLst>
              <a:ext uri="{FF2B5EF4-FFF2-40B4-BE49-F238E27FC236}">
                <a16:creationId xmlns:a16="http://schemas.microsoft.com/office/drawing/2014/main" id="{0AE6B7D8-CF1E-891A-46F6-9681FA0B57F6}"/>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Mức Sinh Chịu Tác Động Bởi Hệ Thống Yếu Tố Trung Gian Đa Chiều</a:t>
            </a:r>
          </a:p>
        </p:txBody>
      </p:sp>
      <p:grpSp>
        <p:nvGrpSpPr>
          <p:cNvPr id="8" name="!!Stage_Hero_Container">
            <a:extLst>
              <a:ext uri="{FF2B5EF4-FFF2-40B4-BE49-F238E27FC236}">
                <a16:creationId xmlns:a16="http://schemas.microsoft.com/office/drawing/2014/main" id="{C479BCB6-939A-3281-7679-98A6883643DE}"/>
              </a:ext>
            </a:extLst>
          </p:cNvPr>
          <p:cNvGrpSpPr/>
          <p:nvPr/>
        </p:nvGrpSpPr>
        <p:grpSpPr>
          <a:xfrm>
            <a:off x="609600" y="1676400"/>
            <a:ext cx="5376672" cy="4521200"/>
            <a:chOff x="609600" y="1676400"/>
            <a:chExt cx="5376672" cy="4521200"/>
          </a:xfrm>
        </p:grpSpPr>
        <p:sp>
          <p:nvSpPr>
            <p:cNvPr id="5" name="Rectangle: Rounded Corners 4">
              <a:extLst>
                <a:ext uri="{FF2B5EF4-FFF2-40B4-BE49-F238E27FC236}">
                  <a16:creationId xmlns:a16="http://schemas.microsoft.com/office/drawing/2014/main" id="{1D82A398-C399-3A32-52D4-3C94499F884B}"/>
                </a:ext>
              </a:extLst>
            </p:cNvPr>
            <p:cNvSpPr/>
            <p:nvPr/>
          </p:nvSpPr>
          <p:spPr>
            <a:xfrm>
              <a:off x="609600" y="1676400"/>
              <a:ext cx="5376672"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4AA69F2-694E-1F99-56D4-2D8D5EA5BAA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711200" y="1778000"/>
              <a:ext cx="5173472" cy="4318000"/>
            </a:xfrm>
            <a:prstGeom prst="rect">
              <a:avLst/>
            </a:prstGeom>
          </p:spPr>
        </p:pic>
      </p:grpSp>
      <p:grpSp>
        <p:nvGrpSpPr>
          <p:cNvPr id="14" name="!!Stage_Sub_Card_1">
            <a:extLst>
              <a:ext uri="{FF2B5EF4-FFF2-40B4-BE49-F238E27FC236}">
                <a16:creationId xmlns:a16="http://schemas.microsoft.com/office/drawing/2014/main" id="{563A8F24-4BE7-B187-7E4A-3B4CF9BF6C68}"/>
              </a:ext>
            </a:extLst>
          </p:cNvPr>
          <p:cNvGrpSpPr/>
          <p:nvPr/>
        </p:nvGrpSpPr>
        <p:grpSpPr>
          <a:xfrm>
            <a:off x="6214872" y="1676400"/>
            <a:ext cx="5367528" cy="1405467"/>
            <a:chOff x="6214872" y="1676400"/>
            <a:chExt cx="5367528" cy="1405467"/>
          </a:xfrm>
        </p:grpSpPr>
        <p:sp>
          <p:nvSpPr>
            <p:cNvPr id="9" name="Rectangle: Rounded Corners 8">
              <a:extLst>
                <a:ext uri="{FF2B5EF4-FFF2-40B4-BE49-F238E27FC236}">
                  <a16:creationId xmlns:a16="http://schemas.microsoft.com/office/drawing/2014/main" id="{0A3CC4CD-BDFB-DAF0-85FD-59EB67713789}"/>
                </a:ext>
              </a:extLst>
            </p:cNvPr>
            <p:cNvSpPr/>
            <p:nvPr/>
          </p:nvSpPr>
          <p:spPr>
            <a:xfrm>
              <a:off x="6214872" y="1676400"/>
              <a:ext cx="5367528" cy="1405467"/>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FF9CAE2-FC90-DB40-DAB2-023A27D81581}"/>
                </a:ext>
              </a:extLst>
            </p:cNvPr>
            <p:cNvSpPr/>
            <p:nvPr/>
          </p:nvSpPr>
          <p:spPr>
            <a:xfrm>
              <a:off x="6392672"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0E8EE365-1B71-06ED-DBD9-E5A5CE4BEBA2}"/>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56172" y="1917700"/>
              <a:ext cx="254000" cy="254000"/>
            </a:xfrm>
            <a:prstGeom prst="rect">
              <a:avLst/>
            </a:prstGeom>
          </p:spPr>
        </p:pic>
        <p:sp>
          <p:nvSpPr>
            <p:cNvPr id="13" name="TextBox 12">
              <a:extLst>
                <a:ext uri="{FF2B5EF4-FFF2-40B4-BE49-F238E27FC236}">
                  <a16:creationId xmlns:a16="http://schemas.microsoft.com/office/drawing/2014/main" id="{348E4B07-E093-5612-29F1-D7D27D5F64B7}"/>
                </a:ext>
              </a:extLst>
            </p:cNvPr>
            <p:cNvSpPr txBox="1"/>
            <p:nvPr/>
          </p:nvSpPr>
          <p:spPr>
            <a:xfrm>
              <a:off x="6875272" y="1803400"/>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1. Kinh Tế &amp; Chi Phí Nuôi Dạy
</a:t>
              </a:r>
              <a:r>
                <a:rPr lang="vi-VN" sz="1400" b="1">
                  <a:solidFill>
                    <a:srgbClr val="475569"/>
                  </a:solidFill>
                  <a:latin typeface="Segoe UI" panose="020B0502040204020203" pitchFamily="34" charset="0"/>
                </a:rPr>
                <a:t>Đô thị hóa và chi phí sinh hoạt, học hành đắt đỏ làm tăng chi phí cơ hội của việc sinh con, thúc đẩy xu hướng sinh ít con.</a:t>
              </a:r>
              <a:endParaRPr lang="en-US" sz="1400" b="1">
                <a:solidFill>
                  <a:srgbClr val="475569"/>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3651C61C-965F-3303-A7E1-23FFA7F3DA9C}"/>
              </a:ext>
            </a:extLst>
          </p:cNvPr>
          <p:cNvGrpSpPr/>
          <p:nvPr/>
        </p:nvGrpSpPr>
        <p:grpSpPr>
          <a:xfrm>
            <a:off x="6214872" y="3234267"/>
            <a:ext cx="5367528" cy="1405466"/>
            <a:chOff x="6214872" y="3234267"/>
            <a:chExt cx="5367528" cy="1405466"/>
          </a:xfrm>
        </p:grpSpPr>
        <p:sp>
          <p:nvSpPr>
            <p:cNvPr id="15" name="Rectangle: Rounded Corners 14">
              <a:extLst>
                <a:ext uri="{FF2B5EF4-FFF2-40B4-BE49-F238E27FC236}">
                  <a16:creationId xmlns:a16="http://schemas.microsoft.com/office/drawing/2014/main" id="{F14CDCE6-BF5E-470D-7A44-81D1BC509AF6}"/>
                </a:ext>
              </a:extLst>
            </p:cNvPr>
            <p:cNvSpPr/>
            <p:nvPr/>
          </p:nvSpPr>
          <p:spPr>
            <a:xfrm>
              <a:off x="6214872" y="3234267"/>
              <a:ext cx="5367528" cy="1405466"/>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3CD00A3-C29D-C67A-75B3-975535E7550D}"/>
                </a:ext>
              </a:extLst>
            </p:cNvPr>
            <p:cNvSpPr/>
            <p:nvPr/>
          </p:nvSpPr>
          <p:spPr>
            <a:xfrm>
              <a:off x="6392672" y="3412067"/>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D1F8DF58-88E3-F010-344A-6564724AB6FE}"/>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56172" y="3475567"/>
              <a:ext cx="254000" cy="254000"/>
            </a:xfrm>
            <a:prstGeom prst="rect">
              <a:avLst/>
            </a:prstGeom>
          </p:spPr>
        </p:pic>
        <p:sp>
          <p:nvSpPr>
            <p:cNvPr id="19" name="TextBox 18">
              <a:extLst>
                <a:ext uri="{FF2B5EF4-FFF2-40B4-BE49-F238E27FC236}">
                  <a16:creationId xmlns:a16="http://schemas.microsoft.com/office/drawing/2014/main" id="{7B9DBAB2-705F-0409-EF5B-8DC35996A50C}"/>
                </a:ext>
              </a:extLst>
            </p:cNvPr>
            <p:cNvSpPr txBox="1"/>
            <p:nvPr/>
          </p:nvSpPr>
          <p:spPr>
            <a:xfrm>
              <a:off x="6875272" y="3361267"/>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2. Văn Hóa &amp; Tâm Lý Xã Hội
</a:t>
              </a:r>
              <a:r>
                <a:rPr lang="vi-VN" sz="1400" b="1">
                  <a:solidFill>
                    <a:srgbClr val="475569"/>
                  </a:solidFill>
                  <a:latin typeface="Segoe UI" panose="020B0502040204020203" pitchFamily="34" charset="0"/>
                </a:rPr>
                <a:t>Tâm lý chuộng con trai để nối dõi tông đường kết hợp công nghệ lựa chọn giới tính dẫn tới mất cân bằng tỷ số giới tính khi sinh.</a:t>
              </a:r>
              <a:endParaRPr lang="en-US" sz="1400" b="1">
                <a:solidFill>
                  <a:srgbClr val="475569"/>
                </a:solidFill>
                <a:latin typeface="Segoe UI" panose="020B0502040204020203" pitchFamily="34" charset="0"/>
              </a:endParaRPr>
            </a:p>
          </p:txBody>
        </p:sp>
      </p:grpSp>
      <p:grpSp>
        <p:nvGrpSpPr>
          <p:cNvPr id="26" name="!!Stage_Sub_Card_3">
            <a:extLst>
              <a:ext uri="{FF2B5EF4-FFF2-40B4-BE49-F238E27FC236}">
                <a16:creationId xmlns:a16="http://schemas.microsoft.com/office/drawing/2014/main" id="{AE70AF63-9B8F-CE3D-5B9B-0E22F21BEE5A}"/>
              </a:ext>
            </a:extLst>
          </p:cNvPr>
          <p:cNvGrpSpPr/>
          <p:nvPr/>
        </p:nvGrpSpPr>
        <p:grpSpPr>
          <a:xfrm>
            <a:off x="6214872" y="4792133"/>
            <a:ext cx="5367528" cy="1405467"/>
            <a:chOff x="6214872" y="4792133"/>
            <a:chExt cx="5367528" cy="1405467"/>
          </a:xfrm>
        </p:grpSpPr>
        <p:sp>
          <p:nvSpPr>
            <p:cNvPr id="21" name="Rectangle: Rounded Corners 20">
              <a:extLst>
                <a:ext uri="{FF2B5EF4-FFF2-40B4-BE49-F238E27FC236}">
                  <a16:creationId xmlns:a16="http://schemas.microsoft.com/office/drawing/2014/main" id="{734677DF-3A13-A316-F834-A3713B030D42}"/>
                </a:ext>
              </a:extLst>
            </p:cNvPr>
            <p:cNvSpPr/>
            <p:nvPr/>
          </p:nvSpPr>
          <p:spPr>
            <a:xfrm>
              <a:off x="6214872" y="4792133"/>
              <a:ext cx="5367528" cy="1405467"/>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2AB58CD-4A8B-3DCC-546F-F178E14EAF93}"/>
                </a:ext>
              </a:extLst>
            </p:cNvPr>
            <p:cNvSpPr/>
            <p:nvPr/>
          </p:nvSpPr>
          <p:spPr>
            <a:xfrm>
              <a:off x="6392672" y="4969933"/>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04DD9944-5D9B-1EE4-9128-94D34E7C4D1D}"/>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456172" y="5033433"/>
              <a:ext cx="254000" cy="254000"/>
            </a:xfrm>
            <a:prstGeom prst="rect">
              <a:avLst/>
            </a:prstGeom>
          </p:spPr>
        </p:pic>
        <p:sp>
          <p:nvSpPr>
            <p:cNvPr id="25" name="TextBox 24">
              <a:extLst>
                <a:ext uri="{FF2B5EF4-FFF2-40B4-BE49-F238E27FC236}">
                  <a16:creationId xmlns:a16="http://schemas.microsoft.com/office/drawing/2014/main" id="{85416C07-CC82-D8C1-2A20-CDEF4AE36251}"/>
                </a:ext>
              </a:extLst>
            </p:cNvPr>
            <p:cNvSpPr txBox="1"/>
            <p:nvPr/>
          </p:nvSpPr>
          <p:spPr>
            <a:xfrm>
              <a:off x="6875272" y="4919133"/>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3. Chính Sách &amp; Y Tế Sinh Sản
</a:t>
              </a:r>
              <a:r>
                <a:rPr lang="en-US" sz="1400" b="1">
                  <a:solidFill>
                    <a:srgbClr val="475569"/>
                  </a:solidFill>
                  <a:latin typeface="Segoe UI" panose="020B0502040204020203" pitchFamily="34" charset="0"/>
                </a:rPr>
                <a:t>Hệ thống dịch vụ kế hoạch hóa gia đình thuận tiện, tỷ lệ sử dụng biện pháp tránh thai hiện đại đạt mức cao trên 67%.</a:t>
              </a:r>
            </a:p>
          </p:txBody>
        </p:sp>
      </p:grpSp>
      <p:sp>
        <p:nvSpPr>
          <p:cNvPr id="27" name="!!Anchor_Source_Footer">
            <a:extLst>
              <a:ext uri="{FF2B5EF4-FFF2-40B4-BE49-F238E27FC236}">
                <a16:creationId xmlns:a16="http://schemas.microsoft.com/office/drawing/2014/main" id="{8DE09385-B9F4-8B25-4C03-F68FF11A908F}"/>
              </a:ext>
            </a:extLst>
          </p:cNvPr>
          <p:cNvSpPr txBox="1"/>
          <p:nvPr/>
        </p:nvSpPr>
        <p:spPr>
          <a:xfrm>
            <a:off x="609600" y="62738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Bongaarts Framework &amp; DSH Việt Nam  |  Make Slide Pro V6.2 Certified</a:t>
            </a:r>
          </a:p>
        </p:txBody>
      </p:sp>
    </p:spTree>
    <p:extLst>
      <p:ext uri="{BB962C8B-B14F-4D97-AF65-F5344CB8AC3E}">
        <p14:creationId xmlns:p14="http://schemas.microsoft.com/office/powerpoint/2010/main" val="25656203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A20533BE-8F59-7A2E-8EA6-A03C3FD5F087}"/>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THỰC TRẠNG VIỆT NAM  •  TRỌNG TÂM</a:t>
            </a:r>
          </a:p>
        </p:txBody>
      </p:sp>
      <p:sp>
        <p:nvSpPr>
          <p:cNvPr id="3" name="!!Anchor_Slide_Tracker">
            <a:extLst>
              <a:ext uri="{FF2B5EF4-FFF2-40B4-BE49-F238E27FC236}">
                <a16:creationId xmlns:a16="http://schemas.microsoft.com/office/drawing/2014/main" id="{D70F6428-2360-BBE6-4638-8CC3ACBAB4F0}"/>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475569"/>
                </a:solidFill>
                <a:latin typeface="Bahnschrift" panose="020B0502040204020203" pitchFamily="34" charset="0"/>
              </a:rPr>
              <a:t>06 / 07</a:t>
            </a:r>
          </a:p>
        </p:txBody>
      </p:sp>
      <p:sp>
        <p:nvSpPr>
          <p:cNvPr id="4" name="!!Anchor_Assertion_Title">
            <a:extLst>
              <a:ext uri="{FF2B5EF4-FFF2-40B4-BE49-F238E27FC236}">
                <a16:creationId xmlns:a16="http://schemas.microsoft.com/office/drawing/2014/main" id="{A316F86A-DCCF-8B58-489D-EC94B41F18DF}"/>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Hai Thách Thức Lớn: Mức Sinh Chênh Lệch Và Mất Cân Bằng Giới Tính</a:t>
            </a:r>
          </a:p>
        </p:txBody>
      </p:sp>
      <p:grpSp>
        <p:nvGrpSpPr>
          <p:cNvPr id="11" name="!!Stage_Hero_Container">
            <a:extLst>
              <a:ext uri="{FF2B5EF4-FFF2-40B4-BE49-F238E27FC236}">
                <a16:creationId xmlns:a16="http://schemas.microsoft.com/office/drawing/2014/main" id="{C445F983-2784-2F4E-E5B3-67BA2FF71139}"/>
              </a:ext>
            </a:extLst>
          </p:cNvPr>
          <p:cNvGrpSpPr/>
          <p:nvPr/>
        </p:nvGrpSpPr>
        <p:grpSpPr>
          <a:xfrm>
            <a:off x="609600" y="1676400"/>
            <a:ext cx="3522133" cy="4521200"/>
            <a:chOff x="609600" y="1676400"/>
            <a:chExt cx="3522133" cy="4521200"/>
          </a:xfrm>
        </p:grpSpPr>
        <p:sp>
          <p:nvSpPr>
            <p:cNvPr id="5" name="Rectangle: Rounded Corners 4">
              <a:extLst>
                <a:ext uri="{FF2B5EF4-FFF2-40B4-BE49-F238E27FC236}">
                  <a16:creationId xmlns:a16="http://schemas.microsoft.com/office/drawing/2014/main" id="{1FDAC33A-980B-2E13-3A31-1C5D697916D8}"/>
                </a:ext>
              </a:extLst>
            </p:cNvPr>
            <p:cNvSpPr/>
            <p:nvPr/>
          </p:nvSpPr>
          <p:spPr>
            <a:xfrm>
              <a:off x="609600" y="1676400"/>
              <a:ext cx="3522133"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7F9CA7F-6472-43A0-EAED-689449C0B085}"/>
                </a:ext>
              </a:extLst>
            </p:cNvPr>
            <p:cNvSpPr/>
            <p:nvPr/>
          </p:nvSpPr>
          <p:spPr>
            <a:xfrm>
              <a:off x="812800"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C6F0395-BEF8-7C00-8D09-B046958FFDAB}"/>
                </a:ext>
              </a:extLst>
            </p:cNvPr>
            <p:cNvSpPr/>
            <p:nvPr/>
          </p:nvSpPr>
          <p:spPr>
            <a:xfrm>
              <a:off x="812800"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FEA90EA9-3F6A-D250-A684-F7437F0A680A}"/>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2070100"/>
              <a:ext cx="279400" cy="279400"/>
            </a:xfrm>
            <a:prstGeom prst="rect">
              <a:avLst/>
            </a:prstGeom>
          </p:spPr>
        </p:pic>
        <p:sp>
          <p:nvSpPr>
            <p:cNvPr id="10" name="TextBox 9">
              <a:extLst>
                <a:ext uri="{FF2B5EF4-FFF2-40B4-BE49-F238E27FC236}">
                  <a16:creationId xmlns:a16="http://schemas.microsoft.com/office/drawing/2014/main" id="{2077BD52-B72E-FF62-8C46-C2FCCC72DEB5}"/>
                </a:ext>
              </a:extLst>
            </p:cNvPr>
            <p:cNvSpPr txBox="1"/>
            <p:nvPr/>
          </p:nvSpPr>
          <p:spPr>
            <a:xfrm>
              <a:off x="812800" y="2540000"/>
              <a:ext cx="3115733" cy="2255361"/>
            </a:xfrm>
            <a:prstGeom prst="rect">
              <a:avLst/>
            </a:prstGeom>
            <a:noFill/>
          </p:spPr>
          <p:txBody>
            <a:bodyPr vert="horz" wrap="square" lIns="0" tIns="0" rtlCol="0">
              <a:spAutoFit/>
            </a:bodyPr>
            <a:lstStyle/>
            <a:p>
              <a:pPr>
                <a:lnSpc>
                  <a:spcPct val="125000"/>
                </a:lnSpc>
                <a:spcAft>
                  <a:spcPts val="800"/>
                </a:spcAft>
              </a:pPr>
              <a:r>
                <a:rPr lang="en-US" b="1">
                  <a:solidFill>
                    <a:srgbClr val="0F172A"/>
                  </a:solidFill>
                  <a:latin typeface="Segoe UI" panose="020B0502040204020203" pitchFamily="34" charset="0"/>
                </a:rPr>
                <a:t>1. Chênh Lệch Mức Sinh Vùng Miền
</a:t>
              </a:r>
              <a:r>
                <a:rPr lang="vi-VN" sz="1500">
                  <a:solidFill>
                    <a:srgbClr val="475569"/>
                  </a:solidFill>
                  <a:latin typeface="Segoe UI" panose="020B0502040204020203" pitchFamily="34" charset="0"/>
                </a:rPr>
                <a:t>TP.HCM và Đông Nam Bộ mức sinh xuống rất thấp (~1.4 con/phụ nữ); ngược lại Trung du miền núi phía Bắc và Tây Nguyên vẫn ở mức cao (&gt;2.3 con).</a:t>
              </a:r>
              <a:endParaRPr lang="en-US" sz="1500">
                <a:solidFill>
                  <a:srgbClr val="475569"/>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48A9CBC5-7603-646F-AA45-2905F851AE78}"/>
              </a:ext>
            </a:extLst>
          </p:cNvPr>
          <p:cNvGrpSpPr/>
          <p:nvPr/>
        </p:nvGrpSpPr>
        <p:grpSpPr>
          <a:xfrm>
            <a:off x="4334933" y="1676400"/>
            <a:ext cx="3522134" cy="4521200"/>
            <a:chOff x="4334933" y="1676400"/>
            <a:chExt cx="3522134" cy="4521200"/>
          </a:xfrm>
        </p:grpSpPr>
        <p:sp>
          <p:nvSpPr>
            <p:cNvPr id="12" name="Rectangle: Rounded Corners 11">
              <a:extLst>
                <a:ext uri="{FF2B5EF4-FFF2-40B4-BE49-F238E27FC236}">
                  <a16:creationId xmlns:a16="http://schemas.microsoft.com/office/drawing/2014/main" id="{9BBA9E87-F657-A032-580D-56F16F7C470C}"/>
                </a:ext>
              </a:extLst>
            </p:cNvPr>
            <p:cNvSpPr/>
            <p:nvPr/>
          </p:nvSpPr>
          <p:spPr>
            <a:xfrm>
              <a:off x="4334933" y="1676400"/>
              <a:ext cx="3522134"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1C249B-5DD8-60A3-B459-048EB7976890}"/>
                </a:ext>
              </a:extLst>
            </p:cNvPr>
            <p:cNvSpPr/>
            <p:nvPr/>
          </p:nvSpPr>
          <p:spPr>
            <a:xfrm>
              <a:off x="4538133"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015DA3B-4012-17BC-1B50-481004D5C36E}"/>
                </a:ext>
              </a:extLst>
            </p:cNvPr>
            <p:cNvSpPr/>
            <p:nvPr/>
          </p:nvSpPr>
          <p:spPr>
            <a:xfrm>
              <a:off x="4538133"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E7986A82-7AA8-0A04-6392-E8B03A60527E}"/>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2070100"/>
              <a:ext cx="279400" cy="279400"/>
            </a:xfrm>
            <a:prstGeom prst="rect">
              <a:avLst/>
            </a:prstGeom>
          </p:spPr>
        </p:pic>
        <p:sp>
          <p:nvSpPr>
            <p:cNvPr id="17" name="TextBox 16">
              <a:extLst>
                <a:ext uri="{FF2B5EF4-FFF2-40B4-BE49-F238E27FC236}">
                  <a16:creationId xmlns:a16="http://schemas.microsoft.com/office/drawing/2014/main" id="{843232B6-F0A4-D3DC-D068-8F51F151CA96}"/>
                </a:ext>
              </a:extLst>
            </p:cNvPr>
            <p:cNvSpPr txBox="1"/>
            <p:nvPr/>
          </p:nvSpPr>
          <p:spPr>
            <a:xfrm>
              <a:off x="4538133" y="2540000"/>
              <a:ext cx="3115733" cy="2255361"/>
            </a:xfrm>
            <a:prstGeom prst="rect">
              <a:avLst/>
            </a:prstGeom>
            <a:noFill/>
          </p:spPr>
          <p:txBody>
            <a:bodyPr vert="horz" wrap="square" lIns="0" tIns="0" rtlCol="0">
              <a:spAutoFit/>
            </a:bodyPr>
            <a:lstStyle/>
            <a:p>
              <a:pPr>
                <a:lnSpc>
                  <a:spcPct val="125000"/>
                </a:lnSpc>
                <a:spcAft>
                  <a:spcPts val="800"/>
                </a:spcAft>
              </a:pPr>
              <a:r>
                <a:rPr lang="en-US" b="1">
                  <a:solidFill>
                    <a:srgbClr val="0F172A"/>
                  </a:solidFill>
                  <a:latin typeface="Segoe UI" panose="020B0502040204020203" pitchFamily="34" charset="0"/>
                </a:rPr>
                <a:t>2. Mất Cân Bằng Tỷ Số Giới Tính Khi Sinh
</a:t>
              </a:r>
              <a:r>
                <a:rPr lang="vi-VN" sz="1500">
                  <a:solidFill>
                    <a:srgbClr val="475569"/>
                  </a:solidFill>
                  <a:latin typeface="Segoe UI" panose="020B0502040204020203" pitchFamily="34" charset="0"/>
                </a:rPr>
                <a:t>SRB ở mức 111.5 bé trai / 100 bé gái (2019). Nguy cơ dư thừa khoảng 1.5 - 2.5 triệu nam giới không tìm được bạn đời vào năm 2050.</a:t>
              </a:r>
              <a:endParaRPr lang="en-US" sz="1500">
                <a:solidFill>
                  <a:srgbClr val="475569"/>
                </a:solidFill>
                <a:latin typeface="Segoe UI" panose="020B0502040204020203" pitchFamily="34" charset="0"/>
              </a:endParaRPr>
            </a:p>
          </p:txBody>
        </p:sp>
      </p:grpSp>
      <p:grpSp>
        <p:nvGrpSpPr>
          <p:cNvPr id="25" name="!!Stage_Sub_Card_2">
            <a:extLst>
              <a:ext uri="{FF2B5EF4-FFF2-40B4-BE49-F238E27FC236}">
                <a16:creationId xmlns:a16="http://schemas.microsoft.com/office/drawing/2014/main" id="{13A33AB2-615D-EB09-4B14-267514CDB1A6}"/>
              </a:ext>
            </a:extLst>
          </p:cNvPr>
          <p:cNvGrpSpPr/>
          <p:nvPr/>
        </p:nvGrpSpPr>
        <p:grpSpPr>
          <a:xfrm>
            <a:off x="8060267" y="1676400"/>
            <a:ext cx="3522133" cy="4521200"/>
            <a:chOff x="8060267" y="1676400"/>
            <a:chExt cx="3522133" cy="4521200"/>
          </a:xfrm>
        </p:grpSpPr>
        <p:sp>
          <p:nvSpPr>
            <p:cNvPr id="19" name="Rectangle: Rounded Corners 18">
              <a:extLst>
                <a:ext uri="{FF2B5EF4-FFF2-40B4-BE49-F238E27FC236}">
                  <a16:creationId xmlns:a16="http://schemas.microsoft.com/office/drawing/2014/main" id="{DFF4B2DA-582A-64A6-D1E0-97FB3350E7F7}"/>
                </a:ext>
              </a:extLst>
            </p:cNvPr>
            <p:cNvSpPr/>
            <p:nvPr/>
          </p:nvSpPr>
          <p:spPr>
            <a:xfrm>
              <a:off x="8060267" y="1676400"/>
              <a:ext cx="3522133"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989C0E9-7A4B-BA31-4663-F77848594416}"/>
                </a:ext>
              </a:extLst>
            </p:cNvPr>
            <p:cNvSpPr/>
            <p:nvPr/>
          </p:nvSpPr>
          <p:spPr>
            <a:xfrm>
              <a:off x="8263467"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111C6FA-0703-4398-D327-50566705A37F}"/>
                </a:ext>
              </a:extLst>
            </p:cNvPr>
            <p:cNvSpPr/>
            <p:nvPr/>
          </p:nvSpPr>
          <p:spPr>
            <a:xfrm>
              <a:off x="8263467"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C15376BE-E97B-A06B-8CC5-311C57E43DA5}"/>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2070100"/>
              <a:ext cx="279400" cy="279400"/>
            </a:xfrm>
            <a:prstGeom prst="rect">
              <a:avLst/>
            </a:prstGeom>
          </p:spPr>
        </p:pic>
        <p:sp>
          <p:nvSpPr>
            <p:cNvPr id="24" name="TextBox 23">
              <a:extLst>
                <a:ext uri="{FF2B5EF4-FFF2-40B4-BE49-F238E27FC236}">
                  <a16:creationId xmlns:a16="http://schemas.microsoft.com/office/drawing/2014/main" id="{33C4D100-632F-04D2-EE57-EA766F0F8E9E}"/>
                </a:ext>
              </a:extLst>
            </p:cNvPr>
            <p:cNvSpPr txBox="1"/>
            <p:nvPr/>
          </p:nvSpPr>
          <p:spPr>
            <a:xfrm>
              <a:off x="8263467" y="2540000"/>
              <a:ext cx="3115733" cy="1966820"/>
            </a:xfrm>
            <a:prstGeom prst="rect">
              <a:avLst/>
            </a:prstGeom>
            <a:noFill/>
          </p:spPr>
          <p:txBody>
            <a:bodyPr vert="horz" wrap="square" lIns="0" tIns="0" rtlCol="0">
              <a:spAutoFit/>
            </a:bodyPr>
            <a:lstStyle/>
            <a:p>
              <a:pPr>
                <a:lnSpc>
                  <a:spcPct val="125000"/>
                </a:lnSpc>
                <a:spcAft>
                  <a:spcPts val="800"/>
                </a:spcAft>
              </a:pPr>
              <a:r>
                <a:rPr lang="vi-VN" b="1">
                  <a:solidFill>
                    <a:srgbClr val="0F172A"/>
                  </a:solidFill>
                  <a:latin typeface="Segoe UI" panose="020B0502040204020203" pitchFamily="34" charset="0"/>
                </a:rPr>
                <a:t>3. Nguy Cơ Bẫy Mức Sinh Thấp
</a:t>
              </a:r>
              <a:r>
                <a:rPr lang="vi-VN" sz="1500">
                  <a:solidFill>
                    <a:srgbClr val="475569"/>
                  </a:solidFill>
                  <a:latin typeface="Segoe UI" panose="020B0502040204020203" pitchFamily="34" charset="0"/>
                </a:rPr>
                <a:t>Khi mức sinh rơi xuống quá sâu, các chính sách khuyến sinh rất khó đảo ngược xu thế, đe dọa suy giảm dân số và thiếu hụt lao động tương lai.</a:t>
              </a:r>
              <a:endParaRPr lang="en-US" sz="1500">
                <a:solidFill>
                  <a:srgbClr val="475569"/>
                </a:solidFill>
                <a:latin typeface="Segoe UI" panose="020B0502040204020203" pitchFamily="34" charset="0"/>
              </a:endParaRPr>
            </a:p>
          </p:txBody>
        </p:sp>
      </p:grpSp>
      <p:sp>
        <p:nvSpPr>
          <p:cNvPr id="26" name="!!Anchor_Source_Footer">
            <a:extLst>
              <a:ext uri="{FF2B5EF4-FFF2-40B4-BE49-F238E27FC236}">
                <a16:creationId xmlns:a16="http://schemas.microsoft.com/office/drawing/2014/main" id="{2E3DB13C-D830-1EFA-2A4B-8C23003DA824}"/>
              </a:ext>
            </a:extLst>
          </p:cNvPr>
          <p:cNvSpPr txBox="1"/>
          <p:nvPr/>
        </p:nvSpPr>
        <p:spPr>
          <a:xfrm>
            <a:off x="609600" y="62738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Tổng điều tra Dân số 2019 &amp; Bộ Y tế  |  Make Slide Pro V6.2 Certified</a:t>
            </a:r>
          </a:p>
        </p:txBody>
      </p:sp>
    </p:spTree>
    <p:extLst>
      <p:ext uri="{BB962C8B-B14F-4D97-AF65-F5344CB8AC3E}">
        <p14:creationId xmlns:p14="http://schemas.microsoft.com/office/powerpoint/2010/main" val="32064014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72E"/>
        </a:solidFill>
        <a:effectLst/>
      </p:bgPr>
    </p:bg>
    <p:spTree>
      <p:nvGrpSpPr>
        <p:cNvPr id="1" name=""/>
        <p:cNvGrpSpPr/>
        <p:nvPr/>
      </p:nvGrpSpPr>
      <p:grpSpPr>
        <a:xfrm>
          <a:off x="0" y="0"/>
          <a:ext cx="0" cy="0"/>
          <a:chOff x="0" y="0"/>
          <a:chExt cx="0" cy="0"/>
        </a:xfrm>
      </p:grpSpPr>
      <p:sp>
        <p:nvSpPr>
          <p:cNvPr id="2" name="Deco_Accent_1">
            <a:extLst>
              <a:ext uri="{FF2B5EF4-FFF2-40B4-BE49-F238E27FC236}">
                <a16:creationId xmlns:a16="http://schemas.microsoft.com/office/drawing/2014/main" id="{992C1B8F-2B74-4801-DA51-7564A927F929}"/>
              </a:ext>
            </a:extLst>
          </p:cNvPr>
          <p:cNvSpPr/>
          <p:nvPr/>
        </p:nvSpPr>
        <p:spPr>
          <a:xfrm>
            <a:off x="8534400" y="304800"/>
            <a:ext cx="3048000" cy="3048000"/>
          </a:xfrm>
          <a:prstGeom prst="ellipse">
            <a:avLst/>
          </a:prstGeom>
          <a:solidFill>
            <a:srgbClr val="0A21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eco_Accent_2">
            <a:extLst>
              <a:ext uri="{FF2B5EF4-FFF2-40B4-BE49-F238E27FC236}">
                <a16:creationId xmlns:a16="http://schemas.microsoft.com/office/drawing/2014/main" id="{D27C36B3-AC75-32BD-2192-173BF7CE9674}"/>
              </a:ext>
            </a:extLst>
          </p:cNvPr>
          <p:cNvSpPr/>
          <p:nvPr/>
        </p:nvSpPr>
        <p:spPr>
          <a:xfrm>
            <a:off x="9296400" y="4165600"/>
            <a:ext cx="2286000" cy="2286000"/>
          </a:xfrm>
          <a:prstGeom prst="rect">
            <a:avLst/>
          </a:prstGeom>
          <a:solidFill>
            <a:srgbClr val="061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62F76E6-F1A7-35DE-1098-38F4D602515F}"/>
              </a:ext>
            </a:extLst>
          </p:cNvPr>
          <p:cNvSpPr/>
          <p:nvPr/>
        </p:nvSpPr>
        <p:spPr>
          <a:xfrm>
            <a:off x="609600" y="965200"/>
            <a:ext cx="609600" cy="635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5978113-D62C-3F2C-DEC6-BD50D8AC6A38}"/>
              </a:ext>
            </a:extLst>
          </p:cNvPr>
          <p:cNvSpPr txBox="1"/>
          <p:nvPr/>
        </p:nvSpPr>
        <p:spPr>
          <a:xfrm>
            <a:off x="609600" y="1168400"/>
            <a:ext cx="10972800" cy="276999"/>
          </a:xfrm>
          <a:prstGeom prst="rect">
            <a:avLst/>
          </a:prstGeom>
          <a:noFill/>
        </p:spPr>
        <p:txBody>
          <a:bodyPr vert="horz" rtlCol="0">
            <a:spAutoFit/>
          </a:bodyPr>
          <a:lstStyle/>
          <a:p>
            <a:r>
              <a:rPr lang="vi-VN" sz="1200" b="1">
                <a:solidFill>
                  <a:srgbClr val="0D9488"/>
                </a:solidFill>
                <a:latin typeface="Segoe UI" panose="020B0502040204020203" pitchFamily="34" charset="0"/>
              </a:rPr>
              <a:t>CHƯƠNG TRÌNH ĐÀO TẠO DÂN SỐ HỌC  •  TỔNG KẾT BÀI HỌC</a:t>
            </a:r>
            <a:endParaRPr lang="en-US" sz="1200" b="1">
              <a:solidFill>
                <a:srgbClr val="0D9488"/>
              </a:solidFill>
              <a:latin typeface="Segoe UI" panose="020B0502040204020203" pitchFamily="34" charset="0"/>
            </a:endParaRPr>
          </a:p>
        </p:txBody>
      </p:sp>
      <p:sp>
        <p:nvSpPr>
          <p:cNvPr id="6" name="TextBox 5">
            <a:extLst>
              <a:ext uri="{FF2B5EF4-FFF2-40B4-BE49-F238E27FC236}">
                <a16:creationId xmlns:a16="http://schemas.microsoft.com/office/drawing/2014/main" id="{275CA30A-409E-7756-C686-0F964129915D}"/>
              </a:ext>
            </a:extLst>
          </p:cNvPr>
          <p:cNvSpPr txBox="1"/>
          <p:nvPr/>
        </p:nvSpPr>
        <p:spPr>
          <a:xfrm>
            <a:off x="609600" y="1600200"/>
            <a:ext cx="9875520" cy="1200329"/>
          </a:xfrm>
          <a:prstGeom prst="rect">
            <a:avLst/>
          </a:prstGeom>
          <a:noFill/>
        </p:spPr>
        <p:txBody>
          <a:bodyPr vert="horz" wrap="square" rtlCol="0">
            <a:spAutoFit/>
          </a:bodyPr>
          <a:lstStyle/>
          <a:p>
            <a:r>
              <a:rPr lang="en-US" sz="3600" b="1">
                <a:solidFill>
                  <a:srgbClr val="FFFFFF"/>
                </a:solidFill>
                <a:latin typeface="Segoe UI" panose="020B0502040204020203" pitchFamily="34" charset="0"/>
              </a:rPr>
              <a:t>Duy Trì Vững Chắc Mức Sinh Thay Thế Và Kiểm Soát Mất Cân Bằng Giới Tính</a:t>
            </a:r>
          </a:p>
        </p:txBody>
      </p:sp>
      <p:sp>
        <p:nvSpPr>
          <p:cNvPr id="7" name="TextBox 6">
            <a:extLst>
              <a:ext uri="{FF2B5EF4-FFF2-40B4-BE49-F238E27FC236}">
                <a16:creationId xmlns:a16="http://schemas.microsoft.com/office/drawing/2014/main" id="{175A6448-9255-3401-11E8-1E970FE9504F}"/>
              </a:ext>
            </a:extLst>
          </p:cNvPr>
          <p:cNvSpPr txBox="1"/>
          <p:nvPr/>
        </p:nvSpPr>
        <p:spPr>
          <a:xfrm>
            <a:off x="609600" y="3378200"/>
            <a:ext cx="9326880" cy="646331"/>
          </a:xfrm>
          <a:prstGeom prst="rect">
            <a:avLst/>
          </a:prstGeom>
          <a:noFill/>
        </p:spPr>
        <p:txBody>
          <a:bodyPr vert="horz" wrap="square" rtlCol="0">
            <a:spAutoFit/>
          </a:bodyPr>
          <a:lstStyle/>
          <a:p>
            <a:r>
              <a:rPr lang="en-US">
                <a:solidFill>
                  <a:srgbClr val="E2E8F0"/>
                </a:solidFill>
                <a:latin typeface="Segoe UI" panose="020B0502040204020203" pitchFamily="34" charset="0"/>
              </a:rPr>
              <a:t>Điều chỉnh mức sinh phù hợp giữa các vùng miền và xóa bỏ định kiến giới là nền tảng cho sự phát triển bền vững của quốc gia.</a:t>
            </a:r>
          </a:p>
        </p:txBody>
      </p:sp>
      <p:sp>
        <p:nvSpPr>
          <p:cNvPr id="8" name="TextBox 7">
            <a:extLst>
              <a:ext uri="{FF2B5EF4-FFF2-40B4-BE49-F238E27FC236}">
                <a16:creationId xmlns:a16="http://schemas.microsoft.com/office/drawing/2014/main" id="{6EB73BED-86D7-2ACB-6D6D-0BB37C650328}"/>
              </a:ext>
            </a:extLst>
          </p:cNvPr>
          <p:cNvSpPr txBox="1"/>
          <p:nvPr/>
        </p:nvSpPr>
        <p:spPr>
          <a:xfrm>
            <a:off x="609600" y="61976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Hệ Thống Bài Giảng Dân Số Học Chuẩn Hóa • Make Slide Pro V6.2 Certified</a:t>
            </a:r>
          </a:p>
        </p:txBody>
      </p:sp>
    </p:spTree>
    <p:extLst>
      <p:ext uri="{BB962C8B-B14F-4D97-AF65-F5344CB8AC3E}">
        <p14:creationId xmlns:p14="http://schemas.microsoft.com/office/powerpoint/2010/main" val="2342823909"/>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941</Words>
  <Application>Microsoft Office PowerPoint</Application>
  <PresentationFormat>Custom</PresentationFormat>
  <Paragraphs>47</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Bahnschrift</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Thanh Ninh Bui</dc:creator>
  <cp:lastModifiedBy>Thanh Ninh Bui</cp:lastModifiedBy>
  <cp:revision>1</cp:revision>
  <dcterms:created xsi:type="dcterms:W3CDTF">2026-09-18T04:39:46Z</dcterms:created>
  <dcterms:modified xsi:type="dcterms:W3CDTF">2026-09-18T04:39:46Z</dcterms:modified>
</cp:coreProperties>
</file>