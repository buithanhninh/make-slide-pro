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3586-E1A9-8C5F-AEC0-8602A7C2E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F5168-1468-2FC7-A7B6-171D843A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FFC92-047A-3238-64D3-EAD640D0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5A781-0149-612B-3395-876380D3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192D-B8EB-EB3F-B797-4C8988A2E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4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40F2-6D7C-CC17-8D42-A065FA3E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6A12-CA20-FBCA-6F40-136E7AF8D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68AE5-57A4-CBBF-77F9-D1A2EA8B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154DD-3DB0-652E-5271-7D1BD73E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6471A-552D-0FB5-B9F6-CFA55D8C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24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75D5-1081-8BD6-C5F1-EF70DAD7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901C8-1E09-AB0C-8761-98B44EC10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A0E1D-5B26-C5C0-2325-86B8F810B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BC339-8C36-4E51-4CC6-4FF913C5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52BF7-748D-5C35-4B0C-05E3A812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8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4902-F9F3-2163-1676-A0486AD4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49D0-67FF-FC29-DC7E-58C98B00A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629AD-4896-783C-12D7-CD38F5B89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D8B5A-F55D-99F2-D8E1-2F85B4BB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A006B-4266-8544-A635-E97E898F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18A17-AF17-86D7-5F80-0FF0CCF1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1B6D-7333-18D2-0B64-D1CA0406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B579D-713E-2FE2-C6CF-2CCF7F04C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558A8-83C3-0C7B-5FCE-B673F2563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C0643-C011-C05B-6A63-D85D6424B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596CA-EC25-823E-9E5A-D70524D895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E78C5-066A-6BD4-9716-ECA73E7F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EE76D-3C90-CCAA-2DC4-65D0B54D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ABCC2-A308-10FD-7EA4-12D8A3D1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06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8972-80F8-4B4D-E53A-91AA9D97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253E84-1F84-D6F4-901B-2A010CC6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FD41B-DBC2-7CC5-4875-D7385C88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FFA25-F728-173F-D25B-5C1EDB97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2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B0F2B-B962-7040-18F0-9755D3E5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CA6FB-1DA4-CEBC-F0C1-7966026D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C2354-B9FC-5C42-09DD-4FE71BD4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4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FB21-E6C0-8949-097D-96435DD9F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9FF7-3F57-D1A4-C169-41671D601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2A6A9-21D3-EC5F-6006-C7CE8123B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4D080-B0AA-E07C-7BB8-6573E504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4D649-885B-9F52-E066-4B934914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678ED-F852-E732-4280-BD769F2D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1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7D99-8656-2898-5C9B-2142EBB5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68558-8B30-527D-2053-7E3A17DEF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C87DD-5397-C70A-315A-61FA286D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1F460-ED0D-74FF-0136-2534700E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2A690-20EA-3C6C-4799-F55B6827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465E3-3DBB-7877-3D45-7F795C7A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90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6969-18A2-7FBF-6217-F6C8CD7E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B29BC-47AA-7C0E-FA44-34D5471F2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25ABC-8F00-9D94-D9E1-88FAE173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046F8-FA58-6E36-4CA6-CCA53019A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BFA17-48AA-3D54-987C-7F27DCED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9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B3D07F-4247-ED2A-C703-5E585E0BE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3B1F5-69B9-9395-D769-474B920DE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788FF-8DCE-4369-4630-178C0FA7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36850-48B5-1E66-36A5-FA734955C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E5CB9-4C0F-2D92-971E-B85BDE3A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7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DE9559-0A5F-BB18-6723-93406FA5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840B3-E3C9-749E-7437-0819D2108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B32FC-8116-B3E3-3348-BEC9081D7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2C32-3B98-436A-B101-22D27F6DD6E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56BE-0DFB-9AAF-7D96-69886963F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0AFF5-26CB-A4BF-4022-050787AEA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DE689-C974-4BE5-86F3-C685A48DB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1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28.svg"/><Relationship Id="rId4" Type="http://schemas.openxmlformats.org/officeDocument/2006/relationships/image" Target="../media/image3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851558-9B8C-2E2E-6901-F1CD0FBA9549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E0F80-F094-4E1D-9685-D82572A5C28F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59669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47C18-DD3E-51D9-1D1C-266AEA96344F}"/>
              </a:ext>
            </a:extLst>
          </p:cNvPr>
          <p:cNvSpPr txBox="1"/>
          <p:nvPr/>
        </p:nvSpPr>
        <p:spPr>
          <a:xfrm>
            <a:off x="609600" y="1447800"/>
            <a:ext cx="5266944" cy="113877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3400" b="1">
                <a:solidFill>
                  <a:srgbClr val="0F172A"/>
                </a:solidFill>
                <a:latin typeface="Segoe UI" panose="020B0502040204020203" pitchFamily="34" charset="0"/>
              </a:rPr>
              <a:t>BÀI 4: PHÂN BỐ DÂN SỐ, DI DÂN VÀ ĐÔ THỊ HÓA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1EEBE-2834-42CA-8907-AAF0C4CC37F2}"/>
              </a:ext>
            </a:extLst>
          </p:cNvPr>
          <p:cNvSpPr txBox="1"/>
          <p:nvPr/>
        </p:nvSpPr>
        <p:spPr>
          <a:xfrm>
            <a:off x="609600" y="3187700"/>
            <a:ext cx="5266944" cy="584775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475569"/>
                </a:solidFill>
                <a:latin typeface="Segoe UI" panose="020B0502040204020203" pitchFamily="34" charset="0"/>
              </a:rPr>
              <a:t>Không gian phân bố dân cư, các luồng di chuyển cơ học và tiến trình đô thị hóa trong phát triển kinh tế - xã hội.</a:t>
            </a:r>
            <a:endParaRPr lang="en-US" sz="16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6FB16-8F64-F6FD-5C5C-87FBB97893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665668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52DE633-993F-F491-1CCF-CAF8EF41918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845D566-8F00-DB10-25F2-D4174E8B44F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02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7B66D9D-A830-714F-C658-F8CEAB9FFB0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Năng Lực Khảo Sát Không Gian Dân Cư Và Luồng Dịch Chuyển Nhân Khẩu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B471AC1-8E1E-1629-1803-EFE64D608C02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4238C57-61AE-ACA4-2871-4C363491C840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3E3EED7-DF1A-019D-1C00-BFC7F9A8BADB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FC0EC49-7F3E-B3B7-A6F9-5870018D5784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AA0FEB8B-7B0B-FC48-C49F-AFF1A4F0F09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63381A-D657-BB16-1698-451CF47B4124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Đo Lường Phân Bố Dân Số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Tính toán mật độ dân số số học, mật độ kinh tế và vẽ đường cong Lorenz đánh giá độ tập trung không gian dân cư.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CDD3826-6D52-3279-F35A-1084032D9A91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A4E0D47-2C26-0BA2-0D43-902EBA7DABF5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FCEC943-157A-C2D4-931E-4F867055485A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B669215-4208-2044-D7C3-D4C520D29964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0BFBA55-3244-EBE4-B5AB-175684E6D9D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54CA70-7FF6-40B9-88B4-1444037AD763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Phân Tích Động Lực Di Dân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Nhận diện 4 luồng di dân nội địa chủ yếu và vận dụng mô hình lực đẩy - lực kéo giải thích làn sóng dịch chuyển lao động.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832237F9-7C49-06AC-A8FA-4255E4EEE80C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6178DCD-602E-2281-57CF-8E5E3AF3A27C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8F6F975-7241-30D4-6063-A581C03B6585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805E0C9-8798-4B26-E1C6-424F7035A32A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A47C124-9501-A9EB-7185-B313898F06A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8DD1FD5-687C-2964-ECDE-CAD2F1B3355B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Đô Thị Hóa &amp; Quy Hoạch Không Gian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Đánh giá tốc độ đô thị hóa, áp lực lên siêu đô thị và đề xuất giải pháp phát triển chuỗi đô thị vệ tinh sinh thái bền vững.</a:t>
              </a: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09A9EF79-B9A2-AF84-A2D1-28B067326A2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3563128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9CB39F1-9DC5-010B-4390-D461C8EDD60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PHÂN BỐ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75C3BE3-EFA1-9785-4C5B-69B87B157FD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03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569C2B0-A55F-48DC-0330-5EA4457AA387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Khái Niệm Phân Bố Dân Số Và Tính Không Gian Của Hiện Tượng Nhân Khẩu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E045C145-DD31-700E-ECCE-B20338AED1B8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4C7463-8FC2-B307-EB3A-301729C97DCC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C91B660-4925-B9C1-14F2-FB9F1E07BBDE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6BC496-86E3-A252-22CE-9D63DCE60F7D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E42BE9E-52AE-A6B9-FC5B-8DE637D9CFC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8BEAA9-BD10-86C6-5A37-94B8948A3BFB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Phân bố dân số là sự sắp xếp, phân bổ tập hợp người trên bề mặt lãnh thổ tại một thời điểm xác định.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0DAD26B-B6A9-4AE9-3FBE-8315881BDEAC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35B9297-27F4-3484-B29D-06F1406B49CE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77E96F-4082-3DE5-CC02-C4BAFC7A8601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A8C4088-9023-154D-0D70-CBEE41E53B7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20840A-D0CE-1107-3DC4-4AFDC1C682E8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Tính Lịch Sử Và Địa Lý Tự Nhiên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Dân cư tập trung đông đúc ở các vùng đồng bằng châu thổ phì nhiêu, nguồn nước thuận tiện và mạng lưới giao thông thủy bộ.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E49770AC-24C0-7B7D-94A2-EB4EA8A17B3A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D3B8A81-1FF9-B2ED-946B-25D4F2C6DA19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8EE2DC4-1300-66AE-A1EC-2DA5B31DFD4D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B24C1892-033D-AF41-E44F-1B1C455DBFF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42B942-F0C3-4E4B-C49A-D4E9CAC84C45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Tính Quy Định Bởi Kinh Tế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Nơi nào có mật độ khu công nghiệp, dịch vụ và cơ hội việc làm thu nhập cao thì nơi đó hút dân cư tập trung sinh sống.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57D4F6E4-4E75-63BE-878A-BEE78AA1586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Giáo trình Địa lý nhân khẩu học</a:t>
            </a:r>
          </a:p>
        </p:txBody>
      </p:sp>
    </p:spTree>
    <p:extLst>
      <p:ext uri="{BB962C8B-B14F-4D97-AF65-F5344CB8AC3E}">
        <p14:creationId xmlns:p14="http://schemas.microsoft.com/office/powerpoint/2010/main" val="1557250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12F42A6-8994-4FD1-EE8A-31E47137C582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MẬT ĐỘ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3BEA56E-5917-35F2-CEAD-8AC096A7F21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04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83F284F-FBB3-5C4B-ABB0-CDA5CA53706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Mật Độ Dân Số Số Học Và Mật Độ Dân Số Kinh Tế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8202DD0C-DCA3-4947-2A37-F365DE98164B}"/>
              </a:ext>
            </a:extLst>
          </p:cNvPr>
          <p:cNvGrpSpPr/>
          <p:nvPr/>
        </p:nvGrpSpPr>
        <p:grpSpPr>
          <a:xfrm>
            <a:off x="609600" y="1676400"/>
            <a:ext cx="10972800" cy="1237397"/>
            <a:chOff x="609600" y="1676400"/>
            <a:chExt cx="10972800" cy="123739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FDD8279-4B85-EB0C-8E08-0AF531BFF766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AA76ED-682F-8CC9-C7B8-165E29F009F5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5898AE-6EEC-8B05-7DF6-28CB40CBA9E7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830997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vi-VN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D_sohoc = P / S (người/km²)  |  D_kinhte = P / S_nongnghiep (người/ha)</a:t>
              </a:r>
              <a:endParaRPr lang="en-US" sz="24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6D79669B-50DA-3376-D3E7-A0C00726109D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901C4CA-6727-C2BA-99C0-2288D6AF75E1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05B942C-5415-182D-38B3-A637C6BCF1F2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1078D14-5922-B0CF-3747-DCF18F95AE3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84E5FF-2E85-5C93-722F-3EB4C6619DC2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Mật Độ Số Học (Crude Density)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D = P / S (người/km²). Với P là tổng dân số, S là tổng diện tích tự nhiên. Việt Nam đạt gần 300 người/km² (thuộc nhóm cao).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605D7F3C-F244-62A7-7FD2-BC930EC7871C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4909973-D9E9-5094-017E-7948BD5E6D12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A89A5E-FCE6-4778-B3B7-44611A0AA5F9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BA1DA17-E055-88E5-E549-8E03442532D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10822E-1444-9294-CDA1-B204E05B39E7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Mật Độ Kinh Tế Nông Nghiệp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Số dân nông nghiệp trên một đơn vị diện tích đất canh tác nông nghiệp, phản ánh chính xác sức ép dân số lên tư liệu sản xuất.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499B2610-D56F-B567-1F74-E1ACFDEE54A0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CE253AF-1EF5-5BF8-5D3D-F365601C0CE8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22BB9FF-302E-51DD-8F8F-C91A3A2510FF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B9C09001-83D3-30AD-6EDD-3FA45E8824C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29EF7DF-90D9-DDF0-1A4D-2229C1155E2A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Mật Độ Đô Thị Thực Tế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Mật độ dân cư trên diện tích đất xây dựng đô thị, phản ánh trực tiếp nguy cơ quá tải hạ tầng giao thông và thoát nước.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7F569652-1F4C-4F4A-6C82-C46CFC0582E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Phương pháp đo lường không gian dân số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093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A6A8E15-A847-E0F5-6673-F406DB976E0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ĐƯỜNG CONG LORENZ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53A92B2-AF70-C7E2-D64E-C80F599CA04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05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8235205-9664-0221-53E5-493E00EDC324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Đường Cong Lorenz Và Đánh Giá Độ Tập Trung Không Gian Dân Cư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77EBFD57-4F44-45A3-8CFE-2FA3247DE3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43169B6A-CDD2-A9B9-8C61-BA57D34D7A3E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A2934A8-03BC-D51D-7178-ECBAF8BFEF37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90CF9B-317C-8ED0-9DD2-20CF2E518E9F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2B802D28-2083-5554-C78B-EE7CC190E4F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9707CD-248C-DDED-FAF4-8D9416E1A645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Nguyên Lý Đường Cong Lorenz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Đồ thị biểu diễn phần trăm tích lũy dân số so với phần trăm tích lũy diện tích các đơn vị hành chính thành phần.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B7F76C2-AA07-4448-3DC8-B68876148C18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9A9647F-00C7-AD50-D489-76F75480D1A8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5A9638E-55D5-B1A4-129A-5451AE175787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9833D5E-44E7-F80D-4D10-3BF5A30E1D7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DB109F-7B6D-CA6C-7257-036185C2509D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Đường Bình Đẳng Tuyệt Đối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Đường chéo 45 độ: nếu đường cong càng phình xa đường chéo, mức độ tập trung dân số vào một vài vùng càng cực đoan.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CF8718F8-8F9B-B54F-6BDC-8F1F4EEFFB2C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1EC30A8-B944-FC8C-630C-552EBD97677B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FC643CE-9A1B-E86E-EC7C-7B5CFAFA4BC4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C3229F0-638F-A00B-0FCE-D9E0A371628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BC68FD-93D7-2A40-1E20-2049D63D619C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Ứng Dụng Trong Quy Hoạch Vùng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Nhận diện tình trạng mất cân đối không gian để xây dựng chính sách phân bố lại lực lượng sản xuất và dịch cư có tổ chức.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2E8160E4-F3EB-F944-43F5-CBAF005BD23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Kỹ thuật phân tích không gian kinh tế - xã hội</a:t>
            </a:r>
          </a:p>
        </p:txBody>
      </p:sp>
    </p:spTree>
    <p:extLst>
      <p:ext uri="{BB962C8B-B14F-4D97-AF65-F5344CB8AC3E}">
        <p14:creationId xmlns:p14="http://schemas.microsoft.com/office/powerpoint/2010/main" val="2393960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4D0B706-33E6-9623-D394-5806FAC8D26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PHÂN BỐ DÂN CƯ VN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7CBDBE3-691A-4DFE-4422-068F088322C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06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E9FB7E1-DBAE-2C8B-B213-18CC3B5511E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Đặc Điểm Phân Bố Dân Cư Trên Sáu Vùng Kinh Tế - Xã Hội Việt Nam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34190D2B-1015-2E80-4524-0B3CE9D327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9D2AE67C-F529-3DC3-1AA3-85CDC6276654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750C903-216E-3AA8-6B28-4E11F09A7B6B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CF20B83-0AAA-0DCD-BBDF-270E2FA9F4E4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10ECCF8-C0F5-0B97-526A-85DD680C191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5EEBB2-9AF3-14B3-8829-0C0A357A677C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1236236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Đồng Bằng Sông Hồng (&gt;1,000 người/km²)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Vùng có mật độ dân số cao nhất cả nước, gấp 3.5 lần mức trung bình toàn quốc, áp lực nhà ở và môi trường cực lớn.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815A8C04-7DB8-1EF0-3E38-6DEF1FAE26E2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8931B75-D128-E939-F985-C6A78BC8E9AF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64FFE76-7DD6-0A14-4F90-C845D4316812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5909237-4142-F654-6A68-C6C43CF7C71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622BE9-DEBC-1FDB-8A2E-39DC6BA4D327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Đông Nam Bộ (&gt;750 người/km²)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Vùng kinh tế năng động nhất, hút dòng di cư lao động khổng lồ, tạo nên siêu vùng đô thị TP.HCM - Bình Dương - Đồng Nai.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169E9FEC-5D26-BA35-8243-2FB07605F348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BF4174B-5712-FFEB-5FB2-91B3C857FE13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F9FE89-545B-4784-7A2E-3E5E402A437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C6104A0-B753-F9E6-9D86-D88490E8E2F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C27185-93DD-CA95-253B-B0A11EF50C00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Tây Bắc &amp; Tây Nguyên (&lt;150 người/km²)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Địa bàn chiến lược về quốc phòng và sinh thái nhưng mật độ dân cư thưa thớt, khó khăn trong tổ chức mạng lưới dịch vụ công.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80D5AC78-FAF9-0669-6433-CCC55067E1B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Niên giám Thống kê Việt Nam</a:t>
            </a:r>
          </a:p>
        </p:txBody>
      </p:sp>
    </p:spTree>
    <p:extLst>
      <p:ext uri="{BB962C8B-B14F-4D97-AF65-F5344CB8AC3E}">
        <p14:creationId xmlns:p14="http://schemas.microsoft.com/office/powerpoint/2010/main" val="1952321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CCDE295-94E4-8534-7058-53A3373C93B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CHÊNH LỆCH ĐỊA BÀN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C275897-44C8-3713-4070-7D46918C576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07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F9885FA-A369-EC14-4F75-8D265ADF2E76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Sự Chênh Lệch Phân Bố Giữa Nông Thôn - Thành Thị Và Đồng Bằng - Miền Núi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D2DC3104-1895-EE3A-0B9C-A532738ABB40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1BC9871-E074-0A0A-8378-634077CAF552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659CFBA-8FAA-D2DC-C021-04CFBE944C52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C5EABA8-1EFF-2D7A-4E56-6C15DA586E6F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0350747-B215-5407-930C-A35D6E63CB4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5E5BBF-16FF-23D4-6359-4923C09ADEE5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Khu Vực Nông Thôn (58%)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Lực lượng lao động già hóa do thanh niên di cư ra thành phố; kinh tế nông nghiệp đòi hỏi cơ giới hóa để giải quyết thiếu lao động.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DC8B4135-B68D-513B-0102-229C7E41DC8A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A880AA-62D3-7B66-7CFD-287298928B73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1A7EFAF-5B7F-A86B-445E-6CED02DDDBC7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BE6BD3-8700-1B7F-919F-A6B025F78299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02A50D6-DF48-B2E5-CDBD-34764466CF0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BDDD2A-75D6-03F3-FEBE-89A56A675EC7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Khu Vực Đô Thị (42%)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Tập trung lực lượng lao động trẻ, đóng góp hơn 70% GDP cả nước nhưng đối mặt bài toán ách tắc giao thông và ô nhiễm không khí.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FAB17218-BD67-B1FA-3385-29B9C975513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Báo cáo Tổng điều tra dân số và nhà ở</a:t>
            </a:r>
          </a:p>
        </p:txBody>
      </p:sp>
    </p:spTree>
    <p:extLst>
      <p:ext uri="{BB962C8B-B14F-4D97-AF65-F5344CB8AC3E}">
        <p14:creationId xmlns:p14="http://schemas.microsoft.com/office/powerpoint/2010/main" val="1906858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B3F999A-6BA7-439F-2FF3-E00DD16904E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KHÁI NIỆM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3922C15-5576-CD27-59AF-FF72465B3964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08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AD750A4-EBDD-9A2F-8C52-6B6E53F2C304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Khái Niệm Di Dân (Migration) Và Các Tiêu Chí Xác Định Dòng Cư Trú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A1332644-9AA2-8B47-5328-A5A192EC0BA7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3893C61-702B-0044-3460-1653CC59BA76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6309130-F6FB-6339-A8E7-8DA828DDF856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45D6F26-A874-DAB5-F12F-A90E73EC56E2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AEF23D-FFA4-5083-7150-5002B067ED8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060B8B-D5CB-B6D2-53AD-44C731206D89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Ba Thành Tố Cơ Bản Của Di Dân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Nơi xuất phát (Nơi đi), Nơi tiếp nhận (Nơi đến), và Khoảng cách ranh giới hành chính vượt qua (xã, huyện, tỉnh hoặc quốc gia).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D9C2A87-D3E1-6615-E871-7FE5F9B1D045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D054E9-72E1-F31A-8FD6-E75E17FFDB95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3F105D3-D193-49BF-F186-F18BC35223B5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F8C56C2-23DB-05D2-1B4C-756DC4B66865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E5FBD-8297-D759-4E63-DAD0CE1C309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EFD530-444F-C025-95ED-72A1EDB8C90F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Thời Gian Cư Trú (6 Tháng)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Quy ước thống kê chuẩn mực: thời gian cư trú thực tế tại nơi đến từ 6 tháng trở lên mới được tính là di dân thường trú.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66AA6E36-67AB-6A75-A20E-A85E6A47016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2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3F59EBB-D1C0-D29A-7875-B6BB7955C5B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PHÂN LOẠI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3973EAB-D2ED-09EE-2C61-82B8D97ED88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09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AD90B16-9366-1939-0D7E-4B83F6D382D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Phân Loại Di Dân Theo Không Gian Lãnh Thổ, Tính Chất Và Mục Đích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8D66645F-17E0-38B6-4FBC-1FBA5226512E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88736B3-BF87-EFCC-D691-91BAF680BA54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16651D0-E455-D178-2E36-D3148DCA2438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D676FEF-5D4C-BD63-AEAF-3E44D644CC40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FC4E257-91DC-1B21-B8C1-177FF6D8D4F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B24981-3BA6-8F36-7B9A-D1E3C687518A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Di Dân Nội Địa vs Quốc Tế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Di cư giữa các vùng, các tỉnh trong nước (nội địa) đối lập với di cư vượt qua biên giới quốc gia (xuất cư, nhập cư quốc tế).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F877C40B-69B4-BC86-E2F2-C1DB7C1580C7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37A9A6B-2B5C-2731-A527-BD892D8C6A03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92DCB2-82E8-A393-2A14-7235AC833712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9AD6ED6-11FC-2613-AE0B-A7CDC2E27CAB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CDF5752-360A-9983-B39D-4491C2B3293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EE3B18-5266-777E-086E-B06583EFF0BD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Di Dân Có Tổ Chức vs Tự Do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Di dân theo kế hoạch khai hoang, xây dựng vùng kinh tế mới của nhà nước đối lập với dòng di dân tự do theo quy luật thị trường.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7E4E3935-54E8-2851-4722-6C35F39B2569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C0E34A5-2A7F-3D2D-C358-D2CA1A836266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D3058B-7F73-9DD3-8B72-4C30E5ADBEAE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97D528-542F-2B86-3696-3B7699CE21A1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7D90135-3FBE-763F-BB63-674914EA365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F9FEAA-FD5F-03E2-0437-692922C3EF0A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0F172A"/>
                  </a:solidFill>
                  <a:latin typeface="Segoe UI" panose="020B0502040204020203" pitchFamily="34" charset="0"/>
                </a:rPr>
                <a:t>Di Dân Lao Động vs Cưỡng Bức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Di cư tự nguyện tìm kiếm việc làm, học tập đối lập với tị nạn do thiên tai, biến đổi khí hậu hoặc xung đột vũ trang.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015677BE-2D8C-D141-38B4-4517C8F10CE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Sổ tay nghiên cứu di cư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435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3B8EB9AC-A256-57B5-F86C-150BCB76B3B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THƯỚC ĐO DI DÂN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58C0AC9-9E3B-AFAD-F0CB-52B61D3F6883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10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4E31454-9213-EA78-9019-88A47BECCBCB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Hệ Thống Các Thước Đo Đo Lường Cường Độ Di Dân: IR, OR, NMR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DDD43DEB-B341-3096-AFEC-5BE5700CA040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57EBA35-96D0-1F07-1F2B-9EC1AE7A6985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EB7062-2B52-0B9A-8048-59004E0D9160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5FC28C-2F46-7EA6-23FA-78448B315E5F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NMR = [(I - O) / P_tb] * 1,000  |  MER = [(I - O) / (I + O)] * 100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8A2E187C-1233-48FD-A833-F7535865CCE1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C1DBD8F-5330-BC4A-D9D9-E924720B70FA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D24C30F-B212-8786-5605-C7C02C41308E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ACC297D-5D20-0F97-BBFA-FC7BE41F3A3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576D3F-14B9-008F-BE3C-FE27DCCBBC06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Suất Nhập Cư (In-Migration: IR)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IR = (I / P_tb) * 1,000 (‰). Đo lường sức hút lao động của các vùng công nghiệp như Bình Dương, Bắc Ninh.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F7A3D38C-3C87-5C3C-3019-46F27E72BD16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6D99FE9-408B-7278-1157-EAC9F184DB0F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E7E0DC9-B2BF-A7A4-9B44-8E0AA057D1BD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C5920E80-B5A4-2E32-DD88-B16BE8DD0BB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EA1ED0-FCC9-6200-6C3C-145B44E1005D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Suất Xuất Cư (Out-Migration: OR)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OR = (O / P_tb) * 1,000 (‰). Đo lường mức độ ly hương của các vùng nông nghiệp có thu nhập thấp.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B9F37F8B-548B-E3AA-5379-9A07975E0B8C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1DB31D6-EBD9-7F96-CAF9-D574E17911C0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FEF16F5-1547-09B1-401D-CD8BFB594C54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315166C-32DE-0B00-C148-D20E16AA546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EAB5E4-3A6C-112E-FDDB-055C3A76562A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Suất Di Cư Thuần (Net: NMR)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NMR = IR - OR = ((I - O) / P_tb) * 1,000. Nếu NMR dương: vùng hút dân; nếu NMR âm: vùng xuất cư ròng.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D7ADEBA9-0AB7-CF05-7335-65F7477CB559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Phương pháp thống kê di cư - Tổng cục Thống kê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20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3177142F-5395-6193-92C0-C95D6036FFB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LÝ THUYẾT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C329C01-80DC-5337-D725-A51A8ADE022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11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A2D01C45-0DE1-14C6-9359-01E3474B085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Lý Thuyết Lực Đẩy - Lực Kéo (Push-Pull Factors) Của Everett Lee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D8BCFB88-D144-03D0-6030-00BEF458EB73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42E6E30-AC07-A945-FE8C-CC56522CAA74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451BB14-35BA-DD19-80E2-5988D44D93D5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7E747C4-9529-FA2B-F595-199BCC453300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D73DD91-D48D-DE23-CAA9-B2BBD72E412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5AEA65-C012-E7A8-7160-8A7FC7D9BBA6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Lực Đẩy Tại Nơi Đi (Push Factors)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Thiếu đất canh tác, việc làm bấp bênh, thu nhập thấp, thiên tai hạn hán bão lũ và thiếu hụt dịch vụ vui chơi giải trí.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7474B6F7-679E-3755-36AA-C0C76F15F2F1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964C597-0D1D-85B0-26BC-B27182F0D8B5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4BDB186-3795-4421-1C77-A7752C092166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D630FFD-621E-2B06-225D-93F17A0F0BCA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0C054A1-B465-0DF0-C053-566ED2804DF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CE9E06-53B9-FA73-AA7A-56CABC6E3701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Lực Kéo Tại Nơi Đến (Pull Factors)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Cơ hội việc làm lương cao, hệ thống giáo dục đại học tiên tiến, mạng lưới bệnh viện hiện đại và môi trường sống sôi động.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F4386202-280C-A2D8-6845-F68A5B921B2A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C08AC78-984B-3B1F-25D3-8462BED8A6CE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B7CED69-6F65-80A0-23AE-7D53BCC13BCA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0EC4EA6-65E9-5B2F-E638-D764D8A73D4E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1EC04B3C-C41C-EE5C-EE37-BF03A685F70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6BCF32-5F3D-D9C5-FDA1-959F219A3151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1236236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Rào Cản Trung Gian &amp; Yếu Tố Cá Nhân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Khoảng cách địa lý, chi phí dịch chuyển, rào cản đăng ký cư trú hộ khẩu và tính cách sẵn sàng chấp nhận rủi ro.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EAF3FB92-C98E-DE38-2AA8-A1B5960E2C4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Lý thuyết di cư Everett Lee (A Theory of Migration)</a:t>
            </a:r>
          </a:p>
        </p:txBody>
      </p:sp>
    </p:spTree>
    <p:extLst>
      <p:ext uri="{BB962C8B-B14F-4D97-AF65-F5344CB8AC3E}">
        <p14:creationId xmlns:p14="http://schemas.microsoft.com/office/powerpoint/2010/main" val="2769484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1AB9EB1-28E0-B1DF-9D46-F33A85AE467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LUỒNG DI DÂN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54A9E1D-B313-91A3-C018-7FA5562AED1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12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0042BAB-4806-D9AD-3CE9-C6E6F9DB4F2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Bốn Luồng Di Dân Nội Địa Chủ Yếu Định Hình Bản Đồ Lao Động Việt Nam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BB1641B4-3D1F-6583-B7E0-6D5B2EC707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1E262272-F094-AB8D-3147-4F1F0DF2B5A3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D8C224C-5B73-66D2-8AD5-BAA7895131AE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E14067C-1428-19DB-EE0C-E3ED6A0D9928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FD270E0-99DE-26F0-0896-627BA77A41D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77037A-363A-9083-1F2A-AE64AC59C83B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Nông Thôn - Đô Thị (Chiếm Ưu Thế)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Luồng di cư lớn nhất: thanh niên nông thôn đổ về các đại đô thị tìm việc làm trong ngành may mặc, xây dựng và dịch vụ.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5087B14-82CC-CF5B-00A7-B9415BC27806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A71EE55-EC73-91B4-1A1E-6A225BA67F29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0B57644-6580-781E-3C68-F33B4FF9CB79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82F6E5D-65B2-2127-D4AB-E4B78DF1C5D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63302E-4A5C-377D-FB68-A72805F872A1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Nông Thôn - Nông Thôn (Kinh Tế Mới)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Dòng di dân lịch sử từ đồng bằng lên Tây Nguyên, Tây Bắc phát triển cây công nghiệp (cà phê, cao su, hồ tiêu).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3C8D7955-50CD-57B3-9F54-40CD9F578A15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859237C-4DC6-1AA0-98E9-372D544F2422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07D732F-521A-6032-19D1-E7855D41C57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0262CEA-4DA2-C997-7287-76C3D7DB4C7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93C144-0BC5-4CA2-BB3C-B364A24569C6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Đô Thị - Đô Thị (Chuyển Dịch Bậc Cao)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Dịch chuyển của lao động có chuyên môn kỹ thuật cao giữa các thành phố lớn hoặc từ đô thị nhỏ sang siêu đô thị.</a:t>
              </a: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86CD1535-0494-B35A-01AA-9C2D6B5820D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1000">
                <a:solidFill>
                  <a:srgbClr val="334155"/>
                </a:solidFill>
                <a:latin typeface="Segoe UI" panose="020B0502040204020203" pitchFamily="34" charset="0"/>
              </a:rPr>
              <a:t>Điều tra Di cư nội địa Việt Nam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0586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880F809-F5A4-86F2-A6F5-D109072C236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DI DÂN ĐÔ THỊ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2F75131-A83A-BA8A-BBD4-DE40AF78B8E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13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E2F3E6D-345A-B1F6-5D4F-446FDCE8D765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Luồng Di Dân Nông Thôn - Đô Thị: Động Lực Tăng Trưởng Và Sức Ép Hạ Tầng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86C7CFE7-F2CE-984A-D5B5-25ED979F2102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8FCBDDF-6BA9-AF22-2F88-E0C049A92773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BDA47A0-51CA-CD06-09B8-104DFD985C31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2D420BA-EDE4-649E-596D-1538E7332746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804F784-C79F-09AA-5F1E-5FA804449B3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E168E9-9FA5-D0F2-85C2-783486786776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Di cư đóng góp to lớn vào năng suất quốc gia nhưng tạo áp lực gay gắt về nhà ở, trường học và bảo hiểm xã hội.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8831E1B-347E-F738-3E85-A0E0E3120E2C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142C576-1FD7-8D46-4130-236600C17BE9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576F2D7-1F29-DB60-A15D-0FBB424585E3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E624414-DFA9-C804-5BDF-D7D5A4FC6D3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4BDAD9-8B80-4499-6D6C-9DF605E840DF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Lợi Ích Kinh Tế Đột Phá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Cung cấp nguồn lao động dồi dào, giá hợp lý cho các khu chế xuất; chuyển kiều hối nội địa về xây dựng nông thôn mới.</a:t>
              </a: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29B67398-18F4-6375-A4B8-C6218620EFA4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D277957-F9C2-2EEC-D5FB-56D963F5DE21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9D67083-FBE7-1925-3B42-0FE5AAF22829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03BE6A2-AB31-BA21-A159-542BF8C45EC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52B16B-E0F9-F312-7C6C-7C107469C797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Thách Thức Tích Hợp Xã Hội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Người di cư đối mặt điều kiện nhà trọ chật chội, khó khăn trong tiếp cận trường học công lập cho con em và bảo hiểm y tế.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93ABD656-C2F7-9A90-D2AC-3203BF65378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Viện Nghiên cứu Quản lý Kinh tế Trung ương (CIEM)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151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837AE78-A2A1-C728-D25E-D4B48497AFA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DI DÂN QUỐC TẾ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31C2186-E293-F2C9-0880-3587DD82D0D3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14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000414C5-5F48-B133-9686-0199BD54D05B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Di Dân Lao Động Quốc Tế Và Dòng Kiều Hối Đóng Góp Phát Triển Quốc Gia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2A9DBE95-7F20-4015-225A-5F0E913F1E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95714A99-15DE-FA99-6062-6F9F0EC14A70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6B260B3-AFEC-B9C4-DAF8-727605CBAC36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4380D9A-EA1A-B891-3570-5D0AF4E0C880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FE44002-39FC-ED79-B48B-01DA28B2622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A1633B-0474-9694-F873-8DD9BED84766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1236236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Xuất Khẩu Lao Động (&gt;150,000 người/năm)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Thị trường chủ yếu: Nhật Bản, Đài Loan, Hàn Quốc. Giúp thanh niên học hỏi tác phong công nghiệp và ngoại ngữ.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208689C6-9867-3523-2980-AEC4FA053A5B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01F6AD9-4427-4EB3-73F9-72050168141C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A78368-2476-2F7A-803C-C72DC8E0B878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93557EF-BF9A-DC36-39A4-71882F32F0B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590917-F050-2302-4EC2-E1BFE8D791BC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Nguồn Kiều Hối Dồi Dào (&gt;18 Tỷ USD)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Việt Nam nằm trong top 10 quốc gia nhận kiều hối lớn nhất thế giới, củng cố nguồn dự trữ ngoại hối và đầu tư tư nhân.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B814377F-D52B-3176-4507-A279D1917C32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0598567-46C9-F0AD-C909-C315B5D7C7DB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3EE7BC5-DB09-D83F-5688-1C37BFE047A0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0400262-0BBC-6353-C5F4-3ED04292992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81CB9D-4BEF-97A6-802B-836B4374EAFD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Thách Thức Chảy Máu Chất Xám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Tình trạng nhiều chuyên gia, du học sinh giỏi không quay về nước, đòi hỏi chính sách đãi ngộ nhân tài hấp dẫn hơn.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CD5B3DEF-E927-3F75-680C-E00BE8B8743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Ngân hàng Thế giới (World Bank Migration and Development Brief)</a:t>
            </a:r>
          </a:p>
        </p:txBody>
      </p:sp>
    </p:spTree>
    <p:extLst>
      <p:ext uri="{BB962C8B-B14F-4D97-AF65-F5344CB8AC3E}">
        <p14:creationId xmlns:p14="http://schemas.microsoft.com/office/powerpoint/2010/main" val="200609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31B52BF6-828A-513E-84E4-A076E5F75E88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TÁC ĐỘNG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C3D8EC5-2FB6-8161-1CE3-C5836EB1F52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15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44B5D97-261F-71D2-C969-94BF85F9D4F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Tác Động Hai Mặt Của Di Dân Đến Sự Phát Triển Của Vùng Đi Và Vùng Đến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430E3D92-3A58-4F37-7B2F-928F25FD6A33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D23378-70E3-9887-7559-99484D584B9B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6B3C2EE-45D6-86A6-9A9B-EB156758FD5F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F97F41C-F8DF-6E60-5A49-1C191B67116A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1FD0855-1F36-5FC5-69A1-938FE559ECF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B02480-5805-A69A-5F4B-8A54E6086DFF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Di dân là con dao hai lưỡi: giải tỏa áp lực đất đai cho vùng đi và cấp lao động cho vùng đến, nhưng làm xáo trộn cấu trúc xã hội.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CBCF7F57-57D0-305C-CBB2-E01DF01381C8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EAAD0CF-8220-881A-4F5D-DCE9554228DD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5E0F1E1-326F-C982-4324-7D4E1A32540A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4E72096-A1FB-81DF-B49B-0C681797E8F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5FB5D2-0DC9-177A-C82C-F994C0B714C9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Tác Động Đến Nơi Đi (Xuất Cư)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Giảm áp lực thiếu đất, nhận nguồn kiều hối nhưng mất đi lực lượng lao động trẻ khỏe, phụ nữ và người già phải gánh việc đồng áng.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3A76032D-AEB6-C910-D793-06506DD060AA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E0863F6-6793-5E2C-7FED-8957DE0DF119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896D583-7FCC-C9C7-E3F4-9397066EB067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FD40822-5295-A8C5-0AFB-3F7622F2E3B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933BF7-36B2-2223-9BAA-A717A83DDA1A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Tác Động Đến Nơi Đến (Nhập Cư)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Bổ sung lao động năng động, kích thích tiêu dùng nhưng gây áp lực lên bệnh viện, trường học, nước sạch và an ninh trật tự.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5032450B-F297-491D-062C-8915A666050D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F318416-9B18-35F8-A1F0-B2BB440AE900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52C4E59-AEE7-8B70-2CA5-286E275E37BC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92B082D-FE3D-9F79-8F24-24AFA1889F8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FCFA52-E182-51E5-C5DF-2092DFBC817C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Giải Pháp Điều Hòa Lợi Ích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Phát triển công nghiệp vệ tinh và dịch vụ tại các tỉnh xuất cư để người lao động 'ly nông bất ly hương'.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8D6F1095-A6B8-5B23-D1DF-618C3DB4226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Giáo trình Kinh tế phát triển</a:t>
            </a:r>
          </a:p>
        </p:txBody>
      </p:sp>
    </p:spTree>
    <p:extLst>
      <p:ext uri="{BB962C8B-B14F-4D97-AF65-F5344CB8AC3E}">
        <p14:creationId xmlns:p14="http://schemas.microsoft.com/office/powerpoint/2010/main" val="37160117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1199BB3-9133-8E18-D9F7-2A7C349AD50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ĐÔ THỊ HÓA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8F2FEC1-A8AB-0AC5-7486-4BC19DB4F13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16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A73524E-3B68-4BF2-5619-432A3F0A879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Khái Niệm Đô Thị Hóa Và Các Tiêu Chí Định Danh Khu Vực Đô Thị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C37CC75B-27BF-DE0E-9013-8E9E2A2AF3B6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5267B74-A3DB-6CE8-53DF-2F6C86922ABD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F2E6B1B-1F8F-7D80-C149-9711BA86E2C7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C85CA8-495B-4507-0E8B-2B296E7538CC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79A63AC-37D9-F94E-F0C6-2740899BB64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726FA9-AACB-BD81-2B19-F1F7B8112CA8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Phương Diện Nhân Khẩu &amp; Lãnh Thổ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Sự tập trung dân cư với mật độ cao, mở rộng diện tích đất phi nông nghiệp và hình thành hệ thống hạ tầng đồng bộ.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CC3E807-1CAC-528B-795A-6E6E639DBAF4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A28949F-AF87-7719-DCA0-FA6B9621ADE9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6B39CC3-408D-A022-4E77-CAB89DD2FD3D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2400D7C-6CA2-DF13-7E82-E487300BBF6A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597961A-A3FC-2DF8-35CB-8D179491AB1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7F26BE-22F8-A232-F49C-FEF0A3F104D0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Phương Diện Văn Hóa &amp; Lối Sống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Chuyển biến cơ cấu nghề nghiệp sang công nghiệp - dịch vụ, thay đổi lối sống từ cộng đồng khép kín sang năng động, chuyên nghiệp.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77A71432-9570-468C-D383-91DCCA2FC2A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Luật Quy hoạch Đô thị Việt Nam</a:t>
            </a:r>
          </a:p>
        </p:txBody>
      </p:sp>
    </p:spTree>
    <p:extLst>
      <p:ext uri="{BB962C8B-B14F-4D97-AF65-F5344CB8AC3E}">
        <p14:creationId xmlns:p14="http://schemas.microsoft.com/office/powerpoint/2010/main" val="1388314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D2935EA-1B61-7C46-986A-8669909C7F0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THƯỚC ĐO ĐÔ THỊ HÓA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717AC2B-1006-D5E0-3CDC-CAE0C857893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17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F6E552B-56D0-6027-D92D-7A10240E7DF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Các Chỉ Số Đo Lường Đô Thị Hóa: Tỷ Lệ Đô Thị Hóa (PU) Và Tốc Độ Tăng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C0CC1409-2710-AF36-12EE-5127B74BFD8D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7C81890-3094-0EE2-FC87-413CAB89B65E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990E6A-30B2-1F93-F583-DACD72426CED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E63257-1BAD-57EE-C830-96DEE625EF39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fr-FR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PU(%) = (P_u / P_total) * 100  |  UR = [(P_u,t - P_u,0) / t] * 100</a:t>
              </a:r>
              <a:endParaRPr lang="en-US" sz="24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C75E77BC-0E34-4EEE-38D3-6B508AD7508A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5EDEB4D-C57A-E0F3-B5E8-104629E9B9C4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D5DBEA-C831-E0E4-5F56-027F72D7C11A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85F58A5-F73D-9E52-038A-C7971CF8646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AA6363-76E4-E8B1-FC2C-11663FC85B40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Lệ Đô Thị Hóa (PU)
</a:t>
              </a:r>
              <a:r>
                <a:rPr lang="en-US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PU = (Dân số đô thị / Tổng dân số) * 100 (%). Việt Nam tăng từ 30.5% (2009) lên 38.1% (2019) và đạt ~42% vào năm 2024.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A09F3EB5-EFFA-FCE5-5A01-9FAC31854E3E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6C14C92-BA2D-57D0-E02B-C2DD6A1D974D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5925B02-8EC2-0FF9-DBEC-420032E9609A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FF9669A-CA64-2938-F2F1-0226BC34FD5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B5D528-3815-1544-57E2-7516008C5C09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Tốc Độ Đô Thị Hóa (UR)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Đo lường tốc độ tăng trưởng của tỷ lệ đô thị hóa qua các năm, phản ánh nhịp độ chuyển dịch cơ cấu kinh tế.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0982D734-E9A4-2E90-27F9-DA58AE516127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C6AA1A1-193F-C9BF-3569-2DCE2B834DA7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329DCB-0996-5D5A-F0D9-F139C2987D10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C95691E-B548-8D4E-ABA2-998CC757E9E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F191AA-E121-E36B-7041-737EA16E6F62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Lệ Lao Động Phi Nông Nghiệp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Tỷ trọng lao động làm việc trong khu vực công nghiệp và dịch vụ, thường đạt trên 75% tại các đô thị tiêu chuẩn.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958B3972-086A-726E-C14D-EEFAB0FCEF2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Nghị quyết 06-NQ/TW của Bộ Chính trị về phát triển đô thị</a:t>
            </a:r>
          </a:p>
        </p:txBody>
      </p:sp>
    </p:spTree>
    <p:extLst>
      <p:ext uri="{BB962C8B-B14F-4D97-AF65-F5344CB8AC3E}">
        <p14:creationId xmlns:p14="http://schemas.microsoft.com/office/powerpoint/2010/main" val="3071198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F261959-CF77-207D-E6A1-1C55AE9AB2A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ĐÔ THỊ HÓA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01F28FB-3BF7-F5F2-70A1-9318D30D29E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18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3FF5506-DA85-885E-1F83-61BB24BFFF1A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Tiến Trình Đô Thị Hóa Tại Việt Nam: Động Lực Chủ Lực Của Tăng Trưởng GDP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04E55EA5-F7D6-A59F-C099-73041B85D7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1947890A-6A70-61BB-86B3-61F997C7847D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FF62A09-9B04-1757-A078-AF89DC7EBFE9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273C12-C80D-4419-71BF-9AF80C1466F3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4AE68CA-0125-A74E-08A3-246E55A82F7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98B236-D8A2-BFE9-56CF-E2AEB4872D52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Mạng Lưới Đô Thị Phát Triển Rộng Khắp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Cả nước có gần 900 đô thị các loại từ đô thị đặc biệt, loại I đến loại V, tạo thành bộ khung kết nối vùng vững chắc.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59ECFD2D-3823-5D81-BD27-DDAC99D0CF12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97EEB1C-6D5D-E227-2A3D-E25FAFE14C35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BD6AECD-30D6-5984-2E2E-1AAB6EEE1F4E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A6C8814-A2E4-EB5A-7955-A43BDE2D054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613518-8B73-75A0-4F69-6AF18FCC2E55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Đầu Tàu Tăng Trưởng Kinh Tế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Năng suất lao động tại đô thị cao gấp gần 2 lần so với mức bình quân nông thôn nhờ tập trung vốn và công nghệ cao.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91051336-2303-992B-C8B7-467CAB84B7D2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FC77D88-1B71-FA37-E047-F80FBAE2A920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C221770-B361-A557-6733-C3F575AAFD6D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769E084-076C-5602-B19E-DBA7CFC5C47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5D1669-8CD9-74AF-F1C1-54D76FD260BF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Chất Lượng Đô Thị Chưa Đồng Đều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Đô thị hóa nhanh về mặt diện tích và dân số nhưng hạ tầng kỹ thuật và hạ tầng xã hội chưa theo kịp tương xứng.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E35F513F-A95D-AA72-A277-853B7CA446B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Bộ Xây dựng - Báo cáo Phát triển Đô thị Việt Nam</a:t>
            </a:r>
          </a:p>
        </p:txBody>
      </p:sp>
    </p:spTree>
    <p:extLst>
      <p:ext uri="{BB962C8B-B14F-4D97-AF65-F5344CB8AC3E}">
        <p14:creationId xmlns:p14="http://schemas.microsoft.com/office/powerpoint/2010/main" val="4268710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950125A-34E2-C790-AAC9-295EEF36290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SIÊU ĐÔ THỊ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1729459-B485-2333-CAD2-C3C9DCBBA2E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19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094F106B-8B96-7610-AB2A-52CE11A30393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Sự Phát Triển Của Hai Siêu Đô Thị: Hà Nội Và Thành Phố Hồ Chí Minh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5900D7AA-B15B-FB0C-8FBD-72A0808DA6E0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CC76316-02F1-45F3-2016-FD2E4F7A4DFF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FCFBAEB-E5FB-30DF-B62A-93BE85B2162E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B764770-A251-270F-7E3D-9771C760C1AD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D63FAF3-54E2-7C8C-4261-F845A84CDEF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B71499-DD92-E18F-D91B-3D80FBA3B075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Hai đại đô thị đặc biệt là cực tăng trưởng kinh tế quốc gia nhưng đang đối mặt thách thức nghiêm trọng của hiện tượng siêu tập trung.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E0CCD1A6-F17E-21CC-40F9-AC66DA0A4D46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4FDAC41-1E98-BA0D-3BA2-EDB653ED4F63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E687465-7008-DE75-0E06-287E7806844B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CF711CC-A874-173A-D9AE-4948066A7CF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98BB9A-A9A8-0F23-B38A-86D21BAC17B7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774571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Quy Mô Dân Số Cực Lớn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Dân số thực tế (tính cả người cư trú tạm thời) tại Hà Nội và TP.HCM đều vượt ngưỡng 9-10 triệu người.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2B2D4878-356B-0A88-F13D-DD0A5EE9B7F8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AE7A910-73F3-A9E8-586C-88651EEC364C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7C466CC-AEC2-1C42-E8F1-D5473D30BD02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5B4FA7B-DDC1-E4BB-5A9C-CD942AF2C30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197165-6A8F-84B6-E6CC-9EE29C7D52F7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Đóng Góp Ngân Sách Vượt Trội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Hai thành phố đóng góp gần 45% tổng thu ngân sách quốc gia và là trung tâm tài chính, thương mại, đại học hàng đầu.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9E5EF83A-54C9-3E2C-B2A4-DFDB36DE88CB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948060A-4028-7C03-4AD9-9CDE7351CB85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4794DC-EC3B-54B2-7984-732E48C2C100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A343560-2DAE-C919-64ED-B63A84026D6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90AC0F-B8D9-89D2-6B69-4FDE8217FE76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Ách Tắc Và Ngập Úng Đô Thị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Kẹt xe, ngập úng mùa mưa, ô nhiễm bụi mịn PM2.5 và thiếu hụt không gian cây xanh công cộng làm suy giảm chất lượng sống.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5E28EDD1-76D1-F72A-39C8-5E74F589BB8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Quy hoạch Tổng thể Phát triển Hà Nội và TP.HCM</a:t>
            </a:r>
          </a:p>
        </p:txBody>
      </p:sp>
    </p:spTree>
    <p:extLst>
      <p:ext uri="{BB962C8B-B14F-4D97-AF65-F5344CB8AC3E}">
        <p14:creationId xmlns:p14="http://schemas.microsoft.com/office/powerpoint/2010/main" val="1279524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D99B1CA-EF05-DCB4-B754-7ADCB0953A3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THÁCH THỨC ĐÔ THỊ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208E740-A450-2490-E5CE-9676D520E37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20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3D72E60-A0AA-7530-74F5-7D5A5EE489C6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Các Thách Thức Đô Thị Hóa: Áp Lực Nhà Ở, Giao Thông Và Môi Trường Sống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C3144566-F5C1-71AF-CE62-B0E174A03651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67A6B40-E2C3-6D3F-C80B-E5F985974093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218B61-3899-70BC-2A87-E5D3D36C44AB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FC5B07E-5364-6482-E253-000603A4E0DD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72A6748-2781-EF1B-B76F-D7650A87079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FA1AF3-F03B-38D4-D16B-253BBF1DE9B9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Thiếu Hụt Nhà Ở Xã Hội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Giá nhà ở thương mại vượt xa thu nhập thực tế của người lao động di cư; khan hiếm phân khúc nhà ở xã hội giá rẻ.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4373052-5F1D-7997-2027-101831365940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9B9D911-6EE7-9C9F-FBE2-55A02672D6BF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A1BCC7-1ACD-82C8-8812-709A42A96AD1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68091D3-1174-05F9-2A5A-7DAF7453A68E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08E9A7B-E46F-7387-1DA2-1B7BCF10AF5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FB76D3-6B92-F13F-C393-36506E17B881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0F172A"/>
                  </a:solidFill>
                  <a:latin typeface="Segoe UI" panose="020B0502040204020203" pitchFamily="34" charset="0"/>
                </a:rPr>
                <a:t>Quá Tải Mạng Lưới Giao Thông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Phương tiện cá nhân tăng nhanh chóng mặt trong khi tỷ lệ đất dành cho giao thông chỉ đạt dưới 15% (chuẩn là 20-25%).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0A217744-68C8-DA25-DC4E-FA329D0A87A9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96A907B-4AE8-3A75-5710-6E3E1AAA395E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7BE466-2404-6D71-1F1F-6961495A8252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19DEC65-025C-C863-D085-85791536667A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34CA99D7-6C7A-6A24-39FD-5D26E593567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47161D-A91F-F55E-3183-6B4CEA16468B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0F172A"/>
                  </a:solidFill>
                  <a:latin typeface="Segoe UI" panose="020B0502040204020203" pitchFamily="34" charset="0"/>
                </a:rPr>
                <a:t>Ô Nhiễm Nước &amp; Rác Thải Sinh Hoạt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Hàng chục nghìn tấn rác thải mỗi ngày gây áp lực lên các bãi chôn lấp; nước thải sinh hoạt chưa qua xử lý làm ô nhiễm kênh rạch.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36A807F4-AAAF-DF12-9F57-F245970E45A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Báo cáo Môi trường Quốc gia - Bộ Tài nguyên và Môi trường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717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2B8A108-6DFC-DF5D-C533-5EDE7C3172B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QUY HOẠCH ĐÔ THỊ VỆ TINH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A6F51F8-37C3-E4DA-860F-D99DAB65490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21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524DA88-C6FB-EFFE-0779-2A70025039CF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Định Hướng Phát Triển Hệ Thống Đô Thị Xanh, Thông Minh Và Vệ Tinh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DFD31DA5-4AD6-51F3-107C-4BEA1BDD5CC1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E5D5571-BA8B-08D1-1DE0-8D685C59B4B9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555BD7-9E1E-AC97-DA63-FFEAB7F98A4A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9CBFD8-52EA-3C2A-BB1B-AB5D91CEEEB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67E19B-6D85-1BF3-B969-AE8BA99E5A11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308324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1. Mô Hình Phát Triển TOD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Phát triển đô thị định hướng giao thông công cộng (Transit-Oriented Development) quanh các nhà ga đường sắt đô thị.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8C2C8A42-467E-A3A0-48A6-2D245ED7DF72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CC9E3E3-FF53-7BB6-F98A-146B537CF6B2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FA6F80-F8AC-6A24-B39C-3B3E857B5362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BD9B3DC-6728-C96D-ECD9-D96DB287AD8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D12D9F-1A45-C214-0561-E77D7E2DD4C4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2. Chuỗi Đô Thị Vệ Tinh Sinh Thái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Phát triển các chùm đô thị vệ tinh như Hòa Lạc, Sơn Tây (Hà Nội), Thủ Đức, Cần Giờ (TP.HCM) với môi trường xanh.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4F4F4815-5A40-B800-10CD-9B4B88E3C7D1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811D157-8E1F-70A4-6CC2-3F7E1C03509C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FD2219-9BAF-FCC6-0EEF-6640F70BC37B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E18B3F46-E1E9-9681-591E-7C0539C94F5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C303EB8-040B-CE06-1987-729B6CA5D91A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3. Chuyển Đổi Số Đô Thị Thông Minh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Ứng dụng trí tuệ nhân tạo và IoT trong quản lý giao thông thông minh, điều hành chiếu sáng và quan trắc môi trường số.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B9CEA6B7-91EA-8C6F-0882-C05B8C5AA326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238C192-2F7B-5CFE-20E0-88C89D7FF0DE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2C6D662-5056-8A5A-FFEC-F07F17766A8B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FD26669D-69F6-44D4-B0E1-0D618C30C35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E2559A-1D0A-49C2-DF90-A7A6872FADC7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4. Phát Triển Nhà Ở Xã Hội Đạt Chuẩn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Thực hiện đề án 1 triệu căn hộ nhà ở xã hội nhằm an cư lạc nghiệp cho công nhân khu công nghiệp và người có thu nhập thấp.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3C2E9F6A-0671-1176-5C7C-A8EE83B01FFE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Chiến lược Phát triển Đô thị Quốc gia đến 2030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667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0C511F4-68D8-8AB4-7A33-DB222DE806C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B631C33-012E-F5CA-71F7-49452EFF5E0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22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E1C356E-79E1-E1E8-9964-04E8730CFE6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Tổng Kết Chuyên Đề Và Câu Hỏi Thảo Luận Quy Hoạch Không Gian Dân Cư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5614D4A5-7898-FA9E-121B-BA17846CE931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681AF86-6446-1482-25DA-6B2815B411ED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8E4811-7B4F-CF5C-CD47-1ADA5DA954FF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92949E4-CA93-18A3-919D-0BD608F51961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304FF54-426F-0466-0937-088048F0473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47DE50-4479-FD5D-2E66-AEC8363CAFAC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0F172A"/>
                  </a:solidFill>
                  <a:latin typeface="Segoe UI" panose="020B0502040204020203" pitchFamily="34" charset="0"/>
                </a:rPr>
                <a:t>Câu Hỏi 1: Đo Lường Phân Bố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Phân tích ý nghĩa của đường cong Lorenz trong đánh giá bất bình đẳng phân bố dân cư giữa các vùng kinh tế.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BE8B7F98-2217-1B4F-347E-68FE328E577A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9DA207A-ACCA-8220-74E0-E99C3A7B4560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0E306B-4C31-A43B-86BF-828DBD498EA7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2D0F128-8E28-8D94-56DF-7BF73938BD42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82C877A-14BD-FFEB-E585-280F0FCACF4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285BC4-5D13-2298-67AE-A8D4698C1D1E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Câu Hỏi 2: Lực Đẩy - Lực Kéo
</a:t>
              </a:r>
              <a:r>
                <a:rPr lang="en-US" sz="1500">
                  <a:solidFill>
                    <a:srgbClr val="334155"/>
                  </a:solidFill>
                  <a:latin typeface="Segoe UI" panose="020B0502040204020203" pitchFamily="34" charset="0"/>
                </a:rPr>
                <a:t>Vận dụng lý thuyết lực đẩy - lực kéo của Everett Lee để giải thích làn sóng di dân lao động vào vùng Đông Nam Bộ.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6E63C3AA-ECD0-6BDC-C4C6-DA742CD2CD53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9067E54-2B15-621D-BEC3-5C4EB3236B4A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B959DE-BC9F-57A2-4466-2A6EA9496B9E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901D252-6532-9E35-5E5F-E84D2EAF2501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6CD06F41-7326-439C-23B2-04E3A1437A1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8FAC5EC-C0E4-F865-C18C-456A78985E14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Tình Huống 3: Quy Hoạch Đô Thị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Để giải quyết ách tắc giao thông tại Hà Nội hoặc TP.HCM, anh/chị ưu tiên mở rộng đường xá hay phát triển đô thị vệ tinh? Vì sao?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BE7C3BF5-8CE2-9A8A-63B7-6767CD686AB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8312037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3347</Words>
  <Application>Microsoft Office PowerPoint</Application>
  <PresentationFormat>Custom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2026-09-18T09:16:54Z</dcterms:created>
  <dcterms:modified xsi:type="dcterms:W3CDTF">2026-09-18T09:16:54Z</dcterms:modified>
</cp:coreProperties>
</file>