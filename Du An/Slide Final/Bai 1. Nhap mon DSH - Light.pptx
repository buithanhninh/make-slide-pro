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6A121-7B67-80E7-E574-BC011C908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9E4F6-0F4A-6B54-DCB4-710368793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FFDE9-27E8-FEE8-34E0-85381966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2E7E3-C796-71AF-6CA2-B569C16FD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AE717-9A0D-B6B9-D0A7-2CCD6693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36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23535-3802-1ABB-5C24-21996AC3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044C4-41B5-928A-1946-B1A6EE9CB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A6110-97AF-504D-6658-39551457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92EA8-58DF-BC1B-75CE-CBBC0507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0BA74-6B72-9DD1-2BB8-9FEA34D70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1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42CA6-F4B2-808C-8B4D-198BF02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2A799-A113-36CB-2432-593ECB02F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BB3D8-04DE-99F9-23CC-58601790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7762-4E17-1C03-A195-D98282426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ACA50-3DD4-9BDA-7879-3A1CE86D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4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C1F2B-4727-9971-B4D7-1393F135D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F19FB-B434-6CC3-82A6-DC05E0E31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24ACD-516A-C940-4C97-DA15FC869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18E0A-BF7C-301E-8438-12CBF1B40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09E69-5AA1-3288-01F4-1B4988370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5CB81-4A6E-438B-134F-FC5C160A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36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0A3A-3B51-64BF-1DF0-61754AB15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F85F0-F671-7851-A013-007D787D0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08FFE-653C-8CB7-D38E-CC52E5B3B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00810-16A8-4B8E-3BA6-862C5AAB44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7760-F31C-78E1-8BB8-91626DC38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1FD5A1-71C0-FE29-D05A-0F33F5F3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0BD8AB-C2B2-628D-79D7-BC87868E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17ED8-8F73-4BEE-EC42-9571FC87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1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69A3C-3BF9-2ABF-2292-49FC90475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7608D4-DFAA-D2F4-B607-9D128E6C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23DD0-B305-D250-70D3-E2ECAB5A9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C52A6-6B55-78D2-4A05-51DB570E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0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1E41A2-B843-C97B-363E-DDAADB9A0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8FF2E7-4BFE-0165-0F4D-54CDCF41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FB490-54C6-BBA0-3729-9A72F555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10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022D3-D702-6F87-8E53-44258C506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57B5F-47B3-8A90-4507-78BE840F2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C1B61-D278-20E7-D848-C69C5989C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3952D-11B7-FF08-C185-A4F1E608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2F58E-E507-6D1D-DD4C-ED6292A9B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49A4A-AAE3-B79A-E5B5-455CB70A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45CD9-B9A8-0A61-4161-D137BD45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4A912-D48C-9204-F835-EB16D914B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6B2D0-D5AA-A579-3523-7FF5A4650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7AAA2-BF08-DA69-4580-F6E5F8117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CEB-4D4C-3E17-B165-13F6628D2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77781-513D-B457-37EB-2237A2E7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83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D4DC-CECC-1424-518F-19244AEC8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7CF21-2332-2122-524E-E05EC3753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EB5B8-E7BF-3FA0-CF28-FA77DA39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ED966-A92A-05BE-B07F-DD5936465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87DFD-D805-DC66-C624-8B5145B9A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26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967892-6A02-4165-B89A-22CF8A087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1D7B8-4741-3D46-B2A0-BF004E0D2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0DD48-D719-1780-6606-56C07517F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A3D61-B8E8-AAAD-4A81-B7F3B4DD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0C49E-E08A-5D93-D700-FF6FEE0E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0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C1A6EA-C07C-A014-8B46-A65BA8A9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943A6-7D9A-6B95-9516-27416DC2C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06C14-75E5-D022-86F4-9EABCE92C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FAC82-013A-458C-9679-24EC42713681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C301A-CDFE-5B11-E1FF-B301CCF28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39170-1086-4D51-52E6-C4F4B042C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A4FA1-965A-4F54-B98C-0E86DEFBD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1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E03B3A-D944-F90A-AE06-A36706872C4E}"/>
              </a:ext>
            </a:extLst>
          </p:cNvPr>
          <p:cNvSpPr/>
          <p:nvPr/>
        </p:nvSpPr>
        <p:spPr>
          <a:xfrm>
            <a:off x="609600" y="838200"/>
            <a:ext cx="609600" cy="63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B9527-CB3A-3BCD-CF6D-B7676F8C2C98}"/>
              </a:ext>
            </a:extLst>
          </p:cNvPr>
          <p:cNvSpPr txBox="1"/>
          <p:nvPr/>
        </p:nvSpPr>
        <p:spPr>
          <a:xfrm>
            <a:off x="609600" y="1041400"/>
            <a:ext cx="5266944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59669"/>
                </a:solidFill>
                <a:latin typeface="Segoe UI" panose="020B0502040204020203" pitchFamily="34" charset="0"/>
              </a:rPr>
              <a:t>CHƯƠNG TRÌNH ĐÀO TẠO DÂN SỐ HỌC  •  TỔNG QUAN CHUYÊN ĐỀ</a:t>
            </a:r>
            <a:endParaRPr lang="en-US" sz="1200" b="1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D7559-AF29-D773-3809-45A838CD399A}"/>
              </a:ext>
            </a:extLst>
          </p:cNvPr>
          <p:cNvSpPr txBox="1"/>
          <p:nvPr/>
        </p:nvSpPr>
        <p:spPr>
          <a:xfrm>
            <a:off x="609600" y="1447800"/>
            <a:ext cx="5266944" cy="1138773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en-US" sz="3400" b="1">
                <a:solidFill>
                  <a:srgbClr val="0F172A"/>
                </a:solidFill>
                <a:latin typeface="Segoe UI" panose="020B0502040204020203" pitchFamily="34" charset="0"/>
              </a:rPr>
              <a:t>BÀI 1: NHẬP MÔN DÂN SỐ HỌC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59A59-EE12-D048-F5A9-8EE3DBAFEAC9}"/>
              </a:ext>
            </a:extLst>
          </p:cNvPr>
          <p:cNvSpPr txBox="1"/>
          <p:nvPr/>
        </p:nvSpPr>
        <p:spPr>
          <a:xfrm>
            <a:off x="609600" y="3187700"/>
            <a:ext cx="5266944" cy="584775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1600">
                <a:solidFill>
                  <a:srgbClr val="475569"/>
                </a:solidFill>
                <a:latin typeface="Segoe UI" panose="020B0502040204020203" pitchFamily="34" charset="0"/>
              </a:rPr>
              <a:t>Khung lý thuyết nền tảng về quy mô, cơ cấu, chất lượng và phương pháp luận nghiên cứu Dân số học hiện đại.</a:t>
            </a:r>
            <a:endParaRPr lang="en-US" sz="16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78A3D0-D285-8492-9820-F1D55271D6C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344" y="1333500"/>
            <a:ext cx="5401056" cy="3014980"/>
          </a:xfrm>
          <a:prstGeom prst="roundRect">
            <a:avLst/>
          </a:prstGeom>
          <a:ln w="19050">
            <a:solidFill>
              <a:srgbClr val="0284C7"/>
            </a:solidFill>
          </a:ln>
        </p:spPr>
      </p:pic>
    </p:spTree>
    <p:extLst>
      <p:ext uri="{BB962C8B-B14F-4D97-AF65-F5344CB8AC3E}">
        <p14:creationId xmlns:p14="http://schemas.microsoft.com/office/powerpoint/2010/main" val="4127869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8323659-5D24-CF9D-8232-607341965E7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MỤC TIÊU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EA3FD0E-8226-82D3-E612-9632DEB19BC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02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3071BB35-45E5-A567-1DBD-7C748F9E0814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Nắm Vững Khái Niệm Cốt Lõi Và Phương Pháp Luận Nghiên Cứu Dân Số Học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5FA05DDA-890F-1084-5DF2-1F0B7725998A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E7DDA9A-507C-1C04-6BCD-40911C66E3BF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3147702-C578-45D4-7171-5F51A30D0BD0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AF20528-E027-85B9-436F-B2699295C07E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57900C2-D3CD-6D66-9C5B-C9B3DBB9446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E7727E-35F8-B30C-8648-FA414671A733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189365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en-US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Hệ Thống Khái Niệm Cốt Lõi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Làm chủ các khái niệm dân số, dân cư, tái sản xuất dân số và các trạng thái động - tĩnh nhân khẩu học.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87FB3E82-64EE-6261-E46D-93B3631738BB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5829116-47BF-D85C-5EDD-1E69D38EE146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854C705-7411-B523-28CE-DFEA4F3B1219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FD51715-4314-E450-C30B-9AE60861937D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5F0404D-3964-371C-BF8D-3AD805609EA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9F491E-5644-9C05-9F90-E12D40320DEF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Phương Pháp Luận Nghiên Cứu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Nắm vững kỹ thuật thu thập dữ liệu tổng điều tra, thống kê hộ tịch và các mô hình toán học dự báo dân số.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192E7901-8291-4A95-9FF4-1AD1A0EF24EB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1EBAB0D-2A60-111A-504A-A34E7F63173F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BF85ED7-C88E-26F6-7516-7CA45F0BFAC5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0614AF7-4C9C-6B1F-15B3-EE482D935E02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DD889FA3-1D3F-2BE5-47C8-3F740E3FB38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877F2B9-9802-D810-448C-68D04E94D567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Ứng Dụng Thực Tiễn Hoạch Định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Phân tích mối quan hệ hữu cơ giữa dân số với tăng trưởng kinh tế, an sinh xã hội và tài nguyên môi trường.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730A56EE-92EE-8345-DE76-78E62054ADE0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Khung chuẩn đầu ra chuyên đề</a:t>
            </a:r>
          </a:p>
        </p:txBody>
      </p:sp>
    </p:spTree>
    <p:extLst>
      <p:ext uri="{BB962C8B-B14F-4D97-AF65-F5344CB8AC3E}">
        <p14:creationId xmlns:p14="http://schemas.microsoft.com/office/powerpoint/2010/main" val="2486382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C2E8B7F4-3F26-E573-F500-9BFED9D01FD2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BẢN CHẤT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169987C-03F7-26CA-BD6E-C153DC03E53A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03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A22A237-FBCC-59EA-D891-C9DDAB996DD8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Bản Chất Kép Của Dân Số: Sự Thống Nhất Giữa Thuộc Tính Sinh Học Và Xã Hội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5762ED4D-BDED-0D89-0517-CA8A7A7D6EFA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954B6F5-49F2-4ABD-8A40-B21B41B562E2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F86ABB3-9890-CED3-0BEC-DAAA7479626A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82917F6-6626-66B9-AC27-DF097DF5EBFD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AD731D6-1EC6-8D11-1C28-E462F4B76E8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DA81DD6-8BF0-85AC-CC16-79459AE4AB19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en-US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Dân số vừa mang bản chất sinh học tự nhiên vừa chịu sự chi phối quyết định của các quy luật phát triển xã hội.</a:t>
              </a: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A7D6FFCD-D101-BABC-C59F-FB49C4B7F7C9}"/>
              </a:ext>
            </a:extLst>
          </p:cNvPr>
          <p:cNvGrpSpPr/>
          <p:nvPr/>
        </p:nvGrpSpPr>
        <p:grpSpPr>
          <a:xfrm>
            <a:off x="6214872" y="1676400"/>
            <a:ext cx="5367528" cy="2184400"/>
            <a:chOff x="6214872" y="1676400"/>
            <a:chExt cx="5367528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C916C15-1A66-7D9E-38C4-8504B9CD4D87}"/>
                </a:ext>
              </a:extLst>
            </p:cNvPr>
            <p:cNvSpPr/>
            <p:nvPr/>
          </p:nvSpPr>
          <p:spPr>
            <a:xfrm>
              <a:off x="6214872" y="1676400"/>
              <a:ext cx="5367528" cy="218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D387724-DC33-BE78-76EC-AD4C7C0A1EE8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C8411FD-F03B-D242-67DC-86C523BF59C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862B1D-DA93-5347-543A-7CD31E336EB8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Thuộc Tính Tự Nhiên Sinh Học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Biểu hiện qua các quy luật sinh học như sinh đẻ, lão hóa, giới tính và tử vong tự nhiên của cơ thể con người.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E2C3DEF0-6BB7-2F0B-F888-6985CE33F093}"/>
              </a:ext>
            </a:extLst>
          </p:cNvPr>
          <p:cNvGrpSpPr/>
          <p:nvPr/>
        </p:nvGrpSpPr>
        <p:grpSpPr>
          <a:xfrm>
            <a:off x="6214872" y="4013200"/>
            <a:ext cx="5367528" cy="2184400"/>
            <a:chOff x="6214872" y="4013200"/>
            <a:chExt cx="5367528" cy="21844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361C042-3C14-1949-25BA-C2B8E9ADEAE8}"/>
                </a:ext>
              </a:extLst>
            </p:cNvPr>
            <p:cNvSpPr/>
            <p:nvPr/>
          </p:nvSpPr>
          <p:spPr>
            <a:xfrm>
              <a:off x="6214872" y="4013200"/>
              <a:ext cx="5367528" cy="21844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11B3DA1-C7E3-D645-DB28-070F184DB201}"/>
                </a:ext>
              </a:extLst>
            </p:cNvPr>
            <p:cNvSpPr/>
            <p:nvPr/>
          </p:nvSpPr>
          <p:spPr>
            <a:xfrm>
              <a:off x="6392672" y="41910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F4289988-912A-0768-3A5C-1B6CE72E523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4254500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EF4F371-0CA1-1F3D-81EE-AE104498861F}"/>
                </a:ext>
              </a:extLst>
            </p:cNvPr>
            <p:cNvSpPr txBox="1"/>
            <p:nvPr/>
          </p:nvSpPr>
          <p:spPr>
            <a:xfrm>
              <a:off x="6875272" y="41402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Thuộc Tính Kinh Tế Xã Hội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Chịu sự quy định trực tiếp bởi trình độ phát triển kinh tế, phong tục tập quán, y tế, giáo dục và chính sách an sinh.</a:t>
              </a: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8F2622A9-EA54-035D-563E-F4002DD42B00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446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A931917-6A03-D4C4-138F-CDCCAFCB4176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CẶP KHÁI NIỆM KINH ĐIỂN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A52C2FA-A8DE-B028-CFDC-1B3DA77CC55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04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676AFCC-F633-DA18-C310-E45769501C85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Phân Biệt Bản Chất Giữa Hai Khái Niệm Dân Cư Và Dân Số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5" name="!!Stage_Hero_Container">
            <a:extLst>
              <a:ext uri="{FF2B5EF4-FFF2-40B4-BE49-F238E27FC236}">
                <a16:creationId xmlns:a16="http://schemas.microsoft.com/office/drawing/2014/main" id="{514DFAEF-3A1F-68E3-55B6-7FC6424D8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46981"/>
              </p:ext>
            </p:extLst>
          </p:nvPr>
        </p:nvGraphicFramePr>
        <p:xfrm>
          <a:off x="609600" y="1676400"/>
          <a:ext cx="109728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380421823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3609984044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373166956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440615207"/>
                    </a:ext>
                  </a:extLst>
                </a:gridCol>
              </a:tblGrid>
              <a:tr h="90424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TIÊU CHÍ SO SÁNH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DÂN CƯ (GEOGRAPHY)</a:t>
                      </a:r>
                      <a:endParaRPr lang="en-US" sz="13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DÂN SỐ (DEMOGRAPHY)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Ý NGHĨA QUẢN TRỊ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287921"/>
                  </a:ext>
                </a:extLst>
              </a:tr>
              <a:tr h="90424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Bản Chất Khái Niệm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Tập hợp người sinh sống trên một lãnh thổ địa lý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Tập hợp người gắn liền tái sản xuất, sinh tử và cơ cấu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Xác định rõ đối tượng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933585"/>
                  </a:ext>
                </a:extLst>
              </a:tr>
              <a:tr h="90424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Góc Độ Tiếp Cận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Không gian địa lý, phân bố cư trú và cảnh quan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Quy luật sinh học, kinh tế và biến động nhân khẩu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Đo lường tỷ suất chuẩn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620318"/>
                  </a:ext>
                </a:extLst>
              </a:tr>
              <a:tr h="90424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Thuộc Tính Thống Kê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Phản ánh dung lượng cư trú và mật độ lãnh thổ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Phân rã chi tiết theo tuổi, giới tính, học vấn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Cơ sở phân bổ ngân sách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4314"/>
                  </a:ext>
                </a:extLst>
              </a:tr>
              <a:tr h="90424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Phạm Vi Ứng Dụng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Địa lý kinh tế, quy hoạch giao thông, tài nguyên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Chính sách dân số, an sinh xã hội và thị trường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Hoạch định chiến lược dài hạn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409967"/>
                  </a:ext>
                </a:extLst>
              </a:tr>
            </a:tbl>
          </a:graphicData>
        </a:graphic>
      </p:graphicFrame>
      <p:sp>
        <p:nvSpPr>
          <p:cNvPr id="6" name="!!Anchor_Source_Footer">
            <a:extLst>
              <a:ext uri="{FF2B5EF4-FFF2-40B4-BE49-F238E27FC236}">
                <a16:creationId xmlns:a16="http://schemas.microsoft.com/office/drawing/2014/main" id="{F5F35E58-7B0E-C548-3513-08DC5DA8475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Hội đồng Thẩm định Học thuật Dân số học</a:t>
            </a:r>
          </a:p>
        </p:txBody>
      </p:sp>
    </p:spTree>
    <p:extLst>
      <p:ext uri="{BB962C8B-B14F-4D97-AF65-F5344CB8AC3E}">
        <p14:creationId xmlns:p14="http://schemas.microsoft.com/office/powerpoint/2010/main" val="3572764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B708B768-B5F1-8E28-0F7A-5C0D73CEE655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TRẠNG THÁI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7D45960D-4922-7CFE-FECD-38A1DD87C60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05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475FC8D7-6A94-7A7A-8248-BB1DDDBFFE18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Hai Trạng Thái Tồn Tại Của Dân Số: Trạng Thái Tĩnh Và Trạng Thái Động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5D4BE55C-052D-A1F4-AB61-C20C1DDBE1F0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D734D6A-A3C5-6432-6938-1D84E298DF4C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24A527B-95A0-478F-6942-CE4FC8D9E703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F468625-9E58-BA14-5C48-572849878D1F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7568EDE-DE32-A674-4103-40377C4A6F0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DC326B8-0175-0C14-FB56-6F99E6EE0415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Trạng Thái Tĩnh (Static Demography)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Phản ánh quy mô tổng thể và cơ cấu dân số theo độ tuổi, giới tính tại một thời điểm cố định như thời điểm tổng điều tra.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E0CD107D-B792-FF0E-AE50-549568084D1D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80ACD5D-6187-D4C0-0C91-82447EDDC039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E6C03F1-B86D-064C-86DC-C6D7E92603D8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D1FAE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59669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059669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2715E40-605E-F8CC-64DF-BFA101C4CF28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E401594-B17C-721F-3E25-5B64E36C6D8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EEDE57-ED74-CEF5-FCCF-F1B45E2280B8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91520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Trạng Thái Động (Dynamic Demography)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Sự vận động liên tục của dân số theo thời gian thông qua hai kênh: biến động tự nhiên (sinh, chết) và biến động cơ học (di cư).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D261EADD-44DB-E32D-8ED5-2CC60D8C85E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419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8FB8309-1AB5-C498-16D9-48BDF33399F6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QUÁ TRÌNH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49FD37A6-7D77-16EA-0FC9-03D5B2875919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06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57BB2237-30EE-5687-890A-9168D32BC05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Ba Quá Trình Dân Số Cơ Bản Quyết Định Quy Mô Và Cấu Trúc Nhân Khẩu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654DA0FB-4DA4-5B93-F546-645A63EFD4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0810734B-62BA-3EDD-136A-C5B9C79AF1FC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06E50B1-76D7-BFC1-A6F6-E405B73A019D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039E1FB-02CD-4741-EDFF-C4A55F490AB6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3F28913-3E88-56E8-49B0-CC398EAB82C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35AF6F-31C1-D6BF-BF56-DCFD8BC1A2BC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Mức Sinh (Fertility)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Biến số bù đắp số lượng, chịu sự chi phối của độ tuổi kết hôn, chi phí nuôi dạy con và chính sách kế hoạch hóa gia đình.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52BEB266-0B86-D4C7-36A7-EFA5B4A0314C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014A058-737A-333F-C64B-48FF4EA48A97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5DEF0E7-816D-7302-7759-2BB8516419DB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3F81370C-32B5-81F4-91BA-1CC46B4BC0D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BC6AB8-5378-FFB7-EF0A-E61B4624EC3A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Mức Chết (Mortality)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Biến số suy giảm tự nhiên, phản ánh điều kiện vệ sinh phòng bệnh, mức sống và chất lượng mạng lưới y tế điều trị.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510AA849-D18E-8AD5-7551-36487CB82DBD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D7BE096-FD0C-30A7-F1F9-2594A65E975A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8DE3036-4D83-F6E5-00ED-D2E94A5D2928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61FA382-A978-2961-5151-7496EBE0F18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E4BAA58-CB25-2B0D-C06E-4BFF0E22E444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Di Cư (Migration)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Biến số phân bổ lại không gian, tạo ra sự chuyển dịch lao động và tái cấu trúc mạng lưới đô thị - nông thôn.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2480294F-5EC3-30A2-6947-0F53445368B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Tài liệu đào tạo Dân số học chuẩn quốc gia</a:t>
            </a:r>
          </a:p>
        </p:txBody>
      </p:sp>
    </p:spTree>
    <p:extLst>
      <p:ext uri="{BB962C8B-B14F-4D97-AF65-F5344CB8AC3E}">
        <p14:creationId xmlns:p14="http://schemas.microsoft.com/office/powerpoint/2010/main" val="14643682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C2581085-DEC7-84E7-2076-5D5056100CE7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TÁI SẢN XUẤT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12EAE164-65E6-3E6A-51DB-576406CB63EC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07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88AA401D-116D-010E-693A-C308D9268DAE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Quá Trình Tái Sản Xuất Dân Số Xét Theo Nghĩa Hẹp Và Nghĩa Rộng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0E56925B-6027-B1F3-9217-967F91E79E27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E249F68-ABEC-FED1-0BFD-BCC4343CBADF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2D20B3D-9DA0-64C3-E774-6382DF7355EA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7AD3559-6324-B72C-5DBB-23AB57DE07AD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022153F-FA2E-14D7-A21C-7BA9B826046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D3D28B4-B158-0E6A-5AD8-1E1F4FD3DE4D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91520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Tái Sản Xuất Nghĩa Hẹp (Natural Replacement)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Quá trình thay thế liên tục các thế hệ thông qua quan hệ sinh - chết, duy trì sự tồn tại sinh học liên tục của quần thể người.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A1F2C598-3AB1-01A8-2C5D-1A73C0DF83FA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60FBAD9-DEB5-42C9-4953-2A63113E677C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465E5BF-4C18-4077-F29F-8E29E0DE6E18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D1FAE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59669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059669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40B829D-3A56-731F-5105-9A9392384C51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561BEFD-1428-A054-E9E2-EEE0D30DE3C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8F7B8A-3F20-8860-5ADE-809831C46C1A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91520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0284C7"/>
                  </a:solidFill>
                  <a:latin typeface="Segoe UI" panose="020B0502040204020203" pitchFamily="34" charset="0"/>
                </a:rPr>
                <a:t>Tái Sản Xuất Nghĩa Rộng (Social Reproduction)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Bao gồm việc tái tạo sức lao động, nâng cao trình độ văn hóa, chuyên môn nghề nghiệp và chuyển dịch cơ cấu vị thế xã hội.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203BEACE-EBB4-BD66-7241-41354B942DA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492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68102D78-EB1A-FAFB-2D77-404B93BD48A8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PHẠM VI NGHIÊN CỨU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56B7A33C-978A-92AA-A212-6AD215377E9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08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6086952-ACD5-DC63-024D-EB41249CC1D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Phạm Vi Nghiên Cứu Đa Chiều Và Tính Liên Ngành Của Dân Số Học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BC2D703A-B4B2-6217-9EA7-5A5653C9C066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FDCD0C7-2C70-3489-5E72-8732A309E36B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37E9BC3-F0FB-DA55-0D31-349B41C3D798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E9172F6-D64A-2AE3-4EB3-910F53B12103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BC4083EB-694F-DB25-993C-CA6C8DAFF9E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3E3E65-9482-9016-B435-6EDFE75FDE75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en-US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Dân số học nằm ở giao lộ của nhiều ngành khoa học từ toán học thống kê, y học xã hội đến kinh tế học và xã hội học.</a:t>
              </a: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052D6EF1-5AF8-F8FA-3A8C-F93A07E3DE30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1E8EA5F-DEC3-E296-0768-33E0A3865E6E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DA91DA4-D51D-1088-DE6B-C5E776C337AA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88F2C22D-54C1-7E92-0B16-E18687E7F8E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51465F-5C47-5BDD-AF70-61FD41FB2425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Dân Số Học Hình Thức (Formal Demography)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Nghiên cứu định lượng thuần túy về quy mô, cấu trúc và các mô hình toán học biểu diễn biến động nhân khẩu.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A646E64D-A855-726A-33B4-F96F93CD1605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19575AB-122B-6FA5-23A9-10FAF3E66BA6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9BF6AA6-4119-A458-1BB2-EC8323404141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CE43FE11-2AEB-911A-5ACD-5431AE780BE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544DC6-3093-C6F4-B799-9E3F74714553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774571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Kinh Tế Học Dân Số (Economic Demography)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Phân tích tác động của cơ cấu tuổi đến tích lũy vốn, quỹ lương, thị trường lao động và tăng trưởng GDP.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C204223B-D813-707A-DA87-63C419AC93BA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CD614B7-E14A-59CF-3A0A-465C70A32027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95F3AEC-D528-E091-6823-9EA6FCEFD57C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8598D13F-5449-A82B-A82E-12AA4A83767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FA1FE73-6E5B-33A0-BB01-7F599E4FB98F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Xã Hội Học Dân Số (Social Demography)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Nghiên cứu mối quan hệ giữa biến động dân số với gia đình, tôn giáo, bất bình đẳng xã hội và đô thị hóa.</a:t>
              </a: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F394944F-8A4E-6086-B8DB-C1E0EEE8408E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Khung chương trình đào tạo Dân số học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0713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7EF7379C-AE1E-F9FB-B429-745CB44A015A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PHƯƠNG PHÁP NGHIÊN CỨU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123C3B0-6EAA-5B33-0670-4DC3326CEC9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09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F0B83F10-E5F6-C0D7-3820-42C7DE986E3B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Bốn Bước Phương Pháp Luận Chuẩn Mực Trong Nghiên Cứu Dân Số Học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0" name="!!Stage_Hero_Container">
            <a:extLst>
              <a:ext uri="{FF2B5EF4-FFF2-40B4-BE49-F238E27FC236}">
                <a16:creationId xmlns:a16="http://schemas.microsoft.com/office/drawing/2014/main" id="{F1DBD879-CD43-35CA-B2EF-5CA90740B242}"/>
              </a:ext>
            </a:extLst>
          </p:cNvPr>
          <p:cNvGrpSpPr/>
          <p:nvPr/>
        </p:nvGrpSpPr>
        <p:grpSpPr>
          <a:xfrm>
            <a:off x="609600" y="1676400"/>
            <a:ext cx="2609850" cy="4521200"/>
            <a:chOff x="609600" y="1676400"/>
            <a:chExt cx="260985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2227FC4-04FA-2823-25C7-7A308786C664}"/>
                </a:ext>
              </a:extLst>
            </p:cNvPr>
            <p:cNvSpPr/>
            <p:nvPr/>
          </p:nvSpPr>
          <p:spPr>
            <a:xfrm>
              <a:off x="60960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43517E-961A-9CD5-1289-A19B3285515A}"/>
                </a:ext>
              </a:extLst>
            </p:cNvPr>
            <p:cNvSpPr/>
            <p:nvPr/>
          </p:nvSpPr>
          <p:spPr>
            <a:xfrm>
              <a:off x="8128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01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799F1ED-15E3-6CFA-285D-E2BAE1553B7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36850" y="1879600"/>
              <a:ext cx="279400" cy="279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79F2CE-0E0B-F484-D815-9D250A3885C4}"/>
                </a:ext>
              </a:extLst>
            </p:cNvPr>
            <p:cNvSpPr txBox="1"/>
            <p:nvPr/>
          </p:nvSpPr>
          <p:spPr>
            <a:xfrm>
              <a:off x="81280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1. Thu Thập Dữ Liệu Nguồn
</a:t>
              </a:r>
              <a:r>
                <a:rPr lang="en-US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Tiến hành Tổng điều tra dân số định kỳ 10 năm, điều tra biến động dân số hàng năm và thu thập số liệu đăng ký hộ tịch.</a:t>
              </a:r>
            </a:p>
          </p:txBody>
        </p:sp>
      </p:grpSp>
      <p:grpSp>
        <p:nvGrpSpPr>
          <p:cNvPr id="16" name="!!Stage_Sub_Card_1">
            <a:extLst>
              <a:ext uri="{FF2B5EF4-FFF2-40B4-BE49-F238E27FC236}">
                <a16:creationId xmlns:a16="http://schemas.microsoft.com/office/drawing/2014/main" id="{6ABC66DD-506F-4EB5-5086-626959BEC972}"/>
              </a:ext>
            </a:extLst>
          </p:cNvPr>
          <p:cNvGrpSpPr/>
          <p:nvPr/>
        </p:nvGrpSpPr>
        <p:grpSpPr>
          <a:xfrm>
            <a:off x="3397250" y="1676400"/>
            <a:ext cx="2609850" cy="4521200"/>
            <a:chOff x="3397250" y="1676400"/>
            <a:chExt cx="2609850" cy="45212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A3003AA-7AB5-3D96-E95D-8318158A5C0C}"/>
                </a:ext>
              </a:extLst>
            </p:cNvPr>
            <p:cNvSpPr/>
            <p:nvPr/>
          </p:nvSpPr>
          <p:spPr>
            <a:xfrm>
              <a:off x="339725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550324-9C94-A5A9-EBEC-6E3E2F6C257A}"/>
                </a:ext>
              </a:extLst>
            </p:cNvPr>
            <p:cNvSpPr/>
            <p:nvPr/>
          </p:nvSpPr>
          <p:spPr>
            <a:xfrm>
              <a:off x="36004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608A560-F112-523C-A8D7-552C79EFE06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24500" y="1879600"/>
              <a:ext cx="279400" cy="279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4FBD1CA-C99C-B0EE-63C8-CCA8716FB55A}"/>
                </a:ext>
              </a:extLst>
            </p:cNvPr>
            <p:cNvSpPr txBox="1"/>
            <p:nvPr/>
          </p:nvSpPr>
          <p:spPr>
            <a:xfrm>
              <a:off x="3600450" y="2336800"/>
              <a:ext cx="2203450" cy="1846659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2. Đo Lường Thống Kê Chuẩn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Tính toán các tỷ suất thô, tỷ suất đặc trưng theo tuổi, tỷ số phụ thuộc và xây dựng tháp tuổi - giới tính.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2" name="!!Stage_Sub_Card_2">
            <a:extLst>
              <a:ext uri="{FF2B5EF4-FFF2-40B4-BE49-F238E27FC236}">
                <a16:creationId xmlns:a16="http://schemas.microsoft.com/office/drawing/2014/main" id="{AE0892D3-FBCD-1B80-3A00-63D1B85CEC3D}"/>
              </a:ext>
            </a:extLst>
          </p:cNvPr>
          <p:cNvGrpSpPr/>
          <p:nvPr/>
        </p:nvGrpSpPr>
        <p:grpSpPr>
          <a:xfrm>
            <a:off x="6184900" y="1676400"/>
            <a:ext cx="2609850" cy="4521200"/>
            <a:chOff x="6184900" y="1676400"/>
            <a:chExt cx="2609850" cy="45212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4188021-ECD9-8B8C-1AA4-FE67D0DC2852}"/>
                </a:ext>
              </a:extLst>
            </p:cNvPr>
            <p:cNvSpPr/>
            <p:nvPr/>
          </p:nvSpPr>
          <p:spPr>
            <a:xfrm>
              <a:off x="618490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E65337A-53B5-2516-3679-461797155E07}"/>
                </a:ext>
              </a:extLst>
            </p:cNvPr>
            <p:cNvSpPr/>
            <p:nvPr/>
          </p:nvSpPr>
          <p:spPr>
            <a:xfrm>
              <a:off x="63881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03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8D96769D-8273-8D96-EE7B-16C7EFD480B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12150" y="1879600"/>
              <a:ext cx="279400" cy="279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7550B8B-3751-D405-0BD4-D988D34766D3}"/>
                </a:ext>
              </a:extLst>
            </p:cNvPr>
            <p:cNvSpPr txBox="1"/>
            <p:nvPr/>
          </p:nvSpPr>
          <p:spPr>
            <a:xfrm>
              <a:off x="6388100" y="2336800"/>
              <a:ext cx="2203450" cy="1846659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3. Phân Tích Cơ Chế Nhân Quả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Khảo sát các yếu tố kinh tế, văn hóa, chính sách y tế chi phối đến hành vi sinh sản, tử vong và di cư.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8" name="!!Stage_Sub_Card_3">
            <a:extLst>
              <a:ext uri="{FF2B5EF4-FFF2-40B4-BE49-F238E27FC236}">
                <a16:creationId xmlns:a16="http://schemas.microsoft.com/office/drawing/2014/main" id="{C28A1668-12C7-0A15-9C55-17AC9D61B9C0}"/>
              </a:ext>
            </a:extLst>
          </p:cNvPr>
          <p:cNvGrpSpPr/>
          <p:nvPr/>
        </p:nvGrpSpPr>
        <p:grpSpPr>
          <a:xfrm>
            <a:off x="8972550" y="1676400"/>
            <a:ext cx="2609850" cy="4521200"/>
            <a:chOff x="8972550" y="1676400"/>
            <a:chExt cx="2609850" cy="45212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9E5BB8A-DB6A-A27F-25F9-3C282FA9E69D}"/>
                </a:ext>
              </a:extLst>
            </p:cNvPr>
            <p:cNvSpPr/>
            <p:nvPr/>
          </p:nvSpPr>
          <p:spPr>
            <a:xfrm>
              <a:off x="897255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A1BB3C6-4746-3EDF-4375-BDCB9D9C4692}"/>
                </a:ext>
              </a:extLst>
            </p:cNvPr>
            <p:cNvSpPr/>
            <p:nvPr/>
          </p:nvSpPr>
          <p:spPr>
            <a:xfrm>
              <a:off x="91757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04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FCE2AF09-10C5-3754-05F7-DFF750901B4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99800" y="1879600"/>
              <a:ext cx="279400" cy="279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6698C0C-E3D7-CDAF-62B2-F616B27F63AB}"/>
                </a:ext>
              </a:extLst>
            </p:cNvPr>
            <p:cNvSpPr txBox="1"/>
            <p:nvPr/>
          </p:nvSpPr>
          <p:spPr>
            <a:xfrm>
              <a:off x="91757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4. Mô Hình Hóa &amp; Dự Báo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Ứng dụng phương pháp thành phần nhân khẩu (Cohort Component) để xây dựng các kịch bản dự báo dân số tương lai.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9" name="!!Anchor_Source_Footer">
            <a:extLst>
              <a:ext uri="{FF2B5EF4-FFF2-40B4-BE49-F238E27FC236}">
                <a16:creationId xmlns:a16="http://schemas.microsoft.com/office/drawing/2014/main" id="{2468F4F5-4666-976F-BE35-E6033C329B9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Giáo trình Phương pháp nghiên cứu Dân số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7390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2DB53B88-76C6-A423-55AE-129D4AAED304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Ý NGHĨA HOẠCH ĐỊNH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F45F04B-72C7-70CB-1F64-867C322F363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10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CFCAEFD0-039B-1227-A5FA-CC7F2283CE1D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Mối Quan Hệ Biện Chứng Giữa Dân Số Và Chiến Lược Phát Triển Đất Nước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014F18B0-3141-3C58-3CB0-DAFD20530033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3D7CFFB-677A-31BB-14A8-806407DCEAF0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7D382A0-2C07-4853-D3E5-7986BC5D9E66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5733C93-F751-CE57-A353-2DB5C9223B32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89A188B-42DB-5657-5941-314252DC554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B8059E-86EB-FDA2-4B76-9F34B352069A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Dân số vừa là mục tiêu tối thượng vừa là nguồn lực quyết định tốc độ và chất lượng phát triển bền vững quốc gia.</a:t>
              </a:r>
              <a:endParaRPr lang="en-US" sz="1250" b="1">
                <a:solidFill>
                  <a:srgbClr val="0F172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50810837-82B3-A40F-EEAA-4DCCCBA106BC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4CBB4A0-3E8C-AA19-BB62-BBD0BA4C59AC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356AC6-DA32-DC19-F40C-AFED58FEB260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D0BD8E1-2731-9CE9-86A9-8C1EB1840E7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25FF80-1F60-3A2E-2343-CBBA7C6D4E3B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Dân Số Là Nguồn Lực Lao Động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Quy mô và chất lượng nguồn nhân lực quyết định trực tiếp tiềm năng tăng trưởng kinh tế và năng lực hấp thụ vốn đầu tư FDI.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A5127460-668A-0215-93DE-03EB8677E9BD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2246D76-92BC-D319-3AEA-4CF68DF15653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E8DF7DF-A799-1DFA-270C-D24F064B7B9D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AF2B5067-4E70-DC2E-88ED-65EEADFDA29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3315CB5-B5D2-BBBD-B3B3-429365EF8C19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Cơ Sở Hoạch Định Dịch Vụ Công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Cơ cấu lứa tuổi định hình chính xác nhu cầu xây dựng trường học, mạng lưới bệnh viện và hệ thống bảo hiểm hưu trí.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6FA36D7B-7F25-9FA7-D9F0-DE1165C20612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5B3E600-16ED-FEB8-96AF-9C23B53622AE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790702C-EBDC-8567-E3EE-3F3832574DA3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41B33291-2B6B-4250-5295-5A060BA1DF5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8A0C527-397B-1817-E90E-91985B31E260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Dân Số Là Mục Tiêu Phục Vụ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Mọi thành quả phát triển kinh tế cuối cùng đều hướng tới mục tiêu nâng cao chất lượng cuộc sống và tuổi thọ người dân.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26F2C907-2E3B-446B-E196-18B7B84376A2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Nghị quyết 21-NQ/TW về công tác dân số</a:t>
            </a:r>
          </a:p>
        </p:txBody>
      </p:sp>
    </p:spTree>
    <p:extLst>
      <p:ext uri="{BB962C8B-B14F-4D97-AF65-F5344CB8AC3E}">
        <p14:creationId xmlns:p14="http://schemas.microsoft.com/office/powerpoint/2010/main" val="1204639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BC3C705-B722-CA1F-E823-AD32E15E38CC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BỐI CẢNH VIỆT NAM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D463F8A-5A80-BCE6-47DC-0490BBA4508A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11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0025CB2-7AD4-65D3-3D05-32077BA9DC79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Bối Cảnh Dân Số Việt Nam: Cột Mốc 100 Triệu Dân Và Thời Kỳ Dân Số Vàng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412286EF-F696-2BF7-1DB6-09390A2B592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C027D47F-5FD0-0176-0C7C-2323A8D8D881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B374932-1A84-B3F2-C4EC-794CA5B0A28A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2E89237-A6F2-D342-73BF-55B5835BCBDE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A777A61-9561-80FA-7DDC-24BA99A26EF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C36A616-0A8E-2635-5FD0-99155E01B777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100.3 Triệu Người (2024)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Việt Nam xếp thứ 3 khu vực Đông Nam Á và đứng thứ 15 trên thế giới về quy mô dân số, tạo thị trường tiêu dùng nội địa rộng lớn.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EB15F69F-5FA5-7093-0CD6-D9ADC72BF193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D31F148-F02F-5FBA-C11A-D5ECC73863DE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E9B148-2E71-9A0F-2EC2-4F92BF8EC50B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5E164EB-502B-0123-2E4D-5482DE258BE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9505AF-E901-B770-043A-087BD93819B6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68.0% Độ Tuổi Lao Động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Thời kỳ cơ cấu dân số vàng với tỷ số phụ thuộc chung dưới 50%, mang lại lợi thế cạnh tranh lớn về lực lượng lao động dồi dào.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63A03D88-A05B-33E7-1DE6-9755546640E6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199C325-EA3D-3C11-85BF-45FABCC6EC3A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40DDB8D-FBF5-DC12-DF8D-950ABEAA7AE7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5A308273-0A7D-A928-9FE5-34891FF5601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4C3652-F2F0-CC32-6930-EEC82E309FB6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Thách Thức Năng Suất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Tỷ lệ lao động qua đào tạo có chứng chỉ mới đạt khoảng 28%, đòi hỏi cấp thiết phải nâng cao chất lượng kỹ năng nghề.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DCE5E2F3-B130-E4B8-71C7-92FB68C9E673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Tổng cục Thống kê - Kết quả Tổng điều tra dân số</a:t>
            </a:r>
          </a:p>
        </p:txBody>
      </p:sp>
    </p:spTree>
    <p:extLst>
      <p:ext uri="{BB962C8B-B14F-4D97-AF65-F5344CB8AC3E}">
        <p14:creationId xmlns:p14="http://schemas.microsoft.com/office/powerpoint/2010/main" val="1850617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5DF39A8-1374-D411-5BAD-5EFD2F65EB85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THÁCH THỨC CẤP BÁCH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0FE9A2E5-2A77-4743-9BEE-2AB21F3FA44D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12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0B045DDC-CBB0-5781-FAC9-F0647F20FEA4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Ba Thách Thức Nhân Khẩu Học Cấp Bách Cần Giải Pháp Căn Cơ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F6E950B5-E0BF-1E12-2D29-01603AF586F2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1DEAE9-9830-2ACB-F42B-F2CF72456564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9AE249D-06ED-FB02-2530-7EA11751328C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7ED0746-6642-BC33-6EF6-DDE14DAB72FA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35FF90E-8BAA-6DDD-FB99-4399822FE9C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17C811F-167A-9467-B662-549A8DCFF4EC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95885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Mức sinh giảm thấp, già hóa dân số với tốc độ nhanh và mất cân bằng giới tính khi sinh đang đe dọa cơ cấu bền vững tương lai.</a:t>
              </a:r>
              <a:endParaRPr lang="en-US" sz="1250" b="1">
                <a:solidFill>
                  <a:srgbClr val="0F172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BE3C8AC7-3564-869A-F336-B2FCD5C44147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4451096-AB79-65D1-8D1F-1AB891218EBC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4CCC170-DAED-D948-0D1D-573ECF515346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0DD39C5-892C-09C3-92E1-31230DB4464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8A31545-BCED-20E1-940F-BF14EF98C99C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Mức Sinh Giảm Sâu Đô Thị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Tổng tỷ suất sinh tại TP.HCM và vùng Đông Nam Bộ xuống dưới 1.5 con/phụ nữ, đối mặt nguy cơ suy giảm dân số dài hạn.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8038A1DE-0040-5CD6-9C6C-F4497CB696F5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AD809D8-1E2E-ADA9-BC5E-4CB3B4DB008B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9AAA6B0-E216-7116-1BF4-C3CCBF6711EC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83EEA024-36AD-BDA5-14C2-752EC354FFA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C3B8FC-B139-1C2C-E66F-F9850B08CCED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it-IT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Già Hóa Trước Khi Giàu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Thời gian chuyển từ già hóa (7%) sang dân số già (14%) chưa đầy 20 năm, tạo sức ép khổng lồ lên quỹ bảo hiểm và hệ thống y tế.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E9F9E1D8-EC4D-A87C-3128-07284EE36692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09F54D2-9AF5-73DE-45A9-847C1D8F949D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95B1D5D-514A-1133-CA09-C2121B1BE32A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661C508C-AF26-04FE-8B55-E91427BFD8F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2FA50D-314F-CE24-F37A-18EAFE7A81B1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Mất Cân Bằng Giới Tính (SRB)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Tỷ số giới tính khi sinh duy trì mức cao 112 bé trai / 100 bé gái, tiềm ẩn nguy cơ dư thừa 1.5 triệu nam giới vào năm 2034.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18BA0E4A-4B87-AF67-20A0-C86DE2F5CBE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Báo cáo thực trạng dân số Việt Nam 2024</a:t>
            </a:r>
          </a:p>
        </p:txBody>
      </p:sp>
    </p:spTree>
    <p:extLst>
      <p:ext uri="{BB962C8B-B14F-4D97-AF65-F5344CB8AC3E}">
        <p14:creationId xmlns:p14="http://schemas.microsoft.com/office/powerpoint/2010/main" val="2850677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23CA04D1-9496-2F91-F00D-CDDB3C2F944C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LỘ TRÌNH HÀNH ĐỘNG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5A1A341C-3920-89C8-A867-A38B0A6E039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13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F58B91CB-A6C9-19BC-739E-76C2F1F7F671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Khung Lộ Trình Hành Động Chiến Lược Cho Nhà Hoạch Định Đến Năm 2045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5" name="!!Stage_Hero_Container">
            <a:extLst>
              <a:ext uri="{FF2B5EF4-FFF2-40B4-BE49-F238E27FC236}">
                <a16:creationId xmlns:a16="http://schemas.microsoft.com/office/drawing/2014/main" id="{41DC5D48-64DC-BC0B-44D0-06C2DF36E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854488"/>
              </p:ext>
            </p:extLst>
          </p:nvPr>
        </p:nvGraphicFramePr>
        <p:xfrm>
          <a:off x="609600" y="1676400"/>
          <a:ext cx="109728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296">
                  <a:extLst>
                    <a:ext uri="{9D8B030D-6E8A-4147-A177-3AD203B41FA5}">
                      <a16:colId xmlns:a16="http://schemas.microsoft.com/office/drawing/2014/main" val="3816535463"/>
                    </a:ext>
                  </a:extLst>
                </a:gridCol>
                <a:gridCol w="7461504">
                  <a:extLst>
                    <a:ext uri="{9D8B030D-6E8A-4147-A177-3AD203B41FA5}">
                      <a16:colId xmlns:a16="http://schemas.microsoft.com/office/drawing/2014/main" val="4029732599"/>
                    </a:ext>
                  </a:extLst>
                </a:gridCol>
              </a:tblGrid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CHỈ TIÊU / YẾU TỐ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NỘI DUNG PHÂN TÍCH &amp; MINH CHỨNG THỰC TIỄN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47538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vi-VN" sz="12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2024 - 2030: Bứt Phá Cơ Cấu Vàng</a:t>
                      </a:r>
                      <a:endParaRPr lang="en-US" sz="1200" b="1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Tối đa hóa việc làm chất lượng cao, đào tạo kỹ năng số cho 70% lao động, nâng cao năng suất trước khi già hóa dân số ập đến.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463099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2030 - 2040: Thích Ứng Già Hóa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Cải cách bảo hiểm xã hội đa tầng, hoàn thiện mạng lưới y tế lão khoa và phát triển thị trường kinh tế bạc (Silver Economy).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959367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Tầm Nhìn 2045: Nâng Tầm Vóc Việt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Đưa chỉ số phát triển con người HDI vào nhóm rất cao (&gt;0.800), bảo đảm an sinh bền vững cho mọi thế hệ công dân.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73602"/>
                  </a:ext>
                </a:extLst>
              </a:tr>
            </a:tbl>
          </a:graphicData>
        </a:graphic>
      </p:graphicFrame>
      <p:sp>
        <p:nvSpPr>
          <p:cNvPr id="6" name="!!Anchor_Source_Footer">
            <a:extLst>
              <a:ext uri="{FF2B5EF4-FFF2-40B4-BE49-F238E27FC236}">
                <a16:creationId xmlns:a16="http://schemas.microsoft.com/office/drawing/2014/main" id="{7BBC1CFA-D555-7795-4219-51313C9B7ED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Chiến lược Dân số Việt Nam đến năm 2030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763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2FEBF70B-2131-3E73-FC8A-40E26DA643CE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TỔNG KẾT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C8EFD8E2-E7F3-4FC1-44BF-AD6D9D1A65BF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14 / 14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F2F3A3A7-2908-3E31-82F6-AEC053217120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Tổng Kết Kiến Thức Trọng Tâm Chuyên Đề Nhập Môn Dân Số Học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6D3C4878-852E-6A00-37EB-731C49BF483A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C698E33-1D39-A409-BEB7-84795EA80089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2E8C7D-2661-F10F-A968-8F7CB5468829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0AE2DC6-9FDC-97B3-7F14-D49AE369CA4A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C30338E-1ADD-5231-9D4C-298BF3042D8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6A29FB-A395-3D0A-4D9D-CDF691C58FB8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Câu Hỏi Lý Thuyết 1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Phân tích sự khác biệt bản chất giữa hai khái niệm Dân cư và Dân số. Lấy ví dụ minh chứng trong thực tế quản lý nhà nước.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38184E1B-B808-08ED-9F4D-17CB8518BC68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302CBFA-619C-5363-CA1B-6B59A1750183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657151-DA96-96AA-4225-BE11C1E5E64F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97D9853-932D-F7DE-F7AF-F2A73674E8F7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61945D3-3CBF-49C1-E7A1-DF357F03DA6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07E923-0257-9AD5-7BD2-B2A98B8A3DD8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Câu Hỏi Phân Tích 2
</a:t>
              </a:r>
              <a:r>
                <a:rPr lang="en-US" sz="1500">
                  <a:solidFill>
                    <a:srgbClr val="334155"/>
                  </a:solidFill>
                  <a:latin typeface="Segoe UI" panose="020B0502040204020203" pitchFamily="34" charset="0"/>
                </a:rPr>
                <a:t>Tại sao nói dân số vừa mang thuộc tính sinh học vừa mang thuộc tính xã hội? Mặt nào đóng vai trò quyết định và vì sao?</a:t>
              </a: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3C57117C-D8EA-9C14-6E48-47648F999E2D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61C21A3-2B7E-1457-305E-C93264DFAE3B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6608679-54FC-9DC3-DD61-D4401C9E2517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187120A-CF8B-BE0C-91E9-B0B4525D41F4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F757F32C-9EEC-CE6B-4492-F534C88B01E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B004CC-FF67-A323-E1BD-358A8A7C9E9D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Tình Huống Thực Tiễn 3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Đánh giá các cơ hội và thách thức của thời kỳ dân số vàng với 68% lao động tại địa phương công tác. Đề xuất giải pháp phát huy.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54893070-A490-D519-30CD-F9A22AA0D4C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Tài liệu đào tạo Dân số học chuẩn quốc gia</a:t>
            </a:r>
          </a:p>
        </p:txBody>
      </p:sp>
    </p:spTree>
    <p:extLst>
      <p:ext uri="{BB962C8B-B14F-4D97-AF65-F5344CB8AC3E}">
        <p14:creationId xmlns:p14="http://schemas.microsoft.com/office/powerpoint/2010/main" val="3686807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2063</Words>
  <Application>Microsoft Office PowerPoint</Application>
  <PresentationFormat>Custom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Bahnschrift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Ninh Bui</dc:creator>
  <cp:lastModifiedBy>Thanh Ninh Bui</cp:lastModifiedBy>
  <cp:revision>1</cp:revision>
  <dcterms:created xsi:type="dcterms:W3CDTF">2026-09-18T09:13:16Z</dcterms:created>
  <dcterms:modified xsi:type="dcterms:W3CDTF">2026-09-18T09:13:16Z</dcterms:modified>
</cp:coreProperties>
</file>