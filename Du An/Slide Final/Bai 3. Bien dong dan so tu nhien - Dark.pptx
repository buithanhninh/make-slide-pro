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DBF33-B63F-5218-4B70-9F0E26218E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33CBF5-FC9F-44BA-419E-89D4FE8298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48C452-8E16-B50F-8294-47A0A3E5EB3D}"/>
              </a:ext>
            </a:extLst>
          </p:cNvPr>
          <p:cNvSpPr>
            <a:spLocks noGrp="1"/>
          </p:cNvSpPr>
          <p:nvPr>
            <p:ph type="dt" sz="half" idx="10"/>
          </p:nvPr>
        </p:nvSpPr>
        <p:spPr/>
        <p:txBody>
          <a:bodyPr/>
          <a:lstStyle/>
          <a:p>
            <a:fld id="{F3BA3B44-3E1F-4759-B15F-B9343DD7ED24}" type="datetimeFigureOut">
              <a:rPr lang="en-US" smtClean="0"/>
              <a:t>9/18/2026</a:t>
            </a:fld>
            <a:endParaRPr lang="en-US"/>
          </a:p>
        </p:txBody>
      </p:sp>
      <p:sp>
        <p:nvSpPr>
          <p:cNvPr id="5" name="Footer Placeholder 4">
            <a:extLst>
              <a:ext uri="{FF2B5EF4-FFF2-40B4-BE49-F238E27FC236}">
                <a16:creationId xmlns:a16="http://schemas.microsoft.com/office/drawing/2014/main" id="{800E1E9C-9C5D-C070-7998-847871BB8E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B0E985-65CF-AA9B-AFD3-60A8C34C16F3}"/>
              </a:ext>
            </a:extLst>
          </p:cNvPr>
          <p:cNvSpPr>
            <a:spLocks noGrp="1"/>
          </p:cNvSpPr>
          <p:nvPr>
            <p:ph type="sldNum" sz="quarter" idx="12"/>
          </p:nvPr>
        </p:nvSpPr>
        <p:spPr/>
        <p:txBody>
          <a:bodyPr/>
          <a:lstStyle/>
          <a:p>
            <a:fld id="{C1D0EB2B-C159-4912-B304-F2F30DFBE7B8}" type="slidenum">
              <a:rPr lang="en-US" smtClean="0"/>
              <a:t>‹#›</a:t>
            </a:fld>
            <a:endParaRPr lang="en-US"/>
          </a:p>
        </p:txBody>
      </p:sp>
    </p:spTree>
    <p:extLst>
      <p:ext uri="{BB962C8B-B14F-4D97-AF65-F5344CB8AC3E}">
        <p14:creationId xmlns:p14="http://schemas.microsoft.com/office/powerpoint/2010/main" val="2847508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985B5-0A03-4B5C-2840-5CB6F91370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183496-F6EA-1C47-B410-40627AA7C0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8A58FB-B65C-6CD2-2492-2C5E1B10E55A}"/>
              </a:ext>
            </a:extLst>
          </p:cNvPr>
          <p:cNvSpPr>
            <a:spLocks noGrp="1"/>
          </p:cNvSpPr>
          <p:nvPr>
            <p:ph type="dt" sz="half" idx="10"/>
          </p:nvPr>
        </p:nvSpPr>
        <p:spPr/>
        <p:txBody>
          <a:bodyPr/>
          <a:lstStyle/>
          <a:p>
            <a:fld id="{F3BA3B44-3E1F-4759-B15F-B9343DD7ED24}" type="datetimeFigureOut">
              <a:rPr lang="en-US" smtClean="0"/>
              <a:t>9/18/2026</a:t>
            </a:fld>
            <a:endParaRPr lang="en-US"/>
          </a:p>
        </p:txBody>
      </p:sp>
      <p:sp>
        <p:nvSpPr>
          <p:cNvPr id="5" name="Footer Placeholder 4">
            <a:extLst>
              <a:ext uri="{FF2B5EF4-FFF2-40B4-BE49-F238E27FC236}">
                <a16:creationId xmlns:a16="http://schemas.microsoft.com/office/drawing/2014/main" id="{1345E2F0-1EAC-8D2F-1A9C-FE62A78FB1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241BE-F8AC-8AE5-8B26-6D8912D81155}"/>
              </a:ext>
            </a:extLst>
          </p:cNvPr>
          <p:cNvSpPr>
            <a:spLocks noGrp="1"/>
          </p:cNvSpPr>
          <p:nvPr>
            <p:ph type="sldNum" sz="quarter" idx="12"/>
          </p:nvPr>
        </p:nvSpPr>
        <p:spPr/>
        <p:txBody>
          <a:bodyPr/>
          <a:lstStyle/>
          <a:p>
            <a:fld id="{C1D0EB2B-C159-4912-B304-F2F30DFBE7B8}" type="slidenum">
              <a:rPr lang="en-US" smtClean="0"/>
              <a:t>‹#›</a:t>
            </a:fld>
            <a:endParaRPr lang="en-US"/>
          </a:p>
        </p:txBody>
      </p:sp>
    </p:spTree>
    <p:extLst>
      <p:ext uri="{BB962C8B-B14F-4D97-AF65-F5344CB8AC3E}">
        <p14:creationId xmlns:p14="http://schemas.microsoft.com/office/powerpoint/2010/main" val="4117968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7A69F-2081-8244-C72B-0F5AF450B4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B3B212-FF33-9A8F-1F44-609C5714D5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96C949-A249-2D92-D67D-703A7D69220D}"/>
              </a:ext>
            </a:extLst>
          </p:cNvPr>
          <p:cNvSpPr>
            <a:spLocks noGrp="1"/>
          </p:cNvSpPr>
          <p:nvPr>
            <p:ph type="dt" sz="half" idx="10"/>
          </p:nvPr>
        </p:nvSpPr>
        <p:spPr/>
        <p:txBody>
          <a:bodyPr/>
          <a:lstStyle/>
          <a:p>
            <a:fld id="{F3BA3B44-3E1F-4759-B15F-B9343DD7ED24}" type="datetimeFigureOut">
              <a:rPr lang="en-US" smtClean="0"/>
              <a:t>9/18/2026</a:t>
            </a:fld>
            <a:endParaRPr lang="en-US"/>
          </a:p>
        </p:txBody>
      </p:sp>
      <p:sp>
        <p:nvSpPr>
          <p:cNvPr id="5" name="Footer Placeholder 4">
            <a:extLst>
              <a:ext uri="{FF2B5EF4-FFF2-40B4-BE49-F238E27FC236}">
                <a16:creationId xmlns:a16="http://schemas.microsoft.com/office/drawing/2014/main" id="{6F9DC29B-370D-C860-BA5D-250BC75D94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88D0EA-D35E-7CC8-95C0-00DCD315CAC2}"/>
              </a:ext>
            </a:extLst>
          </p:cNvPr>
          <p:cNvSpPr>
            <a:spLocks noGrp="1"/>
          </p:cNvSpPr>
          <p:nvPr>
            <p:ph type="sldNum" sz="quarter" idx="12"/>
          </p:nvPr>
        </p:nvSpPr>
        <p:spPr/>
        <p:txBody>
          <a:bodyPr/>
          <a:lstStyle/>
          <a:p>
            <a:fld id="{C1D0EB2B-C159-4912-B304-F2F30DFBE7B8}" type="slidenum">
              <a:rPr lang="en-US" smtClean="0"/>
              <a:t>‹#›</a:t>
            </a:fld>
            <a:endParaRPr lang="en-US"/>
          </a:p>
        </p:txBody>
      </p:sp>
    </p:spTree>
    <p:extLst>
      <p:ext uri="{BB962C8B-B14F-4D97-AF65-F5344CB8AC3E}">
        <p14:creationId xmlns:p14="http://schemas.microsoft.com/office/powerpoint/2010/main" val="320469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B3926-2AA7-0635-C08F-10ECFB10CF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71FD23-4B23-BD82-1BFB-85470B1DB8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C02FEF-0A60-7561-71A2-DEA08859B0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3CF81-5DCB-FF7A-BD52-2B4B33D19031}"/>
              </a:ext>
            </a:extLst>
          </p:cNvPr>
          <p:cNvSpPr>
            <a:spLocks noGrp="1"/>
          </p:cNvSpPr>
          <p:nvPr>
            <p:ph type="dt" sz="half" idx="10"/>
          </p:nvPr>
        </p:nvSpPr>
        <p:spPr/>
        <p:txBody>
          <a:bodyPr/>
          <a:lstStyle/>
          <a:p>
            <a:fld id="{F3BA3B44-3E1F-4759-B15F-B9343DD7ED24}" type="datetimeFigureOut">
              <a:rPr lang="en-US" smtClean="0"/>
              <a:t>9/18/2026</a:t>
            </a:fld>
            <a:endParaRPr lang="en-US"/>
          </a:p>
        </p:txBody>
      </p:sp>
      <p:sp>
        <p:nvSpPr>
          <p:cNvPr id="6" name="Footer Placeholder 5">
            <a:extLst>
              <a:ext uri="{FF2B5EF4-FFF2-40B4-BE49-F238E27FC236}">
                <a16:creationId xmlns:a16="http://schemas.microsoft.com/office/drawing/2014/main" id="{37078865-9F08-E5F5-0E3A-464AE96AB7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6AEB73-244F-F8EF-6638-8324470211A0}"/>
              </a:ext>
            </a:extLst>
          </p:cNvPr>
          <p:cNvSpPr>
            <a:spLocks noGrp="1"/>
          </p:cNvSpPr>
          <p:nvPr>
            <p:ph type="sldNum" sz="quarter" idx="12"/>
          </p:nvPr>
        </p:nvSpPr>
        <p:spPr/>
        <p:txBody>
          <a:bodyPr/>
          <a:lstStyle/>
          <a:p>
            <a:fld id="{C1D0EB2B-C159-4912-B304-F2F30DFBE7B8}" type="slidenum">
              <a:rPr lang="en-US" smtClean="0"/>
              <a:t>‹#›</a:t>
            </a:fld>
            <a:endParaRPr lang="en-US"/>
          </a:p>
        </p:txBody>
      </p:sp>
    </p:spTree>
    <p:extLst>
      <p:ext uri="{BB962C8B-B14F-4D97-AF65-F5344CB8AC3E}">
        <p14:creationId xmlns:p14="http://schemas.microsoft.com/office/powerpoint/2010/main" val="1568152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D4D56-4D33-3717-23EE-43E38134004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DE5203-51D8-FE82-B34E-1B3DE473AA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3D4547-1C3F-98D9-6AD8-4F6D871583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195530-4BF8-8329-98C8-55A39938A8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52E962-CD65-21E2-42FA-AD6F4FA713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F8363F2-7F1D-D7CA-8918-AFA594D0C138}"/>
              </a:ext>
            </a:extLst>
          </p:cNvPr>
          <p:cNvSpPr>
            <a:spLocks noGrp="1"/>
          </p:cNvSpPr>
          <p:nvPr>
            <p:ph type="dt" sz="half" idx="10"/>
          </p:nvPr>
        </p:nvSpPr>
        <p:spPr/>
        <p:txBody>
          <a:bodyPr/>
          <a:lstStyle/>
          <a:p>
            <a:fld id="{F3BA3B44-3E1F-4759-B15F-B9343DD7ED24}" type="datetimeFigureOut">
              <a:rPr lang="en-US" smtClean="0"/>
              <a:t>9/18/2026</a:t>
            </a:fld>
            <a:endParaRPr lang="en-US"/>
          </a:p>
        </p:txBody>
      </p:sp>
      <p:sp>
        <p:nvSpPr>
          <p:cNvPr id="8" name="Footer Placeholder 7">
            <a:extLst>
              <a:ext uri="{FF2B5EF4-FFF2-40B4-BE49-F238E27FC236}">
                <a16:creationId xmlns:a16="http://schemas.microsoft.com/office/drawing/2014/main" id="{C1DDF1C4-AC9A-35D4-0D44-31E2A7D3FBA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F429BF-53AF-A5BC-47F0-302ACD6B8934}"/>
              </a:ext>
            </a:extLst>
          </p:cNvPr>
          <p:cNvSpPr>
            <a:spLocks noGrp="1"/>
          </p:cNvSpPr>
          <p:nvPr>
            <p:ph type="sldNum" sz="quarter" idx="12"/>
          </p:nvPr>
        </p:nvSpPr>
        <p:spPr/>
        <p:txBody>
          <a:bodyPr/>
          <a:lstStyle/>
          <a:p>
            <a:fld id="{C1D0EB2B-C159-4912-B304-F2F30DFBE7B8}" type="slidenum">
              <a:rPr lang="en-US" smtClean="0"/>
              <a:t>‹#›</a:t>
            </a:fld>
            <a:endParaRPr lang="en-US"/>
          </a:p>
        </p:txBody>
      </p:sp>
    </p:spTree>
    <p:extLst>
      <p:ext uri="{BB962C8B-B14F-4D97-AF65-F5344CB8AC3E}">
        <p14:creationId xmlns:p14="http://schemas.microsoft.com/office/powerpoint/2010/main" val="4224453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5AD66-163C-5B23-A012-6AFC9D4E87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E8B220-0CEA-0037-F627-637AA4C3A691}"/>
              </a:ext>
            </a:extLst>
          </p:cNvPr>
          <p:cNvSpPr>
            <a:spLocks noGrp="1"/>
          </p:cNvSpPr>
          <p:nvPr>
            <p:ph type="dt" sz="half" idx="10"/>
          </p:nvPr>
        </p:nvSpPr>
        <p:spPr/>
        <p:txBody>
          <a:bodyPr/>
          <a:lstStyle/>
          <a:p>
            <a:fld id="{F3BA3B44-3E1F-4759-B15F-B9343DD7ED24}" type="datetimeFigureOut">
              <a:rPr lang="en-US" smtClean="0"/>
              <a:t>9/18/2026</a:t>
            </a:fld>
            <a:endParaRPr lang="en-US"/>
          </a:p>
        </p:txBody>
      </p:sp>
      <p:sp>
        <p:nvSpPr>
          <p:cNvPr id="4" name="Footer Placeholder 3">
            <a:extLst>
              <a:ext uri="{FF2B5EF4-FFF2-40B4-BE49-F238E27FC236}">
                <a16:creationId xmlns:a16="http://schemas.microsoft.com/office/drawing/2014/main" id="{56069BA0-D750-C777-526F-2B26E4902C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EE87FE0-D12E-0975-F951-E2949DB7650A}"/>
              </a:ext>
            </a:extLst>
          </p:cNvPr>
          <p:cNvSpPr>
            <a:spLocks noGrp="1"/>
          </p:cNvSpPr>
          <p:nvPr>
            <p:ph type="sldNum" sz="quarter" idx="12"/>
          </p:nvPr>
        </p:nvSpPr>
        <p:spPr/>
        <p:txBody>
          <a:bodyPr/>
          <a:lstStyle/>
          <a:p>
            <a:fld id="{C1D0EB2B-C159-4912-B304-F2F30DFBE7B8}" type="slidenum">
              <a:rPr lang="en-US" smtClean="0"/>
              <a:t>‹#›</a:t>
            </a:fld>
            <a:endParaRPr lang="en-US"/>
          </a:p>
        </p:txBody>
      </p:sp>
    </p:spTree>
    <p:extLst>
      <p:ext uri="{BB962C8B-B14F-4D97-AF65-F5344CB8AC3E}">
        <p14:creationId xmlns:p14="http://schemas.microsoft.com/office/powerpoint/2010/main" val="2865939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D693BC-3767-94B5-5A04-46F710A67E5C}"/>
              </a:ext>
            </a:extLst>
          </p:cNvPr>
          <p:cNvSpPr>
            <a:spLocks noGrp="1"/>
          </p:cNvSpPr>
          <p:nvPr>
            <p:ph type="dt" sz="half" idx="10"/>
          </p:nvPr>
        </p:nvSpPr>
        <p:spPr/>
        <p:txBody>
          <a:bodyPr/>
          <a:lstStyle/>
          <a:p>
            <a:fld id="{F3BA3B44-3E1F-4759-B15F-B9343DD7ED24}" type="datetimeFigureOut">
              <a:rPr lang="en-US" smtClean="0"/>
              <a:t>9/18/2026</a:t>
            </a:fld>
            <a:endParaRPr lang="en-US"/>
          </a:p>
        </p:txBody>
      </p:sp>
      <p:sp>
        <p:nvSpPr>
          <p:cNvPr id="3" name="Footer Placeholder 2">
            <a:extLst>
              <a:ext uri="{FF2B5EF4-FFF2-40B4-BE49-F238E27FC236}">
                <a16:creationId xmlns:a16="http://schemas.microsoft.com/office/drawing/2014/main" id="{DE7CD58A-A57F-DB8A-AAEF-6DBF76D661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26604D4-598C-6F14-6529-9ABAAEF6FCCC}"/>
              </a:ext>
            </a:extLst>
          </p:cNvPr>
          <p:cNvSpPr>
            <a:spLocks noGrp="1"/>
          </p:cNvSpPr>
          <p:nvPr>
            <p:ph type="sldNum" sz="quarter" idx="12"/>
          </p:nvPr>
        </p:nvSpPr>
        <p:spPr/>
        <p:txBody>
          <a:bodyPr/>
          <a:lstStyle/>
          <a:p>
            <a:fld id="{C1D0EB2B-C159-4912-B304-F2F30DFBE7B8}" type="slidenum">
              <a:rPr lang="en-US" smtClean="0"/>
              <a:t>‹#›</a:t>
            </a:fld>
            <a:endParaRPr lang="en-US"/>
          </a:p>
        </p:txBody>
      </p:sp>
    </p:spTree>
    <p:extLst>
      <p:ext uri="{BB962C8B-B14F-4D97-AF65-F5344CB8AC3E}">
        <p14:creationId xmlns:p14="http://schemas.microsoft.com/office/powerpoint/2010/main" val="260543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B6A84-2EA4-C215-A60F-EFCFD830F9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FFDBEE1-C968-0725-FB38-862F2384C7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57EBF0B-1417-17AB-CB9A-1B764D9116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2EA35A-6229-7D58-02FC-DBEBFCD7D546}"/>
              </a:ext>
            </a:extLst>
          </p:cNvPr>
          <p:cNvSpPr>
            <a:spLocks noGrp="1"/>
          </p:cNvSpPr>
          <p:nvPr>
            <p:ph type="dt" sz="half" idx="10"/>
          </p:nvPr>
        </p:nvSpPr>
        <p:spPr/>
        <p:txBody>
          <a:bodyPr/>
          <a:lstStyle/>
          <a:p>
            <a:fld id="{F3BA3B44-3E1F-4759-B15F-B9343DD7ED24}" type="datetimeFigureOut">
              <a:rPr lang="en-US" smtClean="0"/>
              <a:t>9/18/2026</a:t>
            </a:fld>
            <a:endParaRPr lang="en-US"/>
          </a:p>
        </p:txBody>
      </p:sp>
      <p:sp>
        <p:nvSpPr>
          <p:cNvPr id="6" name="Footer Placeholder 5">
            <a:extLst>
              <a:ext uri="{FF2B5EF4-FFF2-40B4-BE49-F238E27FC236}">
                <a16:creationId xmlns:a16="http://schemas.microsoft.com/office/drawing/2014/main" id="{9D8CE81C-971E-16E0-BC77-1C88BB96AF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E55D75-ABAD-91C1-265D-EFD9364C8410}"/>
              </a:ext>
            </a:extLst>
          </p:cNvPr>
          <p:cNvSpPr>
            <a:spLocks noGrp="1"/>
          </p:cNvSpPr>
          <p:nvPr>
            <p:ph type="sldNum" sz="quarter" idx="12"/>
          </p:nvPr>
        </p:nvSpPr>
        <p:spPr/>
        <p:txBody>
          <a:bodyPr/>
          <a:lstStyle/>
          <a:p>
            <a:fld id="{C1D0EB2B-C159-4912-B304-F2F30DFBE7B8}" type="slidenum">
              <a:rPr lang="en-US" smtClean="0"/>
              <a:t>‹#›</a:t>
            </a:fld>
            <a:endParaRPr lang="en-US"/>
          </a:p>
        </p:txBody>
      </p:sp>
    </p:spTree>
    <p:extLst>
      <p:ext uri="{BB962C8B-B14F-4D97-AF65-F5344CB8AC3E}">
        <p14:creationId xmlns:p14="http://schemas.microsoft.com/office/powerpoint/2010/main" val="2893865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01355-B377-EC59-3E70-12FDF5FC60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78C8DC-6EA8-BA62-4D13-9E43428DF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F1D3AE3-1CC4-F98B-7671-7EC53EA2DA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4C21AE-24A2-91CA-46AC-15753AD60929}"/>
              </a:ext>
            </a:extLst>
          </p:cNvPr>
          <p:cNvSpPr>
            <a:spLocks noGrp="1"/>
          </p:cNvSpPr>
          <p:nvPr>
            <p:ph type="dt" sz="half" idx="10"/>
          </p:nvPr>
        </p:nvSpPr>
        <p:spPr/>
        <p:txBody>
          <a:bodyPr/>
          <a:lstStyle/>
          <a:p>
            <a:fld id="{F3BA3B44-3E1F-4759-B15F-B9343DD7ED24}" type="datetimeFigureOut">
              <a:rPr lang="en-US" smtClean="0"/>
              <a:t>9/18/2026</a:t>
            </a:fld>
            <a:endParaRPr lang="en-US"/>
          </a:p>
        </p:txBody>
      </p:sp>
      <p:sp>
        <p:nvSpPr>
          <p:cNvPr id="6" name="Footer Placeholder 5">
            <a:extLst>
              <a:ext uri="{FF2B5EF4-FFF2-40B4-BE49-F238E27FC236}">
                <a16:creationId xmlns:a16="http://schemas.microsoft.com/office/drawing/2014/main" id="{851AFA08-AFCF-71DA-D90E-6F543A7446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AF86D9-FBCB-6294-1F1F-0AA38D82A634}"/>
              </a:ext>
            </a:extLst>
          </p:cNvPr>
          <p:cNvSpPr>
            <a:spLocks noGrp="1"/>
          </p:cNvSpPr>
          <p:nvPr>
            <p:ph type="sldNum" sz="quarter" idx="12"/>
          </p:nvPr>
        </p:nvSpPr>
        <p:spPr/>
        <p:txBody>
          <a:bodyPr/>
          <a:lstStyle/>
          <a:p>
            <a:fld id="{C1D0EB2B-C159-4912-B304-F2F30DFBE7B8}" type="slidenum">
              <a:rPr lang="en-US" smtClean="0"/>
              <a:t>‹#›</a:t>
            </a:fld>
            <a:endParaRPr lang="en-US"/>
          </a:p>
        </p:txBody>
      </p:sp>
    </p:spTree>
    <p:extLst>
      <p:ext uri="{BB962C8B-B14F-4D97-AF65-F5344CB8AC3E}">
        <p14:creationId xmlns:p14="http://schemas.microsoft.com/office/powerpoint/2010/main" val="2119858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8E6D8-BC29-E8E7-035C-BCDF60863F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5DB232-786D-3D31-A8A8-3F93BA301B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6CBFA5-C7F4-5286-CBDE-365FAB7E7077}"/>
              </a:ext>
            </a:extLst>
          </p:cNvPr>
          <p:cNvSpPr>
            <a:spLocks noGrp="1"/>
          </p:cNvSpPr>
          <p:nvPr>
            <p:ph type="dt" sz="half" idx="10"/>
          </p:nvPr>
        </p:nvSpPr>
        <p:spPr/>
        <p:txBody>
          <a:bodyPr/>
          <a:lstStyle/>
          <a:p>
            <a:fld id="{F3BA3B44-3E1F-4759-B15F-B9343DD7ED24}" type="datetimeFigureOut">
              <a:rPr lang="en-US" smtClean="0"/>
              <a:t>9/18/2026</a:t>
            </a:fld>
            <a:endParaRPr lang="en-US"/>
          </a:p>
        </p:txBody>
      </p:sp>
      <p:sp>
        <p:nvSpPr>
          <p:cNvPr id="5" name="Footer Placeholder 4">
            <a:extLst>
              <a:ext uri="{FF2B5EF4-FFF2-40B4-BE49-F238E27FC236}">
                <a16:creationId xmlns:a16="http://schemas.microsoft.com/office/drawing/2014/main" id="{7523F63B-3A77-F1C3-CEDA-B66460B4ED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A53D76-80F1-E1A0-DFD2-FFBBCA4F1233}"/>
              </a:ext>
            </a:extLst>
          </p:cNvPr>
          <p:cNvSpPr>
            <a:spLocks noGrp="1"/>
          </p:cNvSpPr>
          <p:nvPr>
            <p:ph type="sldNum" sz="quarter" idx="12"/>
          </p:nvPr>
        </p:nvSpPr>
        <p:spPr/>
        <p:txBody>
          <a:bodyPr/>
          <a:lstStyle/>
          <a:p>
            <a:fld id="{C1D0EB2B-C159-4912-B304-F2F30DFBE7B8}" type="slidenum">
              <a:rPr lang="en-US" smtClean="0"/>
              <a:t>‹#›</a:t>
            </a:fld>
            <a:endParaRPr lang="en-US"/>
          </a:p>
        </p:txBody>
      </p:sp>
    </p:spTree>
    <p:extLst>
      <p:ext uri="{BB962C8B-B14F-4D97-AF65-F5344CB8AC3E}">
        <p14:creationId xmlns:p14="http://schemas.microsoft.com/office/powerpoint/2010/main" val="2125737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D3E33F-2A3A-3889-BE7E-2A6E2AA6B21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87E9723-0016-B614-29AC-87D1B5659D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B05133-EACE-165D-8A71-60F06F116FFB}"/>
              </a:ext>
            </a:extLst>
          </p:cNvPr>
          <p:cNvSpPr>
            <a:spLocks noGrp="1"/>
          </p:cNvSpPr>
          <p:nvPr>
            <p:ph type="dt" sz="half" idx="10"/>
          </p:nvPr>
        </p:nvSpPr>
        <p:spPr/>
        <p:txBody>
          <a:bodyPr/>
          <a:lstStyle/>
          <a:p>
            <a:fld id="{F3BA3B44-3E1F-4759-B15F-B9343DD7ED24}" type="datetimeFigureOut">
              <a:rPr lang="en-US" smtClean="0"/>
              <a:t>9/18/2026</a:t>
            </a:fld>
            <a:endParaRPr lang="en-US"/>
          </a:p>
        </p:txBody>
      </p:sp>
      <p:sp>
        <p:nvSpPr>
          <p:cNvPr id="5" name="Footer Placeholder 4">
            <a:extLst>
              <a:ext uri="{FF2B5EF4-FFF2-40B4-BE49-F238E27FC236}">
                <a16:creationId xmlns:a16="http://schemas.microsoft.com/office/drawing/2014/main" id="{27C0425E-ED54-B24F-B822-03649F9869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A77D29-86FE-E2CB-FD0E-6923734F1132}"/>
              </a:ext>
            </a:extLst>
          </p:cNvPr>
          <p:cNvSpPr>
            <a:spLocks noGrp="1"/>
          </p:cNvSpPr>
          <p:nvPr>
            <p:ph type="sldNum" sz="quarter" idx="12"/>
          </p:nvPr>
        </p:nvSpPr>
        <p:spPr/>
        <p:txBody>
          <a:bodyPr/>
          <a:lstStyle/>
          <a:p>
            <a:fld id="{C1D0EB2B-C159-4912-B304-F2F30DFBE7B8}" type="slidenum">
              <a:rPr lang="en-US" smtClean="0"/>
              <a:t>‹#›</a:t>
            </a:fld>
            <a:endParaRPr lang="en-US"/>
          </a:p>
        </p:txBody>
      </p:sp>
    </p:spTree>
    <p:extLst>
      <p:ext uri="{BB962C8B-B14F-4D97-AF65-F5344CB8AC3E}">
        <p14:creationId xmlns:p14="http://schemas.microsoft.com/office/powerpoint/2010/main" val="1683172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7F4CA5-C22D-4922-32C8-AACF7AFB6F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C9A133-1B5C-1CBA-A8BF-279576FF14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24710E-72C3-DC9B-939E-34D489152F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BA3B44-3E1F-4759-B15F-B9343DD7ED24}" type="datetimeFigureOut">
              <a:rPr lang="en-US" smtClean="0"/>
              <a:t>9/18/2026</a:t>
            </a:fld>
            <a:endParaRPr lang="en-US"/>
          </a:p>
        </p:txBody>
      </p:sp>
      <p:sp>
        <p:nvSpPr>
          <p:cNvPr id="5" name="Footer Placeholder 4">
            <a:extLst>
              <a:ext uri="{FF2B5EF4-FFF2-40B4-BE49-F238E27FC236}">
                <a16:creationId xmlns:a16="http://schemas.microsoft.com/office/drawing/2014/main" id="{A6AD1FE1-B7B4-29A8-983E-1A8370162A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31AB35B-79B2-B955-5676-329512F137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D0EB2B-C159-4912-B304-F2F30DFBE7B8}" type="slidenum">
              <a:rPr lang="en-US" smtClean="0"/>
              <a:t>‹#›</a:t>
            </a:fld>
            <a:endParaRPr lang="en-US"/>
          </a:p>
        </p:txBody>
      </p:sp>
    </p:spTree>
    <p:extLst>
      <p:ext uri="{BB962C8B-B14F-4D97-AF65-F5344CB8AC3E}">
        <p14:creationId xmlns:p14="http://schemas.microsoft.com/office/powerpoint/2010/main" val="1739352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4.svg"/><Relationship Id="rId1" Type="http://schemas.openxmlformats.org/officeDocument/2006/relationships/slideLayout" Target="../slideLayouts/slideLayout7.xml"/><Relationship Id="rId4" Type="http://schemas.openxmlformats.org/officeDocument/2006/relationships/image" Target="../media/image15.svg"/></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9.jp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7.svg"/><Relationship Id="rId4" Type="http://schemas.openxmlformats.org/officeDocument/2006/relationships/image" Target="../media/image20.svg"/></Relationships>
</file>

<file path=ppt/slides/_rels/slide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4.svg"/><Relationship Id="rId1" Type="http://schemas.openxmlformats.org/officeDocument/2006/relationships/slideLayout" Target="../slideLayouts/slideLayout7.xml"/><Relationship Id="rId4" Type="http://schemas.openxmlformats.org/officeDocument/2006/relationships/image" Target="../media/image22.svg"/></Relationships>
</file>

<file path=ppt/slides/_rels/slide1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4.sv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sv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1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svg"/><Relationship Id="rId1" Type="http://schemas.openxmlformats.org/officeDocument/2006/relationships/slideLayout" Target="../slideLayouts/slideLayout7.xml"/><Relationship Id="rId4" Type="http://schemas.openxmlformats.org/officeDocument/2006/relationships/image" Target="../media/image2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23.svg"/></Relationships>
</file>

<file path=ppt/slides/_rels/slide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8.svg"/></Relationships>
</file>

<file path=ppt/slides/_rels/slide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24.svg"/></Relationships>
</file>

<file path=ppt/slides/_rels/slide2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24.svg"/><Relationship Id="rId4" Type="http://schemas.openxmlformats.org/officeDocument/2006/relationships/image" Target="../media/image4.svg"/></Relationships>
</file>

<file path=ppt/slides/_rels/slide2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9.svg"/><Relationship Id="rId1" Type="http://schemas.openxmlformats.org/officeDocument/2006/relationships/slideLayout" Target="../slideLayouts/slideLayout7.xml"/><Relationship Id="rId4" Type="http://schemas.openxmlformats.org/officeDocument/2006/relationships/image" Target="../media/image3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92B53E-FF7A-FE43-FCED-CF5E5B9206F6}"/>
              </a:ext>
            </a:extLst>
          </p:cNvPr>
          <p:cNvSpPr/>
          <p:nvPr/>
        </p:nvSpPr>
        <p:spPr>
          <a:xfrm>
            <a:off x="609600" y="838200"/>
            <a:ext cx="609600" cy="635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A1AFDD6-2157-59CF-3A66-F9B4E38FAF0D}"/>
              </a:ext>
            </a:extLst>
          </p:cNvPr>
          <p:cNvSpPr txBox="1"/>
          <p:nvPr/>
        </p:nvSpPr>
        <p:spPr>
          <a:xfrm>
            <a:off x="609600" y="1041400"/>
            <a:ext cx="5266944" cy="276999"/>
          </a:xfrm>
          <a:prstGeom prst="rect">
            <a:avLst/>
          </a:prstGeom>
          <a:noFill/>
        </p:spPr>
        <p:txBody>
          <a:bodyPr vert="horz" rtlCol="0">
            <a:spAutoFit/>
          </a:bodyPr>
          <a:lstStyle/>
          <a:p>
            <a:r>
              <a:rPr lang="vi-VN" sz="1200" b="1">
                <a:solidFill>
                  <a:srgbClr val="10B981"/>
                </a:solidFill>
                <a:latin typeface="Segoe UI" panose="020B0502040204020203" pitchFamily="34" charset="0"/>
              </a:rPr>
              <a:t>CHƯƠNG TRÌNH ĐÀO TẠO DÂN SỐ HỌC  •  TỔNG QUAN CHUYÊN ĐỀ</a:t>
            </a:r>
            <a:endParaRPr lang="en-US" sz="1200" b="1">
              <a:solidFill>
                <a:srgbClr val="10B981"/>
              </a:solidFill>
              <a:latin typeface="Segoe UI" panose="020B0502040204020203" pitchFamily="34" charset="0"/>
            </a:endParaRPr>
          </a:p>
        </p:txBody>
      </p:sp>
      <p:sp>
        <p:nvSpPr>
          <p:cNvPr id="4" name="TextBox 3">
            <a:extLst>
              <a:ext uri="{FF2B5EF4-FFF2-40B4-BE49-F238E27FC236}">
                <a16:creationId xmlns:a16="http://schemas.microsoft.com/office/drawing/2014/main" id="{514FE490-BF23-EDA1-0D17-61AB84E5AA16}"/>
              </a:ext>
            </a:extLst>
          </p:cNvPr>
          <p:cNvSpPr txBox="1"/>
          <p:nvPr/>
        </p:nvSpPr>
        <p:spPr>
          <a:xfrm>
            <a:off x="609600" y="1447800"/>
            <a:ext cx="5266944" cy="1138773"/>
          </a:xfrm>
          <a:prstGeom prst="rect">
            <a:avLst/>
          </a:prstGeom>
          <a:noFill/>
        </p:spPr>
        <p:txBody>
          <a:bodyPr vert="horz" wrap="square" lIns="0" rtlCol="0">
            <a:spAutoFit/>
          </a:bodyPr>
          <a:lstStyle/>
          <a:p>
            <a:r>
              <a:rPr lang="en-US" sz="3400" b="1">
                <a:solidFill>
                  <a:srgbClr val="FFFFFF"/>
                </a:solidFill>
                <a:latin typeface="Segoe UI" panose="020B0502040204020203" pitchFamily="34" charset="0"/>
              </a:rPr>
              <a:t>BÀI 3: BIẾN ĐỘNG TỰ NHIÊN DÂN SỐ</a:t>
            </a:r>
          </a:p>
        </p:txBody>
      </p:sp>
      <p:sp>
        <p:nvSpPr>
          <p:cNvPr id="5" name="TextBox 4">
            <a:extLst>
              <a:ext uri="{FF2B5EF4-FFF2-40B4-BE49-F238E27FC236}">
                <a16:creationId xmlns:a16="http://schemas.microsoft.com/office/drawing/2014/main" id="{4047956C-1A95-DC54-004F-6A03FD7FAFC0}"/>
              </a:ext>
            </a:extLst>
          </p:cNvPr>
          <p:cNvSpPr txBox="1"/>
          <p:nvPr/>
        </p:nvSpPr>
        <p:spPr>
          <a:xfrm>
            <a:off x="609600" y="3187700"/>
            <a:ext cx="5266944" cy="584775"/>
          </a:xfrm>
          <a:prstGeom prst="rect">
            <a:avLst/>
          </a:prstGeom>
          <a:noFill/>
        </p:spPr>
        <p:txBody>
          <a:bodyPr vert="horz" wrap="square" lIns="0" rtlCol="0">
            <a:spAutoFit/>
          </a:bodyPr>
          <a:lstStyle/>
          <a:p>
            <a:r>
              <a:rPr lang="vi-VN" sz="1600">
                <a:solidFill>
                  <a:srgbClr val="CBD5E1"/>
                </a:solidFill>
                <a:latin typeface="Segoe UI" panose="020B0502040204020203" pitchFamily="34" charset="0"/>
              </a:rPr>
              <a:t>Khung lý thuyết và phương pháp đo lường mức sinh, mức chết, bảng sống và mô hình chuyển tiếp dân số.</a:t>
            </a:r>
            <a:endParaRPr lang="en-US" sz="1600">
              <a:solidFill>
                <a:srgbClr val="CBD5E1"/>
              </a:solidFill>
              <a:latin typeface="Segoe UI" panose="020B0502040204020203" pitchFamily="34" charset="0"/>
            </a:endParaRPr>
          </a:p>
        </p:txBody>
      </p:sp>
      <p:pic>
        <p:nvPicPr>
          <p:cNvPr id="7" name="Picture 6">
            <a:extLst>
              <a:ext uri="{FF2B5EF4-FFF2-40B4-BE49-F238E27FC236}">
                <a16:creationId xmlns:a16="http://schemas.microsoft.com/office/drawing/2014/main" id="{712300C9-0464-68A8-6B7A-2F6980F96DE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181344" y="1333500"/>
            <a:ext cx="5401056" cy="3014980"/>
          </a:xfrm>
          <a:prstGeom prst="roundRect">
            <a:avLst/>
          </a:prstGeom>
          <a:ln w="19050">
            <a:solidFill>
              <a:srgbClr val="0284C7"/>
            </a:solidFill>
          </a:ln>
        </p:spPr>
      </p:pic>
    </p:spTree>
    <p:extLst>
      <p:ext uri="{BB962C8B-B14F-4D97-AF65-F5344CB8AC3E}">
        <p14:creationId xmlns:p14="http://schemas.microsoft.com/office/powerpoint/2010/main" val="2404491258"/>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6133DF9E-D690-0031-D963-66BD261AC048}"/>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MỤC TIÊU BÀI HỌC  •  TRỌNG TÂM</a:t>
            </a:r>
          </a:p>
        </p:txBody>
      </p:sp>
      <p:sp>
        <p:nvSpPr>
          <p:cNvPr id="3" name="!!Anchor_Slide_Tracker">
            <a:extLst>
              <a:ext uri="{FF2B5EF4-FFF2-40B4-BE49-F238E27FC236}">
                <a16:creationId xmlns:a16="http://schemas.microsoft.com/office/drawing/2014/main" id="{21C34780-F620-A433-7315-D47DF008B8E4}"/>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02 / 22</a:t>
            </a:r>
          </a:p>
        </p:txBody>
      </p:sp>
      <p:sp>
        <p:nvSpPr>
          <p:cNvPr id="4" name="!!Anchor_Assertion_Title">
            <a:extLst>
              <a:ext uri="{FF2B5EF4-FFF2-40B4-BE49-F238E27FC236}">
                <a16:creationId xmlns:a16="http://schemas.microsoft.com/office/drawing/2014/main" id="{EC807FD9-8693-62ED-764A-1C67BC7289A4}"/>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Năng Lực Làm Chủ Các Chỉ Báo Đo Lường Mức Sinh Và Mức Chết</a:t>
            </a:r>
            <a:endParaRPr lang="en-US" sz="2400" b="1">
              <a:solidFill>
                <a:srgbClr val="FFFFFF"/>
              </a:solidFill>
              <a:latin typeface="Segoe UI" panose="020B0502040204020203" pitchFamily="34" charset="0"/>
            </a:endParaRPr>
          </a:p>
        </p:txBody>
      </p:sp>
      <p:grpSp>
        <p:nvGrpSpPr>
          <p:cNvPr id="11" name="!!Stage_Hero_Container">
            <a:extLst>
              <a:ext uri="{FF2B5EF4-FFF2-40B4-BE49-F238E27FC236}">
                <a16:creationId xmlns:a16="http://schemas.microsoft.com/office/drawing/2014/main" id="{05868336-B383-0F63-733F-F7D7EAEF6A0C}"/>
              </a:ext>
            </a:extLst>
          </p:cNvPr>
          <p:cNvGrpSpPr/>
          <p:nvPr/>
        </p:nvGrpSpPr>
        <p:grpSpPr>
          <a:xfrm>
            <a:off x="609600" y="1676400"/>
            <a:ext cx="6035040" cy="4521200"/>
            <a:chOff x="609600" y="1676400"/>
            <a:chExt cx="6035040" cy="4521200"/>
          </a:xfrm>
        </p:grpSpPr>
        <p:sp>
          <p:nvSpPr>
            <p:cNvPr id="5" name="Rectangle: Rounded Corners 4">
              <a:extLst>
                <a:ext uri="{FF2B5EF4-FFF2-40B4-BE49-F238E27FC236}">
                  <a16:creationId xmlns:a16="http://schemas.microsoft.com/office/drawing/2014/main" id="{3C9B92D2-33CA-D08B-6B12-862018AE1611}"/>
                </a:ext>
              </a:extLst>
            </p:cNvPr>
            <p:cNvSpPr/>
            <p:nvPr/>
          </p:nvSpPr>
          <p:spPr>
            <a:xfrm>
              <a:off x="609600" y="1676400"/>
              <a:ext cx="6035040" cy="4521200"/>
            </a:xfrm>
            <a:prstGeom prst="roundRect">
              <a:avLst/>
            </a:prstGeom>
            <a:solidFill>
              <a:srgbClr val="0B132B"/>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21BA6B3B-947E-AB86-0114-136849EF7F78}"/>
                </a:ext>
              </a:extLst>
            </p:cNvPr>
            <p:cNvSpPr/>
            <p:nvPr/>
          </p:nvSpPr>
          <p:spPr>
            <a:xfrm>
              <a:off x="863600" y="1905000"/>
              <a:ext cx="1524000" cy="2794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0284C7"/>
                  </a:solidFill>
                  <a:latin typeface="Segoe UI" panose="020B0502040204020203" pitchFamily="34" charset="0"/>
                </a:rPr>
                <a:t>TRỌNG TÂM CỐT LÕI</a:t>
              </a:r>
            </a:p>
          </p:txBody>
        </p:sp>
        <p:sp>
          <p:nvSpPr>
            <p:cNvPr id="7" name="Oval 6">
              <a:extLst>
                <a:ext uri="{FF2B5EF4-FFF2-40B4-BE49-F238E27FC236}">
                  <a16:creationId xmlns:a16="http://schemas.microsoft.com/office/drawing/2014/main" id="{9246299B-AA3E-35C0-B8CA-CD8C8876F62F}"/>
                </a:ext>
              </a:extLst>
            </p:cNvPr>
            <p:cNvSpPr/>
            <p:nvPr/>
          </p:nvSpPr>
          <p:spPr>
            <a:xfrm>
              <a:off x="863600" y="2286000"/>
              <a:ext cx="482600" cy="4826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016487E4-49D4-5094-7AAA-BA71B3065803}"/>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939800" y="2362200"/>
              <a:ext cx="330200" cy="330200"/>
            </a:xfrm>
            <a:prstGeom prst="rect">
              <a:avLst/>
            </a:prstGeom>
          </p:spPr>
        </p:pic>
        <p:sp>
          <p:nvSpPr>
            <p:cNvPr id="10" name="TextBox 9">
              <a:extLst>
                <a:ext uri="{FF2B5EF4-FFF2-40B4-BE49-F238E27FC236}">
                  <a16:creationId xmlns:a16="http://schemas.microsoft.com/office/drawing/2014/main" id="{8A029D23-7E16-3B1E-D12E-95CFBD354029}"/>
                </a:ext>
              </a:extLst>
            </p:cNvPr>
            <p:cNvSpPr txBox="1"/>
            <p:nvPr/>
          </p:nvSpPr>
          <p:spPr>
            <a:xfrm>
              <a:off x="863600" y="2870200"/>
              <a:ext cx="5527040" cy="1189365"/>
            </a:xfrm>
            <a:prstGeom prst="rect">
              <a:avLst/>
            </a:prstGeom>
            <a:noFill/>
          </p:spPr>
          <p:txBody>
            <a:bodyPr vert="horz" wrap="square" lIns="0" rtlCol="0">
              <a:spAutoFit/>
            </a:bodyPr>
            <a:lstStyle/>
            <a:p>
              <a:pPr>
                <a:lnSpc>
                  <a:spcPct val="130000"/>
                </a:lnSpc>
                <a:spcAft>
                  <a:spcPts val="1000"/>
                </a:spcAft>
              </a:pPr>
              <a:r>
                <a:rPr lang="vi-VN" sz="2000" b="1">
                  <a:solidFill>
                    <a:srgbClr val="FFFFFF"/>
                  </a:solidFill>
                  <a:latin typeface="Segoe UI" panose="020B0502040204020203" pitchFamily="34" charset="0"/>
                </a:rPr>
                <a:t>Hệ Thống Thước Đo Mức Sinh
</a:t>
              </a:r>
              <a:r>
                <a:rPr lang="vi-VN" sz="1500" b="1">
                  <a:solidFill>
                    <a:srgbClr val="CBD5E1"/>
                  </a:solidFill>
                  <a:latin typeface="Segoe UI" panose="020B0502040204020203" pitchFamily="34" charset="0"/>
                </a:rPr>
                <a:t>Tính toán và phân tích chuyên sâu tỷ suất sinh thô (CBR), tỷ suất sinh chung (GFR), ASFR và tổng tỷ suất sinh (TFR).</a:t>
              </a:r>
              <a:endParaRPr lang="en-US" sz="1500" b="1">
                <a:solidFill>
                  <a:srgbClr val="CBD5E1"/>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889C5935-D89C-5215-C175-FF815C764FF5}"/>
              </a:ext>
            </a:extLst>
          </p:cNvPr>
          <p:cNvGrpSpPr/>
          <p:nvPr/>
        </p:nvGrpSpPr>
        <p:grpSpPr>
          <a:xfrm>
            <a:off x="6873240" y="1676400"/>
            <a:ext cx="4709160" cy="2171700"/>
            <a:chOff x="6873240" y="1676400"/>
            <a:chExt cx="4709160" cy="2171700"/>
          </a:xfrm>
        </p:grpSpPr>
        <p:sp>
          <p:nvSpPr>
            <p:cNvPr id="12" name="Rectangle: Rounded Corners 11">
              <a:extLst>
                <a:ext uri="{FF2B5EF4-FFF2-40B4-BE49-F238E27FC236}">
                  <a16:creationId xmlns:a16="http://schemas.microsoft.com/office/drawing/2014/main" id="{7B34A4FA-A9FC-CB5A-8DD6-FE9BFC7E2061}"/>
                </a:ext>
              </a:extLst>
            </p:cNvPr>
            <p:cNvSpPr/>
            <p:nvPr/>
          </p:nvSpPr>
          <p:spPr>
            <a:xfrm>
              <a:off x="6873240" y="1676400"/>
              <a:ext cx="4709160" cy="2171700"/>
            </a:xfrm>
            <a:prstGeom prst="roundRect">
              <a:avLst/>
            </a:prstGeom>
            <a:solidFill>
              <a:srgbClr val="0B132B"/>
            </a:solidFill>
            <a:ln>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7C3C18B0-DA4D-0037-47D6-D4C953BB22A0}"/>
                </a:ext>
              </a:extLst>
            </p:cNvPr>
            <p:cNvSpPr/>
            <p:nvPr/>
          </p:nvSpPr>
          <p:spPr>
            <a:xfrm>
              <a:off x="7076440" y="1854200"/>
              <a:ext cx="1079500" cy="2540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MỤC TIÊU 01</a:t>
              </a:r>
            </a:p>
          </p:txBody>
        </p:sp>
        <p:sp>
          <p:nvSpPr>
            <p:cNvPr id="14" name="Oval 13">
              <a:extLst>
                <a:ext uri="{FF2B5EF4-FFF2-40B4-BE49-F238E27FC236}">
                  <a16:creationId xmlns:a16="http://schemas.microsoft.com/office/drawing/2014/main" id="{2140BB49-376D-0144-EF02-91D2098A79D7}"/>
                </a:ext>
              </a:extLst>
            </p:cNvPr>
            <p:cNvSpPr/>
            <p:nvPr/>
          </p:nvSpPr>
          <p:spPr>
            <a:xfrm>
              <a:off x="7076440" y="21844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484B24BA-372C-5EA9-7CEE-46158F48C96B}"/>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7139940" y="2247900"/>
              <a:ext cx="279400" cy="279400"/>
            </a:xfrm>
            <a:prstGeom prst="rect">
              <a:avLst/>
            </a:prstGeom>
          </p:spPr>
        </p:pic>
        <p:sp>
          <p:nvSpPr>
            <p:cNvPr id="17" name="TextBox 16">
              <a:extLst>
                <a:ext uri="{FF2B5EF4-FFF2-40B4-BE49-F238E27FC236}">
                  <a16:creationId xmlns:a16="http://schemas.microsoft.com/office/drawing/2014/main" id="{7947F34B-6002-9B68-1EC9-DB01C2656A46}"/>
                </a:ext>
              </a:extLst>
            </p:cNvPr>
            <p:cNvSpPr txBox="1"/>
            <p:nvPr/>
          </p:nvSpPr>
          <p:spPr>
            <a:xfrm>
              <a:off x="7609840" y="2108200"/>
              <a:ext cx="3820160" cy="990015"/>
            </a:xfrm>
            <a:prstGeom prst="rect">
              <a:avLst/>
            </a:prstGeom>
            <a:noFill/>
          </p:spPr>
          <p:txBody>
            <a:bodyPr vert="horz" wrap="square" tIns="0" rtlCol="0">
              <a:spAutoFit/>
            </a:bodyPr>
            <a:lstStyle/>
            <a:p>
              <a:pPr>
                <a:spcAft>
                  <a:spcPts val="400"/>
                </a:spcAft>
              </a:pPr>
              <a:r>
                <a:rPr lang="vi-VN" sz="1600" b="1">
                  <a:solidFill>
                    <a:srgbClr val="FFFFFF"/>
                  </a:solidFill>
                  <a:latin typeface="Segoe UI" panose="020B0502040204020203" pitchFamily="34" charset="0"/>
                </a:rPr>
                <a:t>Hệ Thống Thước Đo Mức Chết
</a:t>
              </a:r>
              <a:r>
                <a:rPr lang="vi-VN" sz="1400" b="1">
                  <a:solidFill>
                    <a:srgbClr val="CBD5E1"/>
                  </a:solidFill>
                  <a:latin typeface="Segoe UI" panose="020B0502040204020203" pitchFamily="34" charset="0"/>
                </a:rPr>
                <a:t>Làm chủ tỷ suất chết thô (CDR), tử vong trẻ sơ sinh (IMR), tử vong mẹ (MMR) và nguyên lý lập bảng sống (Life Table).</a:t>
              </a:r>
              <a:endParaRPr lang="en-US" sz="1400" b="1">
                <a:solidFill>
                  <a:srgbClr val="CBD5E1"/>
                </a:solidFill>
                <a:latin typeface="Segoe UI" panose="020B0502040204020203" pitchFamily="34" charset="0"/>
              </a:endParaRPr>
            </a:p>
          </p:txBody>
        </p:sp>
      </p:grpSp>
      <p:grpSp>
        <p:nvGrpSpPr>
          <p:cNvPr id="25" name="!!Stage_Sub_Card_2">
            <a:extLst>
              <a:ext uri="{FF2B5EF4-FFF2-40B4-BE49-F238E27FC236}">
                <a16:creationId xmlns:a16="http://schemas.microsoft.com/office/drawing/2014/main" id="{133E2DDD-3B0F-EE78-A583-10598B434982}"/>
              </a:ext>
            </a:extLst>
          </p:cNvPr>
          <p:cNvGrpSpPr/>
          <p:nvPr/>
        </p:nvGrpSpPr>
        <p:grpSpPr>
          <a:xfrm>
            <a:off x="6873240" y="4025900"/>
            <a:ext cx="4709160" cy="2171700"/>
            <a:chOff x="6873240" y="4025900"/>
            <a:chExt cx="4709160" cy="2171700"/>
          </a:xfrm>
        </p:grpSpPr>
        <p:sp>
          <p:nvSpPr>
            <p:cNvPr id="19" name="Rectangle: Rounded Corners 18">
              <a:extLst>
                <a:ext uri="{FF2B5EF4-FFF2-40B4-BE49-F238E27FC236}">
                  <a16:creationId xmlns:a16="http://schemas.microsoft.com/office/drawing/2014/main" id="{233E0C08-3FC8-0073-0FF0-885805B1F63E}"/>
                </a:ext>
              </a:extLst>
            </p:cNvPr>
            <p:cNvSpPr/>
            <p:nvPr/>
          </p:nvSpPr>
          <p:spPr>
            <a:xfrm>
              <a:off x="6873240" y="4025900"/>
              <a:ext cx="4709160" cy="2171700"/>
            </a:xfrm>
            <a:prstGeom prst="roundRect">
              <a:avLst/>
            </a:prstGeom>
            <a:solidFill>
              <a:srgbClr val="0B132B"/>
            </a:solidFill>
            <a:ln>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16DA5F55-C7B4-CC91-CA98-641F4E0D291B}"/>
                </a:ext>
              </a:extLst>
            </p:cNvPr>
            <p:cNvSpPr/>
            <p:nvPr/>
          </p:nvSpPr>
          <p:spPr>
            <a:xfrm>
              <a:off x="7076440" y="4203700"/>
              <a:ext cx="1079500" cy="2540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MỤC TIÊU 02</a:t>
              </a:r>
            </a:p>
          </p:txBody>
        </p:sp>
        <p:sp>
          <p:nvSpPr>
            <p:cNvPr id="21" name="Oval 20">
              <a:extLst>
                <a:ext uri="{FF2B5EF4-FFF2-40B4-BE49-F238E27FC236}">
                  <a16:creationId xmlns:a16="http://schemas.microsoft.com/office/drawing/2014/main" id="{3367D7F8-73EA-9DA3-14EA-CD78A61896AF}"/>
                </a:ext>
              </a:extLst>
            </p:cNvPr>
            <p:cNvSpPr/>
            <p:nvPr/>
          </p:nvSpPr>
          <p:spPr>
            <a:xfrm>
              <a:off x="7076440" y="45339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90F952F4-A2CC-C6F9-A777-05690B15EC12}"/>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7139940" y="4597400"/>
              <a:ext cx="279400" cy="279400"/>
            </a:xfrm>
            <a:prstGeom prst="rect">
              <a:avLst/>
            </a:prstGeom>
          </p:spPr>
        </p:pic>
        <p:sp>
          <p:nvSpPr>
            <p:cNvPr id="24" name="TextBox 23">
              <a:extLst>
                <a:ext uri="{FF2B5EF4-FFF2-40B4-BE49-F238E27FC236}">
                  <a16:creationId xmlns:a16="http://schemas.microsoft.com/office/drawing/2014/main" id="{1EEA6BC6-410B-8CC4-33A0-AA8FD26EC689}"/>
                </a:ext>
              </a:extLst>
            </p:cNvPr>
            <p:cNvSpPr txBox="1"/>
            <p:nvPr/>
          </p:nvSpPr>
          <p:spPr>
            <a:xfrm>
              <a:off x="7609840" y="4457700"/>
              <a:ext cx="38201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Mô Hình Chuyển Tiếp Dân Số
</a:t>
              </a:r>
              <a:r>
                <a:rPr lang="en-US" sz="1400" b="1">
                  <a:solidFill>
                    <a:srgbClr val="CBD5E1"/>
                  </a:solidFill>
                  <a:latin typeface="Segoe UI" panose="020B0502040204020203" pitchFamily="34" charset="0"/>
                </a:rPr>
                <a:t>Hiểu rõ 4 giai đoạn chuyển tiếp nhân khẩu học và vận dụng vào phân tích chính sách duy trì mức sinh thay thế ở Việt Nam.</a:t>
              </a:r>
            </a:p>
          </p:txBody>
        </p:sp>
      </p:grpSp>
      <p:sp>
        <p:nvSpPr>
          <p:cNvPr id="26" name="!!Anchor_Source_Footer">
            <a:extLst>
              <a:ext uri="{FF2B5EF4-FFF2-40B4-BE49-F238E27FC236}">
                <a16:creationId xmlns:a16="http://schemas.microsoft.com/office/drawing/2014/main" id="{F06CDB39-97C7-3C0A-8F6E-7CC67FE47844}"/>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Khung chuẩn đầu ra chuyên đề</a:t>
            </a:r>
          </a:p>
        </p:txBody>
      </p:sp>
    </p:spTree>
    <p:extLst>
      <p:ext uri="{BB962C8B-B14F-4D97-AF65-F5344CB8AC3E}">
        <p14:creationId xmlns:p14="http://schemas.microsoft.com/office/powerpoint/2010/main" val="6227204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450" fill="hold"/>
                                        <p:tgtEl>
                                          <p:spTgt spid="25"/>
                                        </p:tgtEl>
                                        <p:attrNameLst>
                                          <p:attrName>ppt_x</p:attrName>
                                        </p:attrNameLst>
                                      </p:cBhvr>
                                      <p:tavLst>
                                        <p:tav tm="0">
                                          <p:val>
                                            <p:strVal val="#ppt_x"/>
                                          </p:val>
                                        </p:tav>
                                        <p:tav tm="100000">
                                          <p:val>
                                            <p:strVal val="#ppt_x"/>
                                          </p:val>
                                        </p:tav>
                                      </p:tavLst>
                                    </p:anim>
                                    <p:anim calcmode="lin" valueType="num">
                                      <p:cBhvr additive="base">
                                        <p:cTn id="14" dur="45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FD6D67AE-5483-048D-1D52-9F894873722C}"/>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KHÁI NIỆM MỨC SINH  •  TRỌNG TÂM</a:t>
            </a:r>
          </a:p>
        </p:txBody>
      </p:sp>
      <p:sp>
        <p:nvSpPr>
          <p:cNvPr id="3" name="!!Anchor_Slide_Tracker">
            <a:extLst>
              <a:ext uri="{FF2B5EF4-FFF2-40B4-BE49-F238E27FC236}">
                <a16:creationId xmlns:a16="http://schemas.microsoft.com/office/drawing/2014/main" id="{7A8DB1B5-869D-8780-6925-3A4AE71B27BD}"/>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03 / 22</a:t>
            </a:r>
          </a:p>
        </p:txBody>
      </p:sp>
      <p:sp>
        <p:nvSpPr>
          <p:cNvPr id="4" name="!!Anchor_Assertion_Title">
            <a:extLst>
              <a:ext uri="{FF2B5EF4-FFF2-40B4-BE49-F238E27FC236}">
                <a16:creationId xmlns:a16="http://schemas.microsoft.com/office/drawing/2014/main" id="{07C79CB2-11AF-E3E9-8461-50E58474AC1A}"/>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FFFFFF"/>
                </a:solidFill>
                <a:latin typeface="Segoe UI" panose="020B0502040204020203" pitchFamily="34" charset="0"/>
              </a:rPr>
              <a:t>Quá Trình Sinh Đẻ Và Bản Chất Khái Niệm Mức Sinh (Fertility)</a:t>
            </a:r>
          </a:p>
        </p:txBody>
      </p:sp>
      <p:grpSp>
        <p:nvGrpSpPr>
          <p:cNvPr id="12" name="!!Stage_Hero_Container">
            <a:extLst>
              <a:ext uri="{FF2B5EF4-FFF2-40B4-BE49-F238E27FC236}">
                <a16:creationId xmlns:a16="http://schemas.microsoft.com/office/drawing/2014/main" id="{728E0DFF-C8B7-2228-C0F7-C79AE4498AA8}"/>
              </a:ext>
            </a:extLst>
          </p:cNvPr>
          <p:cNvGrpSpPr/>
          <p:nvPr/>
        </p:nvGrpSpPr>
        <p:grpSpPr>
          <a:xfrm>
            <a:off x="609600" y="1676400"/>
            <a:ext cx="5376672" cy="4521200"/>
            <a:chOff x="609600" y="1676400"/>
            <a:chExt cx="5376672" cy="4521200"/>
          </a:xfrm>
        </p:grpSpPr>
        <p:pic>
          <p:nvPicPr>
            <p:cNvPr id="6" name="Picture 5">
              <a:extLst>
                <a:ext uri="{FF2B5EF4-FFF2-40B4-BE49-F238E27FC236}">
                  <a16:creationId xmlns:a16="http://schemas.microsoft.com/office/drawing/2014/main" id="{795D39FA-C447-D0C1-074C-623DF55C93A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676400"/>
              <a:ext cx="5376672" cy="3001010"/>
            </a:xfrm>
            <a:prstGeom prst="roundRect">
              <a:avLst/>
            </a:prstGeom>
            <a:ln w="12700">
              <a:solidFill>
                <a:srgbClr val="1E293B"/>
              </a:solidFill>
            </a:ln>
          </p:spPr>
        </p:pic>
        <p:sp>
          <p:nvSpPr>
            <p:cNvPr id="7" name="Rectangle: Rounded Corners 6">
              <a:extLst>
                <a:ext uri="{FF2B5EF4-FFF2-40B4-BE49-F238E27FC236}">
                  <a16:creationId xmlns:a16="http://schemas.microsoft.com/office/drawing/2014/main" id="{A53A3525-CFD4-CD68-8AE5-E78839D6E0CA}"/>
                </a:ext>
              </a:extLst>
            </p:cNvPr>
            <p:cNvSpPr/>
            <p:nvPr/>
          </p:nvSpPr>
          <p:spPr>
            <a:xfrm>
              <a:off x="609600" y="4829810"/>
              <a:ext cx="5376672" cy="1367790"/>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4A66A22-2012-DA91-FCBF-2B3A5D518B49}"/>
                </a:ext>
              </a:extLst>
            </p:cNvPr>
            <p:cNvSpPr/>
            <p:nvPr/>
          </p:nvSpPr>
          <p:spPr>
            <a:xfrm>
              <a:off x="787400" y="5007610"/>
              <a:ext cx="355600" cy="3556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9D8F4AF2-AFF9-9B66-FF54-2D1D276078E8}"/>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50900" y="5071110"/>
              <a:ext cx="228600" cy="228600"/>
            </a:xfrm>
            <a:prstGeom prst="rect">
              <a:avLst/>
            </a:prstGeom>
          </p:spPr>
        </p:pic>
        <p:sp>
          <p:nvSpPr>
            <p:cNvPr id="11" name="TextBox 10">
              <a:extLst>
                <a:ext uri="{FF2B5EF4-FFF2-40B4-BE49-F238E27FC236}">
                  <a16:creationId xmlns:a16="http://schemas.microsoft.com/office/drawing/2014/main" id="{4FA1A04F-580C-D73D-B30B-60ACC234CAFB}"/>
                </a:ext>
              </a:extLst>
            </p:cNvPr>
            <p:cNvSpPr txBox="1"/>
            <p:nvPr/>
          </p:nvSpPr>
          <p:spPr>
            <a:xfrm>
              <a:off x="1219200" y="4956810"/>
              <a:ext cx="4640072" cy="728020"/>
            </a:xfrm>
            <a:prstGeom prst="rect">
              <a:avLst/>
            </a:prstGeom>
            <a:noFill/>
          </p:spPr>
          <p:txBody>
            <a:bodyPr vert="horz" wrap="square" lIns="0" tIns="0" rtlCol="0">
              <a:spAutoFit/>
            </a:bodyPr>
            <a:lstStyle/>
            <a:p>
              <a:pPr>
                <a:lnSpc>
                  <a:spcPct val="120000"/>
                </a:lnSpc>
                <a:spcAft>
                  <a:spcPts val="300"/>
                </a:spcAft>
              </a:pPr>
              <a:r>
                <a:rPr lang="en-US" sz="1100" b="1">
                  <a:solidFill>
                    <a:srgbClr val="0284C7"/>
                  </a:solidFill>
                  <a:latin typeface="Segoe UI" panose="020B0502040204020203" pitchFamily="34" charset="0"/>
                </a:rPr>
                <a:t>THÔNG ĐIỆP CỐT LÕI
</a:t>
              </a:r>
              <a:r>
                <a:rPr lang="en-US" sz="1250" b="1">
                  <a:solidFill>
                    <a:srgbClr val="FFFFFF"/>
                  </a:solidFill>
                  <a:latin typeface="Segoe UI" panose="020B0502040204020203" pitchFamily="34" charset="0"/>
                </a:rPr>
                <a:t>Mức sinh phản ánh kết quả thực tế của quá trình sinh đẻ của quần thể dân số trong một khoảng thời gian xác định.</a:t>
              </a:r>
            </a:p>
          </p:txBody>
        </p:sp>
      </p:grpSp>
      <p:grpSp>
        <p:nvGrpSpPr>
          <p:cNvPr id="18" name="!!Stage_Sub_Card_1">
            <a:extLst>
              <a:ext uri="{FF2B5EF4-FFF2-40B4-BE49-F238E27FC236}">
                <a16:creationId xmlns:a16="http://schemas.microsoft.com/office/drawing/2014/main" id="{86698BAA-1D80-A0D6-E94F-60FDEB2FF9E9}"/>
              </a:ext>
            </a:extLst>
          </p:cNvPr>
          <p:cNvGrpSpPr/>
          <p:nvPr/>
        </p:nvGrpSpPr>
        <p:grpSpPr>
          <a:xfrm>
            <a:off x="6214872" y="1676400"/>
            <a:ext cx="5367528" cy="2184400"/>
            <a:chOff x="6214872" y="1676400"/>
            <a:chExt cx="5367528" cy="2184400"/>
          </a:xfrm>
        </p:grpSpPr>
        <p:sp>
          <p:nvSpPr>
            <p:cNvPr id="13" name="Rectangle: Rounded Corners 12">
              <a:extLst>
                <a:ext uri="{FF2B5EF4-FFF2-40B4-BE49-F238E27FC236}">
                  <a16:creationId xmlns:a16="http://schemas.microsoft.com/office/drawing/2014/main" id="{FF7DBD6F-CD50-2BF8-99AF-83083E7BE666}"/>
                </a:ext>
              </a:extLst>
            </p:cNvPr>
            <p:cNvSpPr/>
            <p:nvPr/>
          </p:nvSpPr>
          <p:spPr>
            <a:xfrm>
              <a:off x="6214872" y="1676400"/>
              <a:ext cx="5367528" cy="2184400"/>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1425117-63F4-2C90-EF05-243E77ACC058}"/>
                </a:ext>
              </a:extLst>
            </p:cNvPr>
            <p:cNvSpPr/>
            <p:nvPr/>
          </p:nvSpPr>
          <p:spPr>
            <a:xfrm>
              <a:off x="6392672" y="18542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8E98D1D9-6D84-CAF9-3A59-0712085F3CD2}"/>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56172" y="1917700"/>
              <a:ext cx="254000" cy="254000"/>
            </a:xfrm>
            <a:prstGeom prst="rect">
              <a:avLst/>
            </a:prstGeom>
          </p:spPr>
        </p:pic>
        <p:sp>
          <p:nvSpPr>
            <p:cNvPr id="17" name="TextBox 16">
              <a:extLst>
                <a:ext uri="{FF2B5EF4-FFF2-40B4-BE49-F238E27FC236}">
                  <a16:creationId xmlns:a16="http://schemas.microsoft.com/office/drawing/2014/main" id="{AAE099D4-F191-5CA4-BAF0-A45439BA8BF1}"/>
                </a:ext>
              </a:extLst>
            </p:cNvPr>
            <p:cNvSpPr txBox="1"/>
            <p:nvPr/>
          </p:nvSpPr>
          <p:spPr>
            <a:xfrm>
              <a:off x="6875272" y="1803400"/>
              <a:ext cx="4580128"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Khả Năng Sinh Sản (Fecundity)
</a:t>
              </a:r>
              <a:r>
                <a:rPr lang="vi-VN" sz="1400" b="1">
                  <a:solidFill>
                    <a:srgbClr val="CBD5E1"/>
                  </a:solidFill>
                  <a:latin typeface="Segoe UI" panose="020B0502040204020203" pitchFamily="34" charset="0"/>
                </a:rPr>
                <a:t>Khả năng sinh lý tiềm tàng về mặt sinh học của người phụ nữ có thể thụ thai và sinh con trong độ tuổi sinh sản (15-49 tuổi).</a:t>
              </a:r>
              <a:endParaRPr lang="en-US" sz="1400" b="1">
                <a:solidFill>
                  <a:srgbClr val="CBD5E1"/>
                </a:solidFill>
                <a:latin typeface="Segoe UI" panose="020B0502040204020203" pitchFamily="34" charset="0"/>
              </a:endParaRPr>
            </a:p>
          </p:txBody>
        </p:sp>
      </p:grpSp>
      <p:grpSp>
        <p:nvGrpSpPr>
          <p:cNvPr id="24" name="!!Stage_Sub_Card_2">
            <a:extLst>
              <a:ext uri="{FF2B5EF4-FFF2-40B4-BE49-F238E27FC236}">
                <a16:creationId xmlns:a16="http://schemas.microsoft.com/office/drawing/2014/main" id="{22F8E45D-658C-9954-6AA7-19F2FE763600}"/>
              </a:ext>
            </a:extLst>
          </p:cNvPr>
          <p:cNvGrpSpPr/>
          <p:nvPr/>
        </p:nvGrpSpPr>
        <p:grpSpPr>
          <a:xfrm>
            <a:off x="6214872" y="4013200"/>
            <a:ext cx="5367528" cy="2184400"/>
            <a:chOff x="6214872" y="4013200"/>
            <a:chExt cx="5367528" cy="2184400"/>
          </a:xfrm>
        </p:grpSpPr>
        <p:sp>
          <p:nvSpPr>
            <p:cNvPr id="19" name="Rectangle: Rounded Corners 18">
              <a:extLst>
                <a:ext uri="{FF2B5EF4-FFF2-40B4-BE49-F238E27FC236}">
                  <a16:creationId xmlns:a16="http://schemas.microsoft.com/office/drawing/2014/main" id="{9DB7EAA5-4E77-5159-6A6D-AA7F02A39B02}"/>
                </a:ext>
              </a:extLst>
            </p:cNvPr>
            <p:cNvSpPr/>
            <p:nvPr/>
          </p:nvSpPr>
          <p:spPr>
            <a:xfrm>
              <a:off x="6214872" y="4013200"/>
              <a:ext cx="5367528" cy="21844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202BE58-40CB-E678-7934-39A4ED5DA0E3}"/>
                </a:ext>
              </a:extLst>
            </p:cNvPr>
            <p:cNvSpPr/>
            <p:nvPr/>
          </p:nvSpPr>
          <p:spPr>
            <a:xfrm>
              <a:off x="6392672" y="41910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DB16115A-DC52-19A8-3783-51DCB704B0D1}"/>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456172" y="4254500"/>
              <a:ext cx="254000" cy="254000"/>
            </a:xfrm>
            <a:prstGeom prst="rect">
              <a:avLst/>
            </a:prstGeom>
          </p:spPr>
        </p:pic>
        <p:sp>
          <p:nvSpPr>
            <p:cNvPr id="23" name="TextBox 22">
              <a:extLst>
                <a:ext uri="{FF2B5EF4-FFF2-40B4-BE49-F238E27FC236}">
                  <a16:creationId xmlns:a16="http://schemas.microsoft.com/office/drawing/2014/main" id="{B826E477-C122-11C9-0F32-97A691B1B95B}"/>
                </a:ext>
              </a:extLst>
            </p:cNvPr>
            <p:cNvSpPr txBox="1"/>
            <p:nvPr/>
          </p:nvSpPr>
          <p:spPr>
            <a:xfrm>
              <a:off x="6875272" y="4140200"/>
              <a:ext cx="4580128"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Mức Sinh Thực Tế (Fertility)
</a:t>
              </a:r>
              <a:r>
                <a:rPr lang="vi-VN" sz="1400" b="1">
                  <a:solidFill>
                    <a:srgbClr val="CBD5E1"/>
                  </a:solidFill>
                  <a:latin typeface="Segoe UI" panose="020B0502040204020203" pitchFamily="34" charset="0"/>
                </a:rPr>
                <a:t>Số lượng trẻ sinh sống thực tế được sinh ra, là sự kết hợp giữa khả năng sinh học và các rào cản hành vi kinh tế - xã hội.</a:t>
              </a:r>
              <a:endParaRPr lang="en-US" sz="1400" b="1">
                <a:solidFill>
                  <a:srgbClr val="CBD5E1"/>
                </a:solidFill>
                <a:latin typeface="Segoe UI" panose="020B0502040204020203" pitchFamily="34" charset="0"/>
              </a:endParaRPr>
            </a:p>
          </p:txBody>
        </p:sp>
      </p:grpSp>
      <p:sp>
        <p:nvSpPr>
          <p:cNvPr id="25" name="!!Anchor_Source_Footer">
            <a:extLst>
              <a:ext uri="{FF2B5EF4-FFF2-40B4-BE49-F238E27FC236}">
                <a16:creationId xmlns:a16="http://schemas.microsoft.com/office/drawing/2014/main" id="{2E177E59-2F1C-371A-1D36-C4BC4BBF7405}"/>
              </a:ext>
            </a:extLst>
          </p:cNvPr>
          <p:cNvSpPr txBox="1"/>
          <p:nvPr/>
        </p:nvSpPr>
        <p:spPr>
          <a:xfrm>
            <a:off x="609600" y="6273800"/>
            <a:ext cx="10972800" cy="246221"/>
          </a:xfrm>
          <a:prstGeom prst="rect">
            <a:avLst/>
          </a:prstGeom>
          <a:noFill/>
        </p:spPr>
        <p:txBody>
          <a:bodyPr vert="horz" rtlCol="0">
            <a:spAutoFit/>
          </a:bodyPr>
          <a:lstStyle/>
          <a:p>
            <a:r>
              <a:rPr lang="vi-VN" sz="1000">
                <a:solidFill>
                  <a:srgbClr val="CBD5E1"/>
                </a:solidFill>
                <a:latin typeface="Segoe UI" panose="020B0502040204020203" pitchFamily="34" charset="0"/>
              </a:rPr>
              <a:t>Giáo trình Dân số học đại cương</a:t>
            </a:r>
            <a:endParaRPr lang="en-US" sz="1000">
              <a:solidFill>
                <a:srgbClr val="CBD5E1"/>
              </a:solidFill>
              <a:latin typeface="Segoe UI" panose="020B0502040204020203" pitchFamily="34" charset="0"/>
            </a:endParaRPr>
          </a:p>
        </p:txBody>
      </p:sp>
    </p:spTree>
    <p:extLst>
      <p:ext uri="{BB962C8B-B14F-4D97-AF65-F5344CB8AC3E}">
        <p14:creationId xmlns:p14="http://schemas.microsoft.com/office/powerpoint/2010/main" val="13528320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450" fill="hold"/>
                                        <p:tgtEl>
                                          <p:spTgt spid="24"/>
                                        </p:tgtEl>
                                        <p:attrNameLst>
                                          <p:attrName>ppt_x</p:attrName>
                                        </p:attrNameLst>
                                      </p:cBhvr>
                                      <p:tavLst>
                                        <p:tav tm="0">
                                          <p:val>
                                            <p:strVal val="#ppt_x"/>
                                          </p:val>
                                        </p:tav>
                                        <p:tav tm="100000">
                                          <p:val>
                                            <p:strVal val="#ppt_x"/>
                                          </p:val>
                                        </p:tav>
                                      </p:tavLst>
                                    </p:anim>
                                    <p:anim calcmode="lin" valueType="num">
                                      <p:cBhvr additive="base">
                                        <p:cTn id="14" dur="45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7C36AD10-7EC6-0531-F8B2-F321E7BF9753}"/>
              </a:ext>
            </a:extLst>
          </p:cNvPr>
          <p:cNvSpPr txBox="1"/>
          <p:nvPr/>
        </p:nvSpPr>
        <p:spPr>
          <a:xfrm>
            <a:off x="609600" y="457200"/>
            <a:ext cx="9956800" cy="276999"/>
          </a:xfrm>
          <a:prstGeom prst="rect">
            <a:avLst/>
          </a:prstGeom>
          <a:noFill/>
        </p:spPr>
        <p:txBody>
          <a:bodyPr vert="horz" rtlCol="0">
            <a:spAutoFit/>
          </a:bodyPr>
          <a:lstStyle/>
          <a:p>
            <a:r>
              <a:rPr lang="vi-VN" sz="1200" b="1">
                <a:solidFill>
                  <a:srgbClr val="0284C7"/>
                </a:solidFill>
                <a:latin typeface="Segoe UI" panose="020B0502040204020203" pitchFamily="34" charset="0"/>
              </a:rPr>
              <a:t>THƯỚC ĐO MỨC SINH  •  TRỌNG TÂM</a:t>
            </a:r>
            <a:endParaRPr lang="en-US" sz="1200" b="1">
              <a:solidFill>
                <a:srgbClr val="0284C7"/>
              </a:solidFill>
              <a:latin typeface="Segoe UI" panose="020B0502040204020203" pitchFamily="34" charset="0"/>
            </a:endParaRPr>
          </a:p>
        </p:txBody>
      </p:sp>
      <p:sp>
        <p:nvSpPr>
          <p:cNvPr id="3" name="!!Anchor_Slide_Tracker">
            <a:extLst>
              <a:ext uri="{FF2B5EF4-FFF2-40B4-BE49-F238E27FC236}">
                <a16:creationId xmlns:a16="http://schemas.microsoft.com/office/drawing/2014/main" id="{48A71F1F-0964-AC1A-3F02-C337CDBED140}"/>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04 / 22</a:t>
            </a:r>
          </a:p>
        </p:txBody>
      </p:sp>
      <p:sp>
        <p:nvSpPr>
          <p:cNvPr id="4" name="!!Anchor_Assertion_Title">
            <a:extLst>
              <a:ext uri="{FF2B5EF4-FFF2-40B4-BE49-F238E27FC236}">
                <a16:creationId xmlns:a16="http://schemas.microsoft.com/office/drawing/2014/main" id="{8B20FF2B-24AE-E07C-B328-926B4DF8F414}"/>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Tỷ Suất Sinh Thô (CBR) Và Giới Hạn Của Thước Đo Ban Đầu</a:t>
            </a:r>
            <a:endParaRPr lang="en-US" sz="2400" b="1">
              <a:solidFill>
                <a:srgbClr val="FFFFFF"/>
              </a:solidFill>
              <a:latin typeface="Segoe UI" panose="020B0502040204020203" pitchFamily="34" charset="0"/>
            </a:endParaRPr>
          </a:p>
        </p:txBody>
      </p:sp>
      <p:grpSp>
        <p:nvGrpSpPr>
          <p:cNvPr id="8" name="!!Stage_Hero_Container">
            <a:extLst>
              <a:ext uri="{FF2B5EF4-FFF2-40B4-BE49-F238E27FC236}">
                <a16:creationId xmlns:a16="http://schemas.microsoft.com/office/drawing/2014/main" id="{BC7064A3-852E-BD03-B828-C1E6E645799B}"/>
              </a:ext>
            </a:extLst>
          </p:cNvPr>
          <p:cNvGrpSpPr/>
          <p:nvPr/>
        </p:nvGrpSpPr>
        <p:grpSpPr>
          <a:xfrm>
            <a:off x="609600" y="1676400"/>
            <a:ext cx="10972800" cy="1117600"/>
            <a:chOff x="609600" y="1676400"/>
            <a:chExt cx="10972800" cy="1117600"/>
          </a:xfrm>
        </p:grpSpPr>
        <p:sp>
          <p:nvSpPr>
            <p:cNvPr id="5" name="Rectangle: Rounded Corners 4">
              <a:extLst>
                <a:ext uri="{FF2B5EF4-FFF2-40B4-BE49-F238E27FC236}">
                  <a16:creationId xmlns:a16="http://schemas.microsoft.com/office/drawing/2014/main" id="{77DF3459-DAF7-F76A-FBE0-5C723DC944A0}"/>
                </a:ext>
              </a:extLst>
            </p:cNvPr>
            <p:cNvSpPr/>
            <p:nvPr/>
          </p:nvSpPr>
          <p:spPr>
            <a:xfrm>
              <a:off x="609600" y="1676400"/>
              <a:ext cx="10972800" cy="1117600"/>
            </a:xfrm>
            <a:prstGeom prst="roundRect">
              <a:avLst/>
            </a:prstGeom>
            <a:solidFill>
              <a:srgbClr val="0B132B"/>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940B00EB-47F8-F44B-8881-C67E43B7677D}"/>
                </a:ext>
              </a:extLst>
            </p:cNvPr>
            <p:cNvSpPr/>
            <p:nvPr/>
          </p:nvSpPr>
          <p:spPr>
            <a:xfrm>
              <a:off x="863600" y="1803400"/>
              <a:ext cx="2413000" cy="2540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0284C7"/>
                  </a:solidFill>
                  <a:latin typeface="Segoe UI" panose="020B0502040204020203" pitchFamily="34" charset="0"/>
                </a:rPr>
                <a:t>CÔNG THỨC ĐỊNH LƯỢNG CHUẨN</a:t>
              </a:r>
              <a:endParaRPr lang="en-US" sz="900" b="1">
                <a:solidFill>
                  <a:srgbClr val="0284C7"/>
                </a:solidFill>
                <a:latin typeface="Segoe UI" panose="020B0502040204020203" pitchFamily="34" charset="0"/>
              </a:endParaRPr>
            </a:p>
          </p:txBody>
        </p:sp>
        <p:sp>
          <p:nvSpPr>
            <p:cNvPr id="7" name="TextBox 6">
              <a:extLst>
                <a:ext uri="{FF2B5EF4-FFF2-40B4-BE49-F238E27FC236}">
                  <a16:creationId xmlns:a16="http://schemas.microsoft.com/office/drawing/2014/main" id="{3BDF93C2-EEE2-81D6-86DA-F81129B9BC21}"/>
                </a:ext>
              </a:extLst>
            </p:cNvPr>
            <p:cNvSpPr txBox="1"/>
            <p:nvPr/>
          </p:nvSpPr>
          <p:spPr>
            <a:xfrm>
              <a:off x="863600" y="2082800"/>
              <a:ext cx="10464800" cy="461665"/>
            </a:xfrm>
            <a:prstGeom prst="rect">
              <a:avLst/>
            </a:prstGeom>
            <a:noFill/>
          </p:spPr>
          <p:txBody>
            <a:bodyPr vert="horz" rtlCol="0">
              <a:spAutoFit/>
            </a:bodyPr>
            <a:lstStyle/>
            <a:p>
              <a:pPr algn="ctr"/>
              <a:r>
                <a:rPr lang="vi-VN" sz="2400" b="1">
                  <a:solidFill>
                    <a:srgbClr val="10B981"/>
                  </a:solidFill>
                  <a:latin typeface="Segoe UI" panose="020B0502040204020203" pitchFamily="34" charset="0"/>
                </a:rPr>
                <a:t>CBR = (B / P_tb) * 1,000  (Đơn vị: ‰ - Trên 1.000 dân trung bình)</a:t>
              </a:r>
              <a:endParaRPr lang="en-US" sz="2400" b="1">
                <a:solidFill>
                  <a:srgbClr val="10B981"/>
                </a:solidFill>
                <a:latin typeface="Segoe UI" panose="020B0502040204020203" pitchFamily="34" charset="0"/>
              </a:endParaRPr>
            </a:p>
          </p:txBody>
        </p:sp>
      </p:grpSp>
      <p:grpSp>
        <p:nvGrpSpPr>
          <p:cNvPr id="14" name="!!Stage_Sub_Card_1">
            <a:extLst>
              <a:ext uri="{FF2B5EF4-FFF2-40B4-BE49-F238E27FC236}">
                <a16:creationId xmlns:a16="http://schemas.microsoft.com/office/drawing/2014/main" id="{AD8E8C68-4B10-3A6C-6A29-9EB4B7C80F7E}"/>
              </a:ext>
            </a:extLst>
          </p:cNvPr>
          <p:cNvGrpSpPr/>
          <p:nvPr/>
        </p:nvGrpSpPr>
        <p:grpSpPr>
          <a:xfrm>
            <a:off x="609600" y="2971800"/>
            <a:ext cx="3522133" cy="3225800"/>
            <a:chOff x="609600" y="2971800"/>
            <a:chExt cx="3522133" cy="3225800"/>
          </a:xfrm>
        </p:grpSpPr>
        <p:sp>
          <p:nvSpPr>
            <p:cNvPr id="9" name="Rectangle: Rounded Corners 8">
              <a:extLst>
                <a:ext uri="{FF2B5EF4-FFF2-40B4-BE49-F238E27FC236}">
                  <a16:creationId xmlns:a16="http://schemas.microsoft.com/office/drawing/2014/main" id="{2AD4478E-83DB-F5E8-C215-4C8BA9264282}"/>
                </a:ext>
              </a:extLst>
            </p:cNvPr>
            <p:cNvSpPr/>
            <p:nvPr/>
          </p:nvSpPr>
          <p:spPr>
            <a:xfrm>
              <a:off x="609600" y="2971800"/>
              <a:ext cx="3522133" cy="32258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BDD3587-2210-56EA-901A-1EC398BC7683}"/>
                </a:ext>
              </a:extLst>
            </p:cNvPr>
            <p:cNvSpPr/>
            <p:nvPr/>
          </p:nvSpPr>
          <p:spPr>
            <a:xfrm>
              <a:off x="812800" y="31750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E3A2DB1B-07D7-5163-3AD6-2BCF18094695}"/>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3238500"/>
              <a:ext cx="279400" cy="279400"/>
            </a:xfrm>
            <a:prstGeom prst="rect">
              <a:avLst/>
            </a:prstGeom>
          </p:spPr>
        </p:pic>
        <p:sp>
          <p:nvSpPr>
            <p:cNvPr id="13" name="TextBox 12">
              <a:extLst>
                <a:ext uri="{FF2B5EF4-FFF2-40B4-BE49-F238E27FC236}">
                  <a16:creationId xmlns:a16="http://schemas.microsoft.com/office/drawing/2014/main" id="{C1349C1E-8E95-CD58-6A2F-638F8C05ABF0}"/>
                </a:ext>
              </a:extLst>
            </p:cNvPr>
            <p:cNvSpPr txBox="1"/>
            <p:nvPr/>
          </p:nvSpPr>
          <p:spPr>
            <a:xfrm>
              <a:off x="812800" y="3683000"/>
              <a:ext cx="3115733" cy="1443985"/>
            </a:xfrm>
            <a:prstGeom prst="rect">
              <a:avLst/>
            </a:prstGeom>
            <a:noFill/>
          </p:spPr>
          <p:txBody>
            <a:bodyPr vert="horz" wrap="square" lIns="0" tIns="0" rtlCol="0">
              <a:spAutoFit/>
            </a:bodyPr>
            <a:lstStyle/>
            <a:p>
              <a:pPr>
                <a:lnSpc>
                  <a:spcPct val="125000"/>
                </a:lnSpc>
                <a:spcAft>
                  <a:spcPts val="600"/>
                </a:spcAft>
              </a:pPr>
              <a:r>
                <a:rPr lang="en-US" sz="1600" b="1">
                  <a:solidFill>
                    <a:srgbClr val="FFFFFF"/>
                  </a:solidFill>
                  <a:latin typeface="Segoe UI" panose="020B0502040204020203" pitchFamily="34" charset="0"/>
                </a:rPr>
                <a:t>Công Thức Tính CBR
</a:t>
              </a:r>
              <a:r>
                <a:rPr lang="vi-VN" sz="1350" b="1">
                  <a:solidFill>
                    <a:srgbClr val="CBD5E1"/>
                  </a:solidFill>
                  <a:latin typeface="Segoe UI" panose="020B0502040204020203" pitchFamily="34" charset="0"/>
                </a:rPr>
                <a:t>CBR = (B / P_tb) * 1,000 (đơn vị ‰). Với B là tổng số trẻ sinh sống trong năm, P_tb là dân số trung bình trong năm.</a:t>
              </a:r>
              <a:endParaRPr lang="en-US" sz="1350" b="1">
                <a:solidFill>
                  <a:srgbClr val="CBD5E1"/>
                </a:solidFill>
                <a:latin typeface="Segoe UI" panose="020B0502040204020203" pitchFamily="34" charset="0"/>
              </a:endParaRPr>
            </a:p>
          </p:txBody>
        </p:sp>
      </p:grpSp>
      <p:grpSp>
        <p:nvGrpSpPr>
          <p:cNvPr id="20" name="!!Stage_Sub_Card_2">
            <a:extLst>
              <a:ext uri="{FF2B5EF4-FFF2-40B4-BE49-F238E27FC236}">
                <a16:creationId xmlns:a16="http://schemas.microsoft.com/office/drawing/2014/main" id="{D492000E-9B0C-CDBC-5C6D-82BBA012FA75}"/>
              </a:ext>
            </a:extLst>
          </p:cNvPr>
          <p:cNvGrpSpPr/>
          <p:nvPr/>
        </p:nvGrpSpPr>
        <p:grpSpPr>
          <a:xfrm>
            <a:off x="4334933" y="2971800"/>
            <a:ext cx="3522134" cy="3225800"/>
            <a:chOff x="4334933" y="2971800"/>
            <a:chExt cx="3522134" cy="3225800"/>
          </a:xfrm>
        </p:grpSpPr>
        <p:sp>
          <p:nvSpPr>
            <p:cNvPr id="15" name="Rectangle: Rounded Corners 14">
              <a:extLst>
                <a:ext uri="{FF2B5EF4-FFF2-40B4-BE49-F238E27FC236}">
                  <a16:creationId xmlns:a16="http://schemas.microsoft.com/office/drawing/2014/main" id="{ECB50FFA-81E5-7895-2ABE-72800819C2AB}"/>
                </a:ext>
              </a:extLst>
            </p:cNvPr>
            <p:cNvSpPr/>
            <p:nvPr/>
          </p:nvSpPr>
          <p:spPr>
            <a:xfrm>
              <a:off x="4334933" y="2971800"/>
              <a:ext cx="3522134" cy="32258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17BFC7F-B437-EC6F-5EC8-11741C1135D9}"/>
                </a:ext>
              </a:extLst>
            </p:cNvPr>
            <p:cNvSpPr/>
            <p:nvPr/>
          </p:nvSpPr>
          <p:spPr>
            <a:xfrm>
              <a:off x="4538133" y="31750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07D7E69D-F839-546C-EC52-8B1E0EEE4281}"/>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3238500"/>
              <a:ext cx="279400" cy="279400"/>
            </a:xfrm>
            <a:prstGeom prst="rect">
              <a:avLst/>
            </a:prstGeom>
          </p:spPr>
        </p:pic>
        <p:sp>
          <p:nvSpPr>
            <p:cNvPr id="19" name="TextBox 18">
              <a:extLst>
                <a:ext uri="{FF2B5EF4-FFF2-40B4-BE49-F238E27FC236}">
                  <a16:creationId xmlns:a16="http://schemas.microsoft.com/office/drawing/2014/main" id="{176860EA-AEC9-8366-0F8C-8B72197DFB65}"/>
                </a:ext>
              </a:extLst>
            </p:cNvPr>
            <p:cNvSpPr txBox="1"/>
            <p:nvPr/>
          </p:nvSpPr>
          <p:spPr>
            <a:xfrm>
              <a:off x="4538133" y="3683000"/>
              <a:ext cx="3115733" cy="1184299"/>
            </a:xfrm>
            <a:prstGeom prst="rect">
              <a:avLst/>
            </a:prstGeom>
            <a:noFill/>
          </p:spPr>
          <p:txBody>
            <a:bodyPr vert="horz" wrap="square" lIns="0" tIns="0" rtlCol="0">
              <a:spAutoFit/>
            </a:bodyPr>
            <a:lstStyle/>
            <a:p>
              <a:pPr>
                <a:lnSpc>
                  <a:spcPct val="125000"/>
                </a:lnSpc>
                <a:spcAft>
                  <a:spcPts val="600"/>
                </a:spcAft>
              </a:pPr>
              <a:r>
                <a:rPr lang="vi-VN" sz="1600" b="1">
                  <a:solidFill>
                    <a:srgbClr val="FFFFFF"/>
                  </a:solidFill>
                  <a:latin typeface="Segoe UI" panose="020B0502040204020203" pitchFamily="34" charset="0"/>
                </a:rPr>
                <a:t>Ưu Điểm Của Chỉ Số
</a:t>
              </a:r>
              <a:r>
                <a:rPr lang="vi-VN" sz="1350" b="1">
                  <a:solidFill>
                    <a:srgbClr val="CBD5E1"/>
                  </a:solidFill>
                  <a:latin typeface="Segoe UI" panose="020B0502040204020203" pitchFamily="34" charset="0"/>
                </a:rPr>
                <a:t>Đơn giản, dễ thu thập số liệu qua đăng ký hộ tịch và cho phép so sánh khái quát nhanh giữa các quốc gia.</a:t>
              </a:r>
              <a:endParaRPr lang="en-US" sz="1350" b="1">
                <a:solidFill>
                  <a:srgbClr val="CBD5E1"/>
                </a:solidFill>
                <a:latin typeface="Segoe UI" panose="020B0502040204020203" pitchFamily="34" charset="0"/>
              </a:endParaRPr>
            </a:p>
          </p:txBody>
        </p:sp>
      </p:grpSp>
      <p:grpSp>
        <p:nvGrpSpPr>
          <p:cNvPr id="26" name="!!Stage_Sub_Card_3">
            <a:extLst>
              <a:ext uri="{FF2B5EF4-FFF2-40B4-BE49-F238E27FC236}">
                <a16:creationId xmlns:a16="http://schemas.microsoft.com/office/drawing/2014/main" id="{4CC9D9F5-0BB5-48CA-11CC-EDE56E0FBE50}"/>
              </a:ext>
            </a:extLst>
          </p:cNvPr>
          <p:cNvGrpSpPr/>
          <p:nvPr/>
        </p:nvGrpSpPr>
        <p:grpSpPr>
          <a:xfrm>
            <a:off x="8060267" y="2971800"/>
            <a:ext cx="3522133" cy="3225800"/>
            <a:chOff x="8060267" y="2971800"/>
            <a:chExt cx="3522133" cy="3225800"/>
          </a:xfrm>
        </p:grpSpPr>
        <p:sp>
          <p:nvSpPr>
            <p:cNvPr id="21" name="Rectangle: Rounded Corners 20">
              <a:extLst>
                <a:ext uri="{FF2B5EF4-FFF2-40B4-BE49-F238E27FC236}">
                  <a16:creationId xmlns:a16="http://schemas.microsoft.com/office/drawing/2014/main" id="{3340975E-16E5-9AF7-17A1-B6285F148367}"/>
                </a:ext>
              </a:extLst>
            </p:cNvPr>
            <p:cNvSpPr/>
            <p:nvPr/>
          </p:nvSpPr>
          <p:spPr>
            <a:xfrm>
              <a:off x="8060267" y="2971800"/>
              <a:ext cx="3522133" cy="32258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49A9F4E4-4947-F756-4DA2-2E162B9D7272}"/>
                </a:ext>
              </a:extLst>
            </p:cNvPr>
            <p:cNvSpPr/>
            <p:nvPr/>
          </p:nvSpPr>
          <p:spPr>
            <a:xfrm>
              <a:off x="8263467" y="31750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5CF6F9BE-F9BF-60E9-46E5-34E94B0ECAE8}"/>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3238500"/>
              <a:ext cx="279400" cy="279400"/>
            </a:xfrm>
            <a:prstGeom prst="rect">
              <a:avLst/>
            </a:prstGeom>
          </p:spPr>
        </p:pic>
        <p:sp>
          <p:nvSpPr>
            <p:cNvPr id="25" name="TextBox 24">
              <a:extLst>
                <a:ext uri="{FF2B5EF4-FFF2-40B4-BE49-F238E27FC236}">
                  <a16:creationId xmlns:a16="http://schemas.microsoft.com/office/drawing/2014/main" id="{78452139-8C3B-3CFB-532C-F52858A368F2}"/>
                </a:ext>
              </a:extLst>
            </p:cNvPr>
            <p:cNvSpPr txBox="1"/>
            <p:nvPr/>
          </p:nvSpPr>
          <p:spPr>
            <a:xfrm>
              <a:off x="8263467" y="3683000"/>
              <a:ext cx="3115733" cy="1443985"/>
            </a:xfrm>
            <a:prstGeom prst="rect">
              <a:avLst/>
            </a:prstGeom>
            <a:noFill/>
          </p:spPr>
          <p:txBody>
            <a:bodyPr vert="horz" wrap="square" lIns="0" tIns="0" rtlCol="0">
              <a:spAutoFit/>
            </a:bodyPr>
            <a:lstStyle/>
            <a:p>
              <a:pPr>
                <a:lnSpc>
                  <a:spcPct val="125000"/>
                </a:lnSpc>
                <a:spcAft>
                  <a:spcPts val="600"/>
                </a:spcAft>
              </a:pPr>
              <a:r>
                <a:rPr lang="vi-VN" sz="1600" b="1">
                  <a:solidFill>
                    <a:srgbClr val="FFFFFF"/>
                  </a:solidFill>
                  <a:latin typeface="Segoe UI" panose="020B0502040204020203" pitchFamily="34" charset="0"/>
                </a:rPr>
                <a:t>Nhược Điểm Cốt Tử
</a:t>
              </a:r>
              <a:r>
                <a:rPr lang="vi-VN" sz="1350" b="1">
                  <a:solidFill>
                    <a:srgbClr val="CBD5E1"/>
                  </a:solidFill>
                  <a:latin typeface="Segoe UI" panose="020B0502040204020203" pitchFamily="34" charset="0"/>
                </a:rPr>
                <a:t>Mẫu số chứa cả nam giới, người già và trẻ em - những đối tượng không có khả năng sinh sản, làm méo mó bản chất mức sinh.</a:t>
              </a:r>
              <a:endParaRPr lang="en-US" sz="1350" b="1">
                <a:solidFill>
                  <a:srgbClr val="CBD5E1"/>
                </a:solidFill>
                <a:latin typeface="Segoe UI" panose="020B0502040204020203" pitchFamily="34" charset="0"/>
              </a:endParaRPr>
            </a:p>
          </p:txBody>
        </p:sp>
      </p:grpSp>
      <p:sp>
        <p:nvSpPr>
          <p:cNvPr id="27" name="!!Anchor_Source_Footer">
            <a:extLst>
              <a:ext uri="{FF2B5EF4-FFF2-40B4-BE49-F238E27FC236}">
                <a16:creationId xmlns:a16="http://schemas.microsoft.com/office/drawing/2014/main" id="{32F09469-A93B-CB3A-744D-185D428A9B9B}"/>
              </a:ext>
            </a:extLst>
          </p:cNvPr>
          <p:cNvSpPr txBox="1"/>
          <p:nvPr/>
        </p:nvSpPr>
        <p:spPr>
          <a:xfrm>
            <a:off x="609600" y="6273800"/>
            <a:ext cx="10972800" cy="246221"/>
          </a:xfrm>
          <a:prstGeom prst="rect">
            <a:avLst/>
          </a:prstGeom>
          <a:noFill/>
        </p:spPr>
        <p:txBody>
          <a:bodyPr vert="horz" rtlCol="0">
            <a:spAutoFit/>
          </a:bodyPr>
          <a:lstStyle/>
          <a:p>
            <a:r>
              <a:rPr lang="vi-VN" sz="1000">
                <a:solidFill>
                  <a:srgbClr val="CBD5E1"/>
                </a:solidFill>
                <a:latin typeface="Segoe UI" panose="020B0502040204020203" pitchFamily="34" charset="0"/>
              </a:rPr>
              <a:t>Phương pháp đo lường nhân khẩu học</a:t>
            </a:r>
            <a:endParaRPr lang="en-US" sz="1000">
              <a:solidFill>
                <a:srgbClr val="CBD5E1"/>
              </a:solidFill>
              <a:latin typeface="Segoe UI" panose="020B0502040204020203" pitchFamily="34" charset="0"/>
            </a:endParaRPr>
          </a:p>
        </p:txBody>
      </p:sp>
    </p:spTree>
    <p:extLst>
      <p:ext uri="{BB962C8B-B14F-4D97-AF65-F5344CB8AC3E}">
        <p14:creationId xmlns:p14="http://schemas.microsoft.com/office/powerpoint/2010/main" val="8452191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450" fill="hold"/>
                                        <p:tgtEl>
                                          <p:spTgt spid="14"/>
                                        </p:tgtEl>
                                        <p:attrNameLst>
                                          <p:attrName>ppt_x</p:attrName>
                                        </p:attrNameLst>
                                      </p:cBhvr>
                                      <p:tavLst>
                                        <p:tav tm="0">
                                          <p:val>
                                            <p:strVal val="#ppt_x"/>
                                          </p:val>
                                        </p:tav>
                                        <p:tav tm="100000">
                                          <p:val>
                                            <p:strVal val="#ppt_x"/>
                                          </p:val>
                                        </p:tav>
                                      </p:tavLst>
                                    </p:anim>
                                    <p:anim calcmode="lin" valueType="num">
                                      <p:cBhvr additive="base">
                                        <p:cTn id="8"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450" fill="hold"/>
                                        <p:tgtEl>
                                          <p:spTgt spid="26"/>
                                        </p:tgtEl>
                                        <p:attrNameLst>
                                          <p:attrName>ppt_x</p:attrName>
                                        </p:attrNameLst>
                                      </p:cBhvr>
                                      <p:tavLst>
                                        <p:tav tm="0">
                                          <p:val>
                                            <p:strVal val="#ppt_x"/>
                                          </p:val>
                                        </p:tav>
                                        <p:tav tm="100000">
                                          <p:val>
                                            <p:strVal val="#ppt_x"/>
                                          </p:val>
                                        </p:tav>
                                      </p:tavLst>
                                    </p:anim>
                                    <p:anim calcmode="lin" valueType="num">
                                      <p:cBhvr additive="base">
                                        <p:cTn id="20" dur="4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4099AF5F-9151-2D68-72BC-F77D5598E9D4}"/>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TỶ SUẤT GFR  •  TRỌNG TÂM</a:t>
            </a:r>
          </a:p>
        </p:txBody>
      </p:sp>
      <p:sp>
        <p:nvSpPr>
          <p:cNvPr id="3" name="!!Anchor_Slide_Tracker">
            <a:extLst>
              <a:ext uri="{FF2B5EF4-FFF2-40B4-BE49-F238E27FC236}">
                <a16:creationId xmlns:a16="http://schemas.microsoft.com/office/drawing/2014/main" id="{40A2E835-954C-8E7B-E24F-7CD8AE4F6AE5}"/>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05 / 22</a:t>
            </a:r>
          </a:p>
        </p:txBody>
      </p:sp>
      <p:sp>
        <p:nvSpPr>
          <p:cNvPr id="4" name="!!Anchor_Assertion_Title">
            <a:extLst>
              <a:ext uri="{FF2B5EF4-FFF2-40B4-BE49-F238E27FC236}">
                <a16:creationId xmlns:a16="http://schemas.microsoft.com/office/drawing/2014/main" id="{4E4E302F-A39B-D6C1-D00D-065A05B8C0BF}"/>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FFFFFF"/>
                </a:solidFill>
                <a:latin typeface="Segoe UI" panose="020B0502040204020203" pitchFamily="34" charset="0"/>
              </a:rPr>
              <a:t>Tỷ Suất Sinh Chung (GFR) Xác Định Trên Quần Thể Phụ Nữ Sinh Đẻ</a:t>
            </a:r>
          </a:p>
        </p:txBody>
      </p:sp>
      <p:pic>
        <p:nvPicPr>
          <p:cNvPr id="6" name="!!Stage_Hero_Container">
            <a:extLst>
              <a:ext uri="{FF2B5EF4-FFF2-40B4-BE49-F238E27FC236}">
                <a16:creationId xmlns:a16="http://schemas.microsoft.com/office/drawing/2014/main" id="{50391E32-5A1D-0D1D-A22B-51022C19D612}"/>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752600"/>
            <a:ext cx="5705856" cy="4368800"/>
          </a:xfrm>
          <a:prstGeom prst="roundRect">
            <a:avLst/>
          </a:prstGeom>
          <a:ln w="12700">
            <a:solidFill>
              <a:srgbClr val="1E293B"/>
            </a:solidFill>
          </a:ln>
        </p:spPr>
      </p:pic>
      <p:grpSp>
        <p:nvGrpSpPr>
          <p:cNvPr id="12" name="!!Stage_Sub_Card_1">
            <a:extLst>
              <a:ext uri="{FF2B5EF4-FFF2-40B4-BE49-F238E27FC236}">
                <a16:creationId xmlns:a16="http://schemas.microsoft.com/office/drawing/2014/main" id="{4E38135A-A7BC-5493-E0E8-A18CCD72EDD6}"/>
              </a:ext>
            </a:extLst>
          </p:cNvPr>
          <p:cNvGrpSpPr/>
          <p:nvPr/>
        </p:nvGrpSpPr>
        <p:grpSpPr>
          <a:xfrm>
            <a:off x="6644640" y="1676400"/>
            <a:ext cx="4937760" cy="1405467"/>
            <a:chOff x="6644640" y="1676400"/>
            <a:chExt cx="4937760" cy="1405467"/>
          </a:xfrm>
        </p:grpSpPr>
        <p:sp>
          <p:nvSpPr>
            <p:cNvPr id="7" name="Rectangle: Rounded Corners 6">
              <a:extLst>
                <a:ext uri="{FF2B5EF4-FFF2-40B4-BE49-F238E27FC236}">
                  <a16:creationId xmlns:a16="http://schemas.microsoft.com/office/drawing/2014/main" id="{F057D4EC-B9F5-FA7B-A77A-BB4160B29076}"/>
                </a:ext>
              </a:extLst>
            </p:cNvPr>
            <p:cNvSpPr/>
            <p:nvPr/>
          </p:nvSpPr>
          <p:spPr>
            <a:xfrm>
              <a:off x="6644640" y="1676400"/>
              <a:ext cx="4937760" cy="1405467"/>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4C7638C-BEB7-BC63-B165-0D4D09E35180}"/>
                </a:ext>
              </a:extLst>
            </p:cNvPr>
            <p:cNvSpPr/>
            <p:nvPr/>
          </p:nvSpPr>
          <p:spPr>
            <a:xfrm>
              <a:off x="6822440" y="18542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2C92CAC6-7B00-16A5-A6AE-31F45B037D65}"/>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1" name="TextBox 10">
              <a:extLst>
                <a:ext uri="{FF2B5EF4-FFF2-40B4-BE49-F238E27FC236}">
                  <a16:creationId xmlns:a16="http://schemas.microsoft.com/office/drawing/2014/main" id="{A0E29291-F698-52A9-DE80-945CDDBB3083}"/>
                </a:ext>
              </a:extLst>
            </p:cNvPr>
            <p:cNvSpPr txBox="1"/>
            <p:nvPr/>
          </p:nvSpPr>
          <p:spPr>
            <a:xfrm>
              <a:off x="7305040" y="1803400"/>
              <a:ext cx="41503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Công Thức Tính GFR
</a:t>
              </a:r>
              <a:r>
                <a:rPr lang="vi-VN" sz="1400" b="1">
                  <a:solidFill>
                    <a:srgbClr val="CBD5E1"/>
                  </a:solidFill>
                  <a:latin typeface="Segoe UI" panose="020B0502040204020203" pitchFamily="34" charset="0"/>
                </a:rPr>
                <a:t>GFR = (B / W_15-49) * 1,000 (đơn vị ‰). Với W_15-49 là số phụ nữ trong độ tuổi 15-49 tuổi bình quân trong năm.</a:t>
              </a:r>
              <a:endParaRPr lang="en-US" sz="1400" b="1">
                <a:solidFill>
                  <a:srgbClr val="CBD5E1"/>
                </a:solidFill>
                <a:latin typeface="Segoe UI" panose="020B0502040204020203" pitchFamily="34" charset="0"/>
              </a:endParaRPr>
            </a:p>
          </p:txBody>
        </p:sp>
      </p:grpSp>
      <p:grpSp>
        <p:nvGrpSpPr>
          <p:cNvPr id="18" name="!!Stage_Sub_Card_2">
            <a:extLst>
              <a:ext uri="{FF2B5EF4-FFF2-40B4-BE49-F238E27FC236}">
                <a16:creationId xmlns:a16="http://schemas.microsoft.com/office/drawing/2014/main" id="{6C70EF0A-9E48-2B91-FEAA-A2D39D9A824C}"/>
              </a:ext>
            </a:extLst>
          </p:cNvPr>
          <p:cNvGrpSpPr/>
          <p:nvPr/>
        </p:nvGrpSpPr>
        <p:grpSpPr>
          <a:xfrm>
            <a:off x="6644640" y="3234267"/>
            <a:ext cx="4937760" cy="1405466"/>
            <a:chOff x="6644640" y="3234267"/>
            <a:chExt cx="4937760" cy="1405466"/>
          </a:xfrm>
        </p:grpSpPr>
        <p:sp>
          <p:nvSpPr>
            <p:cNvPr id="13" name="Rectangle: Rounded Corners 12">
              <a:extLst>
                <a:ext uri="{FF2B5EF4-FFF2-40B4-BE49-F238E27FC236}">
                  <a16:creationId xmlns:a16="http://schemas.microsoft.com/office/drawing/2014/main" id="{9BD7439F-B642-3D34-EF6B-2557113DEA89}"/>
                </a:ext>
              </a:extLst>
            </p:cNvPr>
            <p:cNvSpPr/>
            <p:nvPr/>
          </p:nvSpPr>
          <p:spPr>
            <a:xfrm>
              <a:off x="6644640" y="3234267"/>
              <a:ext cx="4937760" cy="1405466"/>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AE71444-6319-B6B0-3EA5-E31CA8742027}"/>
                </a:ext>
              </a:extLst>
            </p:cNvPr>
            <p:cNvSpPr/>
            <p:nvPr/>
          </p:nvSpPr>
          <p:spPr>
            <a:xfrm>
              <a:off x="6822440" y="3412067"/>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6D60A952-6A83-0E56-7F6A-5C4111D345EF}"/>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3475567"/>
              <a:ext cx="254000" cy="254000"/>
            </a:xfrm>
            <a:prstGeom prst="rect">
              <a:avLst/>
            </a:prstGeom>
          </p:spPr>
        </p:pic>
        <p:sp>
          <p:nvSpPr>
            <p:cNvPr id="17" name="TextBox 16">
              <a:extLst>
                <a:ext uri="{FF2B5EF4-FFF2-40B4-BE49-F238E27FC236}">
                  <a16:creationId xmlns:a16="http://schemas.microsoft.com/office/drawing/2014/main" id="{D9F3EC00-90AD-B2B9-5DDE-A6BD5F17DB4F}"/>
                </a:ext>
              </a:extLst>
            </p:cNvPr>
            <p:cNvSpPr txBox="1"/>
            <p:nvPr/>
          </p:nvSpPr>
          <p:spPr>
            <a:xfrm>
              <a:off x="7305040" y="3361267"/>
              <a:ext cx="4150360" cy="990015"/>
            </a:xfrm>
            <a:prstGeom prst="rect">
              <a:avLst/>
            </a:prstGeom>
            <a:noFill/>
          </p:spPr>
          <p:txBody>
            <a:bodyPr vert="horz" wrap="square" tIns="0" rtlCol="0">
              <a:spAutoFit/>
            </a:bodyPr>
            <a:lstStyle/>
            <a:p>
              <a:pPr>
                <a:spcAft>
                  <a:spcPts val="400"/>
                </a:spcAft>
              </a:pPr>
              <a:r>
                <a:rPr lang="vi-VN" sz="1600" b="1">
                  <a:solidFill>
                    <a:srgbClr val="FFFFFF"/>
                  </a:solidFill>
                  <a:latin typeface="Segoe UI" panose="020B0502040204020203" pitchFamily="34" charset="0"/>
                </a:rPr>
                <a:t>Mức Độ Chuẩn Hóa Cao Hơn
</a:t>
              </a:r>
              <a:r>
                <a:rPr lang="vi-VN" sz="1400" b="1">
                  <a:solidFill>
                    <a:srgbClr val="CBD5E1"/>
                  </a:solidFill>
                  <a:latin typeface="Segoe UI" panose="020B0502040204020203" pitchFamily="34" charset="0"/>
                </a:rPr>
                <a:t>GFR thường có giá trị cao gấp 4 đến 5 lần so với CBR vì đã loại bỏ nam giới và các lứa tuổi không tham gia sinh đẻ.</a:t>
              </a:r>
              <a:endParaRPr lang="en-US" sz="1400" b="1">
                <a:solidFill>
                  <a:srgbClr val="CBD5E1"/>
                </a:solidFill>
                <a:latin typeface="Segoe UI" panose="020B0502040204020203" pitchFamily="34" charset="0"/>
              </a:endParaRPr>
            </a:p>
          </p:txBody>
        </p:sp>
      </p:grpSp>
      <p:grpSp>
        <p:nvGrpSpPr>
          <p:cNvPr id="24" name="!!Stage_Sub_Card_3">
            <a:extLst>
              <a:ext uri="{FF2B5EF4-FFF2-40B4-BE49-F238E27FC236}">
                <a16:creationId xmlns:a16="http://schemas.microsoft.com/office/drawing/2014/main" id="{8C2C9664-0E0D-CC13-CD21-337BA1C8AF01}"/>
              </a:ext>
            </a:extLst>
          </p:cNvPr>
          <p:cNvGrpSpPr/>
          <p:nvPr/>
        </p:nvGrpSpPr>
        <p:grpSpPr>
          <a:xfrm>
            <a:off x="6644640" y="4792133"/>
            <a:ext cx="4937760" cy="1405467"/>
            <a:chOff x="6644640" y="4792133"/>
            <a:chExt cx="4937760" cy="1405467"/>
          </a:xfrm>
        </p:grpSpPr>
        <p:sp>
          <p:nvSpPr>
            <p:cNvPr id="19" name="Rectangle: Rounded Corners 18">
              <a:extLst>
                <a:ext uri="{FF2B5EF4-FFF2-40B4-BE49-F238E27FC236}">
                  <a16:creationId xmlns:a16="http://schemas.microsoft.com/office/drawing/2014/main" id="{59617096-D055-40A9-C91D-04C0C813B914}"/>
                </a:ext>
              </a:extLst>
            </p:cNvPr>
            <p:cNvSpPr/>
            <p:nvPr/>
          </p:nvSpPr>
          <p:spPr>
            <a:xfrm>
              <a:off x="6644640" y="4792133"/>
              <a:ext cx="4937760" cy="1405467"/>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71B9D74-2E4F-EF48-DDEE-A511040C14F7}"/>
                </a:ext>
              </a:extLst>
            </p:cNvPr>
            <p:cNvSpPr/>
            <p:nvPr/>
          </p:nvSpPr>
          <p:spPr>
            <a:xfrm>
              <a:off x="6822440" y="4969933"/>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42B75CC0-CCEC-7D58-CE02-5B6014875CDC}"/>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885940" y="5033433"/>
              <a:ext cx="254000" cy="254000"/>
            </a:xfrm>
            <a:prstGeom prst="rect">
              <a:avLst/>
            </a:prstGeom>
          </p:spPr>
        </p:pic>
        <p:sp>
          <p:nvSpPr>
            <p:cNvPr id="23" name="TextBox 22">
              <a:extLst>
                <a:ext uri="{FF2B5EF4-FFF2-40B4-BE49-F238E27FC236}">
                  <a16:creationId xmlns:a16="http://schemas.microsoft.com/office/drawing/2014/main" id="{DCBFBD5A-B048-321F-FC8B-F3BE1EBADF60}"/>
                </a:ext>
              </a:extLst>
            </p:cNvPr>
            <p:cNvSpPr txBox="1"/>
            <p:nvPr/>
          </p:nvSpPr>
          <p:spPr>
            <a:xfrm>
              <a:off x="7305040" y="4919133"/>
              <a:ext cx="41503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Hạn Chế Còn Tồn Tại
</a:t>
              </a:r>
              <a:r>
                <a:rPr lang="vi-VN" sz="1400" b="1">
                  <a:solidFill>
                    <a:srgbClr val="CBD5E1"/>
                  </a:solidFill>
                  <a:latin typeface="Segoe UI" panose="020B0502040204020203" pitchFamily="34" charset="0"/>
                </a:rPr>
                <a:t>Vẫn chưa tính đến sự khác biệt lớn về cường độ sinh con giữa các lứa tuổi trong khoảng 15-49 (tuổi 25-29 sinh nhiều hơn 40-44).</a:t>
              </a:r>
              <a:endParaRPr lang="en-US" sz="1400" b="1">
                <a:solidFill>
                  <a:srgbClr val="CBD5E1"/>
                </a:solidFill>
                <a:latin typeface="Segoe UI" panose="020B0502040204020203" pitchFamily="34" charset="0"/>
              </a:endParaRPr>
            </a:p>
          </p:txBody>
        </p:sp>
      </p:grpSp>
      <p:sp>
        <p:nvSpPr>
          <p:cNvPr id="25" name="!!Anchor_Source_Footer">
            <a:extLst>
              <a:ext uri="{FF2B5EF4-FFF2-40B4-BE49-F238E27FC236}">
                <a16:creationId xmlns:a16="http://schemas.microsoft.com/office/drawing/2014/main" id="{CA3CAF73-7425-621A-E950-A5E4B50EEBF8}"/>
              </a:ext>
            </a:extLst>
          </p:cNvPr>
          <p:cNvSpPr txBox="1"/>
          <p:nvPr/>
        </p:nvSpPr>
        <p:spPr>
          <a:xfrm>
            <a:off x="609600" y="6273800"/>
            <a:ext cx="10972800" cy="246221"/>
          </a:xfrm>
          <a:prstGeom prst="rect">
            <a:avLst/>
          </a:prstGeom>
          <a:noFill/>
        </p:spPr>
        <p:txBody>
          <a:bodyPr vert="horz" rtlCol="0">
            <a:spAutoFit/>
          </a:bodyPr>
          <a:lstStyle/>
          <a:p>
            <a:r>
              <a:rPr lang="vi-VN" sz="1000">
                <a:solidFill>
                  <a:srgbClr val="CBD5E1"/>
                </a:solidFill>
                <a:latin typeface="Segoe UI" panose="020B0502040204020203" pitchFamily="34" charset="0"/>
              </a:rPr>
              <a:t>Giáo trình Dân số học đại cương</a:t>
            </a:r>
            <a:endParaRPr lang="en-US" sz="1000">
              <a:solidFill>
                <a:srgbClr val="CBD5E1"/>
              </a:solidFill>
              <a:latin typeface="Segoe UI" panose="020B0502040204020203" pitchFamily="34" charset="0"/>
            </a:endParaRPr>
          </a:p>
        </p:txBody>
      </p:sp>
    </p:spTree>
    <p:extLst>
      <p:ext uri="{BB962C8B-B14F-4D97-AF65-F5344CB8AC3E}">
        <p14:creationId xmlns:p14="http://schemas.microsoft.com/office/powerpoint/2010/main" val="28806850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450" fill="hold"/>
                                        <p:tgtEl>
                                          <p:spTgt spid="12"/>
                                        </p:tgtEl>
                                        <p:attrNameLst>
                                          <p:attrName>ppt_x</p:attrName>
                                        </p:attrNameLst>
                                      </p:cBhvr>
                                      <p:tavLst>
                                        <p:tav tm="0">
                                          <p:val>
                                            <p:strVal val="#ppt_x"/>
                                          </p:val>
                                        </p:tav>
                                        <p:tav tm="100000">
                                          <p:val>
                                            <p:strVal val="#ppt_x"/>
                                          </p:val>
                                        </p:tav>
                                      </p:tavLst>
                                    </p:anim>
                                    <p:anim calcmode="lin" valueType="num">
                                      <p:cBhvr additive="base">
                                        <p:cTn id="8" dur="45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450" fill="hold"/>
                                        <p:tgtEl>
                                          <p:spTgt spid="18"/>
                                        </p:tgtEl>
                                        <p:attrNameLst>
                                          <p:attrName>ppt_x</p:attrName>
                                        </p:attrNameLst>
                                      </p:cBhvr>
                                      <p:tavLst>
                                        <p:tav tm="0">
                                          <p:val>
                                            <p:strVal val="#ppt_x"/>
                                          </p:val>
                                        </p:tav>
                                        <p:tav tm="100000">
                                          <p:val>
                                            <p:strVal val="#ppt_x"/>
                                          </p:val>
                                        </p:tav>
                                      </p:tavLst>
                                    </p:anim>
                                    <p:anim calcmode="lin" valueType="num">
                                      <p:cBhvr additive="base">
                                        <p:cTn id="14"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450" fill="hold"/>
                                        <p:tgtEl>
                                          <p:spTgt spid="24"/>
                                        </p:tgtEl>
                                        <p:attrNameLst>
                                          <p:attrName>ppt_x</p:attrName>
                                        </p:attrNameLst>
                                      </p:cBhvr>
                                      <p:tavLst>
                                        <p:tav tm="0">
                                          <p:val>
                                            <p:strVal val="#ppt_x"/>
                                          </p:val>
                                        </p:tav>
                                        <p:tav tm="100000">
                                          <p:val>
                                            <p:strVal val="#ppt_x"/>
                                          </p:val>
                                        </p:tav>
                                      </p:tavLst>
                                    </p:anim>
                                    <p:anim calcmode="lin" valueType="num">
                                      <p:cBhvr additive="base">
                                        <p:cTn id="20" dur="45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AB931BBB-251A-BC54-8AC2-11C5C81173B5}"/>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TỶ SUẤT ASFR  •  TRỌNG TÂM</a:t>
            </a:r>
          </a:p>
        </p:txBody>
      </p:sp>
      <p:sp>
        <p:nvSpPr>
          <p:cNvPr id="3" name="!!Anchor_Slide_Tracker">
            <a:extLst>
              <a:ext uri="{FF2B5EF4-FFF2-40B4-BE49-F238E27FC236}">
                <a16:creationId xmlns:a16="http://schemas.microsoft.com/office/drawing/2014/main" id="{AF0E587B-6E2C-CDE1-4293-5D8AF2265021}"/>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06 / 22</a:t>
            </a:r>
          </a:p>
        </p:txBody>
      </p:sp>
      <p:sp>
        <p:nvSpPr>
          <p:cNvPr id="4" name="!!Anchor_Assertion_Title">
            <a:extLst>
              <a:ext uri="{FF2B5EF4-FFF2-40B4-BE49-F238E27FC236}">
                <a16:creationId xmlns:a16="http://schemas.microsoft.com/office/drawing/2014/main" id="{356A5501-6094-AC21-3EB6-322319CC9FAB}"/>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Tỷ Suất Sinh Đặc Trưng Theo Tuổi (ASFR) Và Đồ Thị Phân Bố Sinh</a:t>
            </a:r>
            <a:endParaRPr lang="en-US" sz="2400" b="1">
              <a:solidFill>
                <a:srgbClr val="FFFFFF"/>
              </a:solidFill>
              <a:latin typeface="Segoe UI" panose="020B0502040204020203" pitchFamily="34" charset="0"/>
            </a:endParaRPr>
          </a:p>
        </p:txBody>
      </p:sp>
      <p:grpSp>
        <p:nvGrpSpPr>
          <p:cNvPr id="8" name="!!Stage_Hero_Container">
            <a:extLst>
              <a:ext uri="{FF2B5EF4-FFF2-40B4-BE49-F238E27FC236}">
                <a16:creationId xmlns:a16="http://schemas.microsoft.com/office/drawing/2014/main" id="{C52DDA74-E126-4F19-7295-DD228BAA5744}"/>
              </a:ext>
            </a:extLst>
          </p:cNvPr>
          <p:cNvGrpSpPr/>
          <p:nvPr/>
        </p:nvGrpSpPr>
        <p:grpSpPr>
          <a:xfrm>
            <a:off x="609600" y="1676400"/>
            <a:ext cx="10972800" cy="1117600"/>
            <a:chOff x="609600" y="1676400"/>
            <a:chExt cx="10972800" cy="1117600"/>
          </a:xfrm>
        </p:grpSpPr>
        <p:sp>
          <p:nvSpPr>
            <p:cNvPr id="5" name="Rectangle: Rounded Corners 4">
              <a:extLst>
                <a:ext uri="{FF2B5EF4-FFF2-40B4-BE49-F238E27FC236}">
                  <a16:creationId xmlns:a16="http://schemas.microsoft.com/office/drawing/2014/main" id="{B3514CD7-0646-841A-D81C-F5BFCE4C0CFB}"/>
                </a:ext>
              </a:extLst>
            </p:cNvPr>
            <p:cNvSpPr/>
            <p:nvPr/>
          </p:nvSpPr>
          <p:spPr>
            <a:xfrm>
              <a:off x="609600" y="1676400"/>
              <a:ext cx="10972800" cy="1117600"/>
            </a:xfrm>
            <a:prstGeom prst="roundRect">
              <a:avLst/>
            </a:prstGeom>
            <a:solidFill>
              <a:srgbClr val="0B132B"/>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A1E847B9-6E50-8A23-50AD-EE6B3461F64F}"/>
                </a:ext>
              </a:extLst>
            </p:cNvPr>
            <p:cNvSpPr/>
            <p:nvPr/>
          </p:nvSpPr>
          <p:spPr>
            <a:xfrm>
              <a:off x="863600" y="1803400"/>
              <a:ext cx="2413000" cy="2540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0284C7"/>
                  </a:solidFill>
                  <a:latin typeface="Segoe UI" panose="020B0502040204020203" pitchFamily="34" charset="0"/>
                </a:rPr>
                <a:t>CÔNG THỨC ĐỊNH LƯỢNG CHUẨN</a:t>
              </a:r>
              <a:endParaRPr lang="en-US" sz="900" b="1">
                <a:solidFill>
                  <a:srgbClr val="0284C7"/>
                </a:solidFill>
                <a:latin typeface="Segoe UI" panose="020B0502040204020203" pitchFamily="34" charset="0"/>
              </a:endParaRPr>
            </a:p>
          </p:txBody>
        </p:sp>
        <p:sp>
          <p:nvSpPr>
            <p:cNvPr id="7" name="TextBox 6">
              <a:extLst>
                <a:ext uri="{FF2B5EF4-FFF2-40B4-BE49-F238E27FC236}">
                  <a16:creationId xmlns:a16="http://schemas.microsoft.com/office/drawing/2014/main" id="{BC22B868-C41A-13CA-4D7D-62DCD6921E18}"/>
                </a:ext>
              </a:extLst>
            </p:cNvPr>
            <p:cNvSpPr txBox="1"/>
            <p:nvPr/>
          </p:nvSpPr>
          <p:spPr>
            <a:xfrm>
              <a:off x="863600" y="2082800"/>
              <a:ext cx="10464800" cy="461665"/>
            </a:xfrm>
            <a:prstGeom prst="rect">
              <a:avLst/>
            </a:prstGeom>
            <a:noFill/>
          </p:spPr>
          <p:txBody>
            <a:bodyPr vert="horz" rtlCol="0">
              <a:spAutoFit/>
            </a:bodyPr>
            <a:lstStyle/>
            <a:p>
              <a:pPr algn="ctr"/>
              <a:r>
                <a:rPr lang="vi-VN" sz="2400" b="1">
                  <a:solidFill>
                    <a:srgbClr val="10B981"/>
                  </a:solidFill>
                  <a:latin typeface="Segoe UI" panose="020B0502040204020203" pitchFamily="34" charset="0"/>
                </a:rPr>
                <a:t>ASFR_x = (B_x / W_x) * 1,000  (Đơn vị: ‰ - Cho từng nhóm tuổi x)</a:t>
              </a:r>
              <a:endParaRPr lang="en-US" sz="2400" b="1">
                <a:solidFill>
                  <a:srgbClr val="10B981"/>
                </a:solidFill>
                <a:latin typeface="Segoe UI" panose="020B0502040204020203" pitchFamily="34" charset="0"/>
              </a:endParaRPr>
            </a:p>
          </p:txBody>
        </p:sp>
      </p:grpSp>
      <p:grpSp>
        <p:nvGrpSpPr>
          <p:cNvPr id="14" name="!!Stage_Sub_Card_1">
            <a:extLst>
              <a:ext uri="{FF2B5EF4-FFF2-40B4-BE49-F238E27FC236}">
                <a16:creationId xmlns:a16="http://schemas.microsoft.com/office/drawing/2014/main" id="{41AC3405-5EC8-2164-6E0D-B4DBB2DA77D3}"/>
              </a:ext>
            </a:extLst>
          </p:cNvPr>
          <p:cNvGrpSpPr/>
          <p:nvPr/>
        </p:nvGrpSpPr>
        <p:grpSpPr>
          <a:xfrm>
            <a:off x="609600" y="2971800"/>
            <a:ext cx="3522133" cy="3225800"/>
            <a:chOff x="609600" y="2971800"/>
            <a:chExt cx="3522133" cy="3225800"/>
          </a:xfrm>
        </p:grpSpPr>
        <p:sp>
          <p:nvSpPr>
            <p:cNvPr id="9" name="Rectangle: Rounded Corners 8">
              <a:extLst>
                <a:ext uri="{FF2B5EF4-FFF2-40B4-BE49-F238E27FC236}">
                  <a16:creationId xmlns:a16="http://schemas.microsoft.com/office/drawing/2014/main" id="{97BFDC9E-068A-F189-E356-2E104BEE9A7D}"/>
                </a:ext>
              </a:extLst>
            </p:cNvPr>
            <p:cNvSpPr/>
            <p:nvPr/>
          </p:nvSpPr>
          <p:spPr>
            <a:xfrm>
              <a:off x="609600" y="2971800"/>
              <a:ext cx="3522133" cy="32258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789B04A-4F7D-AF70-D083-3BA4E566C110}"/>
                </a:ext>
              </a:extLst>
            </p:cNvPr>
            <p:cNvSpPr/>
            <p:nvPr/>
          </p:nvSpPr>
          <p:spPr>
            <a:xfrm>
              <a:off x="812800" y="31750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86BE1862-819E-3E7E-FA10-D2A3C438D7AB}"/>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3238500"/>
              <a:ext cx="279400" cy="279400"/>
            </a:xfrm>
            <a:prstGeom prst="rect">
              <a:avLst/>
            </a:prstGeom>
          </p:spPr>
        </p:pic>
        <p:sp>
          <p:nvSpPr>
            <p:cNvPr id="13" name="TextBox 12">
              <a:extLst>
                <a:ext uri="{FF2B5EF4-FFF2-40B4-BE49-F238E27FC236}">
                  <a16:creationId xmlns:a16="http://schemas.microsoft.com/office/drawing/2014/main" id="{A01A87D4-C21F-A2A8-CBD1-08CB801A740C}"/>
                </a:ext>
              </a:extLst>
            </p:cNvPr>
            <p:cNvSpPr txBox="1"/>
            <p:nvPr/>
          </p:nvSpPr>
          <p:spPr>
            <a:xfrm>
              <a:off x="812800" y="3683000"/>
              <a:ext cx="3115733" cy="1443985"/>
            </a:xfrm>
            <a:prstGeom prst="rect">
              <a:avLst/>
            </a:prstGeom>
            <a:noFill/>
          </p:spPr>
          <p:txBody>
            <a:bodyPr vert="horz" wrap="square" lIns="0" tIns="0" rtlCol="0">
              <a:spAutoFit/>
            </a:bodyPr>
            <a:lstStyle/>
            <a:p>
              <a:pPr>
                <a:lnSpc>
                  <a:spcPct val="125000"/>
                </a:lnSpc>
                <a:spcAft>
                  <a:spcPts val="600"/>
                </a:spcAft>
              </a:pPr>
              <a:r>
                <a:rPr lang="en-US" sz="1600" b="1">
                  <a:solidFill>
                    <a:srgbClr val="FFFFFF"/>
                  </a:solidFill>
                  <a:latin typeface="Segoe UI" panose="020B0502040204020203" pitchFamily="34" charset="0"/>
                </a:rPr>
                <a:t>Công Thức ASFR_x
</a:t>
              </a:r>
              <a:r>
                <a:rPr lang="vi-VN" sz="1350" b="1">
                  <a:solidFill>
                    <a:srgbClr val="CBD5E1"/>
                  </a:solidFill>
                  <a:latin typeface="Segoe UI" panose="020B0502040204020203" pitchFamily="34" charset="0"/>
                </a:rPr>
                <a:t>ASFR_x = (B_x / W_x) * 1,000 (đơn vị ‰). Với B_x là số con do phụ nữ nhóm tuổi x sinh ra, W_x là số phụ nữ nhóm tuổi x.</a:t>
              </a:r>
              <a:endParaRPr lang="en-US" sz="1350" b="1">
                <a:solidFill>
                  <a:srgbClr val="CBD5E1"/>
                </a:solidFill>
                <a:latin typeface="Segoe UI" panose="020B0502040204020203" pitchFamily="34" charset="0"/>
              </a:endParaRPr>
            </a:p>
          </p:txBody>
        </p:sp>
      </p:grpSp>
      <p:grpSp>
        <p:nvGrpSpPr>
          <p:cNvPr id="20" name="!!Stage_Sub_Card_2">
            <a:extLst>
              <a:ext uri="{FF2B5EF4-FFF2-40B4-BE49-F238E27FC236}">
                <a16:creationId xmlns:a16="http://schemas.microsoft.com/office/drawing/2014/main" id="{01C8DB6F-F970-767A-6C5C-3F6F3CAA10EA}"/>
              </a:ext>
            </a:extLst>
          </p:cNvPr>
          <p:cNvGrpSpPr/>
          <p:nvPr/>
        </p:nvGrpSpPr>
        <p:grpSpPr>
          <a:xfrm>
            <a:off x="4334933" y="2971800"/>
            <a:ext cx="3522134" cy="3225800"/>
            <a:chOff x="4334933" y="2971800"/>
            <a:chExt cx="3522134" cy="3225800"/>
          </a:xfrm>
        </p:grpSpPr>
        <p:sp>
          <p:nvSpPr>
            <p:cNvPr id="15" name="Rectangle: Rounded Corners 14">
              <a:extLst>
                <a:ext uri="{FF2B5EF4-FFF2-40B4-BE49-F238E27FC236}">
                  <a16:creationId xmlns:a16="http://schemas.microsoft.com/office/drawing/2014/main" id="{950FDA7B-2A2D-D23E-B2A7-1FA95D2D74E2}"/>
                </a:ext>
              </a:extLst>
            </p:cNvPr>
            <p:cNvSpPr/>
            <p:nvPr/>
          </p:nvSpPr>
          <p:spPr>
            <a:xfrm>
              <a:off x="4334933" y="2971800"/>
              <a:ext cx="3522134" cy="32258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FF31A13-749A-948D-42A3-74B599047061}"/>
                </a:ext>
              </a:extLst>
            </p:cNvPr>
            <p:cNvSpPr/>
            <p:nvPr/>
          </p:nvSpPr>
          <p:spPr>
            <a:xfrm>
              <a:off x="4538133" y="31750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33BD2E94-0BCA-CDDD-3DE5-DEFF03EAE253}"/>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3238500"/>
              <a:ext cx="279400" cy="279400"/>
            </a:xfrm>
            <a:prstGeom prst="rect">
              <a:avLst/>
            </a:prstGeom>
          </p:spPr>
        </p:pic>
        <p:sp>
          <p:nvSpPr>
            <p:cNvPr id="19" name="TextBox 18">
              <a:extLst>
                <a:ext uri="{FF2B5EF4-FFF2-40B4-BE49-F238E27FC236}">
                  <a16:creationId xmlns:a16="http://schemas.microsoft.com/office/drawing/2014/main" id="{6CA87998-DADE-8BAA-3E31-3997674ED1CB}"/>
                </a:ext>
              </a:extLst>
            </p:cNvPr>
            <p:cNvSpPr txBox="1"/>
            <p:nvPr/>
          </p:nvSpPr>
          <p:spPr>
            <a:xfrm>
              <a:off x="4538133" y="3683000"/>
              <a:ext cx="3115733" cy="1443985"/>
            </a:xfrm>
            <a:prstGeom prst="rect">
              <a:avLst/>
            </a:prstGeom>
            <a:noFill/>
          </p:spPr>
          <p:txBody>
            <a:bodyPr vert="horz" wrap="square" lIns="0" tIns="0" rtlCol="0">
              <a:spAutoFit/>
            </a:bodyPr>
            <a:lstStyle/>
            <a:p>
              <a:pPr>
                <a:lnSpc>
                  <a:spcPct val="125000"/>
                </a:lnSpc>
                <a:spcAft>
                  <a:spcPts val="600"/>
                </a:spcAft>
              </a:pPr>
              <a:r>
                <a:rPr lang="en-US" sz="1600" b="1">
                  <a:solidFill>
                    <a:srgbClr val="FFFFFF"/>
                  </a:solidFill>
                  <a:latin typeface="Segoe UI" panose="020B0502040204020203" pitchFamily="34" charset="0"/>
                </a:rPr>
                <a:t>Hình Thái Đồ Thị Hình Chuông
</a:t>
              </a:r>
              <a:r>
                <a:rPr lang="en-US" sz="1350" b="1">
                  <a:solidFill>
                    <a:srgbClr val="CBD5E1"/>
                  </a:solidFill>
                  <a:latin typeface="Segoe UI" panose="020B0502040204020203" pitchFamily="34" charset="0"/>
                </a:rPr>
                <a:t>Đồ thị ASFR luôn có dạng hình chuông: bắt đầu thấp ở 15-19, đạt đỉnh cao ở 25-29 tuổi và giảm dần về 45-49 tuổi.</a:t>
              </a:r>
            </a:p>
          </p:txBody>
        </p:sp>
      </p:grpSp>
      <p:grpSp>
        <p:nvGrpSpPr>
          <p:cNvPr id="26" name="!!Stage_Sub_Card_3">
            <a:extLst>
              <a:ext uri="{FF2B5EF4-FFF2-40B4-BE49-F238E27FC236}">
                <a16:creationId xmlns:a16="http://schemas.microsoft.com/office/drawing/2014/main" id="{CD9A024F-9FDE-66C2-A619-A3CF1E2793BB}"/>
              </a:ext>
            </a:extLst>
          </p:cNvPr>
          <p:cNvGrpSpPr/>
          <p:nvPr/>
        </p:nvGrpSpPr>
        <p:grpSpPr>
          <a:xfrm>
            <a:off x="8060267" y="2971800"/>
            <a:ext cx="3522133" cy="3225800"/>
            <a:chOff x="8060267" y="2971800"/>
            <a:chExt cx="3522133" cy="3225800"/>
          </a:xfrm>
        </p:grpSpPr>
        <p:sp>
          <p:nvSpPr>
            <p:cNvPr id="21" name="Rectangle: Rounded Corners 20">
              <a:extLst>
                <a:ext uri="{FF2B5EF4-FFF2-40B4-BE49-F238E27FC236}">
                  <a16:creationId xmlns:a16="http://schemas.microsoft.com/office/drawing/2014/main" id="{3E9B367C-6C33-0959-7CB1-0FB6A1D1407D}"/>
                </a:ext>
              </a:extLst>
            </p:cNvPr>
            <p:cNvSpPr/>
            <p:nvPr/>
          </p:nvSpPr>
          <p:spPr>
            <a:xfrm>
              <a:off x="8060267" y="2971800"/>
              <a:ext cx="3522133" cy="32258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36B8893C-5E09-6D20-7904-736ED98608CB}"/>
                </a:ext>
              </a:extLst>
            </p:cNvPr>
            <p:cNvSpPr/>
            <p:nvPr/>
          </p:nvSpPr>
          <p:spPr>
            <a:xfrm>
              <a:off x="8263467" y="31750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6103D101-65E8-A1C2-5DAC-FD965C5280F8}"/>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3238500"/>
              <a:ext cx="279400" cy="279400"/>
            </a:xfrm>
            <a:prstGeom prst="rect">
              <a:avLst/>
            </a:prstGeom>
          </p:spPr>
        </p:pic>
        <p:sp>
          <p:nvSpPr>
            <p:cNvPr id="25" name="TextBox 24">
              <a:extLst>
                <a:ext uri="{FF2B5EF4-FFF2-40B4-BE49-F238E27FC236}">
                  <a16:creationId xmlns:a16="http://schemas.microsoft.com/office/drawing/2014/main" id="{22E3CB58-7B7D-CA4A-87F0-F2ED818B2F63}"/>
                </a:ext>
              </a:extLst>
            </p:cNvPr>
            <p:cNvSpPr txBox="1"/>
            <p:nvPr/>
          </p:nvSpPr>
          <p:spPr>
            <a:xfrm>
              <a:off x="8263467" y="3683000"/>
              <a:ext cx="3115733" cy="1443985"/>
            </a:xfrm>
            <a:prstGeom prst="rect">
              <a:avLst/>
            </a:prstGeom>
            <a:noFill/>
          </p:spPr>
          <p:txBody>
            <a:bodyPr vert="horz" wrap="square" lIns="0" tIns="0" rtlCol="0">
              <a:spAutoFit/>
            </a:bodyPr>
            <a:lstStyle/>
            <a:p>
              <a:pPr>
                <a:lnSpc>
                  <a:spcPct val="125000"/>
                </a:lnSpc>
                <a:spcAft>
                  <a:spcPts val="600"/>
                </a:spcAft>
              </a:pPr>
              <a:r>
                <a:rPr lang="vi-VN" sz="1600" b="1">
                  <a:solidFill>
                    <a:srgbClr val="FFFFFF"/>
                  </a:solidFill>
                  <a:latin typeface="Segoe UI" panose="020B0502040204020203" pitchFamily="34" charset="0"/>
                </a:rPr>
                <a:t>Xu Hướng Dịch Chuyển Đỉnh
</a:t>
              </a:r>
              <a:r>
                <a:rPr lang="vi-VN" sz="1350" b="1">
                  <a:solidFill>
                    <a:srgbClr val="CBD5E1"/>
                  </a:solidFill>
                  <a:latin typeface="Segoe UI" panose="020B0502040204020203" pitchFamily="34" charset="0"/>
                </a:rPr>
                <a:t>Ở các đô thị hiện đại, đỉnh sinh đẻ đang dịch chuyển từ nhóm 20-24 sang nhóm 25-29 và thậm chí 30-34 tuổi.</a:t>
              </a:r>
              <a:endParaRPr lang="en-US" sz="1350" b="1">
                <a:solidFill>
                  <a:srgbClr val="CBD5E1"/>
                </a:solidFill>
                <a:latin typeface="Segoe UI" panose="020B0502040204020203" pitchFamily="34" charset="0"/>
              </a:endParaRPr>
            </a:p>
          </p:txBody>
        </p:sp>
      </p:grpSp>
      <p:sp>
        <p:nvSpPr>
          <p:cNvPr id="27" name="!!Anchor_Source_Footer">
            <a:extLst>
              <a:ext uri="{FF2B5EF4-FFF2-40B4-BE49-F238E27FC236}">
                <a16:creationId xmlns:a16="http://schemas.microsoft.com/office/drawing/2014/main" id="{55CA8C9C-B9A6-3DEF-BC58-D2513C427E4F}"/>
              </a:ext>
            </a:extLst>
          </p:cNvPr>
          <p:cNvSpPr txBox="1"/>
          <p:nvPr/>
        </p:nvSpPr>
        <p:spPr>
          <a:xfrm>
            <a:off x="609600" y="6273800"/>
            <a:ext cx="10972800" cy="246221"/>
          </a:xfrm>
          <a:prstGeom prst="rect">
            <a:avLst/>
          </a:prstGeom>
          <a:noFill/>
        </p:spPr>
        <p:txBody>
          <a:bodyPr vert="horz" rtlCol="0">
            <a:spAutoFit/>
          </a:bodyPr>
          <a:lstStyle/>
          <a:p>
            <a:r>
              <a:rPr lang="vi-VN" sz="1000">
                <a:solidFill>
                  <a:srgbClr val="CBD5E1"/>
                </a:solidFill>
                <a:latin typeface="Segoe UI" panose="020B0502040204020203" pitchFamily="34" charset="0"/>
              </a:rPr>
              <a:t>Phương pháp thống kê nhân khẩu học</a:t>
            </a:r>
            <a:endParaRPr lang="en-US" sz="1000">
              <a:solidFill>
                <a:srgbClr val="CBD5E1"/>
              </a:solidFill>
              <a:latin typeface="Segoe UI" panose="020B0502040204020203" pitchFamily="34" charset="0"/>
            </a:endParaRPr>
          </a:p>
        </p:txBody>
      </p:sp>
    </p:spTree>
    <p:extLst>
      <p:ext uri="{BB962C8B-B14F-4D97-AF65-F5344CB8AC3E}">
        <p14:creationId xmlns:p14="http://schemas.microsoft.com/office/powerpoint/2010/main" val="23924241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450" fill="hold"/>
                                        <p:tgtEl>
                                          <p:spTgt spid="14"/>
                                        </p:tgtEl>
                                        <p:attrNameLst>
                                          <p:attrName>ppt_x</p:attrName>
                                        </p:attrNameLst>
                                      </p:cBhvr>
                                      <p:tavLst>
                                        <p:tav tm="0">
                                          <p:val>
                                            <p:strVal val="#ppt_x"/>
                                          </p:val>
                                        </p:tav>
                                        <p:tav tm="100000">
                                          <p:val>
                                            <p:strVal val="#ppt_x"/>
                                          </p:val>
                                        </p:tav>
                                      </p:tavLst>
                                    </p:anim>
                                    <p:anim calcmode="lin" valueType="num">
                                      <p:cBhvr additive="base">
                                        <p:cTn id="8"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450" fill="hold"/>
                                        <p:tgtEl>
                                          <p:spTgt spid="26"/>
                                        </p:tgtEl>
                                        <p:attrNameLst>
                                          <p:attrName>ppt_x</p:attrName>
                                        </p:attrNameLst>
                                      </p:cBhvr>
                                      <p:tavLst>
                                        <p:tav tm="0">
                                          <p:val>
                                            <p:strVal val="#ppt_x"/>
                                          </p:val>
                                        </p:tav>
                                        <p:tav tm="100000">
                                          <p:val>
                                            <p:strVal val="#ppt_x"/>
                                          </p:val>
                                        </p:tav>
                                      </p:tavLst>
                                    </p:anim>
                                    <p:anim calcmode="lin" valueType="num">
                                      <p:cBhvr additive="base">
                                        <p:cTn id="20" dur="4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01F51529-6200-22DE-4300-840507FD2838}"/>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TỔNG TỶ SUẤT SINH  •  TRỌNG TÂM</a:t>
            </a:r>
          </a:p>
        </p:txBody>
      </p:sp>
      <p:sp>
        <p:nvSpPr>
          <p:cNvPr id="3" name="!!Anchor_Slide_Tracker">
            <a:extLst>
              <a:ext uri="{FF2B5EF4-FFF2-40B4-BE49-F238E27FC236}">
                <a16:creationId xmlns:a16="http://schemas.microsoft.com/office/drawing/2014/main" id="{32D8AD1C-D33F-7B0A-AE39-309E7785BC88}"/>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07 / 22</a:t>
            </a:r>
          </a:p>
        </p:txBody>
      </p:sp>
      <p:sp>
        <p:nvSpPr>
          <p:cNvPr id="4" name="!!Anchor_Assertion_Title">
            <a:extLst>
              <a:ext uri="{FF2B5EF4-FFF2-40B4-BE49-F238E27FC236}">
                <a16:creationId xmlns:a16="http://schemas.microsoft.com/office/drawing/2014/main" id="{6356DFFD-A1EA-6CBA-5C03-D47D8E2C8E56}"/>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Tổng Tỷ Suất Sinh (TFR) Và Ngưỡng Mức Sinh Thay Thế Chuẩn 2.1 Con</a:t>
            </a:r>
            <a:endParaRPr lang="en-US" sz="2400" b="1">
              <a:solidFill>
                <a:srgbClr val="FFFFFF"/>
              </a:solidFill>
              <a:latin typeface="Segoe UI" panose="020B0502040204020203" pitchFamily="34" charset="0"/>
            </a:endParaRPr>
          </a:p>
        </p:txBody>
      </p:sp>
      <p:grpSp>
        <p:nvGrpSpPr>
          <p:cNvPr id="8" name="!!Stage_Hero_Container">
            <a:extLst>
              <a:ext uri="{FF2B5EF4-FFF2-40B4-BE49-F238E27FC236}">
                <a16:creationId xmlns:a16="http://schemas.microsoft.com/office/drawing/2014/main" id="{1CB0DEAD-1308-D4C9-0109-55FEA78E0650}"/>
              </a:ext>
            </a:extLst>
          </p:cNvPr>
          <p:cNvGrpSpPr/>
          <p:nvPr/>
        </p:nvGrpSpPr>
        <p:grpSpPr>
          <a:xfrm>
            <a:off x="609600" y="1676400"/>
            <a:ext cx="10972800" cy="1117600"/>
            <a:chOff x="609600" y="1676400"/>
            <a:chExt cx="10972800" cy="1117600"/>
          </a:xfrm>
        </p:grpSpPr>
        <p:sp>
          <p:nvSpPr>
            <p:cNvPr id="5" name="Rectangle: Rounded Corners 4">
              <a:extLst>
                <a:ext uri="{FF2B5EF4-FFF2-40B4-BE49-F238E27FC236}">
                  <a16:creationId xmlns:a16="http://schemas.microsoft.com/office/drawing/2014/main" id="{731373E8-B874-F47C-2579-272507951806}"/>
                </a:ext>
              </a:extLst>
            </p:cNvPr>
            <p:cNvSpPr/>
            <p:nvPr/>
          </p:nvSpPr>
          <p:spPr>
            <a:xfrm>
              <a:off x="609600" y="1676400"/>
              <a:ext cx="10972800" cy="1117600"/>
            </a:xfrm>
            <a:prstGeom prst="roundRect">
              <a:avLst/>
            </a:prstGeom>
            <a:solidFill>
              <a:srgbClr val="0B132B"/>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EE7B487C-7FCF-412B-7074-486515C5D86A}"/>
                </a:ext>
              </a:extLst>
            </p:cNvPr>
            <p:cNvSpPr/>
            <p:nvPr/>
          </p:nvSpPr>
          <p:spPr>
            <a:xfrm>
              <a:off x="863600" y="1803400"/>
              <a:ext cx="2413000" cy="2540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0284C7"/>
                  </a:solidFill>
                  <a:latin typeface="Segoe UI" panose="020B0502040204020203" pitchFamily="34" charset="0"/>
                </a:rPr>
                <a:t>CÔNG THỨC ĐỊNH LƯỢNG CHUẨN</a:t>
              </a:r>
              <a:endParaRPr lang="en-US" sz="900" b="1">
                <a:solidFill>
                  <a:srgbClr val="0284C7"/>
                </a:solidFill>
                <a:latin typeface="Segoe UI" panose="020B0502040204020203" pitchFamily="34" charset="0"/>
              </a:endParaRPr>
            </a:p>
          </p:txBody>
        </p:sp>
        <p:sp>
          <p:nvSpPr>
            <p:cNvPr id="7" name="TextBox 6">
              <a:extLst>
                <a:ext uri="{FF2B5EF4-FFF2-40B4-BE49-F238E27FC236}">
                  <a16:creationId xmlns:a16="http://schemas.microsoft.com/office/drawing/2014/main" id="{962C4ED7-EDAF-3804-FB72-D3C96FA061F4}"/>
                </a:ext>
              </a:extLst>
            </p:cNvPr>
            <p:cNvSpPr txBox="1"/>
            <p:nvPr/>
          </p:nvSpPr>
          <p:spPr>
            <a:xfrm>
              <a:off x="863600" y="2082800"/>
              <a:ext cx="10464800" cy="461665"/>
            </a:xfrm>
            <a:prstGeom prst="rect">
              <a:avLst/>
            </a:prstGeom>
            <a:noFill/>
          </p:spPr>
          <p:txBody>
            <a:bodyPr vert="horz" rtlCol="0">
              <a:spAutoFit/>
            </a:bodyPr>
            <a:lstStyle/>
            <a:p>
              <a:pPr algn="ctr"/>
              <a:r>
                <a:rPr lang="en-US" sz="2400" b="1">
                  <a:solidFill>
                    <a:srgbClr val="10B981"/>
                  </a:solidFill>
                  <a:latin typeface="Segoe UI" panose="020B0502040204020203" pitchFamily="34" charset="0"/>
                </a:rPr>
                <a:t>TFR = 5 * </a:t>
              </a:r>
              <a:r>
                <a:rPr lang="el-GR" sz="2400" b="1">
                  <a:solidFill>
                    <a:srgbClr val="10B981"/>
                  </a:solidFill>
                  <a:latin typeface="Segoe UI" panose="020B0502040204020203" pitchFamily="34" charset="0"/>
                </a:rPr>
                <a:t>Σ(</a:t>
              </a:r>
              <a:r>
                <a:rPr lang="en-US" sz="2400" b="1">
                  <a:solidFill>
                    <a:srgbClr val="10B981"/>
                  </a:solidFill>
                  <a:latin typeface="Segoe UI" panose="020B0502040204020203" pitchFamily="34" charset="0"/>
                </a:rPr>
                <a:t>ASFR_x) / 1,000  (Mức sinh thay thế chuẩn = 2.10 con)</a:t>
              </a:r>
            </a:p>
          </p:txBody>
        </p:sp>
      </p:grpSp>
      <p:grpSp>
        <p:nvGrpSpPr>
          <p:cNvPr id="14" name="!!Stage_Sub_Card_1">
            <a:extLst>
              <a:ext uri="{FF2B5EF4-FFF2-40B4-BE49-F238E27FC236}">
                <a16:creationId xmlns:a16="http://schemas.microsoft.com/office/drawing/2014/main" id="{F8207AAC-F67C-ABBC-F47E-896181EA4CEB}"/>
              </a:ext>
            </a:extLst>
          </p:cNvPr>
          <p:cNvGrpSpPr/>
          <p:nvPr/>
        </p:nvGrpSpPr>
        <p:grpSpPr>
          <a:xfrm>
            <a:off x="609600" y="2971800"/>
            <a:ext cx="3522133" cy="3225800"/>
            <a:chOff x="609600" y="2971800"/>
            <a:chExt cx="3522133" cy="3225800"/>
          </a:xfrm>
        </p:grpSpPr>
        <p:sp>
          <p:nvSpPr>
            <p:cNvPr id="9" name="Rectangle: Rounded Corners 8">
              <a:extLst>
                <a:ext uri="{FF2B5EF4-FFF2-40B4-BE49-F238E27FC236}">
                  <a16:creationId xmlns:a16="http://schemas.microsoft.com/office/drawing/2014/main" id="{DD4FBF11-1C61-6C50-D5E7-CD30E72D4FB0}"/>
                </a:ext>
              </a:extLst>
            </p:cNvPr>
            <p:cNvSpPr/>
            <p:nvPr/>
          </p:nvSpPr>
          <p:spPr>
            <a:xfrm>
              <a:off x="609600" y="2971800"/>
              <a:ext cx="3522133" cy="32258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499FA41-DFAB-45A2-4BB1-3558686EA2F6}"/>
                </a:ext>
              </a:extLst>
            </p:cNvPr>
            <p:cNvSpPr/>
            <p:nvPr/>
          </p:nvSpPr>
          <p:spPr>
            <a:xfrm>
              <a:off x="812800" y="31750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BFFECAD5-954F-4072-7E10-DB08FC57F8ED}"/>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3238500"/>
              <a:ext cx="279400" cy="279400"/>
            </a:xfrm>
            <a:prstGeom prst="rect">
              <a:avLst/>
            </a:prstGeom>
          </p:spPr>
        </p:pic>
        <p:sp>
          <p:nvSpPr>
            <p:cNvPr id="13" name="TextBox 12">
              <a:extLst>
                <a:ext uri="{FF2B5EF4-FFF2-40B4-BE49-F238E27FC236}">
                  <a16:creationId xmlns:a16="http://schemas.microsoft.com/office/drawing/2014/main" id="{96FE1AD7-A799-3328-1CF7-02DEF5F338F6}"/>
                </a:ext>
              </a:extLst>
            </p:cNvPr>
            <p:cNvSpPr txBox="1"/>
            <p:nvPr/>
          </p:nvSpPr>
          <p:spPr>
            <a:xfrm>
              <a:off x="812800" y="3683000"/>
              <a:ext cx="3115733" cy="1443985"/>
            </a:xfrm>
            <a:prstGeom prst="rect">
              <a:avLst/>
            </a:prstGeom>
            <a:noFill/>
          </p:spPr>
          <p:txBody>
            <a:bodyPr vert="horz" wrap="square" lIns="0" tIns="0" rtlCol="0">
              <a:spAutoFit/>
            </a:bodyPr>
            <a:lstStyle/>
            <a:p>
              <a:pPr>
                <a:lnSpc>
                  <a:spcPct val="125000"/>
                </a:lnSpc>
                <a:spcAft>
                  <a:spcPts val="600"/>
                </a:spcAft>
              </a:pPr>
              <a:r>
                <a:rPr lang="en-US" sz="1600" b="1">
                  <a:solidFill>
                    <a:srgbClr val="FFFFFF"/>
                  </a:solidFill>
                  <a:latin typeface="Segoe UI" panose="020B0502040204020203" pitchFamily="34" charset="0"/>
                </a:rPr>
                <a:t>Công Thức Tính TFR
</a:t>
              </a:r>
              <a:r>
                <a:rPr lang="vi-VN" sz="1350" b="1">
                  <a:solidFill>
                    <a:srgbClr val="CBD5E1"/>
                  </a:solidFill>
                  <a:latin typeface="Segoe UI" panose="020B0502040204020203" pitchFamily="34" charset="0"/>
                </a:rPr>
                <a:t>TFR = 5 * </a:t>
              </a:r>
              <a:r>
                <a:rPr lang="el-GR" sz="1350" b="1">
                  <a:solidFill>
                    <a:srgbClr val="CBD5E1"/>
                  </a:solidFill>
                  <a:latin typeface="Segoe UI" panose="020B0502040204020203" pitchFamily="34" charset="0"/>
                </a:rPr>
                <a:t>Σ(</a:t>
              </a:r>
              <a:r>
                <a:rPr lang="vi-VN" sz="1350" b="1">
                  <a:solidFill>
                    <a:srgbClr val="CBD5E1"/>
                  </a:solidFill>
                  <a:latin typeface="Segoe UI" panose="020B0502040204020203" pitchFamily="34" charset="0"/>
                </a:rPr>
                <a:t>ASFR_x) / 1,000. Đo lường độc lập hoàn toàn với cơ cấu tuổi của dân số, cho phép so sánh quốc tế chuẩn xác.</a:t>
              </a:r>
              <a:endParaRPr lang="en-US" sz="1350" b="1">
                <a:solidFill>
                  <a:srgbClr val="CBD5E1"/>
                </a:solidFill>
                <a:latin typeface="Segoe UI" panose="020B0502040204020203" pitchFamily="34" charset="0"/>
              </a:endParaRPr>
            </a:p>
          </p:txBody>
        </p:sp>
      </p:grpSp>
      <p:grpSp>
        <p:nvGrpSpPr>
          <p:cNvPr id="20" name="!!Stage_Sub_Card_2">
            <a:extLst>
              <a:ext uri="{FF2B5EF4-FFF2-40B4-BE49-F238E27FC236}">
                <a16:creationId xmlns:a16="http://schemas.microsoft.com/office/drawing/2014/main" id="{3CE1BD60-6CAE-2386-6546-BDDF89D36610}"/>
              </a:ext>
            </a:extLst>
          </p:cNvPr>
          <p:cNvGrpSpPr/>
          <p:nvPr/>
        </p:nvGrpSpPr>
        <p:grpSpPr>
          <a:xfrm>
            <a:off x="4334933" y="2971800"/>
            <a:ext cx="3522134" cy="3225800"/>
            <a:chOff x="4334933" y="2971800"/>
            <a:chExt cx="3522134" cy="3225800"/>
          </a:xfrm>
        </p:grpSpPr>
        <p:sp>
          <p:nvSpPr>
            <p:cNvPr id="15" name="Rectangle: Rounded Corners 14">
              <a:extLst>
                <a:ext uri="{FF2B5EF4-FFF2-40B4-BE49-F238E27FC236}">
                  <a16:creationId xmlns:a16="http://schemas.microsoft.com/office/drawing/2014/main" id="{078F5535-5475-6B92-0D1B-22F63E6953FD}"/>
                </a:ext>
              </a:extLst>
            </p:cNvPr>
            <p:cNvSpPr/>
            <p:nvPr/>
          </p:nvSpPr>
          <p:spPr>
            <a:xfrm>
              <a:off x="4334933" y="2971800"/>
              <a:ext cx="3522134" cy="32258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E368486-5219-E0FD-CDB9-0C2AE12D26DF}"/>
                </a:ext>
              </a:extLst>
            </p:cNvPr>
            <p:cNvSpPr/>
            <p:nvPr/>
          </p:nvSpPr>
          <p:spPr>
            <a:xfrm>
              <a:off x="4538133" y="31750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2619DFC8-D3F2-29CF-D0EF-4772B133E7E6}"/>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3238500"/>
              <a:ext cx="279400" cy="279400"/>
            </a:xfrm>
            <a:prstGeom prst="rect">
              <a:avLst/>
            </a:prstGeom>
          </p:spPr>
        </p:pic>
        <p:sp>
          <p:nvSpPr>
            <p:cNvPr id="19" name="TextBox 18">
              <a:extLst>
                <a:ext uri="{FF2B5EF4-FFF2-40B4-BE49-F238E27FC236}">
                  <a16:creationId xmlns:a16="http://schemas.microsoft.com/office/drawing/2014/main" id="{9D718157-4710-0C3E-FF6E-D8F174D2A08C}"/>
                </a:ext>
              </a:extLst>
            </p:cNvPr>
            <p:cNvSpPr txBox="1"/>
            <p:nvPr/>
          </p:nvSpPr>
          <p:spPr>
            <a:xfrm>
              <a:off x="4538133" y="3683000"/>
              <a:ext cx="3115733" cy="1751762"/>
            </a:xfrm>
            <a:prstGeom prst="rect">
              <a:avLst/>
            </a:prstGeom>
            <a:noFill/>
          </p:spPr>
          <p:txBody>
            <a:bodyPr vert="horz" wrap="square" lIns="0" tIns="0" rtlCol="0">
              <a:spAutoFit/>
            </a:bodyPr>
            <a:lstStyle/>
            <a:p>
              <a:pPr>
                <a:lnSpc>
                  <a:spcPct val="125000"/>
                </a:lnSpc>
                <a:spcAft>
                  <a:spcPts val="600"/>
                </a:spcAft>
              </a:pPr>
              <a:r>
                <a:rPr lang="vi-VN" sz="1600" b="1">
                  <a:solidFill>
                    <a:srgbClr val="FFFFFF"/>
                  </a:solidFill>
                  <a:latin typeface="Segoe UI" panose="020B0502040204020203" pitchFamily="34" charset="0"/>
                </a:rPr>
                <a:t>Ngưỡng Mức Sinh Thay Thế (2.1 Con)
</a:t>
              </a:r>
              <a:r>
                <a:rPr lang="vi-VN" sz="1350" b="1">
                  <a:solidFill>
                    <a:srgbClr val="CBD5E1"/>
                  </a:solidFill>
                  <a:latin typeface="Segoe UI" panose="020B0502040204020203" pitchFamily="34" charset="0"/>
                </a:rPr>
                <a:t>Mức sinh bảo đảm một thế hệ con gái thay thế đúng số lượng thế hệ người mẹ. Cần 2.1 con để bù đắp rủi ro tử vong trước tuổi sinh sản.</a:t>
              </a:r>
              <a:endParaRPr lang="en-US" sz="1350" b="1">
                <a:solidFill>
                  <a:srgbClr val="CBD5E1"/>
                </a:solidFill>
                <a:latin typeface="Segoe UI" panose="020B0502040204020203" pitchFamily="34" charset="0"/>
              </a:endParaRPr>
            </a:p>
          </p:txBody>
        </p:sp>
      </p:grpSp>
      <p:grpSp>
        <p:nvGrpSpPr>
          <p:cNvPr id="26" name="!!Stage_Sub_Card_3">
            <a:extLst>
              <a:ext uri="{FF2B5EF4-FFF2-40B4-BE49-F238E27FC236}">
                <a16:creationId xmlns:a16="http://schemas.microsoft.com/office/drawing/2014/main" id="{FC51464C-130A-B593-56D8-AA88427DA184}"/>
              </a:ext>
            </a:extLst>
          </p:cNvPr>
          <p:cNvGrpSpPr/>
          <p:nvPr/>
        </p:nvGrpSpPr>
        <p:grpSpPr>
          <a:xfrm>
            <a:off x="8060267" y="2971800"/>
            <a:ext cx="3522133" cy="3225800"/>
            <a:chOff x="8060267" y="2971800"/>
            <a:chExt cx="3522133" cy="3225800"/>
          </a:xfrm>
        </p:grpSpPr>
        <p:sp>
          <p:nvSpPr>
            <p:cNvPr id="21" name="Rectangle: Rounded Corners 20">
              <a:extLst>
                <a:ext uri="{FF2B5EF4-FFF2-40B4-BE49-F238E27FC236}">
                  <a16:creationId xmlns:a16="http://schemas.microsoft.com/office/drawing/2014/main" id="{30D51CFD-D946-F55B-1D4A-7A2559A8A921}"/>
                </a:ext>
              </a:extLst>
            </p:cNvPr>
            <p:cNvSpPr/>
            <p:nvPr/>
          </p:nvSpPr>
          <p:spPr>
            <a:xfrm>
              <a:off x="8060267" y="2971800"/>
              <a:ext cx="3522133" cy="32258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38D125FD-A45D-0529-454B-35D0FB584488}"/>
                </a:ext>
              </a:extLst>
            </p:cNvPr>
            <p:cNvSpPr/>
            <p:nvPr/>
          </p:nvSpPr>
          <p:spPr>
            <a:xfrm>
              <a:off x="8263467" y="31750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E6E3D75E-FBE5-EB67-2C1E-869F0A999447}"/>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3238500"/>
              <a:ext cx="279400" cy="279400"/>
            </a:xfrm>
            <a:prstGeom prst="rect">
              <a:avLst/>
            </a:prstGeom>
          </p:spPr>
        </p:pic>
        <p:sp>
          <p:nvSpPr>
            <p:cNvPr id="25" name="TextBox 24">
              <a:extLst>
                <a:ext uri="{FF2B5EF4-FFF2-40B4-BE49-F238E27FC236}">
                  <a16:creationId xmlns:a16="http://schemas.microsoft.com/office/drawing/2014/main" id="{282E9B0E-C1EE-1292-C029-FD049F291371}"/>
                </a:ext>
              </a:extLst>
            </p:cNvPr>
            <p:cNvSpPr txBox="1"/>
            <p:nvPr/>
          </p:nvSpPr>
          <p:spPr>
            <a:xfrm>
              <a:off x="8263467" y="3683000"/>
              <a:ext cx="3115733" cy="1184299"/>
            </a:xfrm>
            <a:prstGeom prst="rect">
              <a:avLst/>
            </a:prstGeom>
            <a:noFill/>
          </p:spPr>
          <p:txBody>
            <a:bodyPr vert="horz" wrap="square" lIns="0" tIns="0" rtlCol="0">
              <a:spAutoFit/>
            </a:bodyPr>
            <a:lstStyle/>
            <a:p>
              <a:pPr>
                <a:lnSpc>
                  <a:spcPct val="125000"/>
                </a:lnSpc>
                <a:spcAft>
                  <a:spcPts val="600"/>
                </a:spcAft>
              </a:pPr>
              <a:r>
                <a:rPr lang="vi-VN" sz="1600" b="1">
                  <a:solidFill>
                    <a:srgbClr val="FFFFFF"/>
                  </a:solidFill>
                  <a:latin typeface="Segoe UI" panose="020B0502040204020203" pitchFamily="34" charset="0"/>
                </a:rPr>
                <a:t>Ý Nghĩa Chiến Lược Quốc Gia
</a:t>
              </a:r>
              <a:r>
                <a:rPr lang="vi-VN" sz="1350" b="1">
                  <a:solidFill>
                    <a:srgbClr val="CBD5E1"/>
                  </a:solidFill>
                  <a:latin typeface="Segoe UI" panose="020B0502040204020203" pitchFamily="34" charset="0"/>
                </a:rPr>
                <a:t>Duy trì TFR quanh mức 2.1 con giúp ổn định quy mô dân số và làm chậm quá trình già hóa trong dài hạn.</a:t>
              </a:r>
              <a:endParaRPr lang="en-US" sz="1350" b="1">
                <a:solidFill>
                  <a:srgbClr val="CBD5E1"/>
                </a:solidFill>
                <a:latin typeface="Segoe UI" panose="020B0502040204020203" pitchFamily="34" charset="0"/>
              </a:endParaRPr>
            </a:p>
          </p:txBody>
        </p:sp>
      </p:grpSp>
      <p:sp>
        <p:nvSpPr>
          <p:cNvPr id="27" name="!!Anchor_Source_Footer">
            <a:extLst>
              <a:ext uri="{FF2B5EF4-FFF2-40B4-BE49-F238E27FC236}">
                <a16:creationId xmlns:a16="http://schemas.microsoft.com/office/drawing/2014/main" id="{480ABA84-7F21-1700-7270-3F521DAB768D}"/>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Khái niệm mức sinh thay thế - Liên Hợp Quốc</a:t>
            </a:r>
          </a:p>
        </p:txBody>
      </p:sp>
    </p:spTree>
    <p:extLst>
      <p:ext uri="{BB962C8B-B14F-4D97-AF65-F5344CB8AC3E}">
        <p14:creationId xmlns:p14="http://schemas.microsoft.com/office/powerpoint/2010/main" val="22727201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450" fill="hold"/>
                                        <p:tgtEl>
                                          <p:spTgt spid="14"/>
                                        </p:tgtEl>
                                        <p:attrNameLst>
                                          <p:attrName>ppt_x</p:attrName>
                                        </p:attrNameLst>
                                      </p:cBhvr>
                                      <p:tavLst>
                                        <p:tav tm="0">
                                          <p:val>
                                            <p:strVal val="#ppt_x"/>
                                          </p:val>
                                        </p:tav>
                                        <p:tav tm="100000">
                                          <p:val>
                                            <p:strVal val="#ppt_x"/>
                                          </p:val>
                                        </p:tav>
                                      </p:tavLst>
                                    </p:anim>
                                    <p:anim calcmode="lin" valueType="num">
                                      <p:cBhvr additive="base">
                                        <p:cTn id="8"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450" fill="hold"/>
                                        <p:tgtEl>
                                          <p:spTgt spid="26"/>
                                        </p:tgtEl>
                                        <p:attrNameLst>
                                          <p:attrName>ppt_x</p:attrName>
                                        </p:attrNameLst>
                                      </p:cBhvr>
                                      <p:tavLst>
                                        <p:tav tm="0">
                                          <p:val>
                                            <p:strVal val="#ppt_x"/>
                                          </p:val>
                                        </p:tav>
                                        <p:tav tm="100000">
                                          <p:val>
                                            <p:strVal val="#ppt_x"/>
                                          </p:val>
                                        </p:tav>
                                      </p:tavLst>
                                    </p:anim>
                                    <p:anim calcmode="lin" valueType="num">
                                      <p:cBhvr additive="base">
                                        <p:cTn id="20" dur="4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984CA436-A506-85B6-48EB-F8D7C4C0675A}"/>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TÁI SINH DÂN SỐ  •  TRỌNG TÂM</a:t>
            </a:r>
          </a:p>
        </p:txBody>
      </p:sp>
      <p:sp>
        <p:nvSpPr>
          <p:cNvPr id="3" name="!!Anchor_Slide_Tracker">
            <a:extLst>
              <a:ext uri="{FF2B5EF4-FFF2-40B4-BE49-F238E27FC236}">
                <a16:creationId xmlns:a16="http://schemas.microsoft.com/office/drawing/2014/main" id="{A7D1FD1B-1013-64DF-C5A5-FA7AFE9DE14B}"/>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08 / 22</a:t>
            </a:r>
          </a:p>
        </p:txBody>
      </p:sp>
      <p:sp>
        <p:nvSpPr>
          <p:cNvPr id="4" name="!!Anchor_Assertion_Title">
            <a:extLst>
              <a:ext uri="{FF2B5EF4-FFF2-40B4-BE49-F238E27FC236}">
                <a16:creationId xmlns:a16="http://schemas.microsoft.com/office/drawing/2014/main" id="{8A30A8E9-F72F-C295-CFCE-C9EBE9059C0C}"/>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Thước Đo Tái Sinh Dân Số: Tỷ Suất Tái Sinh Thô (GRR) Và Thuần (NRR)</a:t>
            </a:r>
            <a:endParaRPr lang="en-US" sz="2400" b="1">
              <a:solidFill>
                <a:srgbClr val="FFFFFF"/>
              </a:solidFill>
              <a:latin typeface="Segoe UI" panose="020B0502040204020203" pitchFamily="34" charset="0"/>
            </a:endParaRPr>
          </a:p>
        </p:txBody>
      </p:sp>
      <p:pic>
        <p:nvPicPr>
          <p:cNvPr id="6" name="!!Stage_Hero_Container">
            <a:extLst>
              <a:ext uri="{FF2B5EF4-FFF2-40B4-BE49-F238E27FC236}">
                <a16:creationId xmlns:a16="http://schemas.microsoft.com/office/drawing/2014/main" id="{B7772135-4CA9-F2C2-AE8E-D094E605B339}"/>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752600"/>
            <a:ext cx="5705856" cy="4368800"/>
          </a:xfrm>
          <a:prstGeom prst="roundRect">
            <a:avLst/>
          </a:prstGeom>
          <a:ln w="12700">
            <a:solidFill>
              <a:srgbClr val="1E293B"/>
            </a:solidFill>
          </a:ln>
        </p:spPr>
      </p:pic>
      <p:grpSp>
        <p:nvGrpSpPr>
          <p:cNvPr id="12" name="!!Stage_Sub_Card_1">
            <a:extLst>
              <a:ext uri="{FF2B5EF4-FFF2-40B4-BE49-F238E27FC236}">
                <a16:creationId xmlns:a16="http://schemas.microsoft.com/office/drawing/2014/main" id="{DC65B411-8681-E58F-DC4E-576F6CA6DA51}"/>
              </a:ext>
            </a:extLst>
          </p:cNvPr>
          <p:cNvGrpSpPr/>
          <p:nvPr/>
        </p:nvGrpSpPr>
        <p:grpSpPr>
          <a:xfrm>
            <a:off x="6644640" y="1676400"/>
            <a:ext cx="4937760" cy="2184400"/>
            <a:chOff x="6644640" y="1676400"/>
            <a:chExt cx="4937760" cy="2184400"/>
          </a:xfrm>
        </p:grpSpPr>
        <p:sp>
          <p:nvSpPr>
            <p:cNvPr id="7" name="Rectangle: Rounded Corners 6">
              <a:extLst>
                <a:ext uri="{FF2B5EF4-FFF2-40B4-BE49-F238E27FC236}">
                  <a16:creationId xmlns:a16="http://schemas.microsoft.com/office/drawing/2014/main" id="{CAE70F2D-A93C-86A6-9E73-ACD24A71E52A}"/>
                </a:ext>
              </a:extLst>
            </p:cNvPr>
            <p:cNvSpPr/>
            <p:nvPr/>
          </p:nvSpPr>
          <p:spPr>
            <a:xfrm>
              <a:off x="6644640" y="1676400"/>
              <a:ext cx="4937760" cy="2184400"/>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57915B1-57BB-3FE6-8AA4-DA5E78A6F2B0}"/>
                </a:ext>
              </a:extLst>
            </p:cNvPr>
            <p:cNvSpPr/>
            <p:nvPr/>
          </p:nvSpPr>
          <p:spPr>
            <a:xfrm>
              <a:off x="6822440" y="18542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DE842B7A-C040-31F2-15BA-9B5889B042A9}"/>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1" name="TextBox 10">
              <a:extLst>
                <a:ext uri="{FF2B5EF4-FFF2-40B4-BE49-F238E27FC236}">
                  <a16:creationId xmlns:a16="http://schemas.microsoft.com/office/drawing/2014/main" id="{1DDE4C13-261A-D8CF-1D57-6895487D547F}"/>
                </a:ext>
              </a:extLst>
            </p:cNvPr>
            <p:cNvSpPr txBox="1"/>
            <p:nvPr/>
          </p:nvSpPr>
          <p:spPr>
            <a:xfrm>
              <a:off x="7305040" y="1803400"/>
              <a:ext cx="41503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Tỷ Suất Tái Sinh Thô (GRR)
</a:t>
              </a:r>
              <a:r>
                <a:rPr lang="vi-VN" sz="1400" b="1">
                  <a:solidFill>
                    <a:srgbClr val="CBD5E1"/>
                  </a:solidFill>
                  <a:latin typeface="Segoe UI" panose="020B0502040204020203" pitchFamily="34" charset="0"/>
                </a:rPr>
                <a:t>Số con gái trung bình một phụ nữ sinh ra nếu không tính đến rủi ro tử vong của người mẹ và con gái trước khi hết tuổi sinh sản.</a:t>
              </a:r>
              <a:endParaRPr lang="en-US" sz="1400" b="1">
                <a:solidFill>
                  <a:srgbClr val="CBD5E1"/>
                </a:solidFill>
                <a:latin typeface="Segoe UI" panose="020B0502040204020203" pitchFamily="34" charset="0"/>
              </a:endParaRPr>
            </a:p>
          </p:txBody>
        </p:sp>
      </p:grpSp>
      <p:grpSp>
        <p:nvGrpSpPr>
          <p:cNvPr id="18" name="!!Stage_Sub_Card_2">
            <a:extLst>
              <a:ext uri="{FF2B5EF4-FFF2-40B4-BE49-F238E27FC236}">
                <a16:creationId xmlns:a16="http://schemas.microsoft.com/office/drawing/2014/main" id="{BAAE7208-2627-AAEB-13C4-E9816C25500C}"/>
              </a:ext>
            </a:extLst>
          </p:cNvPr>
          <p:cNvGrpSpPr/>
          <p:nvPr/>
        </p:nvGrpSpPr>
        <p:grpSpPr>
          <a:xfrm>
            <a:off x="6644640" y="4013200"/>
            <a:ext cx="4937760" cy="2184400"/>
            <a:chOff x="6644640" y="4013200"/>
            <a:chExt cx="4937760" cy="2184400"/>
          </a:xfrm>
        </p:grpSpPr>
        <p:sp>
          <p:nvSpPr>
            <p:cNvPr id="13" name="Rectangle: Rounded Corners 12">
              <a:extLst>
                <a:ext uri="{FF2B5EF4-FFF2-40B4-BE49-F238E27FC236}">
                  <a16:creationId xmlns:a16="http://schemas.microsoft.com/office/drawing/2014/main" id="{70B253E6-07A0-DEC7-BE7A-0520217C82EC}"/>
                </a:ext>
              </a:extLst>
            </p:cNvPr>
            <p:cNvSpPr/>
            <p:nvPr/>
          </p:nvSpPr>
          <p:spPr>
            <a:xfrm>
              <a:off x="6644640" y="4013200"/>
              <a:ext cx="4937760" cy="21844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6E2FED5-C134-884A-FCFA-241D8ECB4404}"/>
                </a:ext>
              </a:extLst>
            </p:cNvPr>
            <p:cNvSpPr/>
            <p:nvPr/>
          </p:nvSpPr>
          <p:spPr>
            <a:xfrm>
              <a:off x="6822440" y="41910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45319FD0-918F-755A-9138-86D055DF86F4}"/>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4254500"/>
              <a:ext cx="254000" cy="254000"/>
            </a:xfrm>
            <a:prstGeom prst="rect">
              <a:avLst/>
            </a:prstGeom>
          </p:spPr>
        </p:pic>
        <p:sp>
          <p:nvSpPr>
            <p:cNvPr id="17" name="TextBox 16">
              <a:extLst>
                <a:ext uri="{FF2B5EF4-FFF2-40B4-BE49-F238E27FC236}">
                  <a16:creationId xmlns:a16="http://schemas.microsoft.com/office/drawing/2014/main" id="{215FA276-E9A2-07DD-6D49-A45F8F053CA1}"/>
                </a:ext>
              </a:extLst>
            </p:cNvPr>
            <p:cNvSpPr txBox="1"/>
            <p:nvPr/>
          </p:nvSpPr>
          <p:spPr>
            <a:xfrm>
              <a:off x="7305040" y="4140200"/>
              <a:ext cx="41503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Tỷ Suất Tái Sinh Thuần (NRR)
</a:t>
              </a:r>
              <a:r>
                <a:rPr lang="en-US" sz="1400" b="1">
                  <a:solidFill>
                    <a:srgbClr val="CBD5E1"/>
                  </a:solidFill>
                  <a:latin typeface="Segoe UI" panose="020B0502040204020203" pitchFamily="34" charset="0"/>
                </a:rPr>
                <a:t>Có tính đến xác suất sống sót của con gái từ khi sinh đến độ tuổi của mẹ. Nếu NRR = 1.0, dân số bảo đảm thay thế hoàn hảo.</a:t>
              </a:r>
            </a:p>
          </p:txBody>
        </p:sp>
      </p:grpSp>
      <p:sp>
        <p:nvSpPr>
          <p:cNvPr id="19" name="!!Anchor_Source_Footer">
            <a:extLst>
              <a:ext uri="{FF2B5EF4-FFF2-40B4-BE49-F238E27FC236}">
                <a16:creationId xmlns:a16="http://schemas.microsoft.com/office/drawing/2014/main" id="{47196874-68D5-8460-4435-617E8D154331}"/>
              </a:ext>
            </a:extLst>
          </p:cNvPr>
          <p:cNvSpPr txBox="1"/>
          <p:nvPr/>
        </p:nvSpPr>
        <p:spPr>
          <a:xfrm>
            <a:off x="609600" y="6273800"/>
            <a:ext cx="10972800" cy="246221"/>
          </a:xfrm>
          <a:prstGeom prst="rect">
            <a:avLst/>
          </a:prstGeom>
          <a:noFill/>
        </p:spPr>
        <p:txBody>
          <a:bodyPr vert="horz" rtlCol="0">
            <a:spAutoFit/>
          </a:bodyPr>
          <a:lstStyle/>
          <a:p>
            <a:r>
              <a:rPr lang="vi-VN" sz="1000">
                <a:solidFill>
                  <a:srgbClr val="CBD5E1"/>
                </a:solidFill>
                <a:latin typeface="Segoe UI" panose="020B0502040204020203" pitchFamily="34" charset="0"/>
              </a:rPr>
              <a:t>Giáo trình Dân số học đại cương</a:t>
            </a:r>
            <a:endParaRPr lang="en-US" sz="1000">
              <a:solidFill>
                <a:srgbClr val="CBD5E1"/>
              </a:solidFill>
              <a:latin typeface="Segoe UI" panose="020B0502040204020203" pitchFamily="34" charset="0"/>
            </a:endParaRPr>
          </a:p>
        </p:txBody>
      </p:sp>
    </p:spTree>
    <p:extLst>
      <p:ext uri="{BB962C8B-B14F-4D97-AF65-F5344CB8AC3E}">
        <p14:creationId xmlns:p14="http://schemas.microsoft.com/office/powerpoint/2010/main" val="30890540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450" fill="hold"/>
                                        <p:tgtEl>
                                          <p:spTgt spid="12"/>
                                        </p:tgtEl>
                                        <p:attrNameLst>
                                          <p:attrName>ppt_x</p:attrName>
                                        </p:attrNameLst>
                                      </p:cBhvr>
                                      <p:tavLst>
                                        <p:tav tm="0">
                                          <p:val>
                                            <p:strVal val="#ppt_x"/>
                                          </p:val>
                                        </p:tav>
                                        <p:tav tm="100000">
                                          <p:val>
                                            <p:strVal val="#ppt_x"/>
                                          </p:val>
                                        </p:tav>
                                      </p:tavLst>
                                    </p:anim>
                                    <p:anim calcmode="lin" valueType="num">
                                      <p:cBhvr additive="base">
                                        <p:cTn id="8" dur="45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450" fill="hold"/>
                                        <p:tgtEl>
                                          <p:spTgt spid="18"/>
                                        </p:tgtEl>
                                        <p:attrNameLst>
                                          <p:attrName>ppt_x</p:attrName>
                                        </p:attrNameLst>
                                      </p:cBhvr>
                                      <p:tavLst>
                                        <p:tav tm="0">
                                          <p:val>
                                            <p:strVal val="#ppt_x"/>
                                          </p:val>
                                        </p:tav>
                                        <p:tav tm="100000">
                                          <p:val>
                                            <p:strVal val="#ppt_x"/>
                                          </p:val>
                                        </p:tav>
                                      </p:tavLst>
                                    </p:anim>
                                    <p:anim calcmode="lin" valueType="num">
                                      <p:cBhvr additive="base">
                                        <p:cTn id="14"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0FB24BA6-F4BD-72A2-4FF6-C88BDE39A4DE}"/>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YẾU TỐ SINH HỌC  •  TRỌNG TÂM</a:t>
            </a:r>
          </a:p>
        </p:txBody>
      </p:sp>
      <p:sp>
        <p:nvSpPr>
          <p:cNvPr id="3" name="!!Anchor_Slide_Tracker">
            <a:extLst>
              <a:ext uri="{FF2B5EF4-FFF2-40B4-BE49-F238E27FC236}">
                <a16:creationId xmlns:a16="http://schemas.microsoft.com/office/drawing/2014/main" id="{46A16DA3-9510-E661-9470-861EE0692EAB}"/>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09 / 22</a:t>
            </a:r>
          </a:p>
        </p:txBody>
      </p:sp>
      <p:sp>
        <p:nvSpPr>
          <p:cNvPr id="4" name="!!Anchor_Assertion_Title">
            <a:extLst>
              <a:ext uri="{FF2B5EF4-FFF2-40B4-BE49-F238E27FC236}">
                <a16:creationId xmlns:a16="http://schemas.microsoft.com/office/drawing/2014/main" id="{232585E2-FE66-C87C-1FEA-B3B1BBFA840B}"/>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FFFFFF"/>
                </a:solidFill>
                <a:latin typeface="Segoe UI" panose="020B0502040204020203" pitchFamily="34" charset="0"/>
              </a:rPr>
              <a:t>Nhóm Yếu Tố Tự Nhiên Và Sinh Học Chi Phối Khả Năng Sinh Sản</a:t>
            </a:r>
          </a:p>
        </p:txBody>
      </p:sp>
      <p:grpSp>
        <p:nvGrpSpPr>
          <p:cNvPr id="12" name="!!Stage_Hero_Container">
            <a:extLst>
              <a:ext uri="{FF2B5EF4-FFF2-40B4-BE49-F238E27FC236}">
                <a16:creationId xmlns:a16="http://schemas.microsoft.com/office/drawing/2014/main" id="{A0723349-8F03-299D-F670-E0E48862957B}"/>
              </a:ext>
            </a:extLst>
          </p:cNvPr>
          <p:cNvGrpSpPr/>
          <p:nvPr/>
        </p:nvGrpSpPr>
        <p:grpSpPr>
          <a:xfrm>
            <a:off x="609600" y="1676400"/>
            <a:ext cx="5376672" cy="4521200"/>
            <a:chOff x="609600" y="1676400"/>
            <a:chExt cx="5376672" cy="4521200"/>
          </a:xfrm>
        </p:grpSpPr>
        <p:pic>
          <p:nvPicPr>
            <p:cNvPr id="6" name="Picture 5">
              <a:extLst>
                <a:ext uri="{FF2B5EF4-FFF2-40B4-BE49-F238E27FC236}">
                  <a16:creationId xmlns:a16="http://schemas.microsoft.com/office/drawing/2014/main" id="{315EDC4E-247F-BDE4-B7E9-2682F95BD7A9}"/>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676400"/>
              <a:ext cx="5376672" cy="3001010"/>
            </a:xfrm>
            <a:prstGeom prst="roundRect">
              <a:avLst/>
            </a:prstGeom>
            <a:ln w="12700">
              <a:solidFill>
                <a:srgbClr val="1E293B"/>
              </a:solidFill>
            </a:ln>
          </p:spPr>
        </p:pic>
        <p:sp>
          <p:nvSpPr>
            <p:cNvPr id="7" name="Rectangle: Rounded Corners 6">
              <a:extLst>
                <a:ext uri="{FF2B5EF4-FFF2-40B4-BE49-F238E27FC236}">
                  <a16:creationId xmlns:a16="http://schemas.microsoft.com/office/drawing/2014/main" id="{4D449E07-3BEC-93FA-E125-A72E3E1D077E}"/>
                </a:ext>
              </a:extLst>
            </p:cNvPr>
            <p:cNvSpPr/>
            <p:nvPr/>
          </p:nvSpPr>
          <p:spPr>
            <a:xfrm>
              <a:off x="609600" y="4829810"/>
              <a:ext cx="5376672" cy="1367790"/>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B440AD2-2681-CB10-BAA8-F63625084CE9}"/>
                </a:ext>
              </a:extLst>
            </p:cNvPr>
            <p:cNvSpPr/>
            <p:nvPr/>
          </p:nvSpPr>
          <p:spPr>
            <a:xfrm>
              <a:off x="787400" y="5007610"/>
              <a:ext cx="355600" cy="3556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AE955FF5-5225-0B4F-8A67-8ACB8377FEE9}"/>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50900" y="5071110"/>
              <a:ext cx="228600" cy="228600"/>
            </a:xfrm>
            <a:prstGeom prst="rect">
              <a:avLst/>
            </a:prstGeom>
          </p:spPr>
        </p:pic>
        <p:sp>
          <p:nvSpPr>
            <p:cNvPr id="11" name="TextBox 10">
              <a:extLst>
                <a:ext uri="{FF2B5EF4-FFF2-40B4-BE49-F238E27FC236}">
                  <a16:creationId xmlns:a16="http://schemas.microsoft.com/office/drawing/2014/main" id="{039D2DC2-C520-9936-DAFE-7160C617CA74}"/>
                </a:ext>
              </a:extLst>
            </p:cNvPr>
            <p:cNvSpPr txBox="1"/>
            <p:nvPr/>
          </p:nvSpPr>
          <p:spPr>
            <a:xfrm>
              <a:off x="1219200" y="4956810"/>
              <a:ext cx="4640072" cy="958852"/>
            </a:xfrm>
            <a:prstGeom prst="rect">
              <a:avLst/>
            </a:prstGeom>
            <a:noFill/>
          </p:spPr>
          <p:txBody>
            <a:bodyPr vert="horz" wrap="square" lIns="0" tIns="0" rtlCol="0">
              <a:spAutoFit/>
            </a:bodyPr>
            <a:lstStyle/>
            <a:p>
              <a:pPr>
                <a:lnSpc>
                  <a:spcPct val="120000"/>
                </a:lnSpc>
                <a:spcAft>
                  <a:spcPts val="300"/>
                </a:spcAft>
              </a:pPr>
              <a:r>
                <a:rPr lang="en-US" sz="1100" b="1">
                  <a:solidFill>
                    <a:srgbClr val="0284C7"/>
                  </a:solidFill>
                  <a:latin typeface="Segoe UI" panose="020B0502040204020203" pitchFamily="34" charset="0"/>
                </a:rPr>
                <a:t>THÔNG ĐIỆP CỐT LÕI
</a:t>
              </a:r>
              <a:r>
                <a:rPr lang="en-US" sz="1250" b="1">
                  <a:solidFill>
                    <a:srgbClr val="FFFFFF"/>
                  </a:solidFill>
                  <a:latin typeface="Segoe UI" panose="020B0502040204020203" pitchFamily="34" charset="0"/>
                </a:rPr>
                <a:t>Khả năng sinh sản sinh học chịu tác động của độ tuổi dậy thì, mãn kinh, khoảng cách giữa các lần sinh và tình trạng sức khỏe.</a:t>
              </a:r>
            </a:p>
          </p:txBody>
        </p:sp>
      </p:grpSp>
      <p:grpSp>
        <p:nvGrpSpPr>
          <p:cNvPr id="18" name="!!Stage_Sub_Card_1">
            <a:extLst>
              <a:ext uri="{FF2B5EF4-FFF2-40B4-BE49-F238E27FC236}">
                <a16:creationId xmlns:a16="http://schemas.microsoft.com/office/drawing/2014/main" id="{8C514CDA-46C8-295D-16BE-8F13741343B8}"/>
              </a:ext>
            </a:extLst>
          </p:cNvPr>
          <p:cNvGrpSpPr/>
          <p:nvPr/>
        </p:nvGrpSpPr>
        <p:grpSpPr>
          <a:xfrm>
            <a:off x="6214872" y="1676400"/>
            <a:ext cx="5367528" cy="1405467"/>
            <a:chOff x="6214872" y="1676400"/>
            <a:chExt cx="5367528" cy="1405467"/>
          </a:xfrm>
        </p:grpSpPr>
        <p:sp>
          <p:nvSpPr>
            <p:cNvPr id="13" name="Rectangle: Rounded Corners 12">
              <a:extLst>
                <a:ext uri="{FF2B5EF4-FFF2-40B4-BE49-F238E27FC236}">
                  <a16:creationId xmlns:a16="http://schemas.microsoft.com/office/drawing/2014/main" id="{02707E59-6A07-3CDE-8546-9BEED8542861}"/>
                </a:ext>
              </a:extLst>
            </p:cNvPr>
            <p:cNvSpPr/>
            <p:nvPr/>
          </p:nvSpPr>
          <p:spPr>
            <a:xfrm>
              <a:off x="6214872" y="1676400"/>
              <a:ext cx="5367528" cy="1405467"/>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E195C86-3EBA-86DF-CE63-F5F4E1E3F946}"/>
                </a:ext>
              </a:extLst>
            </p:cNvPr>
            <p:cNvSpPr/>
            <p:nvPr/>
          </p:nvSpPr>
          <p:spPr>
            <a:xfrm>
              <a:off x="6392672" y="18542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372B24FB-E6F8-3678-C7A5-96DA85CDE600}"/>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56172" y="1917700"/>
              <a:ext cx="254000" cy="254000"/>
            </a:xfrm>
            <a:prstGeom prst="rect">
              <a:avLst/>
            </a:prstGeom>
          </p:spPr>
        </p:pic>
        <p:sp>
          <p:nvSpPr>
            <p:cNvPr id="17" name="TextBox 16">
              <a:extLst>
                <a:ext uri="{FF2B5EF4-FFF2-40B4-BE49-F238E27FC236}">
                  <a16:creationId xmlns:a16="http://schemas.microsoft.com/office/drawing/2014/main" id="{28764C06-C565-F543-F9AA-D3CBD5334230}"/>
                </a:ext>
              </a:extLst>
            </p:cNvPr>
            <p:cNvSpPr txBox="1"/>
            <p:nvPr/>
          </p:nvSpPr>
          <p:spPr>
            <a:xfrm>
              <a:off x="6875272" y="1803400"/>
              <a:ext cx="4580128"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Khoảng Thời Gian Sinh Sản
</a:t>
              </a:r>
              <a:r>
                <a:rPr lang="en-US" sz="1400" b="1">
                  <a:solidFill>
                    <a:srgbClr val="CBD5E1"/>
                  </a:solidFill>
                  <a:latin typeface="Segoe UI" panose="020B0502040204020203" pitchFamily="34" charset="0"/>
                </a:rPr>
                <a:t>Thời kỳ từ khi có kinh nguyệt đầu tiên đến khi mãn kinh. Tuổi kết hôn càng muộn thì khoảng thời gian sinh sản thực tế càng bị rút ngắn.</a:t>
              </a:r>
            </a:p>
          </p:txBody>
        </p:sp>
      </p:grpSp>
      <p:grpSp>
        <p:nvGrpSpPr>
          <p:cNvPr id="24" name="!!Stage_Sub_Card_2">
            <a:extLst>
              <a:ext uri="{FF2B5EF4-FFF2-40B4-BE49-F238E27FC236}">
                <a16:creationId xmlns:a16="http://schemas.microsoft.com/office/drawing/2014/main" id="{93FB1ADD-3B56-A3D5-ECED-92E5D7D828E1}"/>
              </a:ext>
            </a:extLst>
          </p:cNvPr>
          <p:cNvGrpSpPr/>
          <p:nvPr/>
        </p:nvGrpSpPr>
        <p:grpSpPr>
          <a:xfrm>
            <a:off x="6214872" y="3234267"/>
            <a:ext cx="5367528" cy="1405466"/>
            <a:chOff x="6214872" y="3234267"/>
            <a:chExt cx="5367528" cy="1405466"/>
          </a:xfrm>
        </p:grpSpPr>
        <p:sp>
          <p:nvSpPr>
            <p:cNvPr id="19" name="Rectangle: Rounded Corners 18">
              <a:extLst>
                <a:ext uri="{FF2B5EF4-FFF2-40B4-BE49-F238E27FC236}">
                  <a16:creationId xmlns:a16="http://schemas.microsoft.com/office/drawing/2014/main" id="{B81AA335-9082-C82C-3C0E-19959228F22D}"/>
                </a:ext>
              </a:extLst>
            </p:cNvPr>
            <p:cNvSpPr/>
            <p:nvPr/>
          </p:nvSpPr>
          <p:spPr>
            <a:xfrm>
              <a:off x="6214872" y="3234267"/>
              <a:ext cx="5367528" cy="1405466"/>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4931D42-3A0D-BD70-B212-8B635E15FAA0}"/>
                </a:ext>
              </a:extLst>
            </p:cNvPr>
            <p:cNvSpPr/>
            <p:nvPr/>
          </p:nvSpPr>
          <p:spPr>
            <a:xfrm>
              <a:off x="6392672" y="3412067"/>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326EFB86-6008-0EEC-91A8-21A40E8C3DA6}"/>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456172" y="3475567"/>
              <a:ext cx="254000" cy="254000"/>
            </a:xfrm>
            <a:prstGeom prst="rect">
              <a:avLst/>
            </a:prstGeom>
          </p:spPr>
        </p:pic>
        <p:sp>
          <p:nvSpPr>
            <p:cNvPr id="23" name="TextBox 22">
              <a:extLst>
                <a:ext uri="{FF2B5EF4-FFF2-40B4-BE49-F238E27FC236}">
                  <a16:creationId xmlns:a16="http://schemas.microsoft.com/office/drawing/2014/main" id="{9B71DBD1-5288-0DF0-6BF1-08C37C358FD5}"/>
                </a:ext>
              </a:extLst>
            </p:cNvPr>
            <p:cNvSpPr txBox="1"/>
            <p:nvPr/>
          </p:nvSpPr>
          <p:spPr>
            <a:xfrm>
              <a:off x="6875272" y="3361267"/>
              <a:ext cx="4580128"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Thời Gian Vô Sinh Tạm Thời Sau Sinh
</a:t>
              </a:r>
              <a:r>
                <a:rPr lang="en-US" sz="1400" b="1">
                  <a:solidFill>
                    <a:srgbClr val="CBD5E1"/>
                  </a:solidFill>
                  <a:latin typeface="Segoe UI" panose="020B0502040204020203" pitchFamily="34" charset="0"/>
                </a:rPr>
                <a:t>Tác dụng ức chế rụng trứng tự nhiên khi nuôi con hoàn toàn bằng sữa mẹ kéo dài khoảng cách giữa các lần sinh.</a:t>
              </a:r>
            </a:p>
          </p:txBody>
        </p:sp>
      </p:grpSp>
      <p:grpSp>
        <p:nvGrpSpPr>
          <p:cNvPr id="30" name="!!Stage_Sub_Card_3">
            <a:extLst>
              <a:ext uri="{FF2B5EF4-FFF2-40B4-BE49-F238E27FC236}">
                <a16:creationId xmlns:a16="http://schemas.microsoft.com/office/drawing/2014/main" id="{75F5AC77-6B96-7976-57DB-D058F17A7512}"/>
              </a:ext>
            </a:extLst>
          </p:cNvPr>
          <p:cNvGrpSpPr/>
          <p:nvPr/>
        </p:nvGrpSpPr>
        <p:grpSpPr>
          <a:xfrm>
            <a:off x="6214872" y="4792133"/>
            <a:ext cx="5367528" cy="1405467"/>
            <a:chOff x="6214872" y="4792133"/>
            <a:chExt cx="5367528" cy="1405467"/>
          </a:xfrm>
        </p:grpSpPr>
        <p:sp>
          <p:nvSpPr>
            <p:cNvPr id="25" name="Rectangle: Rounded Corners 24">
              <a:extLst>
                <a:ext uri="{FF2B5EF4-FFF2-40B4-BE49-F238E27FC236}">
                  <a16:creationId xmlns:a16="http://schemas.microsoft.com/office/drawing/2014/main" id="{C4D3CD4B-51BE-CB33-70F7-C1A1655B4A26}"/>
                </a:ext>
              </a:extLst>
            </p:cNvPr>
            <p:cNvSpPr/>
            <p:nvPr/>
          </p:nvSpPr>
          <p:spPr>
            <a:xfrm>
              <a:off x="6214872" y="4792133"/>
              <a:ext cx="5367528" cy="1405467"/>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4857C47-5696-C5F4-FAD5-BAFC1F99B423}"/>
                </a:ext>
              </a:extLst>
            </p:cNvPr>
            <p:cNvSpPr/>
            <p:nvPr/>
          </p:nvSpPr>
          <p:spPr>
            <a:xfrm>
              <a:off x="6392672" y="4969933"/>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a:extLst>
                <a:ext uri="{FF2B5EF4-FFF2-40B4-BE49-F238E27FC236}">
                  <a16:creationId xmlns:a16="http://schemas.microsoft.com/office/drawing/2014/main" id="{9EF4C35A-850A-0E43-5617-2645905E9A42}"/>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456172" y="5033433"/>
              <a:ext cx="254000" cy="254000"/>
            </a:xfrm>
            <a:prstGeom prst="rect">
              <a:avLst/>
            </a:prstGeom>
          </p:spPr>
        </p:pic>
        <p:sp>
          <p:nvSpPr>
            <p:cNvPr id="29" name="TextBox 28">
              <a:extLst>
                <a:ext uri="{FF2B5EF4-FFF2-40B4-BE49-F238E27FC236}">
                  <a16:creationId xmlns:a16="http://schemas.microsoft.com/office/drawing/2014/main" id="{DD1552D7-E207-82F1-A3DF-FD51D329AF49}"/>
                </a:ext>
              </a:extLst>
            </p:cNvPr>
            <p:cNvSpPr txBox="1"/>
            <p:nvPr/>
          </p:nvSpPr>
          <p:spPr>
            <a:xfrm>
              <a:off x="6875272" y="4919133"/>
              <a:ext cx="4580128"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Tình Trạng Vô Sinh &amp; Hiếm Muộn
</a:t>
              </a:r>
              <a:r>
                <a:rPr lang="vi-VN" sz="1400" b="1">
                  <a:solidFill>
                    <a:srgbClr val="CBD5E1"/>
                  </a:solidFill>
                  <a:latin typeface="Segoe UI" panose="020B0502040204020203" pitchFamily="34" charset="0"/>
                </a:rPr>
                <a:t>Ô nhiễm môi trường, lối sống và bệnh lý khiến tỷ lệ vô sinh thứ phát gia tăng, cần sự can thiệp của y học hỗ trợ sinh sản.</a:t>
              </a:r>
              <a:endParaRPr lang="en-US" sz="1400" b="1">
                <a:solidFill>
                  <a:srgbClr val="CBD5E1"/>
                </a:solidFill>
                <a:latin typeface="Segoe UI" panose="020B0502040204020203" pitchFamily="34" charset="0"/>
              </a:endParaRPr>
            </a:p>
          </p:txBody>
        </p:sp>
      </p:grpSp>
      <p:sp>
        <p:nvSpPr>
          <p:cNvPr id="31" name="!!Anchor_Source_Footer">
            <a:extLst>
              <a:ext uri="{FF2B5EF4-FFF2-40B4-BE49-F238E27FC236}">
                <a16:creationId xmlns:a16="http://schemas.microsoft.com/office/drawing/2014/main" id="{05880563-8A71-DD70-F780-3FA8B5A20556}"/>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Y học sinh sản và nhân khẩu học</a:t>
            </a:r>
          </a:p>
        </p:txBody>
      </p:sp>
    </p:spTree>
    <p:extLst>
      <p:ext uri="{BB962C8B-B14F-4D97-AF65-F5344CB8AC3E}">
        <p14:creationId xmlns:p14="http://schemas.microsoft.com/office/powerpoint/2010/main" val="2327431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450" fill="hold"/>
                                        <p:tgtEl>
                                          <p:spTgt spid="24"/>
                                        </p:tgtEl>
                                        <p:attrNameLst>
                                          <p:attrName>ppt_x</p:attrName>
                                        </p:attrNameLst>
                                      </p:cBhvr>
                                      <p:tavLst>
                                        <p:tav tm="0">
                                          <p:val>
                                            <p:strVal val="#ppt_x"/>
                                          </p:val>
                                        </p:tav>
                                        <p:tav tm="100000">
                                          <p:val>
                                            <p:strVal val="#ppt_x"/>
                                          </p:val>
                                        </p:tav>
                                      </p:tavLst>
                                    </p:anim>
                                    <p:anim calcmode="lin" valueType="num">
                                      <p:cBhvr additive="base">
                                        <p:cTn id="14" dur="45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450" fill="hold"/>
                                        <p:tgtEl>
                                          <p:spTgt spid="30"/>
                                        </p:tgtEl>
                                        <p:attrNameLst>
                                          <p:attrName>ppt_x</p:attrName>
                                        </p:attrNameLst>
                                      </p:cBhvr>
                                      <p:tavLst>
                                        <p:tav tm="0">
                                          <p:val>
                                            <p:strVal val="#ppt_x"/>
                                          </p:val>
                                        </p:tav>
                                        <p:tav tm="100000">
                                          <p:val>
                                            <p:strVal val="#ppt_x"/>
                                          </p:val>
                                        </p:tav>
                                      </p:tavLst>
                                    </p:anim>
                                    <p:anim calcmode="lin" valueType="num">
                                      <p:cBhvr additive="base">
                                        <p:cTn id="20" dur="45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10A922C2-2D66-70B4-BCE0-A2EC6506B450}"/>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YẾU TỐ VĂN HÓA  •  TRỌNG TÂM</a:t>
            </a:r>
          </a:p>
        </p:txBody>
      </p:sp>
      <p:sp>
        <p:nvSpPr>
          <p:cNvPr id="3" name="!!Anchor_Slide_Tracker">
            <a:extLst>
              <a:ext uri="{FF2B5EF4-FFF2-40B4-BE49-F238E27FC236}">
                <a16:creationId xmlns:a16="http://schemas.microsoft.com/office/drawing/2014/main" id="{CBE683AC-F7A4-ACA1-C410-AA288E2B20F4}"/>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10 / 22</a:t>
            </a:r>
          </a:p>
        </p:txBody>
      </p:sp>
      <p:sp>
        <p:nvSpPr>
          <p:cNvPr id="4" name="!!Anchor_Assertion_Title">
            <a:extLst>
              <a:ext uri="{FF2B5EF4-FFF2-40B4-BE49-F238E27FC236}">
                <a16:creationId xmlns:a16="http://schemas.microsoft.com/office/drawing/2014/main" id="{980BB928-8716-555F-1CE8-7D206810915B}"/>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Nhóm Yếu Tố Phong Tục Tập Quán Và Tâm Lý Xã Hội Ảnh Hưởng Mức Sinh</a:t>
            </a:r>
            <a:endParaRPr lang="en-US" sz="2400" b="1">
              <a:solidFill>
                <a:srgbClr val="FFFFFF"/>
              </a:solidFill>
              <a:latin typeface="Segoe UI" panose="020B0502040204020203" pitchFamily="34" charset="0"/>
            </a:endParaRPr>
          </a:p>
        </p:txBody>
      </p:sp>
      <p:grpSp>
        <p:nvGrpSpPr>
          <p:cNvPr id="11" name="!!Stage_Hero_Container">
            <a:extLst>
              <a:ext uri="{FF2B5EF4-FFF2-40B4-BE49-F238E27FC236}">
                <a16:creationId xmlns:a16="http://schemas.microsoft.com/office/drawing/2014/main" id="{40497370-A561-4ABA-3B0A-AE5AF6D17723}"/>
              </a:ext>
            </a:extLst>
          </p:cNvPr>
          <p:cNvGrpSpPr/>
          <p:nvPr/>
        </p:nvGrpSpPr>
        <p:grpSpPr>
          <a:xfrm>
            <a:off x="609600" y="1676400"/>
            <a:ext cx="3522133" cy="4521200"/>
            <a:chOff x="609600" y="1676400"/>
            <a:chExt cx="3522133" cy="4521200"/>
          </a:xfrm>
        </p:grpSpPr>
        <p:sp>
          <p:nvSpPr>
            <p:cNvPr id="5" name="Rectangle: Rounded Corners 4">
              <a:extLst>
                <a:ext uri="{FF2B5EF4-FFF2-40B4-BE49-F238E27FC236}">
                  <a16:creationId xmlns:a16="http://schemas.microsoft.com/office/drawing/2014/main" id="{3E8E05B9-A716-2768-1C1D-5F6493A9DCED}"/>
                </a:ext>
              </a:extLst>
            </p:cNvPr>
            <p:cNvSpPr/>
            <p:nvPr/>
          </p:nvSpPr>
          <p:spPr>
            <a:xfrm>
              <a:off x="609600" y="1676400"/>
              <a:ext cx="3522133" cy="45212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939C364-52AA-63F6-5B3B-8D1B02402591}"/>
                </a:ext>
              </a:extLst>
            </p:cNvPr>
            <p:cNvSpPr/>
            <p:nvPr/>
          </p:nvSpPr>
          <p:spPr>
            <a:xfrm>
              <a:off x="812800"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FBEA7AB-ED93-5502-9B0A-35B320BC51D2}"/>
                </a:ext>
              </a:extLst>
            </p:cNvPr>
            <p:cNvSpPr/>
            <p:nvPr/>
          </p:nvSpPr>
          <p:spPr>
            <a:xfrm>
              <a:off x="812800" y="20066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58667F78-F2F1-4068-467A-C9322CE45696}"/>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2070100"/>
              <a:ext cx="279400" cy="279400"/>
            </a:xfrm>
            <a:prstGeom prst="rect">
              <a:avLst/>
            </a:prstGeom>
          </p:spPr>
        </p:pic>
        <p:sp>
          <p:nvSpPr>
            <p:cNvPr id="10" name="TextBox 9">
              <a:extLst>
                <a:ext uri="{FF2B5EF4-FFF2-40B4-BE49-F238E27FC236}">
                  <a16:creationId xmlns:a16="http://schemas.microsoft.com/office/drawing/2014/main" id="{4D3F27D3-AFBF-1ECF-9225-387C4BEECCA9}"/>
                </a:ext>
              </a:extLst>
            </p:cNvPr>
            <p:cNvSpPr txBox="1"/>
            <p:nvPr/>
          </p:nvSpPr>
          <p:spPr>
            <a:xfrm>
              <a:off x="812800" y="2540000"/>
              <a:ext cx="3115733" cy="1620572"/>
            </a:xfrm>
            <a:prstGeom prst="rect">
              <a:avLst/>
            </a:prstGeom>
            <a:noFill/>
          </p:spPr>
          <p:txBody>
            <a:bodyPr vert="horz" wrap="square" lIns="0" tIns="0" rtlCol="0">
              <a:spAutoFit/>
            </a:bodyPr>
            <a:lstStyle/>
            <a:p>
              <a:pPr>
                <a:lnSpc>
                  <a:spcPct val="125000"/>
                </a:lnSpc>
                <a:spcAft>
                  <a:spcPts val="800"/>
                </a:spcAft>
              </a:pPr>
              <a:r>
                <a:rPr lang="en-US" b="1">
                  <a:solidFill>
                    <a:srgbClr val="FFFFFF"/>
                  </a:solidFill>
                  <a:latin typeface="Segoe UI" panose="020B0502040204020203" pitchFamily="34" charset="0"/>
                </a:rPr>
                <a:t>Tâm Lý Chuộng Con Trai
</a:t>
              </a:r>
              <a:r>
                <a:rPr lang="vi-VN" sz="1500">
                  <a:solidFill>
                    <a:srgbClr val="CBD5E1"/>
                  </a:solidFill>
                  <a:latin typeface="Segoe UI" panose="020B0502040204020203" pitchFamily="34" charset="0"/>
                </a:rPr>
                <a:t>Quan niệm Nho giáo 'nhất nam viết hữu' thúc đẩy các cặp vợ chồng cố sinh cho được con trai, làm gia tăng số con và mất cân bằng SRB.</a:t>
              </a:r>
              <a:endParaRPr lang="en-US" sz="1500">
                <a:solidFill>
                  <a:srgbClr val="CBD5E1"/>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AC6665B0-0DCD-9C48-C184-1463DBBD5284}"/>
              </a:ext>
            </a:extLst>
          </p:cNvPr>
          <p:cNvGrpSpPr/>
          <p:nvPr/>
        </p:nvGrpSpPr>
        <p:grpSpPr>
          <a:xfrm>
            <a:off x="4334933" y="1676400"/>
            <a:ext cx="3522134" cy="4521200"/>
            <a:chOff x="4334933" y="1676400"/>
            <a:chExt cx="3522134" cy="4521200"/>
          </a:xfrm>
        </p:grpSpPr>
        <p:sp>
          <p:nvSpPr>
            <p:cNvPr id="12" name="Rectangle: Rounded Corners 11">
              <a:extLst>
                <a:ext uri="{FF2B5EF4-FFF2-40B4-BE49-F238E27FC236}">
                  <a16:creationId xmlns:a16="http://schemas.microsoft.com/office/drawing/2014/main" id="{FD824D2E-DA35-38FB-0A15-C99777472028}"/>
                </a:ext>
              </a:extLst>
            </p:cNvPr>
            <p:cNvSpPr/>
            <p:nvPr/>
          </p:nvSpPr>
          <p:spPr>
            <a:xfrm>
              <a:off x="4334933" y="1676400"/>
              <a:ext cx="3522134" cy="45212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33B621-49F7-054F-A9C5-406DC58F2366}"/>
                </a:ext>
              </a:extLst>
            </p:cNvPr>
            <p:cNvSpPr/>
            <p:nvPr/>
          </p:nvSpPr>
          <p:spPr>
            <a:xfrm>
              <a:off x="4538133"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8A69B95-898D-3973-05D1-07ABFE97855B}"/>
                </a:ext>
              </a:extLst>
            </p:cNvPr>
            <p:cNvSpPr/>
            <p:nvPr/>
          </p:nvSpPr>
          <p:spPr>
            <a:xfrm>
              <a:off x="4538133" y="20066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84661206-CF94-3E3E-EE4B-9C253C5FEFBD}"/>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2070100"/>
              <a:ext cx="279400" cy="279400"/>
            </a:xfrm>
            <a:prstGeom prst="rect">
              <a:avLst/>
            </a:prstGeom>
          </p:spPr>
        </p:pic>
        <p:sp>
          <p:nvSpPr>
            <p:cNvPr id="17" name="TextBox 16">
              <a:extLst>
                <a:ext uri="{FF2B5EF4-FFF2-40B4-BE49-F238E27FC236}">
                  <a16:creationId xmlns:a16="http://schemas.microsoft.com/office/drawing/2014/main" id="{5AC9F499-2CC2-DFE7-8E08-91535F966E04}"/>
                </a:ext>
              </a:extLst>
            </p:cNvPr>
            <p:cNvSpPr txBox="1"/>
            <p:nvPr/>
          </p:nvSpPr>
          <p:spPr>
            <a:xfrm>
              <a:off x="4538133" y="2540000"/>
              <a:ext cx="3115733" cy="1966820"/>
            </a:xfrm>
            <a:prstGeom prst="rect">
              <a:avLst/>
            </a:prstGeom>
            <a:noFill/>
          </p:spPr>
          <p:txBody>
            <a:bodyPr vert="horz" wrap="square" lIns="0" tIns="0" rtlCol="0">
              <a:spAutoFit/>
            </a:bodyPr>
            <a:lstStyle/>
            <a:p>
              <a:pPr>
                <a:lnSpc>
                  <a:spcPct val="125000"/>
                </a:lnSpc>
                <a:spcAft>
                  <a:spcPts val="800"/>
                </a:spcAft>
              </a:pPr>
              <a:r>
                <a:rPr lang="en-US" b="1">
                  <a:solidFill>
                    <a:srgbClr val="FFFFFF"/>
                  </a:solidFill>
                  <a:latin typeface="Segoe UI" panose="020B0502040204020203" pitchFamily="34" charset="0"/>
                </a:rPr>
                <a:t>Quan Niệm Gia Đình Trẻ Hiện Đại
</a:t>
              </a:r>
              <a:r>
                <a:rPr lang="vi-VN" sz="1500">
                  <a:solidFill>
                    <a:srgbClr val="CBD5E1"/>
                  </a:solidFill>
                  <a:latin typeface="Segoe UI" panose="020B0502040204020203" pitchFamily="34" charset="0"/>
                </a:rPr>
                <a:t>Thế hệ trẻ chuyển dịch sang lối sống đề cao tự do cá nhân, ưu tiên thăng tiến nghề nghiệp và giảm số con mong muốn xuống 1-2 con.</a:t>
              </a:r>
              <a:endParaRPr lang="en-US" sz="1500">
                <a:solidFill>
                  <a:srgbClr val="CBD5E1"/>
                </a:solidFill>
                <a:latin typeface="Segoe UI" panose="020B0502040204020203" pitchFamily="34" charset="0"/>
              </a:endParaRPr>
            </a:p>
          </p:txBody>
        </p:sp>
      </p:grpSp>
      <p:grpSp>
        <p:nvGrpSpPr>
          <p:cNvPr id="25" name="!!Stage_Sub_Card_2">
            <a:extLst>
              <a:ext uri="{FF2B5EF4-FFF2-40B4-BE49-F238E27FC236}">
                <a16:creationId xmlns:a16="http://schemas.microsoft.com/office/drawing/2014/main" id="{3D7C5FB2-1B6E-830B-C4E8-7CB3635A6FC1}"/>
              </a:ext>
            </a:extLst>
          </p:cNvPr>
          <p:cNvGrpSpPr/>
          <p:nvPr/>
        </p:nvGrpSpPr>
        <p:grpSpPr>
          <a:xfrm>
            <a:off x="8060267" y="1676400"/>
            <a:ext cx="3522133" cy="4521200"/>
            <a:chOff x="8060267" y="1676400"/>
            <a:chExt cx="3522133" cy="4521200"/>
          </a:xfrm>
        </p:grpSpPr>
        <p:sp>
          <p:nvSpPr>
            <p:cNvPr id="19" name="Rectangle: Rounded Corners 18">
              <a:extLst>
                <a:ext uri="{FF2B5EF4-FFF2-40B4-BE49-F238E27FC236}">
                  <a16:creationId xmlns:a16="http://schemas.microsoft.com/office/drawing/2014/main" id="{F7FFCF1B-3510-D1B6-2A04-52F9109798BC}"/>
                </a:ext>
              </a:extLst>
            </p:cNvPr>
            <p:cNvSpPr/>
            <p:nvPr/>
          </p:nvSpPr>
          <p:spPr>
            <a:xfrm>
              <a:off x="8060267" y="1676400"/>
              <a:ext cx="3522133" cy="45212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847E8D9-EED6-6A71-72ED-CB2434F246C5}"/>
                </a:ext>
              </a:extLst>
            </p:cNvPr>
            <p:cNvSpPr/>
            <p:nvPr/>
          </p:nvSpPr>
          <p:spPr>
            <a:xfrm>
              <a:off x="8263467"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2EE21BF-98CA-72E6-EA2F-98F11B7D2EAB}"/>
                </a:ext>
              </a:extLst>
            </p:cNvPr>
            <p:cNvSpPr/>
            <p:nvPr/>
          </p:nvSpPr>
          <p:spPr>
            <a:xfrm>
              <a:off x="8263467" y="20066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80598F5D-4A42-F728-A83C-761672E54BCC}"/>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2070100"/>
              <a:ext cx="279400" cy="279400"/>
            </a:xfrm>
            <a:prstGeom prst="rect">
              <a:avLst/>
            </a:prstGeom>
          </p:spPr>
        </p:pic>
        <p:sp>
          <p:nvSpPr>
            <p:cNvPr id="24" name="TextBox 23">
              <a:extLst>
                <a:ext uri="{FF2B5EF4-FFF2-40B4-BE49-F238E27FC236}">
                  <a16:creationId xmlns:a16="http://schemas.microsoft.com/office/drawing/2014/main" id="{7FD43A54-8187-AE86-4658-A794E263DB73}"/>
                </a:ext>
              </a:extLst>
            </p:cNvPr>
            <p:cNvSpPr txBox="1"/>
            <p:nvPr/>
          </p:nvSpPr>
          <p:spPr>
            <a:xfrm>
              <a:off x="8263467" y="2540000"/>
              <a:ext cx="3115733" cy="1966820"/>
            </a:xfrm>
            <a:prstGeom prst="rect">
              <a:avLst/>
            </a:prstGeom>
            <a:noFill/>
          </p:spPr>
          <p:txBody>
            <a:bodyPr vert="horz" wrap="square" lIns="0" tIns="0" rtlCol="0">
              <a:spAutoFit/>
            </a:bodyPr>
            <a:lstStyle/>
            <a:p>
              <a:pPr>
                <a:lnSpc>
                  <a:spcPct val="125000"/>
                </a:lnSpc>
                <a:spcAft>
                  <a:spcPts val="800"/>
                </a:spcAft>
              </a:pPr>
              <a:r>
                <a:rPr lang="en-US" b="1">
                  <a:solidFill>
                    <a:srgbClr val="FFFFFF"/>
                  </a:solidFill>
                  <a:latin typeface="Segoe UI" panose="020B0502040204020203" pitchFamily="34" charset="0"/>
                </a:rPr>
                <a:t>Tôn Giáo Và Niềm Tin Tâm Linh
</a:t>
              </a:r>
              <a:r>
                <a:rPr lang="en-US" sz="1500">
                  <a:solidFill>
                    <a:srgbClr val="CBD5E1"/>
                  </a:solidFill>
                  <a:latin typeface="Segoe UI" panose="020B0502040204020203" pitchFamily="34" charset="0"/>
                </a:rPr>
                <a:t>Các tín điều tôn giáo về hôn nhân, cấm đoán phá thai hoặc quan niệm năm sinh tốt/xấu tạo ra các làn sóng sinh biến động.</a:t>
              </a:r>
            </a:p>
          </p:txBody>
        </p:sp>
      </p:grpSp>
      <p:sp>
        <p:nvSpPr>
          <p:cNvPr id="26" name="!!Anchor_Source_Footer">
            <a:extLst>
              <a:ext uri="{FF2B5EF4-FFF2-40B4-BE49-F238E27FC236}">
                <a16:creationId xmlns:a16="http://schemas.microsoft.com/office/drawing/2014/main" id="{74E031F3-5CFC-5574-83C8-B390F85B2439}"/>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Xã hội học gia đình và mức sinh</a:t>
            </a:r>
          </a:p>
        </p:txBody>
      </p:sp>
    </p:spTree>
    <p:extLst>
      <p:ext uri="{BB962C8B-B14F-4D97-AF65-F5344CB8AC3E}">
        <p14:creationId xmlns:p14="http://schemas.microsoft.com/office/powerpoint/2010/main" val="11606389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450" fill="hold"/>
                                        <p:tgtEl>
                                          <p:spTgt spid="25"/>
                                        </p:tgtEl>
                                        <p:attrNameLst>
                                          <p:attrName>ppt_x</p:attrName>
                                        </p:attrNameLst>
                                      </p:cBhvr>
                                      <p:tavLst>
                                        <p:tav tm="0">
                                          <p:val>
                                            <p:strVal val="#ppt_x"/>
                                          </p:val>
                                        </p:tav>
                                        <p:tav tm="100000">
                                          <p:val>
                                            <p:strVal val="#ppt_x"/>
                                          </p:val>
                                        </p:tav>
                                      </p:tavLst>
                                    </p:anim>
                                    <p:anim calcmode="lin" valueType="num">
                                      <p:cBhvr additive="base">
                                        <p:cTn id="14" dur="45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8699EE33-67CB-5BFF-0FD7-B5C2E5E0924A}"/>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YẾU TỐ KINH TẾ  •  TRỌNG TÂM</a:t>
            </a:r>
          </a:p>
        </p:txBody>
      </p:sp>
      <p:sp>
        <p:nvSpPr>
          <p:cNvPr id="3" name="!!Anchor_Slide_Tracker">
            <a:extLst>
              <a:ext uri="{FF2B5EF4-FFF2-40B4-BE49-F238E27FC236}">
                <a16:creationId xmlns:a16="http://schemas.microsoft.com/office/drawing/2014/main" id="{74EAA1D4-C415-06AB-BB8F-681DE4110E8F}"/>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11 / 22</a:t>
            </a:r>
          </a:p>
        </p:txBody>
      </p:sp>
      <p:sp>
        <p:nvSpPr>
          <p:cNvPr id="4" name="!!Anchor_Assertion_Title">
            <a:extLst>
              <a:ext uri="{FF2B5EF4-FFF2-40B4-BE49-F238E27FC236}">
                <a16:creationId xmlns:a16="http://schemas.microsoft.com/office/drawing/2014/main" id="{BFCBFF6B-7624-E1D1-C3FC-08EEEA171BA5}"/>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Chi Phí Nuôi Dạy Con Cái Và Xu Hướng Giảm Mức Sinh Tại Các Đô Thị</a:t>
            </a:r>
            <a:endParaRPr lang="en-US" sz="2400" b="1">
              <a:solidFill>
                <a:srgbClr val="FFFFFF"/>
              </a:solidFill>
              <a:latin typeface="Segoe UI" panose="020B0502040204020203" pitchFamily="34" charset="0"/>
            </a:endParaRPr>
          </a:p>
        </p:txBody>
      </p:sp>
      <p:pic>
        <p:nvPicPr>
          <p:cNvPr id="6" name="!!Stage_Hero_Container">
            <a:extLst>
              <a:ext uri="{FF2B5EF4-FFF2-40B4-BE49-F238E27FC236}">
                <a16:creationId xmlns:a16="http://schemas.microsoft.com/office/drawing/2014/main" id="{1C191544-C13D-E813-7F12-369E54098C3E}"/>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752600"/>
            <a:ext cx="5705856" cy="4368800"/>
          </a:xfrm>
          <a:prstGeom prst="roundRect">
            <a:avLst/>
          </a:prstGeom>
          <a:ln w="12700">
            <a:solidFill>
              <a:srgbClr val="1E293B"/>
            </a:solidFill>
          </a:ln>
        </p:spPr>
      </p:pic>
      <p:grpSp>
        <p:nvGrpSpPr>
          <p:cNvPr id="12" name="!!Stage_Sub_Card_1">
            <a:extLst>
              <a:ext uri="{FF2B5EF4-FFF2-40B4-BE49-F238E27FC236}">
                <a16:creationId xmlns:a16="http://schemas.microsoft.com/office/drawing/2014/main" id="{9DD7B6B6-1E05-D766-8030-70B32CAAA6E7}"/>
              </a:ext>
            </a:extLst>
          </p:cNvPr>
          <p:cNvGrpSpPr/>
          <p:nvPr/>
        </p:nvGrpSpPr>
        <p:grpSpPr>
          <a:xfrm>
            <a:off x="6644640" y="1676400"/>
            <a:ext cx="4937760" cy="2184400"/>
            <a:chOff x="6644640" y="1676400"/>
            <a:chExt cx="4937760" cy="2184400"/>
          </a:xfrm>
        </p:grpSpPr>
        <p:sp>
          <p:nvSpPr>
            <p:cNvPr id="7" name="Rectangle: Rounded Corners 6">
              <a:extLst>
                <a:ext uri="{FF2B5EF4-FFF2-40B4-BE49-F238E27FC236}">
                  <a16:creationId xmlns:a16="http://schemas.microsoft.com/office/drawing/2014/main" id="{2AD04331-923C-D4EB-E11D-EC01181EFD1F}"/>
                </a:ext>
              </a:extLst>
            </p:cNvPr>
            <p:cNvSpPr/>
            <p:nvPr/>
          </p:nvSpPr>
          <p:spPr>
            <a:xfrm>
              <a:off x="6644640" y="1676400"/>
              <a:ext cx="4937760" cy="2184400"/>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078B169-FD18-8B33-2A5D-3A4E8061A4E5}"/>
                </a:ext>
              </a:extLst>
            </p:cNvPr>
            <p:cNvSpPr/>
            <p:nvPr/>
          </p:nvSpPr>
          <p:spPr>
            <a:xfrm>
              <a:off x="6822440" y="18542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E19461D2-BB4C-060A-B8ED-42C66BCEABEA}"/>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1" name="TextBox 10">
              <a:extLst>
                <a:ext uri="{FF2B5EF4-FFF2-40B4-BE49-F238E27FC236}">
                  <a16:creationId xmlns:a16="http://schemas.microsoft.com/office/drawing/2014/main" id="{1CEE97CA-5E0A-056D-FB48-DE2362144B56}"/>
                </a:ext>
              </a:extLst>
            </p:cNvPr>
            <p:cNvSpPr txBox="1"/>
            <p:nvPr/>
          </p:nvSpPr>
          <p:spPr>
            <a:xfrm>
              <a:off x="7305040" y="1803400"/>
              <a:ext cx="4150360" cy="990015"/>
            </a:xfrm>
            <a:prstGeom prst="rect">
              <a:avLst/>
            </a:prstGeom>
            <a:noFill/>
          </p:spPr>
          <p:txBody>
            <a:bodyPr vert="horz" wrap="square" tIns="0" rtlCol="0">
              <a:spAutoFit/>
            </a:bodyPr>
            <a:lstStyle/>
            <a:p>
              <a:pPr>
                <a:spcAft>
                  <a:spcPts val="400"/>
                </a:spcAft>
              </a:pPr>
              <a:r>
                <a:rPr lang="vi-VN" sz="1600" b="1">
                  <a:solidFill>
                    <a:srgbClr val="FFFFFF"/>
                  </a:solidFill>
                  <a:latin typeface="Segoe UI" panose="020B0502040204020203" pitchFamily="34" charset="0"/>
                </a:rPr>
                <a:t>Chi Phí Cơ Hội Và Đầu Tư Giáo Dục
</a:t>
              </a:r>
              <a:r>
                <a:rPr lang="vi-VN" sz="1400" b="1">
                  <a:solidFill>
                    <a:srgbClr val="CBD5E1"/>
                  </a:solidFill>
                  <a:latin typeface="Segoe UI" panose="020B0502040204020203" pitchFamily="34" charset="0"/>
                </a:rPr>
                <a:t>Giá nhà ở đắt đỏ, chi phí học hành tăng cao cùng chi phí cơ hội việc làm của phụ nữ khiến các gia đình đô thị trì hoãn sinh con.</a:t>
              </a:r>
              <a:endParaRPr lang="en-US" sz="1400" b="1">
                <a:solidFill>
                  <a:srgbClr val="CBD5E1"/>
                </a:solidFill>
                <a:latin typeface="Segoe UI" panose="020B0502040204020203" pitchFamily="34" charset="0"/>
              </a:endParaRPr>
            </a:p>
          </p:txBody>
        </p:sp>
      </p:grpSp>
      <p:grpSp>
        <p:nvGrpSpPr>
          <p:cNvPr id="18" name="!!Stage_Sub_Card_2">
            <a:extLst>
              <a:ext uri="{FF2B5EF4-FFF2-40B4-BE49-F238E27FC236}">
                <a16:creationId xmlns:a16="http://schemas.microsoft.com/office/drawing/2014/main" id="{5B21120B-A47C-DD5D-6CC1-1AA2C0BABF38}"/>
              </a:ext>
            </a:extLst>
          </p:cNvPr>
          <p:cNvGrpSpPr/>
          <p:nvPr/>
        </p:nvGrpSpPr>
        <p:grpSpPr>
          <a:xfrm>
            <a:off x="6644640" y="4013200"/>
            <a:ext cx="4937760" cy="2184400"/>
            <a:chOff x="6644640" y="4013200"/>
            <a:chExt cx="4937760" cy="2184400"/>
          </a:xfrm>
        </p:grpSpPr>
        <p:sp>
          <p:nvSpPr>
            <p:cNvPr id="13" name="Rectangle: Rounded Corners 12">
              <a:extLst>
                <a:ext uri="{FF2B5EF4-FFF2-40B4-BE49-F238E27FC236}">
                  <a16:creationId xmlns:a16="http://schemas.microsoft.com/office/drawing/2014/main" id="{28D12EF9-1DA7-2F10-309A-F89FAB0078E4}"/>
                </a:ext>
              </a:extLst>
            </p:cNvPr>
            <p:cNvSpPr/>
            <p:nvPr/>
          </p:nvSpPr>
          <p:spPr>
            <a:xfrm>
              <a:off x="6644640" y="4013200"/>
              <a:ext cx="4937760" cy="21844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492228F-30B3-51D6-098A-BA889BBDFDA2}"/>
                </a:ext>
              </a:extLst>
            </p:cNvPr>
            <p:cNvSpPr/>
            <p:nvPr/>
          </p:nvSpPr>
          <p:spPr>
            <a:xfrm>
              <a:off x="6822440" y="41910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A0474907-89CE-2CC2-7C71-3F3250D034BB}"/>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4254500"/>
              <a:ext cx="254000" cy="254000"/>
            </a:xfrm>
            <a:prstGeom prst="rect">
              <a:avLst/>
            </a:prstGeom>
          </p:spPr>
        </p:pic>
        <p:sp>
          <p:nvSpPr>
            <p:cNvPr id="17" name="TextBox 16">
              <a:extLst>
                <a:ext uri="{FF2B5EF4-FFF2-40B4-BE49-F238E27FC236}">
                  <a16:creationId xmlns:a16="http://schemas.microsoft.com/office/drawing/2014/main" id="{E8EF3737-B835-4FE5-D12C-F4BA2B11A473}"/>
                </a:ext>
              </a:extLst>
            </p:cNvPr>
            <p:cNvSpPr txBox="1"/>
            <p:nvPr/>
          </p:nvSpPr>
          <p:spPr>
            <a:xfrm>
              <a:off x="7305040" y="4140200"/>
              <a:ext cx="4150360" cy="990015"/>
            </a:xfrm>
            <a:prstGeom prst="rect">
              <a:avLst/>
            </a:prstGeom>
            <a:noFill/>
          </p:spPr>
          <p:txBody>
            <a:bodyPr vert="horz" wrap="square" tIns="0" rtlCol="0">
              <a:spAutoFit/>
            </a:bodyPr>
            <a:lstStyle/>
            <a:p>
              <a:pPr>
                <a:spcAft>
                  <a:spcPts val="400"/>
                </a:spcAft>
              </a:pPr>
              <a:r>
                <a:rPr lang="vi-VN" sz="1600" b="1">
                  <a:solidFill>
                    <a:srgbClr val="FFFFFF"/>
                  </a:solidFill>
                  <a:latin typeface="Segoe UI" panose="020B0502040204020203" pitchFamily="34" charset="0"/>
                </a:rPr>
                <a:t>Đánh Đổi Số Lượng - Chất Lượng
</a:t>
              </a:r>
              <a:r>
                <a:rPr lang="vi-VN" sz="1400" b="1">
                  <a:solidFill>
                    <a:srgbClr val="CBD5E1"/>
                  </a:solidFill>
                  <a:latin typeface="Segoe UI" panose="020B0502040204020203" pitchFamily="34" charset="0"/>
                </a:rPr>
                <a:t>Cha mẹ hiện đại chọn sinh ít con (1-2 con) để tập trung toàn bộ nguồn lực tài chính chăm lo điều kiện phát triển tốt nhất.</a:t>
              </a:r>
              <a:endParaRPr lang="en-US" sz="1400" b="1">
                <a:solidFill>
                  <a:srgbClr val="CBD5E1"/>
                </a:solidFill>
                <a:latin typeface="Segoe UI" panose="020B0502040204020203" pitchFamily="34" charset="0"/>
              </a:endParaRPr>
            </a:p>
          </p:txBody>
        </p:sp>
      </p:grpSp>
      <p:sp>
        <p:nvSpPr>
          <p:cNvPr id="19" name="!!Anchor_Source_Footer">
            <a:extLst>
              <a:ext uri="{FF2B5EF4-FFF2-40B4-BE49-F238E27FC236}">
                <a16:creationId xmlns:a16="http://schemas.microsoft.com/office/drawing/2014/main" id="{D3FF4374-BBC6-4AAD-395A-96977969784C}"/>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Kinh tế học nhân khẩu học (Gary Becker Model)</a:t>
            </a:r>
          </a:p>
        </p:txBody>
      </p:sp>
    </p:spTree>
    <p:extLst>
      <p:ext uri="{BB962C8B-B14F-4D97-AF65-F5344CB8AC3E}">
        <p14:creationId xmlns:p14="http://schemas.microsoft.com/office/powerpoint/2010/main" val="7126831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450" fill="hold"/>
                                        <p:tgtEl>
                                          <p:spTgt spid="12"/>
                                        </p:tgtEl>
                                        <p:attrNameLst>
                                          <p:attrName>ppt_x</p:attrName>
                                        </p:attrNameLst>
                                      </p:cBhvr>
                                      <p:tavLst>
                                        <p:tav tm="0">
                                          <p:val>
                                            <p:strVal val="#ppt_x"/>
                                          </p:val>
                                        </p:tav>
                                        <p:tav tm="100000">
                                          <p:val>
                                            <p:strVal val="#ppt_x"/>
                                          </p:val>
                                        </p:tav>
                                      </p:tavLst>
                                    </p:anim>
                                    <p:anim calcmode="lin" valueType="num">
                                      <p:cBhvr additive="base">
                                        <p:cTn id="8" dur="45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450" fill="hold"/>
                                        <p:tgtEl>
                                          <p:spTgt spid="18"/>
                                        </p:tgtEl>
                                        <p:attrNameLst>
                                          <p:attrName>ppt_x</p:attrName>
                                        </p:attrNameLst>
                                      </p:cBhvr>
                                      <p:tavLst>
                                        <p:tav tm="0">
                                          <p:val>
                                            <p:strVal val="#ppt_x"/>
                                          </p:val>
                                        </p:tav>
                                        <p:tav tm="100000">
                                          <p:val>
                                            <p:strVal val="#ppt_x"/>
                                          </p:val>
                                        </p:tav>
                                      </p:tavLst>
                                    </p:anim>
                                    <p:anim calcmode="lin" valueType="num">
                                      <p:cBhvr additive="base">
                                        <p:cTn id="14"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273800BB-1BEC-F054-A781-F4573D90D34E}"/>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MỨC SINH VIỆT NAM  •  TRỌNG TÂM</a:t>
            </a:r>
          </a:p>
        </p:txBody>
      </p:sp>
      <p:sp>
        <p:nvSpPr>
          <p:cNvPr id="3" name="!!Anchor_Slide_Tracker">
            <a:extLst>
              <a:ext uri="{FF2B5EF4-FFF2-40B4-BE49-F238E27FC236}">
                <a16:creationId xmlns:a16="http://schemas.microsoft.com/office/drawing/2014/main" id="{9A71C20E-F4DE-6C34-844F-C69D273C2E95}"/>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12 / 22</a:t>
            </a:r>
          </a:p>
        </p:txBody>
      </p:sp>
      <p:sp>
        <p:nvSpPr>
          <p:cNvPr id="4" name="!!Anchor_Assertion_Title">
            <a:extLst>
              <a:ext uri="{FF2B5EF4-FFF2-40B4-BE49-F238E27FC236}">
                <a16:creationId xmlns:a16="http://schemas.microsoft.com/office/drawing/2014/main" id="{21B08EFA-A559-1EEA-70C4-8F9E25FD6D82}"/>
              </a:ext>
            </a:extLst>
          </p:cNvPr>
          <p:cNvSpPr txBox="1"/>
          <p:nvPr/>
        </p:nvSpPr>
        <p:spPr>
          <a:xfrm>
            <a:off x="609600" y="711200"/>
            <a:ext cx="10972800" cy="738664"/>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Thực Trạng Mức Sinh Việt Nam: Đạt Thay Thế Toàn Quốc Nhưng Phân Hóa Vùng Miền</a:t>
            </a:r>
            <a:endParaRPr lang="en-US" sz="2400" b="1">
              <a:solidFill>
                <a:srgbClr val="FFFFFF"/>
              </a:solidFill>
              <a:latin typeface="Segoe UI" panose="020B0502040204020203" pitchFamily="34" charset="0"/>
            </a:endParaRPr>
          </a:p>
        </p:txBody>
      </p:sp>
      <p:grpSp>
        <p:nvGrpSpPr>
          <p:cNvPr id="11" name="!!Stage_Hero_Container">
            <a:extLst>
              <a:ext uri="{FF2B5EF4-FFF2-40B4-BE49-F238E27FC236}">
                <a16:creationId xmlns:a16="http://schemas.microsoft.com/office/drawing/2014/main" id="{89EA873F-5A13-37FE-CE53-69421F70E7C0}"/>
              </a:ext>
            </a:extLst>
          </p:cNvPr>
          <p:cNvGrpSpPr/>
          <p:nvPr/>
        </p:nvGrpSpPr>
        <p:grpSpPr>
          <a:xfrm>
            <a:off x="609600" y="1676400"/>
            <a:ext cx="6035040" cy="4521200"/>
            <a:chOff x="609600" y="1676400"/>
            <a:chExt cx="6035040" cy="4521200"/>
          </a:xfrm>
        </p:grpSpPr>
        <p:sp>
          <p:nvSpPr>
            <p:cNvPr id="5" name="Rectangle: Rounded Corners 4">
              <a:extLst>
                <a:ext uri="{FF2B5EF4-FFF2-40B4-BE49-F238E27FC236}">
                  <a16:creationId xmlns:a16="http://schemas.microsoft.com/office/drawing/2014/main" id="{027F594F-6FE0-6EF3-8506-179624C96B2D}"/>
                </a:ext>
              </a:extLst>
            </p:cNvPr>
            <p:cNvSpPr/>
            <p:nvPr/>
          </p:nvSpPr>
          <p:spPr>
            <a:xfrm>
              <a:off x="609600" y="1676400"/>
              <a:ext cx="6035040" cy="4521200"/>
            </a:xfrm>
            <a:prstGeom prst="roundRect">
              <a:avLst/>
            </a:prstGeom>
            <a:solidFill>
              <a:srgbClr val="0B132B"/>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A1B5BAE1-1728-098F-4980-84EB96B60C9B}"/>
                </a:ext>
              </a:extLst>
            </p:cNvPr>
            <p:cNvSpPr/>
            <p:nvPr/>
          </p:nvSpPr>
          <p:spPr>
            <a:xfrm>
              <a:off x="863600" y="1905000"/>
              <a:ext cx="1524000" cy="2794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0284C7"/>
                  </a:solidFill>
                  <a:latin typeface="Segoe UI" panose="020B0502040204020203" pitchFamily="34" charset="0"/>
                </a:rPr>
                <a:t>TRỌNG TÂM CỐT LÕI</a:t>
              </a:r>
            </a:p>
          </p:txBody>
        </p:sp>
        <p:sp>
          <p:nvSpPr>
            <p:cNvPr id="7" name="Oval 6">
              <a:extLst>
                <a:ext uri="{FF2B5EF4-FFF2-40B4-BE49-F238E27FC236}">
                  <a16:creationId xmlns:a16="http://schemas.microsoft.com/office/drawing/2014/main" id="{29B6EECC-AEED-229A-2C5D-C0075BE834B5}"/>
                </a:ext>
              </a:extLst>
            </p:cNvPr>
            <p:cNvSpPr/>
            <p:nvPr/>
          </p:nvSpPr>
          <p:spPr>
            <a:xfrm>
              <a:off x="863600" y="2286000"/>
              <a:ext cx="482600" cy="4826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95A62EE0-A6A8-DCE9-7917-0F7E9429C837}"/>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939800" y="2362200"/>
              <a:ext cx="330200" cy="330200"/>
            </a:xfrm>
            <a:prstGeom prst="rect">
              <a:avLst/>
            </a:prstGeom>
          </p:spPr>
        </p:pic>
        <p:sp>
          <p:nvSpPr>
            <p:cNvPr id="10" name="TextBox 9">
              <a:extLst>
                <a:ext uri="{FF2B5EF4-FFF2-40B4-BE49-F238E27FC236}">
                  <a16:creationId xmlns:a16="http://schemas.microsoft.com/office/drawing/2014/main" id="{D2A042CF-D112-21AA-52EC-BAD751CB7FA5}"/>
                </a:ext>
              </a:extLst>
            </p:cNvPr>
            <p:cNvSpPr txBox="1"/>
            <p:nvPr/>
          </p:nvSpPr>
          <p:spPr>
            <a:xfrm>
              <a:off x="863600" y="2870200"/>
              <a:ext cx="5527040" cy="1489447"/>
            </a:xfrm>
            <a:prstGeom prst="rect">
              <a:avLst/>
            </a:prstGeom>
            <a:noFill/>
          </p:spPr>
          <p:txBody>
            <a:bodyPr vert="horz" wrap="square" lIns="0" rtlCol="0">
              <a:spAutoFit/>
            </a:bodyPr>
            <a:lstStyle/>
            <a:p>
              <a:pPr>
                <a:lnSpc>
                  <a:spcPct val="130000"/>
                </a:lnSpc>
                <a:spcAft>
                  <a:spcPts val="1000"/>
                </a:spcAft>
              </a:pPr>
              <a:r>
                <a:rPr lang="en-US" sz="2000" b="1">
                  <a:solidFill>
                    <a:srgbClr val="FFFFFF"/>
                  </a:solidFill>
                  <a:latin typeface="Segoe UI" panose="020B0502040204020203" pitchFamily="34" charset="0"/>
                </a:rPr>
                <a:t>Vùng Đông Nam Bộ Sinh Rất Thấp
</a:t>
              </a:r>
              <a:r>
                <a:rPr lang="vi-VN" sz="1500" b="1">
                  <a:solidFill>
                    <a:srgbClr val="CBD5E1"/>
                  </a:solidFill>
                  <a:latin typeface="Segoe UI" panose="020B0502040204020203" pitchFamily="34" charset="0"/>
                </a:rPr>
                <a:t>TFR TP.HCM xuống mức kỷ lục 1.39 con/phụ nữ; Đồng bằng sông Cửu Long chỉ đạt 1.8 con. Nguy cơ thiếu hụt lao động tương lai.</a:t>
              </a:r>
              <a:endParaRPr lang="en-US" sz="1500" b="1">
                <a:solidFill>
                  <a:srgbClr val="CBD5E1"/>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652A0BFC-F49F-5631-B271-9F228568ABC7}"/>
              </a:ext>
            </a:extLst>
          </p:cNvPr>
          <p:cNvGrpSpPr/>
          <p:nvPr/>
        </p:nvGrpSpPr>
        <p:grpSpPr>
          <a:xfrm>
            <a:off x="6873240" y="1676400"/>
            <a:ext cx="4709160" cy="2171700"/>
            <a:chOff x="6873240" y="1676400"/>
            <a:chExt cx="4709160" cy="2171700"/>
          </a:xfrm>
        </p:grpSpPr>
        <p:sp>
          <p:nvSpPr>
            <p:cNvPr id="12" name="Rectangle: Rounded Corners 11">
              <a:extLst>
                <a:ext uri="{FF2B5EF4-FFF2-40B4-BE49-F238E27FC236}">
                  <a16:creationId xmlns:a16="http://schemas.microsoft.com/office/drawing/2014/main" id="{F16C3F96-0C6F-F087-ED9B-7CE04906A292}"/>
                </a:ext>
              </a:extLst>
            </p:cNvPr>
            <p:cNvSpPr/>
            <p:nvPr/>
          </p:nvSpPr>
          <p:spPr>
            <a:xfrm>
              <a:off x="6873240" y="1676400"/>
              <a:ext cx="4709160" cy="2171700"/>
            </a:xfrm>
            <a:prstGeom prst="roundRect">
              <a:avLst/>
            </a:prstGeom>
            <a:solidFill>
              <a:srgbClr val="0B132B"/>
            </a:solidFill>
            <a:ln>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F6C29A27-B506-07AF-59E9-6D6993659683}"/>
                </a:ext>
              </a:extLst>
            </p:cNvPr>
            <p:cNvSpPr/>
            <p:nvPr/>
          </p:nvSpPr>
          <p:spPr>
            <a:xfrm>
              <a:off x="7076440" y="1854200"/>
              <a:ext cx="1079500" cy="2540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TRỌNG ĐIỂM 01</a:t>
              </a:r>
            </a:p>
          </p:txBody>
        </p:sp>
        <p:sp>
          <p:nvSpPr>
            <p:cNvPr id="14" name="Oval 13">
              <a:extLst>
                <a:ext uri="{FF2B5EF4-FFF2-40B4-BE49-F238E27FC236}">
                  <a16:creationId xmlns:a16="http://schemas.microsoft.com/office/drawing/2014/main" id="{EB230723-A8F0-EAAB-1A04-AC886F027484}"/>
                </a:ext>
              </a:extLst>
            </p:cNvPr>
            <p:cNvSpPr/>
            <p:nvPr/>
          </p:nvSpPr>
          <p:spPr>
            <a:xfrm>
              <a:off x="7076440" y="21844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5583949C-BF32-0CED-5D22-159F475ABEBE}"/>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7139940" y="2247900"/>
              <a:ext cx="279400" cy="279400"/>
            </a:xfrm>
            <a:prstGeom prst="rect">
              <a:avLst/>
            </a:prstGeom>
          </p:spPr>
        </p:pic>
        <p:sp>
          <p:nvSpPr>
            <p:cNvPr id="17" name="TextBox 16">
              <a:extLst>
                <a:ext uri="{FF2B5EF4-FFF2-40B4-BE49-F238E27FC236}">
                  <a16:creationId xmlns:a16="http://schemas.microsoft.com/office/drawing/2014/main" id="{CD0DA827-BF76-3C9D-70A7-A824F841C0C4}"/>
                </a:ext>
              </a:extLst>
            </p:cNvPr>
            <p:cNvSpPr txBox="1"/>
            <p:nvPr/>
          </p:nvSpPr>
          <p:spPr>
            <a:xfrm>
              <a:off x="7609840" y="2108200"/>
              <a:ext cx="38201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Vùng Trung Du Miền Núi Sinh Cao
</a:t>
              </a:r>
              <a:r>
                <a:rPr lang="en-US" sz="1400" b="1">
                  <a:solidFill>
                    <a:srgbClr val="CBD5E1"/>
                  </a:solidFill>
                  <a:latin typeface="Segoe UI" panose="020B0502040204020203" pitchFamily="34" charset="0"/>
                </a:rPr>
                <a:t>Khu vực Trung du miền núi phía Bắc và Tây Nguyên có mức sinh trên 2.4 con/phụ nữ, gánh nặng nghèo đói và giáo dục còn lớn.</a:t>
              </a:r>
            </a:p>
          </p:txBody>
        </p:sp>
      </p:grpSp>
      <p:grpSp>
        <p:nvGrpSpPr>
          <p:cNvPr id="25" name="!!Stage_Sub_Card_2">
            <a:extLst>
              <a:ext uri="{FF2B5EF4-FFF2-40B4-BE49-F238E27FC236}">
                <a16:creationId xmlns:a16="http://schemas.microsoft.com/office/drawing/2014/main" id="{ECAF1324-AF94-7600-DFC3-0D26733285A2}"/>
              </a:ext>
            </a:extLst>
          </p:cNvPr>
          <p:cNvGrpSpPr/>
          <p:nvPr/>
        </p:nvGrpSpPr>
        <p:grpSpPr>
          <a:xfrm>
            <a:off x="6873240" y="4025900"/>
            <a:ext cx="4709160" cy="2171700"/>
            <a:chOff x="6873240" y="4025900"/>
            <a:chExt cx="4709160" cy="2171700"/>
          </a:xfrm>
        </p:grpSpPr>
        <p:sp>
          <p:nvSpPr>
            <p:cNvPr id="19" name="Rectangle: Rounded Corners 18">
              <a:extLst>
                <a:ext uri="{FF2B5EF4-FFF2-40B4-BE49-F238E27FC236}">
                  <a16:creationId xmlns:a16="http://schemas.microsoft.com/office/drawing/2014/main" id="{9E07B3E0-1294-8387-AAB4-5DB7EDAFAE0E}"/>
                </a:ext>
              </a:extLst>
            </p:cNvPr>
            <p:cNvSpPr/>
            <p:nvPr/>
          </p:nvSpPr>
          <p:spPr>
            <a:xfrm>
              <a:off x="6873240" y="4025900"/>
              <a:ext cx="4709160" cy="2171700"/>
            </a:xfrm>
            <a:prstGeom prst="roundRect">
              <a:avLst/>
            </a:prstGeom>
            <a:solidFill>
              <a:srgbClr val="0B132B"/>
            </a:solidFill>
            <a:ln>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563646B7-F7EE-06D8-2FE9-4F7216EAFB20}"/>
                </a:ext>
              </a:extLst>
            </p:cNvPr>
            <p:cNvSpPr/>
            <p:nvPr/>
          </p:nvSpPr>
          <p:spPr>
            <a:xfrm>
              <a:off x="7076440" y="4203700"/>
              <a:ext cx="1079500" cy="2540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TRỌNG ĐIỂM 02</a:t>
              </a:r>
            </a:p>
          </p:txBody>
        </p:sp>
        <p:sp>
          <p:nvSpPr>
            <p:cNvPr id="21" name="Oval 20">
              <a:extLst>
                <a:ext uri="{FF2B5EF4-FFF2-40B4-BE49-F238E27FC236}">
                  <a16:creationId xmlns:a16="http://schemas.microsoft.com/office/drawing/2014/main" id="{A77D007C-7746-FEDA-EDF2-0941D5311A04}"/>
                </a:ext>
              </a:extLst>
            </p:cNvPr>
            <p:cNvSpPr/>
            <p:nvPr/>
          </p:nvSpPr>
          <p:spPr>
            <a:xfrm>
              <a:off x="7076440" y="45339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5F94C675-5F1F-C075-AC70-5E328FED2CAB}"/>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7139940" y="4597400"/>
              <a:ext cx="279400" cy="279400"/>
            </a:xfrm>
            <a:prstGeom prst="rect">
              <a:avLst/>
            </a:prstGeom>
          </p:spPr>
        </p:pic>
        <p:sp>
          <p:nvSpPr>
            <p:cNvPr id="24" name="TextBox 23">
              <a:extLst>
                <a:ext uri="{FF2B5EF4-FFF2-40B4-BE49-F238E27FC236}">
                  <a16:creationId xmlns:a16="http://schemas.microsoft.com/office/drawing/2014/main" id="{82DC53E8-C2B9-322A-7E00-43EFF05BB431}"/>
                </a:ext>
              </a:extLst>
            </p:cNvPr>
            <p:cNvSpPr txBox="1"/>
            <p:nvPr/>
          </p:nvSpPr>
          <p:spPr>
            <a:xfrm>
              <a:off x="7609840" y="4457700"/>
              <a:ext cx="3820160" cy="1205458"/>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Chính Sách Điều Chỉnh Mức Sinh
</a:t>
              </a:r>
              <a:r>
                <a:rPr lang="vi-VN" sz="1400" b="1">
                  <a:solidFill>
                    <a:srgbClr val="CBD5E1"/>
                  </a:solidFill>
                  <a:latin typeface="Segoe UI" panose="020B0502040204020203" pitchFamily="34" charset="0"/>
                </a:rPr>
                <a:t>Chuyển từ khẩu hiệu 'mỗi cặp vợ chồng sinh 1-2 con' sang khuyến khích: Nơi sinh cao vận động sinh ít; nơi sinh thấp khuyến khích sinh đủ 2 con.</a:t>
              </a:r>
              <a:endParaRPr lang="en-US" sz="1400" b="1">
                <a:solidFill>
                  <a:srgbClr val="CBD5E1"/>
                </a:solidFill>
                <a:latin typeface="Segoe UI" panose="020B0502040204020203" pitchFamily="34" charset="0"/>
              </a:endParaRPr>
            </a:p>
          </p:txBody>
        </p:sp>
      </p:grpSp>
      <p:sp>
        <p:nvSpPr>
          <p:cNvPr id="26" name="!!Anchor_Source_Footer">
            <a:extLst>
              <a:ext uri="{FF2B5EF4-FFF2-40B4-BE49-F238E27FC236}">
                <a16:creationId xmlns:a16="http://schemas.microsoft.com/office/drawing/2014/main" id="{6AA3FAC3-B2F8-94ED-DAE5-1967620A61D8}"/>
              </a:ext>
            </a:extLst>
          </p:cNvPr>
          <p:cNvSpPr txBox="1"/>
          <p:nvPr/>
        </p:nvSpPr>
        <p:spPr>
          <a:xfrm>
            <a:off x="609600" y="6273800"/>
            <a:ext cx="10972800" cy="246221"/>
          </a:xfrm>
          <a:prstGeom prst="rect">
            <a:avLst/>
          </a:prstGeom>
          <a:noFill/>
        </p:spPr>
        <p:txBody>
          <a:bodyPr vert="horz" rtlCol="0">
            <a:spAutoFit/>
          </a:bodyPr>
          <a:lstStyle/>
          <a:p>
            <a:r>
              <a:rPr lang="vi-VN" sz="1000">
                <a:solidFill>
                  <a:srgbClr val="CBD5E1"/>
                </a:solidFill>
                <a:latin typeface="Segoe UI" panose="020B0502040204020203" pitchFamily="34" charset="0"/>
              </a:rPr>
              <a:t>Quyết định 588/QĐ-TTg phê duyệt Chương trình điều chỉnh mức sinh</a:t>
            </a:r>
            <a:endParaRPr lang="en-US" sz="1000">
              <a:solidFill>
                <a:srgbClr val="CBD5E1"/>
              </a:solidFill>
              <a:latin typeface="Segoe UI" panose="020B0502040204020203" pitchFamily="34" charset="0"/>
            </a:endParaRPr>
          </a:p>
        </p:txBody>
      </p:sp>
    </p:spTree>
    <p:extLst>
      <p:ext uri="{BB962C8B-B14F-4D97-AF65-F5344CB8AC3E}">
        <p14:creationId xmlns:p14="http://schemas.microsoft.com/office/powerpoint/2010/main" val="2596367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450" fill="hold"/>
                                        <p:tgtEl>
                                          <p:spTgt spid="25"/>
                                        </p:tgtEl>
                                        <p:attrNameLst>
                                          <p:attrName>ppt_x</p:attrName>
                                        </p:attrNameLst>
                                      </p:cBhvr>
                                      <p:tavLst>
                                        <p:tav tm="0">
                                          <p:val>
                                            <p:strVal val="#ppt_x"/>
                                          </p:val>
                                        </p:tav>
                                        <p:tav tm="100000">
                                          <p:val>
                                            <p:strVal val="#ppt_x"/>
                                          </p:val>
                                        </p:tav>
                                      </p:tavLst>
                                    </p:anim>
                                    <p:anim calcmode="lin" valueType="num">
                                      <p:cBhvr additive="base">
                                        <p:cTn id="14" dur="45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FCBE77E6-BA07-A957-55FD-78FEF9232C7A}"/>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MỨC CHẾT  •  TRỌNG TÂM</a:t>
            </a:r>
          </a:p>
        </p:txBody>
      </p:sp>
      <p:sp>
        <p:nvSpPr>
          <p:cNvPr id="3" name="!!Anchor_Slide_Tracker">
            <a:extLst>
              <a:ext uri="{FF2B5EF4-FFF2-40B4-BE49-F238E27FC236}">
                <a16:creationId xmlns:a16="http://schemas.microsoft.com/office/drawing/2014/main" id="{52DA7D27-9068-C788-D2D9-C501517634E1}"/>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13 / 22</a:t>
            </a:r>
          </a:p>
        </p:txBody>
      </p:sp>
      <p:sp>
        <p:nvSpPr>
          <p:cNvPr id="4" name="!!Anchor_Assertion_Title">
            <a:extLst>
              <a:ext uri="{FF2B5EF4-FFF2-40B4-BE49-F238E27FC236}">
                <a16:creationId xmlns:a16="http://schemas.microsoft.com/office/drawing/2014/main" id="{C1B9D43D-D7A6-2639-F2F4-B7A9D46CA6DE}"/>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FFFFFF"/>
                </a:solidFill>
                <a:latin typeface="Segoe UI" panose="020B0502040204020203" pitchFamily="34" charset="0"/>
              </a:rPr>
              <a:t>Khái Niệm Mức Chết (Mortality) Và Tỷ Suất Chết Thô (CDR)</a:t>
            </a:r>
          </a:p>
        </p:txBody>
      </p:sp>
      <p:grpSp>
        <p:nvGrpSpPr>
          <p:cNvPr id="8" name="!!Stage_Hero_Container">
            <a:extLst>
              <a:ext uri="{FF2B5EF4-FFF2-40B4-BE49-F238E27FC236}">
                <a16:creationId xmlns:a16="http://schemas.microsoft.com/office/drawing/2014/main" id="{108DB041-98F0-8A26-F790-920D4192719D}"/>
              </a:ext>
            </a:extLst>
          </p:cNvPr>
          <p:cNvGrpSpPr/>
          <p:nvPr/>
        </p:nvGrpSpPr>
        <p:grpSpPr>
          <a:xfrm>
            <a:off x="609600" y="1676400"/>
            <a:ext cx="10972800" cy="1117600"/>
            <a:chOff x="609600" y="1676400"/>
            <a:chExt cx="10972800" cy="1117600"/>
          </a:xfrm>
        </p:grpSpPr>
        <p:sp>
          <p:nvSpPr>
            <p:cNvPr id="5" name="Rectangle: Rounded Corners 4">
              <a:extLst>
                <a:ext uri="{FF2B5EF4-FFF2-40B4-BE49-F238E27FC236}">
                  <a16:creationId xmlns:a16="http://schemas.microsoft.com/office/drawing/2014/main" id="{03586683-C162-DCA6-5273-30CE7B32DB0A}"/>
                </a:ext>
              </a:extLst>
            </p:cNvPr>
            <p:cNvSpPr/>
            <p:nvPr/>
          </p:nvSpPr>
          <p:spPr>
            <a:xfrm>
              <a:off x="609600" y="1676400"/>
              <a:ext cx="10972800" cy="1117600"/>
            </a:xfrm>
            <a:prstGeom prst="roundRect">
              <a:avLst/>
            </a:prstGeom>
            <a:solidFill>
              <a:srgbClr val="0B132B"/>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35941DF1-A08B-8C41-5C2C-3FE06FB607A2}"/>
                </a:ext>
              </a:extLst>
            </p:cNvPr>
            <p:cNvSpPr/>
            <p:nvPr/>
          </p:nvSpPr>
          <p:spPr>
            <a:xfrm>
              <a:off x="863600" y="1803400"/>
              <a:ext cx="2413000" cy="2540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0284C7"/>
                  </a:solidFill>
                  <a:latin typeface="Segoe UI" panose="020B0502040204020203" pitchFamily="34" charset="0"/>
                </a:rPr>
                <a:t>CÔNG THỨC ĐỊNH LƯỢNG CHUẨN</a:t>
              </a:r>
              <a:endParaRPr lang="en-US" sz="900" b="1">
                <a:solidFill>
                  <a:srgbClr val="0284C7"/>
                </a:solidFill>
                <a:latin typeface="Segoe UI" panose="020B0502040204020203" pitchFamily="34" charset="0"/>
              </a:endParaRPr>
            </a:p>
          </p:txBody>
        </p:sp>
        <p:sp>
          <p:nvSpPr>
            <p:cNvPr id="7" name="TextBox 6">
              <a:extLst>
                <a:ext uri="{FF2B5EF4-FFF2-40B4-BE49-F238E27FC236}">
                  <a16:creationId xmlns:a16="http://schemas.microsoft.com/office/drawing/2014/main" id="{A112C3EB-E30C-5346-CE7C-FF85C9CBA7A6}"/>
                </a:ext>
              </a:extLst>
            </p:cNvPr>
            <p:cNvSpPr txBox="1"/>
            <p:nvPr/>
          </p:nvSpPr>
          <p:spPr>
            <a:xfrm>
              <a:off x="863600" y="2082800"/>
              <a:ext cx="10464800" cy="461665"/>
            </a:xfrm>
            <a:prstGeom prst="rect">
              <a:avLst/>
            </a:prstGeom>
            <a:noFill/>
          </p:spPr>
          <p:txBody>
            <a:bodyPr vert="horz" rtlCol="0">
              <a:spAutoFit/>
            </a:bodyPr>
            <a:lstStyle/>
            <a:p>
              <a:pPr algn="ctr"/>
              <a:r>
                <a:rPr lang="vi-VN" sz="2400" b="1">
                  <a:solidFill>
                    <a:srgbClr val="10B981"/>
                  </a:solidFill>
                  <a:latin typeface="Segoe UI" panose="020B0502040204020203" pitchFamily="34" charset="0"/>
                </a:rPr>
                <a:t>CDR = (D / P_tb) * 1,000  (Đơn vị: ‰ - Trên 1.000 dân trung bình)</a:t>
              </a:r>
              <a:endParaRPr lang="en-US" sz="2400" b="1">
                <a:solidFill>
                  <a:srgbClr val="10B981"/>
                </a:solidFill>
                <a:latin typeface="Segoe UI" panose="020B0502040204020203" pitchFamily="34" charset="0"/>
              </a:endParaRPr>
            </a:p>
          </p:txBody>
        </p:sp>
      </p:grpSp>
      <p:grpSp>
        <p:nvGrpSpPr>
          <p:cNvPr id="14" name="!!Stage_Sub_Card_1">
            <a:extLst>
              <a:ext uri="{FF2B5EF4-FFF2-40B4-BE49-F238E27FC236}">
                <a16:creationId xmlns:a16="http://schemas.microsoft.com/office/drawing/2014/main" id="{0054B56D-E1D2-74F0-E78D-4A6FF2716818}"/>
              </a:ext>
            </a:extLst>
          </p:cNvPr>
          <p:cNvGrpSpPr/>
          <p:nvPr/>
        </p:nvGrpSpPr>
        <p:grpSpPr>
          <a:xfrm>
            <a:off x="609600" y="2971800"/>
            <a:ext cx="5384800" cy="3225800"/>
            <a:chOff x="609600" y="2971800"/>
            <a:chExt cx="5384800" cy="3225800"/>
          </a:xfrm>
        </p:grpSpPr>
        <p:sp>
          <p:nvSpPr>
            <p:cNvPr id="9" name="Rectangle: Rounded Corners 8">
              <a:extLst>
                <a:ext uri="{FF2B5EF4-FFF2-40B4-BE49-F238E27FC236}">
                  <a16:creationId xmlns:a16="http://schemas.microsoft.com/office/drawing/2014/main" id="{D242EEFB-64B5-0BA8-BAA8-4FFA4F9C124F}"/>
                </a:ext>
              </a:extLst>
            </p:cNvPr>
            <p:cNvSpPr/>
            <p:nvPr/>
          </p:nvSpPr>
          <p:spPr>
            <a:xfrm>
              <a:off x="609600" y="2971800"/>
              <a:ext cx="5384800" cy="32258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3E86000-2D59-5C41-8C98-64AF0E13EEE2}"/>
                </a:ext>
              </a:extLst>
            </p:cNvPr>
            <p:cNvSpPr/>
            <p:nvPr/>
          </p:nvSpPr>
          <p:spPr>
            <a:xfrm>
              <a:off x="812800" y="31750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7ED7F699-9498-F878-EEB3-1688CB6E1B8B}"/>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3238500"/>
              <a:ext cx="279400" cy="279400"/>
            </a:xfrm>
            <a:prstGeom prst="rect">
              <a:avLst/>
            </a:prstGeom>
          </p:spPr>
        </p:pic>
        <p:sp>
          <p:nvSpPr>
            <p:cNvPr id="13" name="TextBox 12">
              <a:extLst>
                <a:ext uri="{FF2B5EF4-FFF2-40B4-BE49-F238E27FC236}">
                  <a16:creationId xmlns:a16="http://schemas.microsoft.com/office/drawing/2014/main" id="{93F4CE90-3A2A-DF2B-8A1B-7BEC70B4A8D1}"/>
                </a:ext>
              </a:extLst>
            </p:cNvPr>
            <p:cNvSpPr txBox="1"/>
            <p:nvPr/>
          </p:nvSpPr>
          <p:spPr>
            <a:xfrm>
              <a:off x="812800" y="3683000"/>
              <a:ext cx="4978400" cy="1184299"/>
            </a:xfrm>
            <a:prstGeom prst="rect">
              <a:avLst/>
            </a:prstGeom>
            <a:noFill/>
          </p:spPr>
          <p:txBody>
            <a:bodyPr vert="horz" wrap="square" lIns="0" tIns="0" rtlCol="0">
              <a:spAutoFit/>
            </a:bodyPr>
            <a:lstStyle/>
            <a:p>
              <a:pPr>
                <a:lnSpc>
                  <a:spcPct val="125000"/>
                </a:lnSpc>
                <a:spcAft>
                  <a:spcPts val="600"/>
                </a:spcAft>
              </a:pPr>
              <a:r>
                <a:rPr lang="en-US" sz="1600" b="1">
                  <a:solidFill>
                    <a:srgbClr val="FFFFFF"/>
                  </a:solidFill>
                  <a:latin typeface="Segoe UI" panose="020B0502040204020203" pitchFamily="34" charset="0"/>
                </a:rPr>
                <a:t>Công Thức Tỷ Suất Chết Thô (CDR)
</a:t>
              </a:r>
              <a:r>
                <a:rPr lang="vi-VN" sz="1350" b="1">
                  <a:solidFill>
                    <a:srgbClr val="CBD5E1"/>
                  </a:solidFill>
                  <a:latin typeface="Segoe UI" panose="020B0502040204020203" pitchFamily="34" charset="0"/>
                </a:rPr>
                <a:t>CDR = (D / P_tb) * 1,000 (đơn vị ‰). Với D là tổng số ca tử vong trong năm, P_tb là dân số trung bình. CDR Việt Nam hiện khoảng 6.1‰.</a:t>
              </a:r>
              <a:endParaRPr lang="en-US" sz="1350" b="1">
                <a:solidFill>
                  <a:srgbClr val="CBD5E1"/>
                </a:solidFill>
                <a:latin typeface="Segoe UI" panose="020B0502040204020203" pitchFamily="34" charset="0"/>
              </a:endParaRPr>
            </a:p>
          </p:txBody>
        </p:sp>
      </p:grpSp>
      <p:grpSp>
        <p:nvGrpSpPr>
          <p:cNvPr id="20" name="!!Stage_Sub_Card_2">
            <a:extLst>
              <a:ext uri="{FF2B5EF4-FFF2-40B4-BE49-F238E27FC236}">
                <a16:creationId xmlns:a16="http://schemas.microsoft.com/office/drawing/2014/main" id="{E5D3FA11-1B6A-1CE1-69AE-3CBD39A27166}"/>
              </a:ext>
            </a:extLst>
          </p:cNvPr>
          <p:cNvGrpSpPr/>
          <p:nvPr/>
        </p:nvGrpSpPr>
        <p:grpSpPr>
          <a:xfrm>
            <a:off x="6197600" y="2971800"/>
            <a:ext cx="5384800" cy="3225800"/>
            <a:chOff x="6197600" y="2971800"/>
            <a:chExt cx="5384800" cy="3225800"/>
          </a:xfrm>
        </p:grpSpPr>
        <p:sp>
          <p:nvSpPr>
            <p:cNvPr id="15" name="Rectangle: Rounded Corners 14">
              <a:extLst>
                <a:ext uri="{FF2B5EF4-FFF2-40B4-BE49-F238E27FC236}">
                  <a16:creationId xmlns:a16="http://schemas.microsoft.com/office/drawing/2014/main" id="{076004C5-FD7D-8370-5C23-4A653A759FB7}"/>
                </a:ext>
              </a:extLst>
            </p:cNvPr>
            <p:cNvSpPr/>
            <p:nvPr/>
          </p:nvSpPr>
          <p:spPr>
            <a:xfrm>
              <a:off x="6197600" y="2971800"/>
              <a:ext cx="5384800" cy="32258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A95A9F5F-8751-B93C-30FD-3480893FA4B7}"/>
                </a:ext>
              </a:extLst>
            </p:cNvPr>
            <p:cNvSpPr/>
            <p:nvPr/>
          </p:nvSpPr>
          <p:spPr>
            <a:xfrm>
              <a:off x="6400800" y="31750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7EF82E95-3F95-3DA6-1C88-10A777518D26}"/>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64300" y="3238500"/>
              <a:ext cx="279400" cy="279400"/>
            </a:xfrm>
            <a:prstGeom prst="rect">
              <a:avLst/>
            </a:prstGeom>
          </p:spPr>
        </p:pic>
        <p:sp>
          <p:nvSpPr>
            <p:cNvPr id="19" name="TextBox 18">
              <a:extLst>
                <a:ext uri="{FF2B5EF4-FFF2-40B4-BE49-F238E27FC236}">
                  <a16:creationId xmlns:a16="http://schemas.microsoft.com/office/drawing/2014/main" id="{707FE492-CA45-8988-3DDB-6B529A926E39}"/>
                </a:ext>
              </a:extLst>
            </p:cNvPr>
            <p:cNvSpPr txBox="1"/>
            <p:nvPr/>
          </p:nvSpPr>
          <p:spPr>
            <a:xfrm>
              <a:off x="6400800" y="3683000"/>
              <a:ext cx="4978400" cy="1184299"/>
            </a:xfrm>
            <a:prstGeom prst="rect">
              <a:avLst/>
            </a:prstGeom>
            <a:noFill/>
          </p:spPr>
          <p:txBody>
            <a:bodyPr vert="horz" wrap="square" lIns="0" tIns="0" rtlCol="0">
              <a:spAutoFit/>
            </a:bodyPr>
            <a:lstStyle/>
            <a:p>
              <a:pPr>
                <a:lnSpc>
                  <a:spcPct val="125000"/>
                </a:lnSpc>
                <a:spcAft>
                  <a:spcPts val="600"/>
                </a:spcAft>
              </a:pPr>
              <a:r>
                <a:rPr lang="vi-VN" sz="1600" b="1">
                  <a:solidFill>
                    <a:srgbClr val="FFFFFF"/>
                  </a:solidFill>
                  <a:latin typeface="Segoe UI" panose="020B0502040204020203" pitchFamily="34" charset="0"/>
                </a:rPr>
                <a:t>Nghịch Lý Cơ Cấu Dân Số Già
</a:t>
              </a:r>
              <a:r>
                <a:rPr lang="vi-VN" sz="1350" b="1">
                  <a:solidFill>
                    <a:srgbClr val="CBD5E1"/>
                  </a:solidFill>
                  <a:latin typeface="Segoe UI" panose="020B0502040204020203" pitchFamily="34" charset="0"/>
                </a:rPr>
                <a:t>Các nước phát triển có y tế cực tốt nhưng CDR lại cao hơn nước đang phát triển vì tỷ lệ người già trong dân số quá cao.</a:t>
              </a:r>
              <a:endParaRPr lang="en-US" sz="1350" b="1">
                <a:solidFill>
                  <a:srgbClr val="CBD5E1"/>
                </a:solidFill>
                <a:latin typeface="Segoe UI" panose="020B0502040204020203" pitchFamily="34" charset="0"/>
              </a:endParaRPr>
            </a:p>
          </p:txBody>
        </p:sp>
      </p:grpSp>
      <p:sp>
        <p:nvSpPr>
          <p:cNvPr id="21" name="!!Anchor_Source_Footer">
            <a:extLst>
              <a:ext uri="{FF2B5EF4-FFF2-40B4-BE49-F238E27FC236}">
                <a16:creationId xmlns:a16="http://schemas.microsoft.com/office/drawing/2014/main" id="{CF56C171-6F2B-BEDC-9B1E-EEE807B88749}"/>
              </a:ext>
            </a:extLst>
          </p:cNvPr>
          <p:cNvSpPr txBox="1"/>
          <p:nvPr/>
        </p:nvSpPr>
        <p:spPr>
          <a:xfrm>
            <a:off x="609600" y="6273800"/>
            <a:ext cx="10972800" cy="246221"/>
          </a:xfrm>
          <a:prstGeom prst="rect">
            <a:avLst/>
          </a:prstGeom>
          <a:noFill/>
        </p:spPr>
        <p:txBody>
          <a:bodyPr vert="horz" rtlCol="0">
            <a:spAutoFit/>
          </a:bodyPr>
          <a:lstStyle/>
          <a:p>
            <a:r>
              <a:rPr lang="vi-VN" sz="1000">
                <a:solidFill>
                  <a:srgbClr val="CBD5E1"/>
                </a:solidFill>
                <a:latin typeface="Segoe UI" panose="020B0502040204020203" pitchFamily="34" charset="0"/>
              </a:rPr>
              <a:t>Phương pháp thống kê mức chết</a:t>
            </a:r>
            <a:endParaRPr lang="en-US" sz="1000">
              <a:solidFill>
                <a:srgbClr val="CBD5E1"/>
              </a:solidFill>
              <a:latin typeface="Segoe UI" panose="020B0502040204020203" pitchFamily="34" charset="0"/>
            </a:endParaRPr>
          </a:p>
        </p:txBody>
      </p:sp>
    </p:spTree>
    <p:extLst>
      <p:ext uri="{BB962C8B-B14F-4D97-AF65-F5344CB8AC3E}">
        <p14:creationId xmlns:p14="http://schemas.microsoft.com/office/powerpoint/2010/main" val="19557976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450" fill="hold"/>
                                        <p:tgtEl>
                                          <p:spTgt spid="14"/>
                                        </p:tgtEl>
                                        <p:attrNameLst>
                                          <p:attrName>ppt_x</p:attrName>
                                        </p:attrNameLst>
                                      </p:cBhvr>
                                      <p:tavLst>
                                        <p:tav tm="0">
                                          <p:val>
                                            <p:strVal val="#ppt_x"/>
                                          </p:val>
                                        </p:tav>
                                        <p:tav tm="100000">
                                          <p:val>
                                            <p:strVal val="#ppt_x"/>
                                          </p:val>
                                        </p:tav>
                                      </p:tavLst>
                                    </p:anim>
                                    <p:anim calcmode="lin" valueType="num">
                                      <p:cBhvr additive="base">
                                        <p:cTn id="8"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62FE6E44-EDB6-FFBD-062B-AB3A214A9123}"/>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TỶ SUẤT ASDR  •  TRỌNG TÂM</a:t>
            </a:r>
          </a:p>
        </p:txBody>
      </p:sp>
      <p:sp>
        <p:nvSpPr>
          <p:cNvPr id="3" name="!!Anchor_Slide_Tracker">
            <a:extLst>
              <a:ext uri="{FF2B5EF4-FFF2-40B4-BE49-F238E27FC236}">
                <a16:creationId xmlns:a16="http://schemas.microsoft.com/office/drawing/2014/main" id="{181C7837-6C29-F11F-3124-6A4110719AF2}"/>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14 / 22</a:t>
            </a:r>
          </a:p>
        </p:txBody>
      </p:sp>
      <p:sp>
        <p:nvSpPr>
          <p:cNvPr id="4" name="!!Anchor_Assertion_Title">
            <a:extLst>
              <a:ext uri="{FF2B5EF4-FFF2-40B4-BE49-F238E27FC236}">
                <a16:creationId xmlns:a16="http://schemas.microsoft.com/office/drawing/2014/main" id="{5BCB9C08-9D16-8799-13D4-08AF2E4861FD}"/>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Tỷ Suất Chết Đặc Trưng Theo Tuổi (ASDR) Và Đồ Thị Hình Chữ U</a:t>
            </a:r>
            <a:endParaRPr lang="en-US" sz="2400" b="1">
              <a:solidFill>
                <a:srgbClr val="FFFFFF"/>
              </a:solidFill>
              <a:latin typeface="Segoe UI" panose="020B0502040204020203" pitchFamily="34" charset="0"/>
            </a:endParaRPr>
          </a:p>
        </p:txBody>
      </p:sp>
      <p:grpSp>
        <p:nvGrpSpPr>
          <p:cNvPr id="8" name="!!Stage_Hero_Container">
            <a:extLst>
              <a:ext uri="{FF2B5EF4-FFF2-40B4-BE49-F238E27FC236}">
                <a16:creationId xmlns:a16="http://schemas.microsoft.com/office/drawing/2014/main" id="{8EA54B98-E1F5-C4EF-447E-0591B5317453}"/>
              </a:ext>
            </a:extLst>
          </p:cNvPr>
          <p:cNvGrpSpPr/>
          <p:nvPr/>
        </p:nvGrpSpPr>
        <p:grpSpPr>
          <a:xfrm>
            <a:off x="609600" y="1676400"/>
            <a:ext cx="10972800" cy="1237397"/>
            <a:chOff x="609600" y="1676400"/>
            <a:chExt cx="10972800" cy="1237397"/>
          </a:xfrm>
        </p:grpSpPr>
        <p:sp>
          <p:nvSpPr>
            <p:cNvPr id="5" name="Rectangle: Rounded Corners 4">
              <a:extLst>
                <a:ext uri="{FF2B5EF4-FFF2-40B4-BE49-F238E27FC236}">
                  <a16:creationId xmlns:a16="http://schemas.microsoft.com/office/drawing/2014/main" id="{17B506B1-E616-A97D-A72D-917CA0F5C2E3}"/>
                </a:ext>
              </a:extLst>
            </p:cNvPr>
            <p:cNvSpPr/>
            <p:nvPr/>
          </p:nvSpPr>
          <p:spPr>
            <a:xfrm>
              <a:off x="609600" y="1676400"/>
              <a:ext cx="10972800" cy="1117600"/>
            </a:xfrm>
            <a:prstGeom prst="roundRect">
              <a:avLst/>
            </a:prstGeom>
            <a:solidFill>
              <a:srgbClr val="0B132B"/>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25B4D1E4-D18A-BD88-3CF1-6FDA244E88F5}"/>
                </a:ext>
              </a:extLst>
            </p:cNvPr>
            <p:cNvSpPr/>
            <p:nvPr/>
          </p:nvSpPr>
          <p:spPr>
            <a:xfrm>
              <a:off x="863600" y="1803400"/>
              <a:ext cx="2413000" cy="2540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0284C7"/>
                  </a:solidFill>
                  <a:latin typeface="Segoe UI" panose="020B0502040204020203" pitchFamily="34" charset="0"/>
                </a:rPr>
                <a:t>CÔNG THỨC ĐỊNH LƯỢNG CHUẨN</a:t>
              </a:r>
              <a:endParaRPr lang="en-US" sz="900" b="1">
                <a:solidFill>
                  <a:srgbClr val="0284C7"/>
                </a:solidFill>
                <a:latin typeface="Segoe UI" panose="020B0502040204020203" pitchFamily="34" charset="0"/>
              </a:endParaRPr>
            </a:p>
          </p:txBody>
        </p:sp>
        <p:sp>
          <p:nvSpPr>
            <p:cNvPr id="7" name="TextBox 6">
              <a:extLst>
                <a:ext uri="{FF2B5EF4-FFF2-40B4-BE49-F238E27FC236}">
                  <a16:creationId xmlns:a16="http://schemas.microsoft.com/office/drawing/2014/main" id="{3D1FDFA8-7D55-3336-8448-1C43CC33BDE3}"/>
                </a:ext>
              </a:extLst>
            </p:cNvPr>
            <p:cNvSpPr txBox="1"/>
            <p:nvPr/>
          </p:nvSpPr>
          <p:spPr>
            <a:xfrm>
              <a:off x="863600" y="2082800"/>
              <a:ext cx="10464800" cy="830997"/>
            </a:xfrm>
            <a:prstGeom prst="rect">
              <a:avLst/>
            </a:prstGeom>
            <a:noFill/>
          </p:spPr>
          <p:txBody>
            <a:bodyPr vert="horz" rtlCol="0">
              <a:spAutoFit/>
            </a:bodyPr>
            <a:lstStyle/>
            <a:p>
              <a:pPr algn="ctr"/>
              <a:r>
                <a:rPr lang="en-US" sz="2400" b="1">
                  <a:solidFill>
                    <a:srgbClr val="10B981"/>
                  </a:solidFill>
                  <a:latin typeface="Segoe UI" panose="020B0502040204020203" pitchFamily="34" charset="0"/>
                </a:rPr>
                <a:t>ASDR_x = (D_x / P_(x,tb)) * 1,000  (Đồ thị tử vong dạng chữ U kinh điển)</a:t>
              </a:r>
            </a:p>
          </p:txBody>
        </p:sp>
      </p:grpSp>
      <p:grpSp>
        <p:nvGrpSpPr>
          <p:cNvPr id="14" name="!!Stage_Sub_Card_1">
            <a:extLst>
              <a:ext uri="{FF2B5EF4-FFF2-40B4-BE49-F238E27FC236}">
                <a16:creationId xmlns:a16="http://schemas.microsoft.com/office/drawing/2014/main" id="{F80729BD-19A7-0451-EA3E-21E84CD3CED6}"/>
              </a:ext>
            </a:extLst>
          </p:cNvPr>
          <p:cNvGrpSpPr/>
          <p:nvPr/>
        </p:nvGrpSpPr>
        <p:grpSpPr>
          <a:xfrm>
            <a:off x="609600" y="2971800"/>
            <a:ext cx="3522133" cy="3225800"/>
            <a:chOff x="609600" y="2971800"/>
            <a:chExt cx="3522133" cy="3225800"/>
          </a:xfrm>
        </p:grpSpPr>
        <p:sp>
          <p:nvSpPr>
            <p:cNvPr id="9" name="Rectangle: Rounded Corners 8">
              <a:extLst>
                <a:ext uri="{FF2B5EF4-FFF2-40B4-BE49-F238E27FC236}">
                  <a16:creationId xmlns:a16="http://schemas.microsoft.com/office/drawing/2014/main" id="{4FF7C8F1-F5AD-CDF9-49D6-0FE7DE05CFB7}"/>
                </a:ext>
              </a:extLst>
            </p:cNvPr>
            <p:cNvSpPr/>
            <p:nvPr/>
          </p:nvSpPr>
          <p:spPr>
            <a:xfrm>
              <a:off x="609600" y="2971800"/>
              <a:ext cx="3522133" cy="32258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0C7D803-626F-57BA-3DF5-F075F6086D09}"/>
                </a:ext>
              </a:extLst>
            </p:cNvPr>
            <p:cNvSpPr/>
            <p:nvPr/>
          </p:nvSpPr>
          <p:spPr>
            <a:xfrm>
              <a:off x="812800" y="31750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F6BDAF78-F7B1-1D53-2FAD-914BE222651F}"/>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3238500"/>
              <a:ext cx="279400" cy="279400"/>
            </a:xfrm>
            <a:prstGeom prst="rect">
              <a:avLst/>
            </a:prstGeom>
          </p:spPr>
        </p:pic>
        <p:sp>
          <p:nvSpPr>
            <p:cNvPr id="13" name="TextBox 12">
              <a:extLst>
                <a:ext uri="{FF2B5EF4-FFF2-40B4-BE49-F238E27FC236}">
                  <a16:creationId xmlns:a16="http://schemas.microsoft.com/office/drawing/2014/main" id="{450332A3-15E9-308D-0D33-A7699AD23F3B}"/>
                </a:ext>
              </a:extLst>
            </p:cNvPr>
            <p:cNvSpPr txBox="1"/>
            <p:nvPr/>
          </p:nvSpPr>
          <p:spPr>
            <a:xfrm>
              <a:off x="812800" y="3683000"/>
              <a:ext cx="3115733" cy="1184299"/>
            </a:xfrm>
            <a:prstGeom prst="rect">
              <a:avLst/>
            </a:prstGeom>
            <a:noFill/>
          </p:spPr>
          <p:txBody>
            <a:bodyPr vert="horz" wrap="square" lIns="0" tIns="0" rtlCol="0">
              <a:spAutoFit/>
            </a:bodyPr>
            <a:lstStyle/>
            <a:p>
              <a:pPr>
                <a:lnSpc>
                  <a:spcPct val="125000"/>
                </a:lnSpc>
                <a:spcAft>
                  <a:spcPts val="600"/>
                </a:spcAft>
              </a:pPr>
              <a:r>
                <a:rPr lang="en-US" sz="1600" b="1">
                  <a:solidFill>
                    <a:srgbClr val="FFFFFF"/>
                  </a:solidFill>
                  <a:latin typeface="Segoe UI" panose="020B0502040204020203" pitchFamily="34" charset="0"/>
                </a:rPr>
                <a:t>Công Thức ASDR_x
</a:t>
              </a:r>
              <a:r>
                <a:rPr lang="vi-VN" sz="1350" b="1">
                  <a:solidFill>
                    <a:srgbClr val="CBD5E1"/>
                  </a:solidFill>
                  <a:latin typeface="Segoe UI" panose="020B0502040204020203" pitchFamily="34" charset="0"/>
                </a:rPr>
                <a:t>ASDR_x = (D_x / P_x) * 1,000 (đơn vị ‰). Với D_x là số người chết ở nhóm tuổi x, P_x là dân số nhóm tuổi x.</a:t>
              </a:r>
              <a:endParaRPr lang="en-US" sz="1350" b="1">
                <a:solidFill>
                  <a:srgbClr val="CBD5E1"/>
                </a:solidFill>
                <a:latin typeface="Segoe UI" panose="020B0502040204020203" pitchFamily="34" charset="0"/>
              </a:endParaRPr>
            </a:p>
          </p:txBody>
        </p:sp>
      </p:grpSp>
      <p:grpSp>
        <p:nvGrpSpPr>
          <p:cNvPr id="20" name="!!Stage_Sub_Card_2">
            <a:extLst>
              <a:ext uri="{FF2B5EF4-FFF2-40B4-BE49-F238E27FC236}">
                <a16:creationId xmlns:a16="http://schemas.microsoft.com/office/drawing/2014/main" id="{4D270FD8-AC80-FC00-BC01-E1259A4D3890}"/>
              </a:ext>
            </a:extLst>
          </p:cNvPr>
          <p:cNvGrpSpPr/>
          <p:nvPr/>
        </p:nvGrpSpPr>
        <p:grpSpPr>
          <a:xfrm>
            <a:off x="4334933" y="2971800"/>
            <a:ext cx="3522134" cy="3225800"/>
            <a:chOff x="4334933" y="2971800"/>
            <a:chExt cx="3522134" cy="3225800"/>
          </a:xfrm>
        </p:grpSpPr>
        <p:sp>
          <p:nvSpPr>
            <p:cNvPr id="15" name="Rectangle: Rounded Corners 14">
              <a:extLst>
                <a:ext uri="{FF2B5EF4-FFF2-40B4-BE49-F238E27FC236}">
                  <a16:creationId xmlns:a16="http://schemas.microsoft.com/office/drawing/2014/main" id="{DEB714A9-5B94-62E9-3CE7-F1F4EB6858BC}"/>
                </a:ext>
              </a:extLst>
            </p:cNvPr>
            <p:cNvSpPr/>
            <p:nvPr/>
          </p:nvSpPr>
          <p:spPr>
            <a:xfrm>
              <a:off x="4334933" y="2971800"/>
              <a:ext cx="3522134" cy="32258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85050C1-BB74-9E1A-E65A-6141C46D0CBA}"/>
                </a:ext>
              </a:extLst>
            </p:cNvPr>
            <p:cNvSpPr/>
            <p:nvPr/>
          </p:nvSpPr>
          <p:spPr>
            <a:xfrm>
              <a:off x="4538133" y="31750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D249E58A-4AD1-60FA-5ECC-6CBDCFBD606B}"/>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3238500"/>
              <a:ext cx="279400" cy="279400"/>
            </a:xfrm>
            <a:prstGeom prst="rect">
              <a:avLst/>
            </a:prstGeom>
          </p:spPr>
        </p:pic>
        <p:sp>
          <p:nvSpPr>
            <p:cNvPr id="19" name="TextBox 18">
              <a:extLst>
                <a:ext uri="{FF2B5EF4-FFF2-40B4-BE49-F238E27FC236}">
                  <a16:creationId xmlns:a16="http://schemas.microsoft.com/office/drawing/2014/main" id="{0BE014CB-45C8-BAB6-8731-092967D47E45}"/>
                </a:ext>
              </a:extLst>
            </p:cNvPr>
            <p:cNvSpPr txBox="1"/>
            <p:nvPr/>
          </p:nvSpPr>
          <p:spPr>
            <a:xfrm>
              <a:off x="4538133" y="3683000"/>
              <a:ext cx="3115733" cy="1751762"/>
            </a:xfrm>
            <a:prstGeom prst="rect">
              <a:avLst/>
            </a:prstGeom>
            <a:noFill/>
          </p:spPr>
          <p:txBody>
            <a:bodyPr vert="horz" wrap="square" lIns="0" tIns="0" rtlCol="0">
              <a:spAutoFit/>
            </a:bodyPr>
            <a:lstStyle/>
            <a:p>
              <a:pPr>
                <a:lnSpc>
                  <a:spcPct val="125000"/>
                </a:lnSpc>
                <a:spcAft>
                  <a:spcPts val="600"/>
                </a:spcAft>
              </a:pPr>
              <a:r>
                <a:rPr lang="en-US" sz="1600" b="1">
                  <a:solidFill>
                    <a:srgbClr val="FFFFFF"/>
                  </a:solidFill>
                  <a:latin typeface="Segoe UI" panose="020B0502040204020203" pitchFamily="34" charset="0"/>
                </a:rPr>
                <a:t>Đồ Thị Dạng Chữ U (U-Shaped Curve)
</a:t>
              </a:r>
              <a:r>
                <a:rPr lang="vi-VN" sz="1350" b="1">
                  <a:solidFill>
                    <a:srgbClr val="CBD5E1"/>
                  </a:solidFill>
                  <a:latin typeface="Segoe UI" panose="020B0502040204020203" pitchFamily="34" charset="0"/>
                </a:rPr>
                <a:t>Đường cong ASDR cao ở nhóm 0 tuổi, giảm xuống cực tiểu ở nhóm 10-14 tuổi, sau đó tăng cấp số nhân từ tuổi 50 trở đi.</a:t>
              </a:r>
              <a:endParaRPr lang="en-US" sz="1350" b="1">
                <a:solidFill>
                  <a:srgbClr val="CBD5E1"/>
                </a:solidFill>
                <a:latin typeface="Segoe UI" panose="020B0502040204020203" pitchFamily="34" charset="0"/>
              </a:endParaRPr>
            </a:p>
          </p:txBody>
        </p:sp>
      </p:grpSp>
      <p:grpSp>
        <p:nvGrpSpPr>
          <p:cNvPr id="26" name="!!Stage_Sub_Card_3">
            <a:extLst>
              <a:ext uri="{FF2B5EF4-FFF2-40B4-BE49-F238E27FC236}">
                <a16:creationId xmlns:a16="http://schemas.microsoft.com/office/drawing/2014/main" id="{7C2DF4E2-DB58-70A2-3BD9-8FF0B266BACD}"/>
              </a:ext>
            </a:extLst>
          </p:cNvPr>
          <p:cNvGrpSpPr/>
          <p:nvPr/>
        </p:nvGrpSpPr>
        <p:grpSpPr>
          <a:xfrm>
            <a:off x="8060267" y="2971800"/>
            <a:ext cx="3522133" cy="3225800"/>
            <a:chOff x="8060267" y="2971800"/>
            <a:chExt cx="3522133" cy="3225800"/>
          </a:xfrm>
        </p:grpSpPr>
        <p:sp>
          <p:nvSpPr>
            <p:cNvPr id="21" name="Rectangle: Rounded Corners 20">
              <a:extLst>
                <a:ext uri="{FF2B5EF4-FFF2-40B4-BE49-F238E27FC236}">
                  <a16:creationId xmlns:a16="http://schemas.microsoft.com/office/drawing/2014/main" id="{ECAD0B61-A04F-7203-BFF5-06B4C3C7A853}"/>
                </a:ext>
              </a:extLst>
            </p:cNvPr>
            <p:cNvSpPr/>
            <p:nvPr/>
          </p:nvSpPr>
          <p:spPr>
            <a:xfrm>
              <a:off x="8060267" y="2971800"/>
              <a:ext cx="3522133" cy="32258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5B43C6F-9FDD-4EBD-0E25-3B99C14B4716}"/>
                </a:ext>
              </a:extLst>
            </p:cNvPr>
            <p:cNvSpPr/>
            <p:nvPr/>
          </p:nvSpPr>
          <p:spPr>
            <a:xfrm>
              <a:off x="8263467" y="31750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11906C1B-8AE4-04E2-464E-27F467DBC6E1}"/>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3238500"/>
              <a:ext cx="279400" cy="279400"/>
            </a:xfrm>
            <a:prstGeom prst="rect">
              <a:avLst/>
            </a:prstGeom>
          </p:spPr>
        </p:pic>
        <p:sp>
          <p:nvSpPr>
            <p:cNvPr id="25" name="TextBox 24">
              <a:extLst>
                <a:ext uri="{FF2B5EF4-FFF2-40B4-BE49-F238E27FC236}">
                  <a16:creationId xmlns:a16="http://schemas.microsoft.com/office/drawing/2014/main" id="{8A39B2B6-5922-244B-409A-185A80E9BDA9}"/>
                </a:ext>
              </a:extLst>
            </p:cNvPr>
            <p:cNvSpPr txBox="1"/>
            <p:nvPr/>
          </p:nvSpPr>
          <p:spPr>
            <a:xfrm>
              <a:off x="8263467" y="3683000"/>
              <a:ext cx="3115733" cy="1443985"/>
            </a:xfrm>
            <a:prstGeom prst="rect">
              <a:avLst/>
            </a:prstGeom>
            <a:noFill/>
          </p:spPr>
          <p:txBody>
            <a:bodyPr vert="horz" wrap="square" lIns="0" tIns="0" rtlCol="0">
              <a:spAutoFit/>
            </a:bodyPr>
            <a:lstStyle/>
            <a:p>
              <a:pPr>
                <a:lnSpc>
                  <a:spcPct val="125000"/>
                </a:lnSpc>
                <a:spcAft>
                  <a:spcPts val="600"/>
                </a:spcAft>
              </a:pPr>
              <a:r>
                <a:rPr lang="en-US" sz="1600" b="1">
                  <a:solidFill>
                    <a:srgbClr val="FFFFFF"/>
                  </a:solidFill>
                  <a:latin typeface="Segoe UI" panose="020B0502040204020203" pitchFamily="34" charset="0"/>
                </a:rPr>
                <a:t>Khoảng Cách Tử Vong Giới Tính
</a:t>
              </a:r>
              <a:r>
                <a:rPr lang="vi-VN" sz="1350" b="1">
                  <a:solidFill>
                    <a:srgbClr val="CBD5E1"/>
                  </a:solidFill>
                  <a:latin typeface="Segoe UI" panose="020B0502040204020203" pitchFamily="34" charset="0"/>
                </a:rPr>
                <a:t>Ở hầu hết mọi lứa tuổi, tỷ suất chết của nam giới luôn cao hơn nữ giới do tai nạn lao động, lối sống và bệnh tim mạch.</a:t>
              </a:r>
              <a:endParaRPr lang="en-US" sz="1350" b="1">
                <a:solidFill>
                  <a:srgbClr val="CBD5E1"/>
                </a:solidFill>
                <a:latin typeface="Segoe UI" panose="020B0502040204020203" pitchFamily="34" charset="0"/>
              </a:endParaRPr>
            </a:p>
          </p:txBody>
        </p:sp>
      </p:grpSp>
      <p:sp>
        <p:nvSpPr>
          <p:cNvPr id="27" name="!!Anchor_Source_Footer">
            <a:extLst>
              <a:ext uri="{FF2B5EF4-FFF2-40B4-BE49-F238E27FC236}">
                <a16:creationId xmlns:a16="http://schemas.microsoft.com/office/drawing/2014/main" id="{D6B06D5B-3D6A-7A47-FCDF-D2EB70143353}"/>
              </a:ext>
            </a:extLst>
          </p:cNvPr>
          <p:cNvSpPr txBox="1"/>
          <p:nvPr/>
        </p:nvSpPr>
        <p:spPr>
          <a:xfrm>
            <a:off x="609600" y="6273800"/>
            <a:ext cx="10972800" cy="246221"/>
          </a:xfrm>
          <a:prstGeom prst="rect">
            <a:avLst/>
          </a:prstGeom>
          <a:noFill/>
        </p:spPr>
        <p:txBody>
          <a:bodyPr vert="horz" rtlCol="0">
            <a:spAutoFit/>
          </a:bodyPr>
          <a:lstStyle/>
          <a:p>
            <a:r>
              <a:rPr lang="vi-VN" sz="1000">
                <a:solidFill>
                  <a:srgbClr val="CBD5E1"/>
                </a:solidFill>
                <a:latin typeface="Segoe UI" panose="020B0502040204020203" pitchFamily="34" charset="0"/>
              </a:rPr>
              <a:t>Giáo trình Dân số học đại cương</a:t>
            </a:r>
            <a:endParaRPr lang="en-US" sz="1000">
              <a:solidFill>
                <a:srgbClr val="CBD5E1"/>
              </a:solidFill>
              <a:latin typeface="Segoe UI" panose="020B0502040204020203" pitchFamily="34" charset="0"/>
            </a:endParaRPr>
          </a:p>
        </p:txBody>
      </p:sp>
    </p:spTree>
    <p:extLst>
      <p:ext uri="{BB962C8B-B14F-4D97-AF65-F5344CB8AC3E}">
        <p14:creationId xmlns:p14="http://schemas.microsoft.com/office/powerpoint/2010/main" val="1599386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450" fill="hold"/>
                                        <p:tgtEl>
                                          <p:spTgt spid="14"/>
                                        </p:tgtEl>
                                        <p:attrNameLst>
                                          <p:attrName>ppt_x</p:attrName>
                                        </p:attrNameLst>
                                      </p:cBhvr>
                                      <p:tavLst>
                                        <p:tav tm="0">
                                          <p:val>
                                            <p:strVal val="#ppt_x"/>
                                          </p:val>
                                        </p:tav>
                                        <p:tav tm="100000">
                                          <p:val>
                                            <p:strVal val="#ppt_x"/>
                                          </p:val>
                                        </p:tav>
                                      </p:tavLst>
                                    </p:anim>
                                    <p:anim calcmode="lin" valueType="num">
                                      <p:cBhvr additive="base">
                                        <p:cTn id="8"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450" fill="hold"/>
                                        <p:tgtEl>
                                          <p:spTgt spid="26"/>
                                        </p:tgtEl>
                                        <p:attrNameLst>
                                          <p:attrName>ppt_x</p:attrName>
                                        </p:attrNameLst>
                                      </p:cBhvr>
                                      <p:tavLst>
                                        <p:tav tm="0">
                                          <p:val>
                                            <p:strVal val="#ppt_x"/>
                                          </p:val>
                                        </p:tav>
                                        <p:tav tm="100000">
                                          <p:val>
                                            <p:strVal val="#ppt_x"/>
                                          </p:val>
                                        </p:tav>
                                      </p:tavLst>
                                    </p:anim>
                                    <p:anim calcmode="lin" valueType="num">
                                      <p:cBhvr additive="base">
                                        <p:cTn id="20" dur="4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1AC67F5A-701C-A015-BCF5-F423FDF29488}"/>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TỬ VONG TRẺ EM  •  TRỌNG TÂM</a:t>
            </a:r>
          </a:p>
        </p:txBody>
      </p:sp>
      <p:sp>
        <p:nvSpPr>
          <p:cNvPr id="3" name="!!Anchor_Slide_Tracker">
            <a:extLst>
              <a:ext uri="{FF2B5EF4-FFF2-40B4-BE49-F238E27FC236}">
                <a16:creationId xmlns:a16="http://schemas.microsoft.com/office/drawing/2014/main" id="{1D59C0A0-BDDB-6579-0DF5-03E973268702}"/>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15 / 22</a:t>
            </a:r>
          </a:p>
        </p:txBody>
      </p:sp>
      <p:sp>
        <p:nvSpPr>
          <p:cNvPr id="4" name="!!Anchor_Assertion_Title">
            <a:extLst>
              <a:ext uri="{FF2B5EF4-FFF2-40B4-BE49-F238E27FC236}">
                <a16:creationId xmlns:a16="http://schemas.microsoft.com/office/drawing/2014/main" id="{6809913D-DCD5-BB5C-2DB4-B09A7F4B69CC}"/>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Đo Lường Tử Vong Trẻ Em: Tỷ Suất IMR Và U5MR Phản Ánh Trình Độ Y Tế</a:t>
            </a:r>
            <a:endParaRPr lang="en-US" sz="2400" b="1">
              <a:solidFill>
                <a:srgbClr val="FFFFFF"/>
              </a:solidFill>
              <a:latin typeface="Segoe UI" panose="020B0502040204020203" pitchFamily="34" charset="0"/>
            </a:endParaRPr>
          </a:p>
        </p:txBody>
      </p:sp>
      <p:grpSp>
        <p:nvGrpSpPr>
          <p:cNvPr id="8" name="!!Stage_Hero_Container">
            <a:extLst>
              <a:ext uri="{FF2B5EF4-FFF2-40B4-BE49-F238E27FC236}">
                <a16:creationId xmlns:a16="http://schemas.microsoft.com/office/drawing/2014/main" id="{5DC643DA-2077-3654-822C-1AF7ECD14FF8}"/>
              </a:ext>
            </a:extLst>
          </p:cNvPr>
          <p:cNvGrpSpPr/>
          <p:nvPr/>
        </p:nvGrpSpPr>
        <p:grpSpPr>
          <a:xfrm>
            <a:off x="609600" y="1676400"/>
            <a:ext cx="10972800" cy="1117600"/>
            <a:chOff x="609600" y="1676400"/>
            <a:chExt cx="10972800" cy="1117600"/>
          </a:xfrm>
        </p:grpSpPr>
        <p:sp>
          <p:nvSpPr>
            <p:cNvPr id="5" name="Rectangle: Rounded Corners 4">
              <a:extLst>
                <a:ext uri="{FF2B5EF4-FFF2-40B4-BE49-F238E27FC236}">
                  <a16:creationId xmlns:a16="http://schemas.microsoft.com/office/drawing/2014/main" id="{A42841A7-11E5-E318-BCA1-DDBAF7A08868}"/>
                </a:ext>
              </a:extLst>
            </p:cNvPr>
            <p:cNvSpPr/>
            <p:nvPr/>
          </p:nvSpPr>
          <p:spPr>
            <a:xfrm>
              <a:off x="609600" y="1676400"/>
              <a:ext cx="10972800" cy="1117600"/>
            </a:xfrm>
            <a:prstGeom prst="roundRect">
              <a:avLst/>
            </a:prstGeom>
            <a:solidFill>
              <a:srgbClr val="0B132B"/>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87B14B8D-01D7-DFDA-5627-268A0DA82AD5}"/>
                </a:ext>
              </a:extLst>
            </p:cNvPr>
            <p:cNvSpPr/>
            <p:nvPr/>
          </p:nvSpPr>
          <p:spPr>
            <a:xfrm>
              <a:off x="863600" y="1803400"/>
              <a:ext cx="2413000" cy="2540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0284C7"/>
                  </a:solidFill>
                  <a:latin typeface="Segoe UI" panose="020B0502040204020203" pitchFamily="34" charset="0"/>
                </a:rPr>
                <a:t>CÔNG THỨC ĐỊNH LƯỢNG CHUẨN</a:t>
              </a:r>
              <a:endParaRPr lang="en-US" sz="900" b="1">
                <a:solidFill>
                  <a:srgbClr val="0284C7"/>
                </a:solidFill>
                <a:latin typeface="Segoe UI" panose="020B0502040204020203" pitchFamily="34" charset="0"/>
              </a:endParaRPr>
            </a:p>
          </p:txBody>
        </p:sp>
        <p:sp>
          <p:nvSpPr>
            <p:cNvPr id="7" name="TextBox 6">
              <a:extLst>
                <a:ext uri="{FF2B5EF4-FFF2-40B4-BE49-F238E27FC236}">
                  <a16:creationId xmlns:a16="http://schemas.microsoft.com/office/drawing/2014/main" id="{F13ACF7C-CE25-0235-504E-DFC0FCC2240C}"/>
                </a:ext>
              </a:extLst>
            </p:cNvPr>
            <p:cNvSpPr txBox="1"/>
            <p:nvPr/>
          </p:nvSpPr>
          <p:spPr>
            <a:xfrm>
              <a:off x="863600" y="2082800"/>
              <a:ext cx="10464800" cy="461665"/>
            </a:xfrm>
            <a:prstGeom prst="rect">
              <a:avLst/>
            </a:prstGeom>
            <a:noFill/>
          </p:spPr>
          <p:txBody>
            <a:bodyPr vert="horz" rtlCol="0">
              <a:spAutoFit/>
            </a:bodyPr>
            <a:lstStyle/>
            <a:p>
              <a:pPr algn="ctr"/>
              <a:r>
                <a:rPr lang="en-US" sz="2400" b="1">
                  <a:solidFill>
                    <a:srgbClr val="10B981"/>
                  </a:solidFill>
                  <a:latin typeface="Segoe UI" panose="020B0502040204020203" pitchFamily="34" charset="0"/>
                </a:rPr>
                <a:t>IMR = (D_0 / B) * 1,000  |  U5MR = (D_0-4 / B) * 1,000  (‰)</a:t>
              </a:r>
            </a:p>
          </p:txBody>
        </p:sp>
      </p:grpSp>
      <p:grpSp>
        <p:nvGrpSpPr>
          <p:cNvPr id="14" name="!!Stage_Sub_Card_1">
            <a:extLst>
              <a:ext uri="{FF2B5EF4-FFF2-40B4-BE49-F238E27FC236}">
                <a16:creationId xmlns:a16="http://schemas.microsoft.com/office/drawing/2014/main" id="{F8AF183B-476B-D5BF-DB8F-7475FAF8E2CE}"/>
              </a:ext>
            </a:extLst>
          </p:cNvPr>
          <p:cNvGrpSpPr/>
          <p:nvPr/>
        </p:nvGrpSpPr>
        <p:grpSpPr>
          <a:xfrm>
            <a:off x="609600" y="2971800"/>
            <a:ext cx="3522133" cy="3225800"/>
            <a:chOff x="609600" y="2971800"/>
            <a:chExt cx="3522133" cy="3225800"/>
          </a:xfrm>
        </p:grpSpPr>
        <p:sp>
          <p:nvSpPr>
            <p:cNvPr id="9" name="Rectangle: Rounded Corners 8">
              <a:extLst>
                <a:ext uri="{FF2B5EF4-FFF2-40B4-BE49-F238E27FC236}">
                  <a16:creationId xmlns:a16="http://schemas.microsoft.com/office/drawing/2014/main" id="{673E9DD8-24B0-2B26-2A5B-B920598FAADA}"/>
                </a:ext>
              </a:extLst>
            </p:cNvPr>
            <p:cNvSpPr/>
            <p:nvPr/>
          </p:nvSpPr>
          <p:spPr>
            <a:xfrm>
              <a:off x="609600" y="2971800"/>
              <a:ext cx="3522133" cy="32258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E605829-0AF2-6C09-E552-8412E2539127}"/>
                </a:ext>
              </a:extLst>
            </p:cNvPr>
            <p:cNvSpPr/>
            <p:nvPr/>
          </p:nvSpPr>
          <p:spPr>
            <a:xfrm>
              <a:off x="812800" y="31750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94534EA2-0945-92B0-C47C-844094B08508}"/>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3238500"/>
              <a:ext cx="279400" cy="279400"/>
            </a:xfrm>
            <a:prstGeom prst="rect">
              <a:avLst/>
            </a:prstGeom>
          </p:spPr>
        </p:pic>
        <p:sp>
          <p:nvSpPr>
            <p:cNvPr id="13" name="TextBox 12">
              <a:extLst>
                <a:ext uri="{FF2B5EF4-FFF2-40B4-BE49-F238E27FC236}">
                  <a16:creationId xmlns:a16="http://schemas.microsoft.com/office/drawing/2014/main" id="{569E2F41-EEB4-B422-812F-E69B58FA19DB}"/>
                </a:ext>
              </a:extLst>
            </p:cNvPr>
            <p:cNvSpPr txBox="1"/>
            <p:nvPr/>
          </p:nvSpPr>
          <p:spPr>
            <a:xfrm>
              <a:off x="812800" y="3683000"/>
              <a:ext cx="3115733" cy="1443985"/>
            </a:xfrm>
            <a:prstGeom prst="rect">
              <a:avLst/>
            </a:prstGeom>
            <a:noFill/>
          </p:spPr>
          <p:txBody>
            <a:bodyPr vert="horz" wrap="square" lIns="0" tIns="0" rtlCol="0">
              <a:spAutoFit/>
            </a:bodyPr>
            <a:lstStyle/>
            <a:p>
              <a:pPr>
                <a:lnSpc>
                  <a:spcPct val="125000"/>
                </a:lnSpc>
                <a:spcAft>
                  <a:spcPts val="600"/>
                </a:spcAft>
              </a:pPr>
              <a:r>
                <a:rPr lang="vi-VN" sz="1600" b="1">
                  <a:solidFill>
                    <a:srgbClr val="FFFFFF"/>
                  </a:solidFill>
                  <a:latin typeface="Segoe UI" panose="020B0502040204020203" pitchFamily="34" charset="0"/>
                </a:rPr>
                <a:t>Tử Vong Trẻ Dưới 1 Tuổi (IMR)
</a:t>
              </a:r>
              <a:r>
                <a:rPr lang="vi-VN" sz="1350" b="1">
                  <a:solidFill>
                    <a:srgbClr val="CBD5E1"/>
                  </a:solidFill>
                  <a:latin typeface="Segoe UI" panose="020B0502040204020203" pitchFamily="34" charset="0"/>
                </a:rPr>
                <a:t>IMR = (D_0 / B) * 1,000. Đo số trẻ chết trước sinh nhật 1 tuổi trên 1,000 trẻ sinh sống. Việt Nam giảm ấn tượng xuống 11.6‰ (2023).</a:t>
              </a:r>
              <a:endParaRPr lang="en-US" sz="1350" b="1">
                <a:solidFill>
                  <a:srgbClr val="CBD5E1"/>
                </a:solidFill>
                <a:latin typeface="Segoe UI" panose="020B0502040204020203" pitchFamily="34" charset="0"/>
              </a:endParaRPr>
            </a:p>
          </p:txBody>
        </p:sp>
      </p:grpSp>
      <p:grpSp>
        <p:nvGrpSpPr>
          <p:cNvPr id="20" name="!!Stage_Sub_Card_2">
            <a:extLst>
              <a:ext uri="{FF2B5EF4-FFF2-40B4-BE49-F238E27FC236}">
                <a16:creationId xmlns:a16="http://schemas.microsoft.com/office/drawing/2014/main" id="{0E1DE61D-7497-1262-1847-CADA96FE0732}"/>
              </a:ext>
            </a:extLst>
          </p:cNvPr>
          <p:cNvGrpSpPr/>
          <p:nvPr/>
        </p:nvGrpSpPr>
        <p:grpSpPr>
          <a:xfrm>
            <a:off x="4334933" y="2971800"/>
            <a:ext cx="3522134" cy="3225800"/>
            <a:chOff x="4334933" y="2971800"/>
            <a:chExt cx="3522134" cy="3225800"/>
          </a:xfrm>
        </p:grpSpPr>
        <p:sp>
          <p:nvSpPr>
            <p:cNvPr id="15" name="Rectangle: Rounded Corners 14">
              <a:extLst>
                <a:ext uri="{FF2B5EF4-FFF2-40B4-BE49-F238E27FC236}">
                  <a16:creationId xmlns:a16="http://schemas.microsoft.com/office/drawing/2014/main" id="{5F4EC2AE-4BCB-C374-0B5F-A2B3478BCB3E}"/>
                </a:ext>
              </a:extLst>
            </p:cNvPr>
            <p:cNvSpPr/>
            <p:nvPr/>
          </p:nvSpPr>
          <p:spPr>
            <a:xfrm>
              <a:off x="4334933" y="2971800"/>
              <a:ext cx="3522134" cy="32258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88274DB-10F9-87DC-2EF0-A9DB4D6E979B}"/>
                </a:ext>
              </a:extLst>
            </p:cNvPr>
            <p:cNvSpPr/>
            <p:nvPr/>
          </p:nvSpPr>
          <p:spPr>
            <a:xfrm>
              <a:off x="4538133" y="31750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C895C378-F684-D696-78DE-34692FE48107}"/>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3238500"/>
              <a:ext cx="279400" cy="279400"/>
            </a:xfrm>
            <a:prstGeom prst="rect">
              <a:avLst/>
            </a:prstGeom>
          </p:spPr>
        </p:pic>
        <p:sp>
          <p:nvSpPr>
            <p:cNvPr id="19" name="TextBox 18">
              <a:extLst>
                <a:ext uri="{FF2B5EF4-FFF2-40B4-BE49-F238E27FC236}">
                  <a16:creationId xmlns:a16="http://schemas.microsoft.com/office/drawing/2014/main" id="{D462384F-3687-44E8-6CFA-C26B4D989809}"/>
                </a:ext>
              </a:extLst>
            </p:cNvPr>
            <p:cNvSpPr txBox="1"/>
            <p:nvPr/>
          </p:nvSpPr>
          <p:spPr>
            <a:xfrm>
              <a:off x="4538133" y="3683000"/>
              <a:ext cx="3115733" cy="1492075"/>
            </a:xfrm>
            <a:prstGeom prst="rect">
              <a:avLst/>
            </a:prstGeom>
            <a:noFill/>
          </p:spPr>
          <p:txBody>
            <a:bodyPr vert="horz" wrap="square" lIns="0" tIns="0" rtlCol="0">
              <a:spAutoFit/>
            </a:bodyPr>
            <a:lstStyle/>
            <a:p>
              <a:pPr>
                <a:lnSpc>
                  <a:spcPct val="125000"/>
                </a:lnSpc>
                <a:spcAft>
                  <a:spcPts val="600"/>
                </a:spcAft>
              </a:pPr>
              <a:r>
                <a:rPr lang="vi-VN" sz="1600" b="1">
                  <a:solidFill>
                    <a:srgbClr val="FFFFFF"/>
                  </a:solidFill>
                  <a:latin typeface="Segoe UI" panose="020B0502040204020203" pitchFamily="34" charset="0"/>
                </a:rPr>
                <a:t>Tử Vong Trẻ Dưới 5 Tuổi (U5MR)
</a:t>
              </a:r>
              <a:r>
                <a:rPr lang="vi-VN" sz="1350" b="1">
                  <a:solidFill>
                    <a:srgbClr val="CBD5E1"/>
                  </a:solidFill>
                  <a:latin typeface="Segoe UI" panose="020B0502040204020203" pitchFamily="34" charset="0"/>
                </a:rPr>
                <a:t>U5MR đo lường xác suất một đứa trẻ chết trước khi tròn 5 tuổi. Việt Nam hiện đạt mức khoảng 18.2‰.</a:t>
              </a:r>
              <a:endParaRPr lang="en-US" sz="1350" b="1">
                <a:solidFill>
                  <a:srgbClr val="CBD5E1"/>
                </a:solidFill>
                <a:latin typeface="Segoe UI" panose="020B0502040204020203" pitchFamily="34" charset="0"/>
              </a:endParaRPr>
            </a:p>
          </p:txBody>
        </p:sp>
      </p:grpSp>
      <p:grpSp>
        <p:nvGrpSpPr>
          <p:cNvPr id="26" name="!!Stage_Sub_Card_3">
            <a:extLst>
              <a:ext uri="{FF2B5EF4-FFF2-40B4-BE49-F238E27FC236}">
                <a16:creationId xmlns:a16="http://schemas.microsoft.com/office/drawing/2014/main" id="{1A9B187B-3975-F521-D5AA-CEA93F1CF731}"/>
              </a:ext>
            </a:extLst>
          </p:cNvPr>
          <p:cNvGrpSpPr/>
          <p:nvPr/>
        </p:nvGrpSpPr>
        <p:grpSpPr>
          <a:xfrm>
            <a:off x="8060267" y="2971800"/>
            <a:ext cx="3522133" cy="3225800"/>
            <a:chOff x="8060267" y="2971800"/>
            <a:chExt cx="3522133" cy="3225800"/>
          </a:xfrm>
        </p:grpSpPr>
        <p:sp>
          <p:nvSpPr>
            <p:cNvPr id="21" name="Rectangle: Rounded Corners 20">
              <a:extLst>
                <a:ext uri="{FF2B5EF4-FFF2-40B4-BE49-F238E27FC236}">
                  <a16:creationId xmlns:a16="http://schemas.microsoft.com/office/drawing/2014/main" id="{F0FC0D7A-21AB-5293-C295-24C1478B1634}"/>
                </a:ext>
              </a:extLst>
            </p:cNvPr>
            <p:cNvSpPr/>
            <p:nvPr/>
          </p:nvSpPr>
          <p:spPr>
            <a:xfrm>
              <a:off x="8060267" y="2971800"/>
              <a:ext cx="3522133" cy="32258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CBAF79C-D980-120F-FABB-77F57854CEAE}"/>
                </a:ext>
              </a:extLst>
            </p:cNvPr>
            <p:cNvSpPr/>
            <p:nvPr/>
          </p:nvSpPr>
          <p:spPr>
            <a:xfrm>
              <a:off x="8263467" y="31750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334DEF68-80A9-83CE-2FBC-379D41257D86}"/>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3238500"/>
              <a:ext cx="279400" cy="279400"/>
            </a:xfrm>
            <a:prstGeom prst="rect">
              <a:avLst/>
            </a:prstGeom>
          </p:spPr>
        </p:pic>
        <p:sp>
          <p:nvSpPr>
            <p:cNvPr id="25" name="TextBox 24">
              <a:extLst>
                <a:ext uri="{FF2B5EF4-FFF2-40B4-BE49-F238E27FC236}">
                  <a16:creationId xmlns:a16="http://schemas.microsoft.com/office/drawing/2014/main" id="{E5ACF380-2285-F185-1E4B-5824BA13C5A0}"/>
                </a:ext>
              </a:extLst>
            </p:cNvPr>
            <p:cNvSpPr txBox="1"/>
            <p:nvPr/>
          </p:nvSpPr>
          <p:spPr>
            <a:xfrm>
              <a:off x="8263467" y="3683000"/>
              <a:ext cx="3115733" cy="1751762"/>
            </a:xfrm>
            <a:prstGeom prst="rect">
              <a:avLst/>
            </a:prstGeom>
            <a:noFill/>
          </p:spPr>
          <p:txBody>
            <a:bodyPr vert="horz" wrap="square" lIns="0" tIns="0" rtlCol="0">
              <a:spAutoFit/>
            </a:bodyPr>
            <a:lstStyle/>
            <a:p>
              <a:pPr>
                <a:lnSpc>
                  <a:spcPct val="125000"/>
                </a:lnSpc>
                <a:spcAft>
                  <a:spcPts val="600"/>
                </a:spcAft>
              </a:pPr>
              <a:r>
                <a:rPr lang="en-US" sz="1600" b="1">
                  <a:solidFill>
                    <a:srgbClr val="FFFFFF"/>
                  </a:solidFill>
                  <a:latin typeface="Segoe UI" panose="020B0502040204020203" pitchFamily="34" charset="0"/>
                </a:rPr>
                <a:t>Mục Tiêu Phát Triển Bền Vững (SDG)
</a:t>
              </a:r>
              <a:r>
                <a:rPr lang="vi-VN" sz="1350" b="1">
                  <a:solidFill>
                    <a:srgbClr val="CBD5E1"/>
                  </a:solidFill>
                  <a:latin typeface="Segoe UI" panose="020B0502040204020203" pitchFamily="34" charset="0"/>
                </a:rPr>
                <a:t>Chấm dứt các ca tử vong có thể phòng ngừa được ở trẻ sơ sinh và trẻ nhỏ thông qua tiêm chủng mở rộng và chăm sóc sơ sinh.</a:t>
              </a:r>
              <a:endParaRPr lang="en-US" sz="1350" b="1">
                <a:solidFill>
                  <a:srgbClr val="CBD5E1"/>
                </a:solidFill>
                <a:latin typeface="Segoe UI" panose="020B0502040204020203" pitchFamily="34" charset="0"/>
              </a:endParaRPr>
            </a:p>
          </p:txBody>
        </p:sp>
      </p:grpSp>
      <p:sp>
        <p:nvSpPr>
          <p:cNvPr id="27" name="!!Anchor_Source_Footer">
            <a:extLst>
              <a:ext uri="{FF2B5EF4-FFF2-40B4-BE49-F238E27FC236}">
                <a16:creationId xmlns:a16="http://schemas.microsoft.com/office/drawing/2014/main" id="{11D296AA-79F0-378B-AA6F-57C25FB85E1F}"/>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Báo cáo Mục tiêu Phát triển Bền vững (SDGs) Việt Nam</a:t>
            </a:r>
          </a:p>
        </p:txBody>
      </p:sp>
    </p:spTree>
    <p:extLst>
      <p:ext uri="{BB962C8B-B14F-4D97-AF65-F5344CB8AC3E}">
        <p14:creationId xmlns:p14="http://schemas.microsoft.com/office/powerpoint/2010/main" val="18325839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450" fill="hold"/>
                                        <p:tgtEl>
                                          <p:spTgt spid="14"/>
                                        </p:tgtEl>
                                        <p:attrNameLst>
                                          <p:attrName>ppt_x</p:attrName>
                                        </p:attrNameLst>
                                      </p:cBhvr>
                                      <p:tavLst>
                                        <p:tav tm="0">
                                          <p:val>
                                            <p:strVal val="#ppt_x"/>
                                          </p:val>
                                        </p:tav>
                                        <p:tav tm="100000">
                                          <p:val>
                                            <p:strVal val="#ppt_x"/>
                                          </p:val>
                                        </p:tav>
                                      </p:tavLst>
                                    </p:anim>
                                    <p:anim calcmode="lin" valueType="num">
                                      <p:cBhvr additive="base">
                                        <p:cTn id="8"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450" fill="hold"/>
                                        <p:tgtEl>
                                          <p:spTgt spid="26"/>
                                        </p:tgtEl>
                                        <p:attrNameLst>
                                          <p:attrName>ppt_x</p:attrName>
                                        </p:attrNameLst>
                                      </p:cBhvr>
                                      <p:tavLst>
                                        <p:tav tm="0">
                                          <p:val>
                                            <p:strVal val="#ppt_x"/>
                                          </p:val>
                                        </p:tav>
                                        <p:tav tm="100000">
                                          <p:val>
                                            <p:strVal val="#ppt_x"/>
                                          </p:val>
                                        </p:tav>
                                      </p:tavLst>
                                    </p:anim>
                                    <p:anim calcmode="lin" valueType="num">
                                      <p:cBhvr additive="base">
                                        <p:cTn id="20" dur="4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BB1750E0-F5D5-80D7-5049-D9738FC43A67}"/>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TỬ VONG BÀ MẸ  •  TRỌNG TÂM</a:t>
            </a:r>
          </a:p>
        </p:txBody>
      </p:sp>
      <p:sp>
        <p:nvSpPr>
          <p:cNvPr id="3" name="!!Anchor_Slide_Tracker">
            <a:extLst>
              <a:ext uri="{FF2B5EF4-FFF2-40B4-BE49-F238E27FC236}">
                <a16:creationId xmlns:a16="http://schemas.microsoft.com/office/drawing/2014/main" id="{3D2ED1EE-FF19-9076-D55E-1C4AE0AA7749}"/>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16 / 22</a:t>
            </a:r>
          </a:p>
        </p:txBody>
      </p:sp>
      <p:sp>
        <p:nvSpPr>
          <p:cNvPr id="4" name="!!Anchor_Assertion_Title">
            <a:extLst>
              <a:ext uri="{FF2B5EF4-FFF2-40B4-BE49-F238E27FC236}">
                <a16:creationId xmlns:a16="http://schemas.microsoft.com/office/drawing/2014/main" id="{791C5062-D28D-505B-F35A-530AABE43392}"/>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FFFFFF"/>
                </a:solidFill>
                <a:latin typeface="Segoe UI" panose="020B0502040204020203" pitchFamily="34" charset="0"/>
              </a:rPr>
              <a:t>Tỷ Số Tử Vong Mẹ (MMR) Và Chăm Sóc Sức Khỏe Sinh Sản Phụ Nữ</a:t>
            </a:r>
          </a:p>
        </p:txBody>
      </p:sp>
      <p:grpSp>
        <p:nvGrpSpPr>
          <p:cNvPr id="11" name="!!Stage_Hero_Container">
            <a:extLst>
              <a:ext uri="{FF2B5EF4-FFF2-40B4-BE49-F238E27FC236}">
                <a16:creationId xmlns:a16="http://schemas.microsoft.com/office/drawing/2014/main" id="{470E5D8D-3E5E-459F-2C22-8497911B2FBC}"/>
              </a:ext>
            </a:extLst>
          </p:cNvPr>
          <p:cNvGrpSpPr/>
          <p:nvPr/>
        </p:nvGrpSpPr>
        <p:grpSpPr>
          <a:xfrm>
            <a:off x="609600" y="1676400"/>
            <a:ext cx="6035040" cy="4521200"/>
            <a:chOff x="609600" y="1676400"/>
            <a:chExt cx="6035040" cy="4521200"/>
          </a:xfrm>
        </p:grpSpPr>
        <p:sp>
          <p:nvSpPr>
            <p:cNvPr id="5" name="Rectangle: Rounded Corners 4">
              <a:extLst>
                <a:ext uri="{FF2B5EF4-FFF2-40B4-BE49-F238E27FC236}">
                  <a16:creationId xmlns:a16="http://schemas.microsoft.com/office/drawing/2014/main" id="{B7062073-CF20-DBD5-536B-658D67AAB340}"/>
                </a:ext>
              </a:extLst>
            </p:cNvPr>
            <p:cNvSpPr/>
            <p:nvPr/>
          </p:nvSpPr>
          <p:spPr>
            <a:xfrm>
              <a:off x="609600" y="1676400"/>
              <a:ext cx="6035040" cy="4521200"/>
            </a:xfrm>
            <a:prstGeom prst="roundRect">
              <a:avLst/>
            </a:prstGeom>
            <a:solidFill>
              <a:srgbClr val="0B132B"/>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8896393A-B536-C868-19FE-228416D5A179}"/>
                </a:ext>
              </a:extLst>
            </p:cNvPr>
            <p:cNvSpPr/>
            <p:nvPr/>
          </p:nvSpPr>
          <p:spPr>
            <a:xfrm>
              <a:off x="863600" y="1905000"/>
              <a:ext cx="1524000" cy="2794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0284C7"/>
                  </a:solidFill>
                  <a:latin typeface="Segoe UI" panose="020B0502040204020203" pitchFamily="34" charset="0"/>
                </a:rPr>
                <a:t>TRỌNG TÂM CỐT LÕI</a:t>
              </a:r>
            </a:p>
          </p:txBody>
        </p:sp>
        <p:sp>
          <p:nvSpPr>
            <p:cNvPr id="7" name="Oval 6">
              <a:extLst>
                <a:ext uri="{FF2B5EF4-FFF2-40B4-BE49-F238E27FC236}">
                  <a16:creationId xmlns:a16="http://schemas.microsoft.com/office/drawing/2014/main" id="{FBEB3C26-2B43-ADB7-8F30-8B54FBFA9382}"/>
                </a:ext>
              </a:extLst>
            </p:cNvPr>
            <p:cNvSpPr/>
            <p:nvPr/>
          </p:nvSpPr>
          <p:spPr>
            <a:xfrm>
              <a:off x="863600" y="2286000"/>
              <a:ext cx="482600" cy="4826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891A28A-D5D9-9577-2295-BD609FAACB0C}"/>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939800" y="2362200"/>
              <a:ext cx="330200" cy="330200"/>
            </a:xfrm>
            <a:prstGeom prst="rect">
              <a:avLst/>
            </a:prstGeom>
          </p:spPr>
        </p:pic>
        <p:sp>
          <p:nvSpPr>
            <p:cNvPr id="10" name="TextBox 9">
              <a:extLst>
                <a:ext uri="{FF2B5EF4-FFF2-40B4-BE49-F238E27FC236}">
                  <a16:creationId xmlns:a16="http://schemas.microsoft.com/office/drawing/2014/main" id="{518A665D-F891-6817-B5A4-64EA053B6F0C}"/>
                </a:ext>
              </a:extLst>
            </p:cNvPr>
            <p:cNvSpPr txBox="1"/>
            <p:nvPr/>
          </p:nvSpPr>
          <p:spPr>
            <a:xfrm>
              <a:off x="863600" y="2870200"/>
              <a:ext cx="5527040" cy="1489447"/>
            </a:xfrm>
            <a:prstGeom prst="rect">
              <a:avLst/>
            </a:prstGeom>
            <a:noFill/>
          </p:spPr>
          <p:txBody>
            <a:bodyPr vert="horz" wrap="square" lIns="0" rtlCol="0">
              <a:spAutoFit/>
            </a:bodyPr>
            <a:lstStyle/>
            <a:p>
              <a:pPr>
                <a:lnSpc>
                  <a:spcPct val="130000"/>
                </a:lnSpc>
                <a:spcAft>
                  <a:spcPts val="1000"/>
                </a:spcAft>
              </a:pPr>
              <a:r>
                <a:rPr lang="vi-VN" sz="2000" b="1">
                  <a:solidFill>
                    <a:srgbClr val="FFFFFF"/>
                  </a:solidFill>
                  <a:latin typeface="Segoe UI" panose="020B0502040204020203" pitchFamily="34" charset="0"/>
                </a:rPr>
                <a:t>Công Thức Đo Lường MMR
</a:t>
              </a:r>
              <a:r>
                <a:rPr lang="vi-VN" sz="1500" b="1">
                  <a:solidFill>
                    <a:srgbClr val="CBD5E1"/>
                  </a:solidFill>
                  <a:latin typeface="Segoe UI" panose="020B0502040204020203" pitchFamily="34" charset="0"/>
                </a:rPr>
                <a:t>MMR = (Số ca tử vong mẹ do thai sản / Số trẻ sinh sống) * 100,000. Việt Nam giảm xuống khoảng 44 ca / 100,000 ca sinh.</a:t>
              </a:r>
              <a:endParaRPr lang="en-US" sz="1500" b="1">
                <a:solidFill>
                  <a:srgbClr val="CBD5E1"/>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799E1B10-3681-83E9-9267-9F6CE2742B18}"/>
              </a:ext>
            </a:extLst>
          </p:cNvPr>
          <p:cNvGrpSpPr/>
          <p:nvPr/>
        </p:nvGrpSpPr>
        <p:grpSpPr>
          <a:xfrm>
            <a:off x="6873240" y="1676400"/>
            <a:ext cx="4709160" cy="2171700"/>
            <a:chOff x="6873240" y="1676400"/>
            <a:chExt cx="4709160" cy="2171700"/>
          </a:xfrm>
        </p:grpSpPr>
        <p:sp>
          <p:nvSpPr>
            <p:cNvPr id="12" name="Rectangle: Rounded Corners 11">
              <a:extLst>
                <a:ext uri="{FF2B5EF4-FFF2-40B4-BE49-F238E27FC236}">
                  <a16:creationId xmlns:a16="http://schemas.microsoft.com/office/drawing/2014/main" id="{2A3F4CD3-F5E8-0D57-E9F8-E7B556677726}"/>
                </a:ext>
              </a:extLst>
            </p:cNvPr>
            <p:cNvSpPr/>
            <p:nvPr/>
          </p:nvSpPr>
          <p:spPr>
            <a:xfrm>
              <a:off x="6873240" y="1676400"/>
              <a:ext cx="4709160" cy="2171700"/>
            </a:xfrm>
            <a:prstGeom prst="roundRect">
              <a:avLst/>
            </a:prstGeom>
            <a:solidFill>
              <a:srgbClr val="0B132B"/>
            </a:solidFill>
            <a:ln>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B7225C76-0C1C-0327-9E70-27D6D2138262}"/>
                </a:ext>
              </a:extLst>
            </p:cNvPr>
            <p:cNvSpPr/>
            <p:nvPr/>
          </p:nvSpPr>
          <p:spPr>
            <a:xfrm>
              <a:off x="7076440" y="1854200"/>
              <a:ext cx="1079500" cy="2540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TRỌNG ĐIỂM 01</a:t>
              </a:r>
            </a:p>
          </p:txBody>
        </p:sp>
        <p:sp>
          <p:nvSpPr>
            <p:cNvPr id="14" name="Oval 13">
              <a:extLst>
                <a:ext uri="{FF2B5EF4-FFF2-40B4-BE49-F238E27FC236}">
                  <a16:creationId xmlns:a16="http://schemas.microsoft.com/office/drawing/2014/main" id="{56A81CC8-7F71-49A3-4278-7C990380F0B2}"/>
                </a:ext>
              </a:extLst>
            </p:cNvPr>
            <p:cNvSpPr/>
            <p:nvPr/>
          </p:nvSpPr>
          <p:spPr>
            <a:xfrm>
              <a:off x="7076440" y="21844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9EDA95EB-88E3-D4EA-D570-49394A5177F7}"/>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7139940" y="2247900"/>
              <a:ext cx="279400" cy="279400"/>
            </a:xfrm>
            <a:prstGeom prst="rect">
              <a:avLst/>
            </a:prstGeom>
          </p:spPr>
        </p:pic>
        <p:sp>
          <p:nvSpPr>
            <p:cNvPr id="17" name="TextBox 16">
              <a:extLst>
                <a:ext uri="{FF2B5EF4-FFF2-40B4-BE49-F238E27FC236}">
                  <a16:creationId xmlns:a16="http://schemas.microsoft.com/office/drawing/2014/main" id="{0ECF3CC7-3007-715F-F2D5-FE3DFA4608FA}"/>
                </a:ext>
              </a:extLst>
            </p:cNvPr>
            <p:cNvSpPr txBox="1"/>
            <p:nvPr/>
          </p:nvSpPr>
          <p:spPr>
            <a:xfrm>
              <a:off x="7609840" y="2108200"/>
              <a:ext cx="38201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Các Nguyên Nhân Sản Khoa Chính
</a:t>
              </a:r>
              <a:r>
                <a:rPr lang="en-US" sz="1400" b="1">
                  <a:solidFill>
                    <a:srgbClr val="CBD5E1"/>
                  </a:solidFill>
                  <a:latin typeface="Segoe UI" panose="020B0502040204020203" pitchFamily="34" charset="0"/>
                </a:rPr>
                <a:t>Băng huyết sau sinh, tiền sản giật, nhiễm trùng hậu sản và tai biến sản khoa tại các vùng sâu vùng xa giao thông chia cắt.</a:t>
              </a:r>
            </a:p>
          </p:txBody>
        </p:sp>
      </p:grpSp>
      <p:grpSp>
        <p:nvGrpSpPr>
          <p:cNvPr id="25" name="!!Stage_Sub_Card_2">
            <a:extLst>
              <a:ext uri="{FF2B5EF4-FFF2-40B4-BE49-F238E27FC236}">
                <a16:creationId xmlns:a16="http://schemas.microsoft.com/office/drawing/2014/main" id="{FFB9CFC3-D9D2-68BB-1464-716B63E2ECC7}"/>
              </a:ext>
            </a:extLst>
          </p:cNvPr>
          <p:cNvGrpSpPr/>
          <p:nvPr/>
        </p:nvGrpSpPr>
        <p:grpSpPr>
          <a:xfrm>
            <a:off x="6873240" y="4025900"/>
            <a:ext cx="4709160" cy="2171700"/>
            <a:chOff x="6873240" y="4025900"/>
            <a:chExt cx="4709160" cy="2171700"/>
          </a:xfrm>
        </p:grpSpPr>
        <p:sp>
          <p:nvSpPr>
            <p:cNvPr id="19" name="Rectangle: Rounded Corners 18">
              <a:extLst>
                <a:ext uri="{FF2B5EF4-FFF2-40B4-BE49-F238E27FC236}">
                  <a16:creationId xmlns:a16="http://schemas.microsoft.com/office/drawing/2014/main" id="{3E59264A-3EA2-731A-6843-0D2A31EB36A9}"/>
                </a:ext>
              </a:extLst>
            </p:cNvPr>
            <p:cNvSpPr/>
            <p:nvPr/>
          </p:nvSpPr>
          <p:spPr>
            <a:xfrm>
              <a:off x="6873240" y="4025900"/>
              <a:ext cx="4709160" cy="2171700"/>
            </a:xfrm>
            <a:prstGeom prst="roundRect">
              <a:avLst/>
            </a:prstGeom>
            <a:solidFill>
              <a:srgbClr val="0B132B"/>
            </a:solidFill>
            <a:ln>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CE987A98-1833-1523-D558-C86E77E4365E}"/>
                </a:ext>
              </a:extLst>
            </p:cNvPr>
            <p:cNvSpPr/>
            <p:nvPr/>
          </p:nvSpPr>
          <p:spPr>
            <a:xfrm>
              <a:off x="7076440" y="4203700"/>
              <a:ext cx="1079500" cy="2540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TRỌNG ĐIỂM 02</a:t>
              </a:r>
            </a:p>
          </p:txBody>
        </p:sp>
        <p:sp>
          <p:nvSpPr>
            <p:cNvPr id="21" name="Oval 20">
              <a:extLst>
                <a:ext uri="{FF2B5EF4-FFF2-40B4-BE49-F238E27FC236}">
                  <a16:creationId xmlns:a16="http://schemas.microsoft.com/office/drawing/2014/main" id="{1666FEDA-C22C-7A78-6761-3C3AD0E3EB23}"/>
                </a:ext>
              </a:extLst>
            </p:cNvPr>
            <p:cNvSpPr/>
            <p:nvPr/>
          </p:nvSpPr>
          <p:spPr>
            <a:xfrm>
              <a:off x="7076440" y="45339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DE5BB6EE-65C1-6ACF-F341-FC7B55F3FBC4}"/>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7139940" y="4597400"/>
              <a:ext cx="279400" cy="279400"/>
            </a:xfrm>
            <a:prstGeom prst="rect">
              <a:avLst/>
            </a:prstGeom>
          </p:spPr>
        </p:pic>
        <p:sp>
          <p:nvSpPr>
            <p:cNvPr id="24" name="TextBox 23">
              <a:extLst>
                <a:ext uri="{FF2B5EF4-FFF2-40B4-BE49-F238E27FC236}">
                  <a16:creationId xmlns:a16="http://schemas.microsoft.com/office/drawing/2014/main" id="{ADE4AC8F-6AE4-989D-4D9D-001BB1CDFBBB}"/>
                </a:ext>
              </a:extLst>
            </p:cNvPr>
            <p:cNvSpPr txBox="1"/>
            <p:nvPr/>
          </p:nvSpPr>
          <p:spPr>
            <a:xfrm>
              <a:off x="7609840" y="4457700"/>
              <a:ext cx="3820160" cy="990015"/>
            </a:xfrm>
            <a:prstGeom prst="rect">
              <a:avLst/>
            </a:prstGeom>
            <a:noFill/>
          </p:spPr>
          <p:txBody>
            <a:bodyPr vert="horz" wrap="square" tIns="0" rtlCol="0">
              <a:spAutoFit/>
            </a:bodyPr>
            <a:lstStyle/>
            <a:p>
              <a:pPr>
                <a:spcAft>
                  <a:spcPts val="400"/>
                </a:spcAft>
              </a:pPr>
              <a:r>
                <a:rPr lang="vi-VN" sz="1600" b="1">
                  <a:solidFill>
                    <a:srgbClr val="FFFFFF"/>
                  </a:solidFill>
                  <a:latin typeface="Segoe UI" panose="020B0502040204020203" pitchFamily="34" charset="0"/>
                </a:rPr>
                <a:t>Giải Pháp Mạng Lưới Sản Nhi
</a:t>
              </a:r>
              <a:r>
                <a:rPr lang="vi-VN" sz="1400" b="1">
                  <a:solidFill>
                    <a:srgbClr val="CBD5E1"/>
                  </a:solidFill>
                  <a:latin typeface="Segoe UI" panose="020B0502040204020203" pitchFamily="34" charset="0"/>
                </a:rPr>
                <a:t>Đào tạo cô đỡ thôn bản, nâng cấp trang thiết bị y tế tuyến huyện và triển khai hỗ trợ cấp cứu sản khoa từ xa (Telemedicine).</a:t>
              </a:r>
              <a:endParaRPr lang="en-US" sz="1400" b="1">
                <a:solidFill>
                  <a:srgbClr val="CBD5E1"/>
                </a:solidFill>
                <a:latin typeface="Segoe UI" panose="020B0502040204020203" pitchFamily="34" charset="0"/>
              </a:endParaRPr>
            </a:p>
          </p:txBody>
        </p:sp>
      </p:grpSp>
      <p:sp>
        <p:nvSpPr>
          <p:cNvPr id="26" name="!!Anchor_Source_Footer">
            <a:extLst>
              <a:ext uri="{FF2B5EF4-FFF2-40B4-BE49-F238E27FC236}">
                <a16:creationId xmlns:a16="http://schemas.microsoft.com/office/drawing/2014/main" id="{F0B00622-6E78-B66E-6354-F24052F20D3E}"/>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Bộ Y tế - Báo cáo Sức khỏe Sinh sản</a:t>
            </a:r>
          </a:p>
        </p:txBody>
      </p:sp>
    </p:spTree>
    <p:extLst>
      <p:ext uri="{BB962C8B-B14F-4D97-AF65-F5344CB8AC3E}">
        <p14:creationId xmlns:p14="http://schemas.microsoft.com/office/powerpoint/2010/main" val="28470662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450" fill="hold"/>
                                        <p:tgtEl>
                                          <p:spTgt spid="25"/>
                                        </p:tgtEl>
                                        <p:attrNameLst>
                                          <p:attrName>ppt_x</p:attrName>
                                        </p:attrNameLst>
                                      </p:cBhvr>
                                      <p:tavLst>
                                        <p:tav tm="0">
                                          <p:val>
                                            <p:strVal val="#ppt_x"/>
                                          </p:val>
                                        </p:tav>
                                        <p:tav tm="100000">
                                          <p:val>
                                            <p:strVal val="#ppt_x"/>
                                          </p:val>
                                        </p:tav>
                                      </p:tavLst>
                                    </p:anim>
                                    <p:anim calcmode="lin" valueType="num">
                                      <p:cBhvr additive="base">
                                        <p:cTn id="14" dur="45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C253250D-0215-8948-EA31-D56C20734C59}"/>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BẢNG SỐNG  •  TRỌNG TÂM</a:t>
            </a:r>
          </a:p>
        </p:txBody>
      </p:sp>
      <p:sp>
        <p:nvSpPr>
          <p:cNvPr id="3" name="!!Anchor_Slide_Tracker">
            <a:extLst>
              <a:ext uri="{FF2B5EF4-FFF2-40B4-BE49-F238E27FC236}">
                <a16:creationId xmlns:a16="http://schemas.microsoft.com/office/drawing/2014/main" id="{837BB33B-6995-02D7-B27D-82E1F5F61754}"/>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17 / 22</a:t>
            </a:r>
          </a:p>
        </p:txBody>
      </p:sp>
      <p:sp>
        <p:nvSpPr>
          <p:cNvPr id="4" name="!!Anchor_Assertion_Title">
            <a:extLst>
              <a:ext uri="{FF2B5EF4-FFF2-40B4-BE49-F238E27FC236}">
                <a16:creationId xmlns:a16="http://schemas.microsoft.com/office/drawing/2014/main" id="{A19E11E9-5D60-1B2F-E424-6DA7E94A3DB4}"/>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FFFFFF"/>
                </a:solidFill>
                <a:latin typeface="Segoe UI" panose="020B0502040204020203" pitchFamily="34" charset="0"/>
              </a:rPr>
              <a:t>Bảng Sống (Life Table) Và Kỳ Vọng Sống Khi Sinh (Life Expectancy)</a:t>
            </a:r>
          </a:p>
        </p:txBody>
      </p:sp>
      <p:graphicFrame>
        <p:nvGraphicFramePr>
          <p:cNvPr id="5" name="!!Stage_Hero_Container">
            <a:extLst>
              <a:ext uri="{FF2B5EF4-FFF2-40B4-BE49-F238E27FC236}">
                <a16:creationId xmlns:a16="http://schemas.microsoft.com/office/drawing/2014/main" id="{B316B1DD-51EA-41B4-2758-65497898A462}"/>
              </a:ext>
            </a:extLst>
          </p:cNvPr>
          <p:cNvGraphicFramePr>
            <a:graphicFrameLocks noGrp="1"/>
          </p:cNvGraphicFramePr>
          <p:nvPr>
            <p:extLst>
              <p:ext uri="{D42A27DB-BD31-4B8C-83A1-F6EECF244321}">
                <p14:modId xmlns:p14="http://schemas.microsoft.com/office/powerpoint/2010/main" val="1552625799"/>
              </p:ext>
            </p:extLst>
          </p:nvPr>
        </p:nvGraphicFramePr>
        <p:xfrm>
          <a:off x="609600" y="1676400"/>
          <a:ext cx="10972800" cy="452120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647031985"/>
                    </a:ext>
                  </a:extLst>
                </a:gridCol>
                <a:gridCol w="2194560">
                  <a:extLst>
                    <a:ext uri="{9D8B030D-6E8A-4147-A177-3AD203B41FA5}">
                      <a16:colId xmlns:a16="http://schemas.microsoft.com/office/drawing/2014/main" val="1177935386"/>
                    </a:ext>
                  </a:extLst>
                </a:gridCol>
                <a:gridCol w="2194560">
                  <a:extLst>
                    <a:ext uri="{9D8B030D-6E8A-4147-A177-3AD203B41FA5}">
                      <a16:colId xmlns:a16="http://schemas.microsoft.com/office/drawing/2014/main" val="1535780152"/>
                    </a:ext>
                  </a:extLst>
                </a:gridCol>
                <a:gridCol w="2194560">
                  <a:extLst>
                    <a:ext uri="{9D8B030D-6E8A-4147-A177-3AD203B41FA5}">
                      <a16:colId xmlns:a16="http://schemas.microsoft.com/office/drawing/2014/main" val="2432710913"/>
                    </a:ext>
                  </a:extLst>
                </a:gridCol>
                <a:gridCol w="2194560">
                  <a:extLst>
                    <a:ext uri="{9D8B030D-6E8A-4147-A177-3AD203B41FA5}">
                      <a16:colId xmlns:a16="http://schemas.microsoft.com/office/drawing/2014/main" val="3536240128"/>
                    </a:ext>
                  </a:extLst>
                </a:gridCol>
              </a:tblGrid>
              <a:tr h="645886">
                <a:tc>
                  <a:txBody>
                    <a:bodyPr/>
                    <a:lstStyle/>
                    <a:p>
                      <a:pPr algn="l"/>
                      <a:r>
                        <a:rPr lang="en-US" sz="1300" b="1">
                          <a:solidFill>
                            <a:srgbClr val="FFFFFF"/>
                          </a:solidFill>
                          <a:latin typeface="Segoe UI" panose="020B0502040204020203" pitchFamily="34" charset="0"/>
                        </a:rPr>
                        <a:t>ĐỘ TUỔI (X)</a:t>
                      </a:r>
                    </a:p>
                  </a:txBody>
                  <a:tcPr marT="76200" marB="76200" anchor="ctr">
                    <a:solidFill>
                      <a:srgbClr val="0284C7"/>
                    </a:solidFill>
                  </a:tcPr>
                </a:tc>
                <a:tc>
                  <a:txBody>
                    <a:bodyPr/>
                    <a:lstStyle/>
                    <a:p>
                      <a:pPr algn="ctr"/>
                      <a:r>
                        <a:rPr lang="en-US" sz="1300" b="1">
                          <a:solidFill>
                            <a:srgbClr val="FFFFFF"/>
                          </a:solidFill>
                          <a:latin typeface="Segoe UI" panose="020B0502040204020203" pitchFamily="34" charset="0"/>
                        </a:rPr>
                        <a:t>SỐ SỐNG SÓT (LX)</a:t>
                      </a:r>
                    </a:p>
                  </a:txBody>
                  <a:tcPr marT="76200" marB="76200" anchor="ctr">
                    <a:solidFill>
                      <a:srgbClr val="0284C7"/>
                    </a:solidFill>
                  </a:tcPr>
                </a:tc>
                <a:tc>
                  <a:txBody>
                    <a:bodyPr/>
                    <a:lstStyle/>
                    <a:p>
                      <a:pPr algn="ctr"/>
                      <a:r>
                        <a:rPr lang="nn-NO" sz="1300" b="1">
                          <a:solidFill>
                            <a:srgbClr val="FFFFFF"/>
                          </a:solidFill>
                          <a:latin typeface="Segoe UI" panose="020B0502040204020203" pitchFamily="34" charset="0"/>
                        </a:rPr>
                        <a:t>SỐ CA TỬ VONG (DX)</a:t>
                      </a:r>
                      <a:endParaRPr lang="en-US" sz="1300" b="1">
                        <a:solidFill>
                          <a:srgbClr val="FFFFFF"/>
                        </a:solidFill>
                        <a:latin typeface="Segoe UI" panose="020B0502040204020203" pitchFamily="34" charset="0"/>
                      </a:endParaRPr>
                    </a:p>
                  </a:txBody>
                  <a:tcPr marT="76200" marB="76200" anchor="ctr">
                    <a:solidFill>
                      <a:srgbClr val="0284C7"/>
                    </a:solidFill>
                  </a:tcPr>
                </a:tc>
                <a:tc>
                  <a:txBody>
                    <a:bodyPr/>
                    <a:lstStyle/>
                    <a:p>
                      <a:pPr algn="ctr"/>
                      <a:r>
                        <a:rPr lang="en-US" sz="1300" b="1">
                          <a:solidFill>
                            <a:srgbClr val="FFFFFF"/>
                          </a:solidFill>
                          <a:latin typeface="Segoe UI" panose="020B0502040204020203" pitchFamily="34" charset="0"/>
                        </a:rPr>
                        <a:t>XÁC SUẤT CHẾT (QX)</a:t>
                      </a:r>
                    </a:p>
                  </a:txBody>
                  <a:tcPr marT="76200" marB="76200" anchor="ctr">
                    <a:solidFill>
                      <a:srgbClr val="0284C7"/>
                    </a:solidFill>
                  </a:tcPr>
                </a:tc>
                <a:tc>
                  <a:txBody>
                    <a:bodyPr/>
                    <a:lstStyle/>
                    <a:p>
                      <a:pPr algn="ctr"/>
                      <a:r>
                        <a:rPr lang="en-US" sz="1300" b="1">
                          <a:solidFill>
                            <a:srgbClr val="FFFFFF"/>
                          </a:solidFill>
                          <a:latin typeface="Segoe UI" panose="020B0502040204020203" pitchFamily="34" charset="0"/>
                        </a:rPr>
                        <a:t>KỲ VỌNG SỐNG (EX)</a:t>
                      </a:r>
                    </a:p>
                  </a:txBody>
                  <a:tcPr marT="76200" marB="76200" anchor="ctr">
                    <a:solidFill>
                      <a:srgbClr val="0284C7"/>
                    </a:solidFill>
                  </a:tcPr>
                </a:tc>
                <a:extLst>
                  <a:ext uri="{0D108BD9-81ED-4DB2-BD59-A6C34878D82A}">
                    <a16:rowId xmlns:a16="http://schemas.microsoft.com/office/drawing/2014/main" val="2572848616"/>
                  </a:ext>
                </a:extLst>
              </a:tr>
              <a:tr h="645886">
                <a:tc>
                  <a:txBody>
                    <a:bodyPr/>
                    <a:lstStyle/>
                    <a:p>
                      <a:pPr algn="l"/>
                      <a:r>
                        <a:rPr lang="vi-VN" sz="1200" b="1">
                          <a:solidFill>
                            <a:srgbClr val="FFFFFF"/>
                          </a:solidFill>
                          <a:latin typeface="Segoe UI" panose="020B0502040204020203" pitchFamily="34" charset="0"/>
                        </a:rPr>
                        <a:t>0 (Sơ sinh)</a:t>
                      </a:r>
                      <a:endParaRPr lang="en-US" sz="1200" b="1">
                        <a:solidFill>
                          <a:srgbClr val="FFFFFF"/>
                        </a:solidFill>
                        <a:latin typeface="Segoe UI" panose="020B0502040204020203" pitchFamily="34" charset="0"/>
                      </a:endParaRP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100,000</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1,160</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0.0116</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73.7 năm</a:t>
                      </a:r>
                    </a:p>
                  </a:txBody>
                  <a:tcPr marT="76200" marB="76200" anchor="ctr">
                    <a:solidFill>
                      <a:srgbClr val="0B132B"/>
                    </a:solidFill>
                  </a:tcPr>
                </a:tc>
                <a:extLst>
                  <a:ext uri="{0D108BD9-81ED-4DB2-BD59-A6C34878D82A}">
                    <a16:rowId xmlns:a16="http://schemas.microsoft.com/office/drawing/2014/main" val="3135799881"/>
                  </a:ext>
                </a:extLst>
              </a:tr>
              <a:tr h="645886">
                <a:tc>
                  <a:txBody>
                    <a:bodyPr/>
                    <a:lstStyle/>
                    <a:p>
                      <a:pPr algn="l"/>
                      <a:r>
                        <a:rPr lang="en-US" sz="1200" b="1">
                          <a:solidFill>
                            <a:srgbClr val="FFFFFF"/>
                          </a:solidFill>
                          <a:latin typeface="Segoe UI" panose="020B0502040204020203" pitchFamily="34" charset="0"/>
                        </a:rPr>
                        <a:t>1 - 4 tuổi</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98,840</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660</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0.0067</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73.6 năm</a:t>
                      </a:r>
                    </a:p>
                  </a:txBody>
                  <a:tcPr marT="76200" marB="76200" anchor="ctr">
                    <a:solidFill>
                      <a:srgbClr val="0B132B"/>
                    </a:solidFill>
                  </a:tcPr>
                </a:tc>
                <a:extLst>
                  <a:ext uri="{0D108BD9-81ED-4DB2-BD59-A6C34878D82A}">
                    <a16:rowId xmlns:a16="http://schemas.microsoft.com/office/drawing/2014/main" val="967486374"/>
                  </a:ext>
                </a:extLst>
              </a:tr>
              <a:tr h="645886">
                <a:tc>
                  <a:txBody>
                    <a:bodyPr/>
                    <a:lstStyle/>
                    <a:p>
                      <a:pPr algn="l"/>
                      <a:r>
                        <a:rPr lang="en-US" sz="1200" b="1">
                          <a:solidFill>
                            <a:srgbClr val="FFFFFF"/>
                          </a:solidFill>
                          <a:latin typeface="Segoe UI" panose="020B0502040204020203" pitchFamily="34" charset="0"/>
                        </a:rPr>
                        <a:t>5 - 14 tuổi</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98,180</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390</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0.0040</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69.8 năm</a:t>
                      </a:r>
                    </a:p>
                  </a:txBody>
                  <a:tcPr marT="76200" marB="76200" anchor="ctr">
                    <a:solidFill>
                      <a:srgbClr val="0B132B"/>
                    </a:solidFill>
                  </a:tcPr>
                </a:tc>
                <a:extLst>
                  <a:ext uri="{0D108BD9-81ED-4DB2-BD59-A6C34878D82A}">
                    <a16:rowId xmlns:a16="http://schemas.microsoft.com/office/drawing/2014/main" val="2656377647"/>
                  </a:ext>
                </a:extLst>
              </a:tr>
              <a:tr h="645886">
                <a:tc>
                  <a:txBody>
                    <a:bodyPr/>
                    <a:lstStyle/>
                    <a:p>
                      <a:pPr algn="l"/>
                      <a:r>
                        <a:rPr lang="en-US" sz="1200" b="1">
                          <a:solidFill>
                            <a:srgbClr val="FFFFFF"/>
                          </a:solidFill>
                          <a:latin typeface="Segoe UI" panose="020B0502040204020203" pitchFamily="34" charset="0"/>
                        </a:rPr>
                        <a:t>15 - 59 tuổi</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97,790</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12,450</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0.1273</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60.1 năm</a:t>
                      </a:r>
                    </a:p>
                  </a:txBody>
                  <a:tcPr marT="76200" marB="76200" anchor="ctr">
                    <a:solidFill>
                      <a:srgbClr val="0B132B"/>
                    </a:solidFill>
                  </a:tcPr>
                </a:tc>
                <a:extLst>
                  <a:ext uri="{0D108BD9-81ED-4DB2-BD59-A6C34878D82A}">
                    <a16:rowId xmlns:a16="http://schemas.microsoft.com/office/drawing/2014/main" val="3344855136"/>
                  </a:ext>
                </a:extLst>
              </a:tr>
              <a:tr h="645886">
                <a:tc>
                  <a:txBody>
                    <a:bodyPr/>
                    <a:lstStyle/>
                    <a:p>
                      <a:pPr algn="l"/>
                      <a:r>
                        <a:rPr lang="en-US" sz="1200" b="1">
                          <a:solidFill>
                            <a:srgbClr val="FFFFFF"/>
                          </a:solidFill>
                          <a:latin typeface="Segoe UI" panose="020B0502040204020203" pitchFamily="34" charset="0"/>
                        </a:rPr>
                        <a:t>60 - 79 tuổi</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85,340</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42,800</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0.5015</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20.4 năm</a:t>
                      </a:r>
                    </a:p>
                  </a:txBody>
                  <a:tcPr marT="76200" marB="76200" anchor="ctr">
                    <a:solidFill>
                      <a:srgbClr val="0B132B"/>
                    </a:solidFill>
                  </a:tcPr>
                </a:tc>
                <a:extLst>
                  <a:ext uri="{0D108BD9-81ED-4DB2-BD59-A6C34878D82A}">
                    <a16:rowId xmlns:a16="http://schemas.microsoft.com/office/drawing/2014/main" val="1168309070"/>
                  </a:ext>
                </a:extLst>
              </a:tr>
              <a:tr h="645886">
                <a:tc>
                  <a:txBody>
                    <a:bodyPr/>
                    <a:lstStyle/>
                    <a:p>
                      <a:pPr algn="l"/>
                      <a:r>
                        <a:rPr lang="en-US" sz="1200" b="1">
                          <a:solidFill>
                            <a:srgbClr val="FFFFFF"/>
                          </a:solidFill>
                          <a:latin typeface="Segoe UI" panose="020B0502040204020203" pitchFamily="34" charset="0"/>
                        </a:rPr>
                        <a:t>80 tuổi trở lên</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42,540</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42,540</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1.0000</a:t>
                      </a:r>
                    </a:p>
                  </a:txBody>
                  <a:tcPr marT="76200" marB="76200" anchor="ctr">
                    <a:solidFill>
                      <a:srgbClr val="0B132B"/>
                    </a:solidFill>
                  </a:tcPr>
                </a:tc>
                <a:tc>
                  <a:txBody>
                    <a:bodyPr/>
                    <a:lstStyle/>
                    <a:p>
                      <a:pPr algn="ctr"/>
                      <a:r>
                        <a:rPr lang="en-US" sz="1200" b="0">
                          <a:solidFill>
                            <a:srgbClr val="FFFFFF"/>
                          </a:solidFill>
                          <a:latin typeface="Segoe UI" panose="020B0502040204020203" pitchFamily="34" charset="0"/>
                        </a:rPr>
                        <a:t>7.8 năm</a:t>
                      </a:r>
                    </a:p>
                  </a:txBody>
                  <a:tcPr marT="76200" marB="76200" anchor="ctr">
                    <a:solidFill>
                      <a:srgbClr val="0B132B"/>
                    </a:solidFill>
                  </a:tcPr>
                </a:tc>
                <a:extLst>
                  <a:ext uri="{0D108BD9-81ED-4DB2-BD59-A6C34878D82A}">
                    <a16:rowId xmlns:a16="http://schemas.microsoft.com/office/drawing/2014/main" val="4140130777"/>
                  </a:ext>
                </a:extLst>
              </a:tr>
            </a:tbl>
          </a:graphicData>
        </a:graphic>
      </p:graphicFrame>
      <p:sp>
        <p:nvSpPr>
          <p:cNvPr id="6" name="!!Anchor_Source_Footer">
            <a:extLst>
              <a:ext uri="{FF2B5EF4-FFF2-40B4-BE49-F238E27FC236}">
                <a16:creationId xmlns:a16="http://schemas.microsoft.com/office/drawing/2014/main" id="{17390E47-8E55-EF64-1D0A-CD4C37F693EA}"/>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Nguyên lý lập Bảng sống nhân khẩu học</a:t>
            </a:r>
          </a:p>
        </p:txBody>
      </p:sp>
    </p:spTree>
    <p:extLst>
      <p:ext uri="{BB962C8B-B14F-4D97-AF65-F5344CB8AC3E}">
        <p14:creationId xmlns:p14="http://schemas.microsoft.com/office/powerpoint/2010/main" val="16750828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D2CA8AEF-7FD8-B07C-51A2-105F3F8C75FD}"/>
              </a:ext>
            </a:extLst>
          </p:cNvPr>
          <p:cNvSpPr txBox="1"/>
          <p:nvPr/>
        </p:nvSpPr>
        <p:spPr>
          <a:xfrm>
            <a:off x="609600" y="457200"/>
            <a:ext cx="9956800" cy="276999"/>
          </a:xfrm>
          <a:prstGeom prst="rect">
            <a:avLst/>
          </a:prstGeom>
          <a:noFill/>
        </p:spPr>
        <p:txBody>
          <a:bodyPr vert="horz" rtlCol="0">
            <a:spAutoFit/>
          </a:bodyPr>
          <a:lstStyle/>
          <a:p>
            <a:r>
              <a:rPr lang="vi-VN" sz="1200" b="1">
                <a:solidFill>
                  <a:srgbClr val="0284C7"/>
                </a:solidFill>
                <a:latin typeface="Segoe UI" panose="020B0502040204020203" pitchFamily="34" charset="0"/>
              </a:rPr>
              <a:t>YẾU TỐ ẢNH HƯỞNG CHẾT  •  TRỌNG TÂM</a:t>
            </a:r>
            <a:endParaRPr lang="en-US" sz="1200" b="1">
              <a:solidFill>
                <a:srgbClr val="0284C7"/>
              </a:solidFill>
              <a:latin typeface="Segoe UI" panose="020B0502040204020203" pitchFamily="34" charset="0"/>
            </a:endParaRPr>
          </a:p>
        </p:txBody>
      </p:sp>
      <p:sp>
        <p:nvSpPr>
          <p:cNvPr id="3" name="!!Anchor_Slide_Tracker">
            <a:extLst>
              <a:ext uri="{FF2B5EF4-FFF2-40B4-BE49-F238E27FC236}">
                <a16:creationId xmlns:a16="http://schemas.microsoft.com/office/drawing/2014/main" id="{8054A339-B9DD-A203-304D-A698ABA0032B}"/>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18 / 22</a:t>
            </a:r>
          </a:p>
        </p:txBody>
      </p:sp>
      <p:sp>
        <p:nvSpPr>
          <p:cNvPr id="4" name="!!Anchor_Assertion_Title">
            <a:extLst>
              <a:ext uri="{FF2B5EF4-FFF2-40B4-BE49-F238E27FC236}">
                <a16:creationId xmlns:a16="http://schemas.microsoft.com/office/drawing/2014/main" id="{5F3ED0B0-9ECE-11C8-C57B-9B5B366D7A97}"/>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Bốn Nhóm Yếu Tố Tác Động Đến Xu Hướng Giảm Mức Chết Toàn Cầu</a:t>
            </a:r>
            <a:endParaRPr lang="en-US" sz="2400" b="1">
              <a:solidFill>
                <a:srgbClr val="FFFFFF"/>
              </a:solidFill>
              <a:latin typeface="Segoe UI" panose="020B0502040204020203" pitchFamily="34" charset="0"/>
            </a:endParaRPr>
          </a:p>
        </p:txBody>
      </p:sp>
      <p:grpSp>
        <p:nvGrpSpPr>
          <p:cNvPr id="11" name="!!Stage_Hero_Container">
            <a:extLst>
              <a:ext uri="{FF2B5EF4-FFF2-40B4-BE49-F238E27FC236}">
                <a16:creationId xmlns:a16="http://schemas.microsoft.com/office/drawing/2014/main" id="{EB6E6541-0215-F6CF-A893-9D4EE3EFB921}"/>
              </a:ext>
            </a:extLst>
          </p:cNvPr>
          <p:cNvGrpSpPr/>
          <p:nvPr/>
        </p:nvGrpSpPr>
        <p:grpSpPr>
          <a:xfrm>
            <a:off x="609600" y="1676400"/>
            <a:ext cx="3522133" cy="4521200"/>
            <a:chOff x="609600" y="1676400"/>
            <a:chExt cx="3522133" cy="4521200"/>
          </a:xfrm>
        </p:grpSpPr>
        <p:sp>
          <p:nvSpPr>
            <p:cNvPr id="5" name="Rectangle: Rounded Corners 4">
              <a:extLst>
                <a:ext uri="{FF2B5EF4-FFF2-40B4-BE49-F238E27FC236}">
                  <a16:creationId xmlns:a16="http://schemas.microsoft.com/office/drawing/2014/main" id="{55EEC024-3FC3-7ADE-3F39-F55616A95C4C}"/>
                </a:ext>
              </a:extLst>
            </p:cNvPr>
            <p:cNvSpPr/>
            <p:nvPr/>
          </p:nvSpPr>
          <p:spPr>
            <a:xfrm>
              <a:off x="609600" y="1676400"/>
              <a:ext cx="3522133" cy="45212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2F9F7CD-36E3-B7C8-7BA4-85325355FCB6}"/>
                </a:ext>
              </a:extLst>
            </p:cNvPr>
            <p:cNvSpPr/>
            <p:nvPr/>
          </p:nvSpPr>
          <p:spPr>
            <a:xfrm>
              <a:off x="812800"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58F7F18-7128-968F-2873-342445516E58}"/>
                </a:ext>
              </a:extLst>
            </p:cNvPr>
            <p:cNvSpPr/>
            <p:nvPr/>
          </p:nvSpPr>
          <p:spPr>
            <a:xfrm>
              <a:off x="812800" y="20066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A5DDE211-620E-A492-4F34-301884F9D860}"/>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2070100"/>
              <a:ext cx="279400" cy="279400"/>
            </a:xfrm>
            <a:prstGeom prst="rect">
              <a:avLst/>
            </a:prstGeom>
          </p:spPr>
        </p:pic>
        <p:sp>
          <p:nvSpPr>
            <p:cNvPr id="10" name="TextBox 9">
              <a:extLst>
                <a:ext uri="{FF2B5EF4-FFF2-40B4-BE49-F238E27FC236}">
                  <a16:creationId xmlns:a16="http://schemas.microsoft.com/office/drawing/2014/main" id="{9FD1459C-34A2-7712-BF07-EDFF3CC533BA}"/>
                </a:ext>
              </a:extLst>
            </p:cNvPr>
            <p:cNvSpPr txBox="1"/>
            <p:nvPr/>
          </p:nvSpPr>
          <p:spPr>
            <a:xfrm>
              <a:off x="812800" y="2540000"/>
              <a:ext cx="3115733" cy="1620572"/>
            </a:xfrm>
            <a:prstGeom prst="rect">
              <a:avLst/>
            </a:prstGeom>
            <a:noFill/>
          </p:spPr>
          <p:txBody>
            <a:bodyPr vert="horz" wrap="square" lIns="0" tIns="0" rtlCol="0">
              <a:spAutoFit/>
            </a:bodyPr>
            <a:lstStyle/>
            <a:p>
              <a:pPr>
                <a:lnSpc>
                  <a:spcPct val="125000"/>
                </a:lnSpc>
                <a:spcAft>
                  <a:spcPts val="800"/>
                </a:spcAft>
              </a:pPr>
              <a:r>
                <a:rPr lang="en-US" b="1">
                  <a:solidFill>
                    <a:srgbClr val="FFFFFF"/>
                  </a:solidFill>
                  <a:latin typeface="Segoe UI" panose="020B0502040204020203" pitchFamily="34" charset="0"/>
                </a:rPr>
                <a:t>Tiến Bộ Y Học &amp; Vắc-xin
</a:t>
              </a:r>
              <a:r>
                <a:rPr lang="vi-VN" sz="1500">
                  <a:solidFill>
                    <a:srgbClr val="CBD5E1"/>
                  </a:solidFill>
                  <a:latin typeface="Segoe UI" panose="020B0502040204020203" pitchFamily="34" charset="0"/>
                </a:rPr>
                <a:t>Phát minh kháng sinh, chương trình tiêm chủng mở rộng và kỹ thuật phẫu thuật hiện đại xóa bỏ đại dịch truyền nhiễm.</a:t>
              </a:r>
              <a:endParaRPr lang="en-US" sz="1500">
                <a:solidFill>
                  <a:srgbClr val="CBD5E1"/>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419EC4A3-970F-0EA9-49A3-5BF3ED8BA6CF}"/>
              </a:ext>
            </a:extLst>
          </p:cNvPr>
          <p:cNvGrpSpPr/>
          <p:nvPr/>
        </p:nvGrpSpPr>
        <p:grpSpPr>
          <a:xfrm>
            <a:off x="4334933" y="1676400"/>
            <a:ext cx="3522134" cy="4521200"/>
            <a:chOff x="4334933" y="1676400"/>
            <a:chExt cx="3522134" cy="4521200"/>
          </a:xfrm>
        </p:grpSpPr>
        <p:sp>
          <p:nvSpPr>
            <p:cNvPr id="12" name="Rectangle: Rounded Corners 11">
              <a:extLst>
                <a:ext uri="{FF2B5EF4-FFF2-40B4-BE49-F238E27FC236}">
                  <a16:creationId xmlns:a16="http://schemas.microsoft.com/office/drawing/2014/main" id="{4867B408-2D40-9EC6-6A19-4D94D89964D1}"/>
                </a:ext>
              </a:extLst>
            </p:cNvPr>
            <p:cNvSpPr/>
            <p:nvPr/>
          </p:nvSpPr>
          <p:spPr>
            <a:xfrm>
              <a:off x="4334933" y="1676400"/>
              <a:ext cx="3522134" cy="45212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C3861AE-FF5B-0E86-BE62-73242834AA87}"/>
                </a:ext>
              </a:extLst>
            </p:cNvPr>
            <p:cNvSpPr/>
            <p:nvPr/>
          </p:nvSpPr>
          <p:spPr>
            <a:xfrm>
              <a:off x="4538133"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E5E8D6C-20CD-A49B-7624-11A33F7733D1}"/>
                </a:ext>
              </a:extLst>
            </p:cNvPr>
            <p:cNvSpPr/>
            <p:nvPr/>
          </p:nvSpPr>
          <p:spPr>
            <a:xfrm>
              <a:off x="4538133" y="20066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0A422DC5-71B7-9A13-1B27-856181DCD4E6}"/>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2070100"/>
              <a:ext cx="279400" cy="279400"/>
            </a:xfrm>
            <a:prstGeom prst="rect">
              <a:avLst/>
            </a:prstGeom>
          </p:spPr>
        </p:pic>
        <p:sp>
          <p:nvSpPr>
            <p:cNvPr id="17" name="TextBox 16">
              <a:extLst>
                <a:ext uri="{FF2B5EF4-FFF2-40B4-BE49-F238E27FC236}">
                  <a16:creationId xmlns:a16="http://schemas.microsoft.com/office/drawing/2014/main" id="{B0346634-4FAE-B193-AD36-403B13215297}"/>
                </a:ext>
              </a:extLst>
            </p:cNvPr>
            <p:cNvSpPr txBox="1"/>
            <p:nvPr/>
          </p:nvSpPr>
          <p:spPr>
            <a:xfrm>
              <a:off x="4538133" y="2540000"/>
              <a:ext cx="3115733" cy="1966820"/>
            </a:xfrm>
            <a:prstGeom prst="rect">
              <a:avLst/>
            </a:prstGeom>
            <a:noFill/>
          </p:spPr>
          <p:txBody>
            <a:bodyPr vert="horz" wrap="square" lIns="0" tIns="0" rtlCol="0">
              <a:spAutoFit/>
            </a:bodyPr>
            <a:lstStyle/>
            <a:p>
              <a:pPr>
                <a:lnSpc>
                  <a:spcPct val="125000"/>
                </a:lnSpc>
                <a:spcAft>
                  <a:spcPts val="800"/>
                </a:spcAft>
              </a:pPr>
              <a:r>
                <a:rPr lang="vi-VN" b="1">
                  <a:solidFill>
                    <a:srgbClr val="FFFFFF"/>
                  </a:solidFill>
                  <a:latin typeface="Segoe UI" panose="020B0502040204020203" pitchFamily="34" charset="0"/>
                </a:rPr>
                <a:t>Nước Sạch &amp; Môi Trường Vệ Sinh
</a:t>
              </a:r>
              <a:r>
                <a:rPr lang="vi-VN" sz="1500">
                  <a:solidFill>
                    <a:srgbClr val="CBD5E1"/>
                  </a:solidFill>
                  <a:latin typeface="Segoe UI" panose="020B0502040204020203" pitchFamily="34" charset="0"/>
                </a:rPr>
                <a:t>Xử lý nước thải, cung cấp nước sạch sinh hoạt và vệ sinh an toàn thực phẩm ngăn ngừa các bệnh tiêu chảy chết người.</a:t>
              </a:r>
              <a:endParaRPr lang="en-US" sz="1500">
                <a:solidFill>
                  <a:srgbClr val="CBD5E1"/>
                </a:solidFill>
                <a:latin typeface="Segoe UI" panose="020B0502040204020203" pitchFamily="34" charset="0"/>
              </a:endParaRPr>
            </a:p>
          </p:txBody>
        </p:sp>
      </p:grpSp>
      <p:grpSp>
        <p:nvGrpSpPr>
          <p:cNvPr id="25" name="!!Stage_Sub_Card_2">
            <a:extLst>
              <a:ext uri="{FF2B5EF4-FFF2-40B4-BE49-F238E27FC236}">
                <a16:creationId xmlns:a16="http://schemas.microsoft.com/office/drawing/2014/main" id="{51B7AE15-921A-FAC6-BFE8-8AA0BBB6A5D5}"/>
              </a:ext>
            </a:extLst>
          </p:cNvPr>
          <p:cNvGrpSpPr/>
          <p:nvPr/>
        </p:nvGrpSpPr>
        <p:grpSpPr>
          <a:xfrm>
            <a:off x="8060267" y="1676400"/>
            <a:ext cx="3522133" cy="4521200"/>
            <a:chOff x="8060267" y="1676400"/>
            <a:chExt cx="3522133" cy="4521200"/>
          </a:xfrm>
        </p:grpSpPr>
        <p:sp>
          <p:nvSpPr>
            <p:cNvPr id="19" name="Rectangle: Rounded Corners 18">
              <a:extLst>
                <a:ext uri="{FF2B5EF4-FFF2-40B4-BE49-F238E27FC236}">
                  <a16:creationId xmlns:a16="http://schemas.microsoft.com/office/drawing/2014/main" id="{4357B4A2-681A-0512-6283-ECF4DD34FCAA}"/>
                </a:ext>
              </a:extLst>
            </p:cNvPr>
            <p:cNvSpPr/>
            <p:nvPr/>
          </p:nvSpPr>
          <p:spPr>
            <a:xfrm>
              <a:off x="8060267" y="1676400"/>
              <a:ext cx="3522133" cy="45212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300CDD0-65F2-475E-DD91-7EED20C865C0}"/>
                </a:ext>
              </a:extLst>
            </p:cNvPr>
            <p:cNvSpPr/>
            <p:nvPr/>
          </p:nvSpPr>
          <p:spPr>
            <a:xfrm>
              <a:off x="8263467"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FBC7C0D-BF10-307A-BEC5-4FE332F0E1E3}"/>
                </a:ext>
              </a:extLst>
            </p:cNvPr>
            <p:cNvSpPr/>
            <p:nvPr/>
          </p:nvSpPr>
          <p:spPr>
            <a:xfrm>
              <a:off x="8263467" y="20066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23D0AAC6-7283-A3ED-B3C3-51CC60255824}"/>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2070100"/>
              <a:ext cx="279400" cy="279400"/>
            </a:xfrm>
            <a:prstGeom prst="rect">
              <a:avLst/>
            </a:prstGeom>
          </p:spPr>
        </p:pic>
        <p:sp>
          <p:nvSpPr>
            <p:cNvPr id="24" name="TextBox 23">
              <a:extLst>
                <a:ext uri="{FF2B5EF4-FFF2-40B4-BE49-F238E27FC236}">
                  <a16:creationId xmlns:a16="http://schemas.microsoft.com/office/drawing/2014/main" id="{5D08B45B-17B4-3AD5-A457-E1CC9CD51CCD}"/>
                </a:ext>
              </a:extLst>
            </p:cNvPr>
            <p:cNvSpPr txBox="1"/>
            <p:nvPr/>
          </p:nvSpPr>
          <p:spPr>
            <a:xfrm>
              <a:off x="8263467" y="2540000"/>
              <a:ext cx="3115733" cy="1966820"/>
            </a:xfrm>
            <a:prstGeom prst="rect">
              <a:avLst/>
            </a:prstGeom>
            <a:noFill/>
          </p:spPr>
          <p:txBody>
            <a:bodyPr vert="horz" wrap="square" lIns="0" tIns="0" rtlCol="0">
              <a:spAutoFit/>
            </a:bodyPr>
            <a:lstStyle/>
            <a:p>
              <a:pPr>
                <a:lnSpc>
                  <a:spcPct val="125000"/>
                </a:lnSpc>
                <a:spcAft>
                  <a:spcPts val="800"/>
                </a:spcAft>
              </a:pPr>
              <a:r>
                <a:rPr lang="vi-VN" b="1">
                  <a:solidFill>
                    <a:srgbClr val="FFFFFF"/>
                  </a:solidFill>
                  <a:latin typeface="Segoe UI" panose="020B0502040204020203" pitchFamily="34" charset="0"/>
                </a:rPr>
                <a:t>Nâng Cao Thu Nhập &amp; Dinh Dưỡng
</a:t>
              </a:r>
              <a:r>
                <a:rPr lang="vi-VN" sz="1500">
                  <a:solidFill>
                    <a:srgbClr val="CBD5E1"/>
                  </a:solidFill>
                  <a:latin typeface="Segoe UI" panose="020B0502040204020203" pitchFamily="34" charset="0"/>
                </a:rPr>
                <a:t>Xóa đói giảm nghèo bảo đảm chế độ calo và vi chất dinh dưỡng đầy đủ, gia tăng sức đề kháng tự nhiên của cơ thể.</a:t>
              </a:r>
              <a:endParaRPr lang="en-US" sz="1500">
                <a:solidFill>
                  <a:srgbClr val="CBD5E1"/>
                </a:solidFill>
                <a:latin typeface="Segoe UI" panose="020B0502040204020203" pitchFamily="34" charset="0"/>
              </a:endParaRPr>
            </a:p>
          </p:txBody>
        </p:sp>
      </p:grpSp>
      <p:sp>
        <p:nvSpPr>
          <p:cNvPr id="26" name="!!Anchor_Source_Footer">
            <a:extLst>
              <a:ext uri="{FF2B5EF4-FFF2-40B4-BE49-F238E27FC236}">
                <a16:creationId xmlns:a16="http://schemas.microsoft.com/office/drawing/2014/main" id="{034BD2BA-8CC3-1D10-7A49-507F993549DA}"/>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Lịch sử dịch tễ học và y tế công cộng</a:t>
            </a:r>
          </a:p>
        </p:txBody>
      </p:sp>
    </p:spTree>
    <p:extLst>
      <p:ext uri="{BB962C8B-B14F-4D97-AF65-F5344CB8AC3E}">
        <p14:creationId xmlns:p14="http://schemas.microsoft.com/office/powerpoint/2010/main" val="42337468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450" fill="hold"/>
                                        <p:tgtEl>
                                          <p:spTgt spid="25"/>
                                        </p:tgtEl>
                                        <p:attrNameLst>
                                          <p:attrName>ppt_x</p:attrName>
                                        </p:attrNameLst>
                                      </p:cBhvr>
                                      <p:tavLst>
                                        <p:tav tm="0">
                                          <p:val>
                                            <p:strVal val="#ppt_x"/>
                                          </p:val>
                                        </p:tav>
                                        <p:tav tm="100000">
                                          <p:val>
                                            <p:strVal val="#ppt_x"/>
                                          </p:val>
                                        </p:tav>
                                      </p:tavLst>
                                    </p:anim>
                                    <p:anim calcmode="lin" valueType="num">
                                      <p:cBhvr additive="base">
                                        <p:cTn id="14" dur="45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438CE5A3-571E-6410-6CE0-9A63CF633F96}"/>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TUỔI THỌ VIỆT NAM  •  TRỌNG TÂM</a:t>
            </a:r>
          </a:p>
        </p:txBody>
      </p:sp>
      <p:sp>
        <p:nvSpPr>
          <p:cNvPr id="3" name="!!Anchor_Slide_Tracker">
            <a:extLst>
              <a:ext uri="{FF2B5EF4-FFF2-40B4-BE49-F238E27FC236}">
                <a16:creationId xmlns:a16="http://schemas.microsoft.com/office/drawing/2014/main" id="{4D8B4FCF-8BDB-3962-86E8-F2D74862D53D}"/>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19 / 22</a:t>
            </a:r>
          </a:p>
        </p:txBody>
      </p:sp>
      <p:sp>
        <p:nvSpPr>
          <p:cNvPr id="4" name="!!Anchor_Assertion_Title">
            <a:extLst>
              <a:ext uri="{FF2B5EF4-FFF2-40B4-BE49-F238E27FC236}">
                <a16:creationId xmlns:a16="http://schemas.microsoft.com/office/drawing/2014/main" id="{521E3D47-2195-7A68-72A9-AD5954ABD200}"/>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FFFFFF"/>
                </a:solidFill>
                <a:latin typeface="Segoe UI" panose="020B0502040204020203" pitchFamily="34" charset="0"/>
              </a:rPr>
              <a:t>Thành Tựu Tăng Tuổi Thọ Bình Quân Của Dân Số Việt Nam Đạt 73.7 Tuổi</a:t>
            </a:r>
          </a:p>
        </p:txBody>
      </p:sp>
      <p:pic>
        <p:nvPicPr>
          <p:cNvPr id="6" name="!!Stage_Hero_Container">
            <a:extLst>
              <a:ext uri="{FF2B5EF4-FFF2-40B4-BE49-F238E27FC236}">
                <a16:creationId xmlns:a16="http://schemas.microsoft.com/office/drawing/2014/main" id="{3DC92C06-12E0-61AF-0949-E9C926D5BC29}"/>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752600"/>
            <a:ext cx="5705856" cy="4368800"/>
          </a:xfrm>
          <a:prstGeom prst="roundRect">
            <a:avLst/>
          </a:prstGeom>
          <a:ln w="12700">
            <a:solidFill>
              <a:srgbClr val="1E293B"/>
            </a:solidFill>
          </a:ln>
        </p:spPr>
      </p:pic>
      <p:grpSp>
        <p:nvGrpSpPr>
          <p:cNvPr id="12" name="!!Stage_Sub_Card_1">
            <a:extLst>
              <a:ext uri="{FF2B5EF4-FFF2-40B4-BE49-F238E27FC236}">
                <a16:creationId xmlns:a16="http://schemas.microsoft.com/office/drawing/2014/main" id="{BCBBF556-7EA8-8B5A-6385-EA2396ABC0DD}"/>
              </a:ext>
            </a:extLst>
          </p:cNvPr>
          <p:cNvGrpSpPr/>
          <p:nvPr/>
        </p:nvGrpSpPr>
        <p:grpSpPr>
          <a:xfrm>
            <a:off x="6644640" y="1676400"/>
            <a:ext cx="4937760" cy="1405467"/>
            <a:chOff x="6644640" y="1676400"/>
            <a:chExt cx="4937760" cy="1405467"/>
          </a:xfrm>
        </p:grpSpPr>
        <p:sp>
          <p:nvSpPr>
            <p:cNvPr id="7" name="Rectangle: Rounded Corners 6">
              <a:extLst>
                <a:ext uri="{FF2B5EF4-FFF2-40B4-BE49-F238E27FC236}">
                  <a16:creationId xmlns:a16="http://schemas.microsoft.com/office/drawing/2014/main" id="{2D465045-6AF0-0E47-0D4C-97EC6220FEFA}"/>
                </a:ext>
              </a:extLst>
            </p:cNvPr>
            <p:cNvSpPr/>
            <p:nvPr/>
          </p:nvSpPr>
          <p:spPr>
            <a:xfrm>
              <a:off x="6644640" y="1676400"/>
              <a:ext cx="4937760" cy="1405467"/>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FE81D38-FBF4-0D97-3490-781D1C7104B8}"/>
                </a:ext>
              </a:extLst>
            </p:cNvPr>
            <p:cNvSpPr/>
            <p:nvPr/>
          </p:nvSpPr>
          <p:spPr>
            <a:xfrm>
              <a:off x="6822440" y="18542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CB994C20-141D-C130-A31E-E387D51847AF}"/>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1" name="TextBox 10">
              <a:extLst>
                <a:ext uri="{FF2B5EF4-FFF2-40B4-BE49-F238E27FC236}">
                  <a16:creationId xmlns:a16="http://schemas.microsoft.com/office/drawing/2014/main" id="{3217125C-7638-4BB7-C42C-7EE3421D8668}"/>
                </a:ext>
              </a:extLst>
            </p:cNvPr>
            <p:cNvSpPr txBox="1"/>
            <p:nvPr/>
          </p:nvSpPr>
          <p:spPr>
            <a:xfrm>
              <a:off x="7305040" y="1803400"/>
              <a:ext cx="41503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Tuổi Thọ Bình Quân: 73.7 Tuổi
</a:t>
              </a:r>
              <a:r>
                <a:rPr lang="vi-VN" sz="1400" b="1">
                  <a:solidFill>
                    <a:srgbClr val="CBD5E1"/>
                  </a:solidFill>
                  <a:latin typeface="Segoe UI" panose="020B0502040204020203" pitchFamily="34" charset="0"/>
                </a:rPr>
                <a:t>Nam giới đạt 71.1 tuổi, Nữ giới đạt 76.5 tuổi. Việt Nam có tuổi thọ cao hơn mức trung bình của các nước có cùng thu nhập.</a:t>
              </a:r>
              <a:endParaRPr lang="en-US" sz="1400" b="1">
                <a:solidFill>
                  <a:srgbClr val="CBD5E1"/>
                </a:solidFill>
                <a:latin typeface="Segoe UI" panose="020B0502040204020203" pitchFamily="34" charset="0"/>
              </a:endParaRPr>
            </a:p>
          </p:txBody>
        </p:sp>
      </p:grpSp>
      <p:grpSp>
        <p:nvGrpSpPr>
          <p:cNvPr id="18" name="!!Stage_Sub_Card_2">
            <a:extLst>
              <a:ext uri="{FF2B5EF4-FFF2-40B4-BE49-F238E27FC236}">
                <a16:creationId xmlns:a16="http://schemas.microsoft.com/office/drawing/2014/main" id="{A66CB0C2-5419-0377-0687-A2B56814E86C}"/>
              </a:ext>
            </a:extLst>
          </p:cNvPr>
          <p:cNvGrpSpPr/>
          <p:nvPr/>
        </p:nvGrpSpPr>
        <p:grpSpPr>
          <a:xfrm>
            <a:off x="6644640" y="3234267"/>
            <a:ext cx="4937760" cy="1405466"/>
            <a:chOff x="6644640" y="3234267"/>
            <a:chExt cx="4937760" cy="1405466"/>
          </a:xfrm>
        </p:grpSpPr>
        <p:sp>
          <p:nvSpPr>
            <p:cNvPr id="13" name="Rectangle: Rounded Corners 12">
              <a:extLst>
                <a:ext uri="{FF2B5EF4-FFF2-40B4-BE49-F238E27FC236}">
                  <a16:creationId xmlns:a16="http://schemas.microsoft.com/office/drawing/2014/main" id="{313FACFD-5323-2E4E-F6C0-0C41CA1AFBBC}"/>
                </a:ext>
              </a:extLst>
            </p:cNvPr>
            <p:cNvSpPr/>
            <p:nvPr/>
          </p:nvSpPr>
          <p:spPr>
            <a:xfrm>
              <a:off x="6644640" y="3234267"/>
              <a:ext cx="4937760" cy="1405466"/>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DB346D9-A96C-A816-6B0F-47E473E1B4A1}"/>
                </a:ext>
              </a:extLst>
            </p:cNvPr>
            <p:cNvSpPr/>
            <p:nvPr/>
          </p:nvSpPr>
          <p:spPr>
            <a:xfrm>
              <a:off x="6822440" y="3412067"/>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056C16DF-066D-F671-DFB1-5F067778A39A}"/>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3475567"/>
              <a:ext cx="254000" cy="254000"/>
            </a:xfrm>
            <a:prstGeom prst="rect">
              <a:avLst/>
            </a:prstGeom>
          </p:spPr>
        </p:pic>
        <p:sp>
          <p:nvSpPr>
            <p:cNvPr id="17" name="TextBox 16">
              <a:extLst>
                <a:ext uri="{FF2B5EF4-FFF2-40B4-BE49-F238E27FC236}">
                  <a16:creationId xmlns:a16="http://schemas.microsoft.com/office/drawing/2014/main" id="{6A70261D-97AB-941D-228B-8881F8EB5C05}"/>
                </a:ext>
              </a:extLst>
            </p:cNvPr>
            <p:cNvSpPr txBox="1"/>
            <p:nvPr/>
          </p:nvSpPr>
          <p:spPr>
            <a:xfrm>
              <a:off x="7305040" y="3361267"/>
              <a:ext cx="41503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Chênh Lệch Giới Tính 5.4 Năm
</a:t>
              </a:r>
              <a:r>
                <a:rPr lang="vi-VN" sz="1400" b="1">
                  <a:solidFill>
                    <a:srgbClr val="CBD5E1"/>
                  </a:solidFill>
                  <a:latin typeface="Segoe UI" panose="020B0502040204020203" pitchFamily="34" charset="0"/>
                </a:rPr>
                <a:t>Nữ giới sống thọ hơn nam phản ánh ưu thế sinh học và tỷ lệ tử vong do tai nạn, rượu bia thuốc lá ở nam giới cao hơn.</a:t>
              </a:r>
              <a:endParaRPr lang="en-US" sz="1400" b="1">
                <a:solidFill>
                  <a:srgbClr val="CBD5E1"/>
                </a:solidFill>
                <a:latin typeface="Segoe UI" panose="020B0502040204020203" pitchFamily="34" charset="0"/>
              </a:endParaRPr>
            </a:p>
          </p:txBody>
        </p:sp>
      </p:grpSp>
      <p:grpSp>
        <p:nvGrpSpPr>
          <p:cNvPr id="24" name="!!Stage_Sub_Card_3">
            <a:extLst>
              <a:ext uri="{FF2B5EF4-FFF2-40B4-BE49-F238E27FC236}">
                <a16:creationId xmlns:a16="http://schemas.microsoft.com/office/drawing/2014/main" id="{5B2E6C6E-947F-7CCD-60BE-026EDFA4CE19}"/>
              </a:ext>
            </a:extLst>
          </p:cNvPr>
          <p:cNvGrpSpPr/>
          <p:nvPr/>
        </p:nvGrpSpPr>
        <p:grpSpPr>
          <a:xfrm>
            <a:off x="6644640" y="4792133"/>
            <a:ext cx="4937760" cy="1405467"/>
            <a:chOff x="6644640" y="4792133"/>
            <a:chExt cx="4937760" cy="1405467"/>
          </a:xfrm>
        </p:grpSpPr>
        <p:sp>
          <p:nvSpPr>
            <p:cNvPr id="19" name="Rectangle: Rounded Corners 18">
              <a:extLst>
                <a:ext uri="{FF2B5EF4-FFF2-40B4-BE49-F238E27FC236}">
                  <a16:creationId xmlns:a16="http://schemas.microsoft.com/office/drawing/2014/main" id="{1F4380FC-74AE-F3DA-A008-F1CB0023686A}"/>
                </a:ext>
              </a:extLst>
            </p:cNvPr>
            <p:cNvSpPr/>
            <p:nvPr/>
          </p:nvSpPr>
          <p:spPr>
            <a:xfrm>
              <a:off x="6644640" y="4792133"/>
              <a:ext cx="4937760" cy="1405467"/>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93DA28F-A87D-46A5-1853-2EA5BF2BF527}"/>
                </a:ext>
              </a:extLst>
            </p:cNvPr>
            <p:cNvSpPr/>
            <p:nvPr/>
          </p:nvSpPr>
          <p:spPr>
            <a:xfrm>
              <a:off x="6822440" y="4969933"/>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16EFB789-69D5-C9A2-744F-8AC3F83C3597}"/>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885940" y="5033433"/>
              <a:ext cx="254000" cy="254000"/>
            </a:xfrm>
            <a:prstGeom prst="rect">
              <a:avLst/>
            </a:prstGeom>
          </p:spPr>
        </p:pic>
        <p:sp>
          <p:nvSpPr>
            <p:cNvPr id="23" name="TextBox 22">
              <a:extLst>
                <a:ext uri="{FF2B5EF4-FFF2-40B4-BE49-F238E27FC236}">
                  <a16:creationId xmlns:a16="http://schemas.microsoft.com/office/drawing/2014/main" id="{1F66DE2D-C63B-6B99-C58D-54BF67DFD716}"/>
                </a:ext>
              </a:extLst>
            </p:cNvPr>
            <p:cNvSpPr txBox="1"/>
            <p:nvPr/>
          </p:nvSpPr>
          <p:spPr>
            <a:xfrm>
              <a:off x="7305040" y="4919133"/>
              <a:ext cx="41503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Khoảng Trống Tuổi Thọ Khỏe Mạnh
</a:t>
              </a:r>
              <a:r>
                <a:rPr lang="vi-VN" sz="1400" b="1">
                  <a:solidFill>
                    <a:srgbClr val="CBD5E1"/>
                  </a:solidFill>
                  <a:latin typeface="Segoe UI" panose="020B0502040204020203" pitchFamily="34" charset="0"/>
                </a:rPr>
                <a:t>Kỳ vọng sống khỏe mạnh chỉ đạt khoảng 64 tuổi; người cao tuổi Việt Nam gánh chịu trung bình 8-9 năm ốm đau bệnh tật.</a:t>
              </a:r>
              <a:endParaRPr lang="en-US" sz="1400" b="1">
                <a:solidFill>
                  <a:srgbClr val="CBD5E1"/>
                </a:solidFill>
                <a:latin typeface="Segoe UI" panose="020B0502040204020203" pitchFamily="34" charset="0"/>
              </a:endParaRPr>
            </a:p>
          </p:txBody>
        </p:sp>
      </p:grpSp>
      <p:sp>
        <p:nvSpPr>
          <p:cNvPr id="25" name="!!Anchor_Source_Footer">
            <a:extLst>
              <a:ext uri="{FF2B5EF4-FFF2-40B4-BE49-F238E27FC236}">
                <a16:creationId xmlns:a16="http://schemas.microsoft.com/office/drawing/2014/main" id="{F4F8F459-AD51-F764-886B-AADE5F135B8C}"/>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Tổng cục Thống kê - Báo cáo Tình hình Dân số</a:t>
            </a:r>
          </a:p>
        </p:txBody>
      </p:sp>
    </p:spTree>
    <p:extLst>
      <p:ext uri="{BB962C8B-B14F-4D97-AF65-F5344CB8AC3E}">
        <p14:creationId xmlns:p14="http://schemas.microsoft.com/office/powerpoint/2010/main" val="35479112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450" fill="hold"/>
                                        <p:tgtEl>
                                          <p:spTgt spid="12"/>
                                        </p:tgtEl>
                                        <p:attrNameLst>
                                          <p:attrName>ppt_x</p:attrName>
                                        </p:attrNameLst>
                                      </p:cBhvr>
                                      <p:tavLst>
                                        <p:tav tm="0">
                                          <p:val>
                                            <p:strVal val="#ppt_x"/>
                                          </p:val>
                                        </p:tav>
                                        <p:tav tm="100000">
                                          <p:val>
                                            <p:strVal val="#ppt_x"/>
                                          </p:val>
                                        </p:tav>
                                      </p:tavLst>
                                    </p:anim>
                                    <p:anim calcmode="lin" valueType="num">
                                      <p:cBhvr additive="base">
                                        <p:cTn id="8" dur="45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450" fill="hold"/>
                                        <p:tgtEl>
                                          <p:spTgt spid="18"/>
                                        </p:tgtEl>
                                        <p:attrNameLst>
                                          <p:attrName>ppt_x</p:attrName>
                                        </p:attrNameLst>
                                      </p:cBhvr>
                                      <p:tavLst>
                                        <p:tav tm="0">
                                          <p:val>
                                            <p:strVal val="#ppt_x"/>
                                          </p:val>
                                        </p:tav>
                                        <p:tav tm="100000">
                                          <p:val>
                                            <p:strVal val="#ppt_x"/>
                                          </p:val>
                                        </p:tav>
                                      </p:tavLst>
                                    </p:anim>
                                    <p:anim calcmode="lin" valueType="num">
                                      <p:cBhvr additive="base">
                                        <p:cTn id="14"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450" fill="hold"/>
                                        <p:tgtEl>
                                          <p:spTgt spid="24"/>
                                        </p:tgtEl>
                                        <p:attrNameLst>
                                          <p:attrName>ppt_x</p:attrName>
                                        </p:attrNameLst>
                                      </p:cBhvr>
                                      <p:tavLst>
                                        <p:tav tm="0">
                                          <p:val>
                                            <p:strVal val="#ppt_x"/>
                                          </p:val>
                                        </p:tav>
                                        <p:tav tm="100000">
                                          <p:val>
                                            <p:strVal val="#ppt_x"/>
                                          </p:val>
                                        </p:tav>
                                      </p:tavLst>
                                    </p:anim>
                                    <p:anim calcmode="lin" valueType="num">
                                      <p:cBhvr additive="base">
                                        <p:cTn id="20" dur="45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0F716F33-CEB8-CB68-525D-9A280F3D88DF}"/>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GIA TĂNG TỰ NHIÊN  •  TRỌNG TÂM</a:t>
            </a:r>
          </a:p>
        </p:txBody>
      </p:sp>
      <p:sp>
        <p:nvSpPr>
          <p:cNvPr id="3" name="!!Anchor_Slide_Tracker">
            <a:extLst>
              <a:ext uri="{FF2B5EF4-FFF2-40B4-BE49-F238E27FC236}">
                <a16:creationId xmlns:a16="http://schemas.microsoft.com/office/drawing/2014/main" id="{964DCFE2-0EF7-BD7A-4BDB-91A0B7C354D2}"/>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20 / 22</a:t>
            </a:r>
          </a:p>
        </p:txBody>
      </p:sp>
      <p:sp>
        <p:nvSpPr>
          <p:cNvPr id="4" name="!!Anchor_Assertion_Title">
            <a:extLst>
              <a:ext uri="{FF2B5EF4-FFF2-40B4-BE49-F238E27FC236}">
                <a16:creationId xmlns:a16="http://schemas.microsoft.com/office/drawing/2014/main" id="{2614AA7D-D019-FC37-568C-8CEE712E2BF9}"/>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Tỷ Suất Tăng Tự Nhiên (NIR) Và Phương Trình Cân Bằng Sinh - Tử</a:t>
            </a:r>
            <a:endParaRPr lang="en-US" sz="2400" b="1">
              <a:solidFill>
                <a:srgbClr val="FFFFFF"/>
              </a:solidFill>
              <a:latin typeface="Segoe UI" panose="020B0502040204020203" pitchFamily="34" charset="0"/>
            </a:endParaRPr>
          </a:p>
        </p:txBody>
      </p:sp>
      <p:pic>
        <p:nvPicPr>
          <p:cNvPr id="6" name="!!Stage_Hero_Container">
            <a:extLst>
              <a:ext uri="{FF2B5EF4-FFF2-40B4-BE49-F238E27FC236}">
                <a16:creationId xmlns:a16="http://schemas.microsoft.com/office/drawing/2014/main" id="{D6B09507-04DC-849B-7396-1C3C55AAE0CE}"/>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752600"/>
            <a:ext cx="5705856" cy="4368800"/>
          </a:xfrm>
          <a:prstGeom prst="roundRect">
            <a:avLst/>
          </a:prstGeom>
          <a:ln w="12700">
            <a:solidFill>
              <a:srgbClr val="1E293B"/>
            </a:solidFill>
          </a:ln>
        </p:spPr>
      </p:pic>
      <p:grpSp>
        <p:nvGrpSpPr>
          <p:cNvPr id="12" name="!!Stage_Sub_Card_1">
            <a:extLst>
              <a:ext uri="{FF2B5EF4-FFF2-40B4-BE49-F238E27FC236}">
                <a16:creationId xmlns:a16="http://schemas.microsoft.com/office/drawing/2014/main" id="{F5E60548-B91D-38FE-421E-984D5BAB7B87}"/>
              </a:ext>
            </a:extLst>
          </p:cNvPr>
          <p:cNvGrpSpPr/>
          <p:nvPr/>
        </p:nvGrpSpPr>
        <p:grpSpPr>
          <a:xfrm>
            <a:off x="6644640" y="1676400"/>
            <a:ext cx="4937760" cy="2184400"/>
            <a:chOff x="6644640" y="1676400"/>
            <a:chExt cx="4937760" cy="2184400"/>
          </a:xfrm>
        </p:grpSpPr>
        <p:sp>
          <p:nvSpPr>
            <p:cNvPr id="7" name="Rectangle: Rounded Corners 6">
              <a:extLst>
                <a:ext uri="{FF2B5EF4-FFF2-40B4-BE49-F238E27FC236}">
                  <a16:creationId xmlns:a16="http://schemas.microsoft.com/office/drawing/2014/main" id="{A954C863-5821-AAFD-835C-E0C91572D148}"/>
                </a:ext>
              </a:extLst>
            </p:cNvPr>
            <p:cNvSpPr/>
            <p:nvPr/>
          </p:nvSpPr>
          <p:spPr>
            <a:xfrm>
              <a:off x="6644640" y="1676400"/>
              <a:ext cx="4937760" cy="2184400"/>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349BC1F-FFE5-F832-C501-101C452CB0A7}"/>
                </a:ext>
              </a:extLst>
            </p:cNvPr>
            <p:cNvSpPr/>
            <p:nvPr/>
          </p:nvSpPr>
          <p:spPr>
            <a:xfrm>
              <a:off x="6822440" y="18542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97925260-44E7-23DD-34AB-6CE78291E2E2}"/>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1" name="TextBox 10">
              <a:extLst>
                <a:ext uri="{FF2B5EF4-FFF2-40B4-BE49-F238E27FC236}">
                  <a16:creationId xmlns:a16="http://schemas.microsoft.com/office/drawing/2014/main" id="{DE0468CD-AFFA-235F-17C4-72438FA5BD0F}"/>
                </a:ext>
              </a:extLst>
            </p:cNvPr>
            <p:cNvSpPr txBox="1"/>
            <p:nvPr/>
          </p:nvSpPr>
          <p:spPr>
            <a:xfrm>
              <a:off x="7305040" y="1803400"/>
              <a:ext cx="4150360" cy="1205458"/>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Công Thức Tính NIR
</a:t>
              </a:r>
              <a:r>
                <a:rPr lang="vi-VN" sz="1400" b="1">
                  <a:solidFill>
                    <a:srgbClr val="CBD5E1"/>
                  </a:solidFill>
                  <a:latin typeface="Segoe UI" panose="020B0502040204020203" pitchFamily="34" charset="0"/>
                </a:rPr>
                <a:t>NIR = CBR - CDR (tính theo đơn vị ‰) hoặc NIR(%) = (CBR - CDR) / 10. Ở Việt Nam hiện nay CBR ~14.5‰, CDR ~6.1‰ -&gt; NIR ~0.84%/năm.</a:t>
              </a:r>
              <a:endParaRPr lang="en-US" sz="1400" b="1">
                <a:solidFill>
                  <a:srgbClr val="CBD5E1"/>
                </a:solidFill>
                <a:latin typeface="Segoe UI" panose="020B0502040204020203" pitchFamily="34" charset="0"/>
              </a:endParaRPr>
            </a:p>
          </p:txBody>
        </p:sp>
      </p:grpSp>
      <p:grpSp>
        <p:nvGrpSpPr>
          <p:cNvPr id="18" name="!!Stage_Sub_Card_2">
            <a:extLst>
              <a:ext uri="{FF2B5EF4-FFF2-40B4-BE49-F238E27FC236}">
                <a16:creationId xmlns:a16="http://schemas.microsoft.com/office/drawing/2014/main" id="{C6C5992A-FC05-B539-3627-2A8DC977FF5E}"/>
              </a:ext>
            </a:extLst>
          </p:cNvPr>
          <p:cNvGrpSpPr/>
          <p:nvPr/>
        </p:nvGrpSpPr>
        <p:grpSpPr>
          <a:xfrm>
            <a:off x="6644640" y="4013200"/>
            <a:ext cx="4937760" cy="2184400"/>
            <a:chOff x="6644640" y="4013200"/>
            <a:chExt cx="4937760" cy="2184400"/>
          </a:xfrm>
        </p:grpSpPr>
        <p:sp>
          <p:nvSpPr>
            <p:cNvPr id="13" name="Rectangle: Rounded Corners 12">
              <a:extLst>
                <a:ext uri="{FF2B5EF4-FFF2-40B4-BE49-F238E27FC236}">
                  <a16:creationId xmlns:a16="http://schemas.microsoft.com/office/drawing/2014/main" id="{B1945754-949B-CC7E-116B-30E1F7A4CB03}"/>
                </a:ext>
              </a:extLst>
            </p:cNvPr>
            <p:cNvSpPr/>
            <p:nvPr/>
          </p:nvSpPr>
          <p:spPr>
            <a:xfrm>
              <a:off x="6644640" y="4013200"/>
              <a:ext cx="4937760" cy="21844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719A141-8D14-BBE1-EA2C-E022677C5D8C}"/>
                </a:ext>
              </a:extLst>
            </p:cNvPr>
            <p:cNvSpPr/>
            <p:nvPr/>
          </p:nvSpPr>
          <p:spPr>
            <a:xfrm>
              <a:off x="6822440" y="41910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B12E0C13-3FEF-5842-1A64-C53C691D7C3B}"/>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4254500"/>
              <a:ext cx="254000" cy="254000"/>
            </a:xfrm>
            <a:prstGeom prst="rect">
              <a:avLst/>
            </a:prstGeom>
          </p:spPr>
        </p:pic>
        <p:sp>
          <p:nvSpPr>
            <p:cNvPr id="17" name="TextBox 16">
              <a:extLst>
                <a:ext uri="{FF2B5EF4-FFF2-40B4-BE49-F238E27FC236}">
                  <a16:creationId xmlns:a16="http://schemas.microsoft.com/office/drawing/2014/main" id="{FD9CFC0A-933E-F67F-A67E-380804FDF16B}"/>
                </a:ext>
              </a:extLst>
            </p:cNvPr>
            <p:cNvSpPr txBox="1"/>
            <p:nvPr/>
          </p:nvSpPr>
          <p:spPr>
            <a:xfrm>
              <a:off x="7305040" y="4140200"/>
              <a:ext cx="41503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Quy Luật Thu Hẹp Khoảng Cách
</a:t>
              </a:r>
              <a:r>
                <a:rPr lang="vi-VN" sz="1400" b="1">
                  <a:solidFill>
                    <a:srgbClr val="CBD5E1"/>
                  </a:solidFill>
                  <a:latin typeface="Segoe UI" panose="020B0502040204020203" pitchFamily="34" charset="0"/>
                </a:rPr>
                <a:t>Khi mức sinh giảm dần về mức thay thế trong khi mức chết chạm đáy và hơi tăng do già hóa, NIR sẽ dần tiến về 0%.</a:t>
              </a:r>
              <a:endParaRPr lang="en-US" sz="1400" b="1">
                <a:solidFill>
                  <a:srgbClr val="CBD5E1"/>
                </a:solidFill>
                <a:latin typeface="Segoe UI" panose="020B0502040204020203" pitchFamily="34" charset="0"/>
              </a:endParaRPr>
            </a:p>
          </p:txBody>
        </p:sp>
      </p:grpSp>
      <p:sp>
        <p:nvSpPr>
          <p:cNvPr id="19" name="!!Anchor_Source_Footer">
            <a:extLst>
              <a:ext uri="{FF2B5EF4-FFF2-40B4-BE49-F238E27FC236}">
                <a16:creationId xmlns:a16="http://schemas.microsoft.com/office/drawing/2014/main" id="{8FEB91FF-5892-70A4-6DD0-43E4202E32EF}"/>
              </a:ext>
            </a:extLst>
          </p:cNvPr>
          <p:cNvSpPr txBox="1"/>
          <p:nvPr/>
        </p:nvSpPr>
        <p:spPr>
          <a:xfrm>
            <a:off x="609600" y="6273800"/>
            <a:ext cx="10972800" cy="246221"/>
          </a:xfrm>
          <a:prstGeom prst="rect">
            <a:avLst/>
          </a:prstGeom>
          <a:noFill/>
        </p:spPr>
        <p:txBody>
          <a:bodyPr vert="horz" rtlCol="0">
            <a:spAutoFit/>
          </a:bodyPr>
          <a:lstStyle/>
          <a:p>
            <a:r>
              <a:rPr lang="vi-VN" sz="1000">
                <a:solidFill>
                  <a:srgbClr val="CBD5E1"/>
                </a:solidFill>
                <a:latin typeface="Segoe UI" panose="020B0502040204020203" pitchFamily="34" charset="0"/>
              </a:rPr>
              <a:t>Giáo trình Dân số học đại cương</a:t>
            </a:r>
            <a:endParaRPr lang="en-US" sz="1000">
              <a:solidFill>
                <a:srgbClr val="CBD5E1"/>
              </a:solidFill>
              <a:latin typeface="Segoe UI" panose="020B0502040204020203" pitchFamily="34" charset="0"/>
            </a:endParaRPr>
          </a:p>
        </p:txBody>
      </p:sp>
    </p:spTree>
    <p:extLst>
      <p:ext uri="{BB962C8B-B14F-4D97-AF65-F5344CB8AC3E}">
        <p14:creationId xmlns:p14="http://schemas.microsoft.com/office/powerpoint/2010/main" val="20416131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450" fill="hold"/>
                                        <p:tgtEl>
                                          <p:spTgt spid="12"/>
                                        </p:tgtEl>
                                        <p:attrNameLst>
                                          <p:attrName>ppt_x</p:attrName>
                                        </p:attrNameLst>
                                      </p:cBhvr>
                                      <p:tavLst>
                                        <p:tav tm="0">
                                          <p:val>
                                            <p:strVal val="#ppt_x"/>
                                          </p:val>
                                        </p:tav>
                                        <p:tav tm="100000">
                                          <p:val>
                                            <p:strVal val="#ppt_x"/>
                                          </p:val>
                                        </p:tav>
                                      </p:tavLst>
                                    </p:anim>
                                    <p:anim calcmode="lin" valueType="num">
                                      <p:cBhvr additive="base">
                                        <p:cTn id="8" dur="45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450" fill="hold"/>
                                        <p:tgtEl>
                                          <p:spTgt spid="18"/>
                                        </p:tgtEl>
                                        <p:attrNameLst>
                                          <p:attrName>ppt_x</p:attrName>
                                        </p:attrNameLst>
                                      </p:cBhvr>
                                      <p:tavLst>
                                        <p:tav tm="0">
                                          <p:val>
                                            <p:strVal val="#ppt_x"/>
                                          </p:val>
                                        </p:tav>
                                        <p:tav tm="100000">
                                          <p:val>
                                            <p:strVal val="#ppt_x"/>
                                          </p:val>
                                        </p:tav>
                                      </p:tavLst>
                                    </p:anim>
                                    <p:anim calcmode="lin" valueType="num">
                                      <p:cBhvr additive="base">
                                        <p:cTn id="14"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EF697D8C-877D-38E0-3856-49E4DF52ACA5}"/>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QUÁ ĐỘ DÂN SỐ  •  TRỌNG TÂM</a:t>
            </a:r>
          </a:p>
        </p:txBody>
      </p:sp>
      <p:sp>
        <p:nvSpPr>
          <p:cNvPr id="3" name="!!Anchor_Slide_Tracker">
            <a:extLst>
              <a:ext uri="{FF2B5EF4-FFF2-40B4-BE49-F238E27FC236}">
                <a16:creationId xmlns:a16="http://schemas.microsoft.com/office/drawing/2014/main" id="{180D78A7-A6E8-6B04-8676-0CFEE7F35A48}"/>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21 / 22</a:t>
            </a:r>
          </a:p>
        </p:txBody>
      </p:sp>
      <p:sp>
        <p:nvSpPr>
          <p:cNvPr id="4" name="!!Anchor_Assertion_Title">
            <a:extLst>
              <a:ext uri="{FF2B5EF4-FFF2-40B4-BE49-F238E27FC236}">
                <a16:creationId xmlns:a16="http://schemas.microsoft.com/office/drawing/2014/main" id="{43FC82AB-3A17-B16E-341F-E9AC953322E2}"/>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FFFFFF"/>
                </a:solidFill>
                <a:latin typeface="Segoe UI" panose="020B0502040204020203" pitchFamily="34" charset="0"/>
              </a:rPr>
              <a:t>Mô Hình Chuyển Tiếp Dân Số Bốn Giai Đoạn (Demographic Transition)</a:t>
            </a:r>
          </a:p>
        </p:txBody>
      </p:sp>
      <p:pic>
        <p:nvPicPr>
          <p:cNvPr id="6" name="!!Stage_Hero_Container">
            <a:extLst>
              <a:ext uri="{FF2B5EF4-FFF2-40B4-BE49-F238E27FC236}">
                <a16:creationId xmlns:a16="http://schemas.microsoft.com/office/drawing/2014/main" id="{D132DDED-00B3-5E0B-07DB-C01D89D6C62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752600"/>
            <a:ext cx="5705856" cy="4368800"/>
          </a:xfrm>
          <a:prstGeom prst="roundRect">
            <a:avLst/>
          </a:prstGeom>
          <a:ln w="12700">
            <a:solidFill>
              <a:srgbClr val="1E293B"/>
            </a:solidFill>
          </a:ln>
        </p:spPr>
      </p:pic>
      <p:grpSp>
        <p:nvGrpSpPr>
          <p:cNvPr id="12" name="!!Stage_Sub_Card_1">
            <a:extLst>
              <a:ext uri="{FF2B5EF4-FFF2-40B4-BE49-F238E27FC236}">
                <a16:creationId xmlns:a16="http://schemas.microsoft.com/office/drawing/2014/main" id="{499AD18B-3847-0404-417C-E32805F1198B}"/>
              </a:ext>
            </a:extLst>
          </p:cNvPr>
          <p:cNvGrpSpPr/>
          <p:nvPr/>
        </p:nvGrpSpPr>
        <p:grpSpPr>
          <a:xfrm>
            <a:off x="6644640" y="1676400"/>
            <a:ext cx="4937760" cy="1405467"/>
            <a:chOff x="6644640" y="1676400"/>
            <a:chExt cx="4937760" cy="1405467"/>
          </a:xfrm>
        </p:grpSpPr>
        <p:sp>
          <p:nvSpPr>
            <p:cNvPr id="7" name="Rectangle: Rounded Corners 6">
              <a:extLst>
                <a:ext uri="{FF2B5EF4-FFF2-40B4-BE49-F238E27FC236}">
                  <a16:creationId xmlns:a16="http://schemas.microsoft.com/office/drawing/2014/main" id="{3F83B206-D65A-DD8A-C1FC-86DA89E701D2}"/>
                </a:ext>
              </a:extLst>
            </p:cNvPr>
            <p:cNvSpPr/>
            <p:nvPr/>
          </p:nvSpPr>
          <p:spPr>
            <a:xfrm>
              <a:off x="6644640" y="1676400"/>
              <a:ext cx="4937760" cy="1405467"/>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ECA6363-D638-FF3B-08D7-7EECFB044C32}"/>
                </a:ext>
              </a:extLst>
            </p:cNvPr>
            <p:cNvSpPr/>
            <p:nvPr/>
          </p:nvSpPr>
          <p:spPr>
            <a:xfrm>
              <a:off x="6822440" y="18542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EF742E2F-DD0D-B74D-8585-F33996797C6F}"/>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1" name="TextBox 10">
              <a:extLst>
                <a:ext uri="{FF2B5EF4-FFF2-40B4-BE49-F238E27FC236}">
                  <a16:creationId xmlns:a16="http://schemas.microsoft.com/office/drawing/2014/main" id="{694D1780-F8A7-4D14-2A0F-70CA5E769000}"/>
                </a:ext>
              </a:extLst>
            </p:cNvPr>
            <p:cNvSpPr txBox="1"/>
            <p:nvPr/>
          </p:nvSpPr>
          <p:spPr>
            <a:xfrm>
              <a:off x="7305040" y="1803400"/>
              <a:ext cx="41503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Giai Đoạn 1: Tiền Chuyển Tiếp
</a:t>
              </a:r>
              <a:r>
                <a:rPr lang="vi-VN" sz="1400" b="1">
                  <a:solidFill>
                    <a:srgbClr val="CBD5E1"/>
                  </a:solidFill>
                  <a:latin typeface="Segoe UI" panose="020B0502040204020203" pitchFamily="34" charset="0"/>
                </a:rPr>
                <a:t>Sinh cao và chết cao. Quy mô dân số tăng trưởng rất chậm chạp, thường xuyên gặp dịch bệnh và nạn đói.</a:t>
              </a:r>
              <a:endParaRPr lang="en-US" sz="1400" b="1">
                <a:solidFill>
                  <a:srgbClr val="CBD5E1"/>
                </a:solidFill>
                <a:latin typeface="Segoe UI" panose="020B0502040204020203" pitchFamily="34" charset="0"/>
              </a:endParaRPr>
            </a:p>
          </p:txBody>
        </p:sp>
      </p:grpSp>
      <p:grpSp>
        <p:nvGrpSpPr>
          <p:cNvPr id="18" name="!!Stage_Sub_Card_2">
            <a:extLst>
              <a:ext uri="{FF2B5EF4-FFF2-40B4-BE49-F238E27FC236}">
                <a16:creationId xmlns:a16="http://schemas.microsoft.com/office/drawing/2014/main" id="{4B4028EB-FAA4-4AD9-0F4A-F71E91220596}"/>
              </a:ext>
            </a:extLst>
          </p:cNvPr>
          <p:cNvGrpSpPr/>
          <p:nvPr/>
        </p:nvGrpSpPr>
        <p:grpSpPr>
          <a:xfrm>
            <a:off x="6644640" y="3234267"/>
            <a:ext cx="4937760" cy="1405466"/>
            <a:chOff x="6644640" y="3234267"/>
            <a:chExt cx="4937760" cy="1405466"/>
          </a:xfrm>
        </p:grpSpPr>
        <p:sp>
          <p:nvSpPr>
            <p:cNvPr id="13" name="Rectangle: Rounded Corners 12">
              <a:extLst>
                <a:ext uri="{FF2B5EF4-FFF2-40B4-BE49-F238E27FC236}">
                  <a16:creationId xmlns:a16="http://schemas.microsoft.com/office/drawing/2014/main" id="{B6F34B6C-AD20-A08D-A0E5-006D55D74094}"/>
                </a:ext>
              </a:extLst>
            </p:cNvPr>
            <p:cNvSpPr/>
            <p:nvPr/>
          </p:nvSpPr>
          <p:spPr>
            <a:xfrm>
              <a:off x="6644640" y="3234267"/>
              <a:ext cx="4937760" cy="1405466"/>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454A82A-2A4D-E12A-E832-43F5E05D8666}"/>
                </a:ext>
              </a:extLst>
            </p:cNvPr>
            <p:cNvSpPr/>
            <p:nvPr/>
          </p:nvSpPr>
          <p:spPr>
            <a:xfrm>
              <a:off x="6822440" y="3412067"/>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97E3AEF1-5075-A3EC-DF02-CEF5A3799726}"/>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3475567"/>
              <a:ext cx="254000" cy="254000"/>
            </a:xfrm>
            <a:prstGeom prst="rect">
              <a:avLst/>
            </a:prstGeom>
          </p:spPr>
        </p:pic>
        <p:sp>
          <p:nvSpPr>
            <p:cNvPr id="17" name="TextBox 16">
              <a:extLst>
                <a:ext uri="{FF2B5EF4-FFF2-40B4-BE49-F238E27FC236}">
                  <a16:creationId xmlns:a16="http://schemas.microsoft.com/office/drawing/2014/main" id="{EABB1760-EC2C-666E-62C3-27D21A48F51E}"/>
                </a:ext>
              </a:extLst>
            </p:cNvPr>
            <p:cNvSpPr txBox="1"/>
            <p:nvPr/>
          </p:nvSpPr>
          <p:spPr>
            <a:xfrm>
              <a:off x="7305040" y="3361267"/>
              <a:ext cx="41503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Giai Đoạn 2: Bùng Nổ Dân Số
</a:t>
              </a:r>
              <a:r>
                <a:rPr lang="en-US" sz="1400" b="1">
                  <a:solidFill>
                    <a:srgbClr val="CBD5E1"/>
                  </a:solidFill>
                  <a:latin typeface="Segoe UI" panose="020B0502040204020203" pitchFamily="34" charset="0"/>
                </a:rPr>
                <a:t>Mức chết giảm mạnh nhờ tiến bộ y tế trong khi mức sinh vẫn giữ ở mức cao. Dân số tăng vọt đột biến.</a:t>
              </a:r>
            </a:p>
          </p:txBody>
        </p:sp>
      </p:grpSp>
      <p:grpSp>
        <p:nvGrpSpPr>
          <p:cNvPr id="24" name="!!Stage_Sub_Card_3">
            <a:extLst>
              <a:ext uri="{FF2B5EF4-FFF2-40B4-BE49-F238E27FC236}">
                <a16:creationId xmlns:a16="http://schemas.microsoft.com/office/drawing/2014/main" id="{C50E4885-6B08-EBDE-EAEF-E453E276D54A}"/>
              </a:ext>
            </a:extLst>
          </p:cNvPr>
          <p:cNvGrpSpPr/>
          <p:nvPr/>
        </p:nvGrpSpPr>
        <p:grpSpPr>
          <a:xfrm>
            <a:off x="6644640" y="4792133"/>
            <a:ext cx="4937760" cy="1405467"/>
            <a:chOff x="6644640" y="4792133"/>
            <a:chExt cx="4937760" cy="1405467"/>
          </a:xfrm>
        </p:grpSpPr>
        <p:sp>
          <p:nvSpPr>
            <p:cNvPr id="19" name="Rectangle: Rounded Corners 18">
              <a:extLst>
                <a:ext uri="{FF2B5EF4-FFF2-40B4-BE49-F238E27FC236}">
                  <a16:creationId xmlns:a16="http://schemas.microsoft.com/office/drawing/2014/main" id="{E1760557-15FF-16C5-8FD0-E926E0BBC5F9}"/>
                </a:ext>
              </a:extLst>
            </p:cNvPr>
            <p:cNvSpPr/>
            <p:nvPr/>
          </p:nvSpPr>
          <p:spPr>
            <a:xfrm>
              <a:off x="6644640" y="4792133"/>
              <a:ext cx="4937760" cy="1405467"/>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E75AFA9-0429-8912-EF1E-D984A3838A24}"/>
                </a:ext>
              </a:extLst>
            </p:cNvPr>
            <p:cNvSpPr/>
            <p:nvPr/>
          </p:nvSpPr>
          <p:spPr>
            <a:xfrm>
              <a:off x="6822440" y="4969933"/>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6BF6F63E-B94D-921B-8467-2DA5DE1BFF84}"/>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885940" y="5033433"/>
              <a:ext cx="254000" cy="254000"/>
            </a:xfrm>
            <a:prstGeom prst="rect">
              <a:avLst/>
            </a:prstGeom>
          </p:spPr>
        </p:pic>
        <p:sp>
          <p:nvSpPr>
            <p:cNvPr id="23" name="TextBox 22">
              <a:extLst>
                <a:ext uri="{FF2B5EF4-FFF2-40B4-BE49-F238E27FC236}">
                  <a16:creationId xmlns:a16="http://schemas.microsoft.com/office/drawing/2014/main" id="{6E33375D-5867-5C02-277F-034C956EDECA}"/>
                </a:ext>
              </a:extLst>
            </p:cNvPr>
            <p:cNvSpPr txBox="1"/>
            <p:nvPr/>
          </p:nvSpPr>
          <p:spPr>
            <a:xfrm>
              <a:off x="7305040" y="4919133"/>
              <a:ext cx="41503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Giai Đoạn 3: Suy Giảm Mức Sinh
</a:t>
              </a:r>
              <a:r>
                <a:rPr lang="vi-VN" sz="1400" b="1">
                  <a:solidFill>
                    <a:srgbClr val="CBD5E1"/>
                  </a:solidFill>
                  <a:latin typeface="Segoe UI" panose="020B0502040204020203" pitchFamily="34" charset="0"/>
                </a:rPr>
                <a:t>Đô thị hóa và chi phí nuôi dạy con khiến mức sinh giảm nhanh. Tốc độ tăng trưởng dân số chậm dần.</a:t>
              </a:r>
              <a:endParaRPr lang="en-US" sz="1400" b="1">
                <a:solidFill>
                  <a:srgbClr val="CBD5E1"/>
                </a:solidFill>
                <a:latin typeface="Segoe UI" panose="020B0502040204020203" pitchFamily="34" charset="0"/>
              </a:endParaRPr>
            </a:p>
          </p:txBody>
        </p:sp>
      </p:grpSp>
      <p:sp>
        <p:nvSpPr>
          <p:cNvPr id="25" name="!!Anchor_Source_Footer">
            <a:extLst>
              <a:ext uri="{FF2B5EF4-FFF2-40B4-BE49-F238E27FC236}">
                <a16:creationId xmlns:a16="http://schemas.microsoft.com/office/drawing/2014/main" id="{64C3E0D0-68A7-93CA-C6EE-95F991AD1EA5}"/>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Lý thuyết chuyển tiếp dân số (Frank Notestein Model)</a:t>
            </a:r>
          </a:p>
        </p:txBody>
      </p:sp>
    </p:spTree>
    <p:extLst>
      <p:ext uri="{BB962C8B-B14F-4D97-AF65-F5344CB8AC3E}">
        <p14:creationId xmlns:p14="http://schemas.microsoft.com/office/powerpoint/2010/main" val="23014990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450" fill="hold"/>
                                        <p:tgtEl>
                                          <p:spTgt spid="12"/>
                                        </p:tgtEl>
                                        <p:attrNameLst>
                                          <p:attrName>ppt_x</p:attrName>
                                        </p:attrNameLst>
                                      </p:cBhvr>
                                      <p:tavLst>
                                        <p:tav tm="0">
                                          <p:val>
                                            <p:strVal val="#ppt_x"/>
                                          </p:val>
                                        </p:tav>
                                        <p:tav tm="100000">
                                          <p:val>
                                            <p:strVal val="#ppt_x"/>
                                          </p:val>
                                        </p:tav>
                                      </p:tavLst>
                                    </p:anim>
                                    <p:anim calcmode="lin" valueType="num">
                                      <p:cBhvr additive="base">
                                        <p:cTn id="8" dur="45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450" fill="hold"/>
                                        <p:tgtEl>
                                          <p:spTgt spid="18"/>
                                        </p:tgtEl>
                                        <p:attrNameLst>
                                          <p:attrName>ppt_x</p:attrName>
                                        </p:attrNameLst>
                                      </p:cBhvr>
                                      <p:tavLst>
                                        <p:tav tm="0">
                                          <p:val>
                                            <p:strVal val="#ppt_x"/>
                                          </p:val>
                                        </p:tav>
                                        <p:tav tm="100000">
                                          <p:val>
                                            <p:strVal val="#ppt_x"/>
                                          </p:val>
                                        </p:tav>
                                      </p:tavLst>
                                    </p:anim>
                                    <p:anim calcmode="lin" valueType="num">
                                      <p:cBhvr additive="base">
                                        <p:cTn id="14"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450" fill="hold"/>
                                        <p:tgtEl>
                                          <p:spTgt spid="24"/>
                                        </p:tgtEl>
                                        <p:attrNameLst>
                                          <p:attrName>ppt_x</p:attrName>
                                        </p:attrNameLst>
                                      </p:cBhvr>
                                      <p:tavLst>
                                        <p:tav tm="0">
                                          <p:val>
                                            <p:strVal val="#ppt_x"/>
                                          </p:val>
                                        </p:tav>
                                        <p:tav tm="100000">
                                          <p:val>
                                            <p:strVal val="#ppt_x"/>
                                          </p:val>
                                        </p:tav>
                                      </p:tavLst>
                                    </p:anim>
                                    <p:anim calcmode="lin" valueType="num">
                                      <p:cBhvr additive="base">
                                        <p:cTn id="20" dur="45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AC9E1C2F-1B3C-2B6A-7E13-13679A7A073A}"/>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TỔNG KẾT BÀI HỌC  •  TRỌNG TÂM</a:t>
            </a:r>
          </a:p>
        </p:txBody>
      </p:sp>
      <p:sp>
        <p:nvSpPr>
          <p:cNvPr id="3" name="!!Anchor_Slide_Tracker">
            <a:extLst>
              <a:ext uri="{FF2B5EF4-FFF2-40B4-BE49-F238E27FC236}">
                <a16:creationId xmlns:a16="http://schemas.microsoft.com/office/drawing/2014/main" id="{45461FF7-4F62-682F-E379-04794B9C0591}"/>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22 / 22</a:t>
            </a:r>
          </a:p>
        </p:txBody>
      </p:sp>
      <p:sp>
        <p:nvSpPr>
          <p:cNvPr id="4" name="!!Anchor_Assertion_Title">
            <a:extLst>
              <a:ext uri="{FF2B5EF4-FFF2-40B4-BE49-F238E27FC236}">
                <a16:creationId xmlns:a16="http://schemas.microsoft.com/office/drawing/2014/main" id="{83AFB7BA-0C95-B2DB-311F-09BDD27CCA19}"/>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FFFFFF"/>
                </a:solidFill>
                <a:latin typeface="Segoe UI" panose="020B0502040204020203" pitchFamily="34" charset="0"/>
              </a:rPr>
              <a:t>Tổng Kết Chuyên Đề Và Bài Tập Phân Tích Mức Sinh - Mức Chết</a:t>
            </a:r>
          </a:p>
        </p:txBody>
      </p:sp>
      <p:grpSp>
        <p:nvGrpSpPr>
          <p:cNvPr id="11" name="!!Stage_Hero_Container">
            <a:extLst>
              <a:ext uri="{FF2B5EF4-FFF2-40B4-BE49-F238E27FC236}">
                <a16:creationId xmlns:a16="http://schemas.microsoft.com/office/drawing/2014/main" id="{58E5609D-650C-2B9F-450E-5402774C46D9}"/>
              </a:ext>
            </a:extLst>
          </p:cNvPr>
          <p:cNvGrpSpPr/>
          <p:nvPr/>
        </p:nvGrpSpPr>
        <p:grpSpPr>
          <a:xfrm>
            <a:off x="609600" y="1676400"/>
            <a:ext cx="3522133" cy="4521200"/>
            <a:chOff x="609600" y="1676400"/>
            <a:chExt cx="3522133" cy="4521200"/>
          </a:xfrm>
        </p:grpSpPr>
        <p:sp>
          <p:nvSpPr>
            <p:cNvPr id="5" name="Rectangle: Rounded Corners 4">
              <a:extLst>
                <a:ext uri="{FF2B5EF4-FFF2-40B4-BE49-F238E27FC236}">
                  <a16:creationId xmlns:a16="http://schemas.microsoft.com/office/drawing/2014/main" id="{69E17EB8-1C6C-48C9-1511-6214526397AA}"/>
                </a:ext>
              </a:extLst>
            </p:cNvPr>
            <p:cNvSpPr/>
            <p:nvPr/>
          </p:nvSpPr>
          <p:spPr>
            <a:xfrm>
              <a:off x="609600" y="1676400"/>
              <a:ext cx="3522133" cy="45212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2F58708-4FD7-0F20-EC9C-23AE5113C5F7}"/>
                </a:ext>
              </a:extLst>
            </p:cNvPr>
            <p:cNvSpPr/>
            <p:nvPr/>
          </p:nvSpPr>
          <p:spPr>
            <a:xfrm>
              <a:off x="812800"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10635B2-9025-081E-0130-4CCB860FF1EC}"/>
                </a:ext>
              </a:extLst>
            </p:cNvPr>
            <p:cNvSpPr/>
            <p:nvPr/>
          </p:nvSpPr>
          <p:spPr>
            <a:xfrm>
              <a:off x="812800" y="20066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0A6BEF5B-5DC9-66F8-3790-CDB0961FBB09}"/>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2070100"/>
              <a:ext cx="279400" cy="279400"/>
            </a:xfrm>
            <a:prstGeom prst="rect">
              <a:avLst/>
            </a:prstGeom>
          </p:spPr>
        </p:pic>
        <p:sp>
          <p:nvSpPr>
            <p:cNvPr id="10" name="TextBox 9">
              <a:extLst>
                <a:ext uri="{FF2B5EF4-FFF2-40B4-BE49-F238E27FC236}">
                  <a16:creationId xmlns:a16="http://schemas.microsoft.com/office/drawing/2014/main" id="{7829DC26-CF68-FE7D-CB25-C84B38CF7143}"/>
                </a:ext>
              </a:extLst>
            </p:cNvPr>
            <p:cNvSpPr txBox="1"/>
            <p:nvPr/>
          </p:nvSpPr>
          <p:spPr>
            <a:xfrm>
              <a:off x="812800" y="2540000"/>
              <a:ext cx="3115733" cy="1620572"/>
            </a:xfrm>
            <a:prstGeom prst="rect">
              <a:avLst/>
            </a:prstGeom>
            <a:noFill/>
          </p:spPr>
          <p:txBody>
            <a:bodyPr vert="horz" wrap="square" lIns="0" tIns="0" rtlCol="0">
              <a:spAutoFit/>
            </a:bodyPr>
            <a:lstStyle/>
            <a:p>
              <a:pPr>
                <a:lnSpc>
                  <a:spcPct val="125000"/>
                </a:lnSpc>
                <a:spcAft>
                  <a:spcPts val="800"/>
                </a:spcAft>
              </a:pPr>
              <a:r>
                <a:rPr lang="en-US" b="1">
                  <a:solidFill>
                    <a:srgbClr val="FFFFFF"/>
                  </a:solidFill>
                  <a:latin typeface="Segoe UI" panose="020B0502040204020203" pitchFamily="34" charset="0"/>
                </a:rPr>
                <a:t>Bài Tập Tính TFR
</a:t>
              </a:r>
              <a:r>
                <a:rPr lang="vi-VN" sz="1500">
                  <a:solidFill>
                    <a:srgbClr val="CBD5E1"/>
                  </a:solidFill>
                  <a:latin typeface="Segoe UI" panose="020B0502040204020203" pitchFamily="34" charset="0"/>
                </a:rPr>
                <a:t>Cho chuỗi tỷ suất sinh đặc trưng theo tuổi ASFR (nhóm 15-49). Hãy tính Tổng tỷ suất sinh TFR và rút ra kết luận mức sinh.</a:t>
              </a:r>
              <a:endParaRPr lang="en-US" sz="1500">
                <a:solidFill>
                  <a:srgbClr val="CBD5E1"/>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4AA7ED28-8AE9-DF61-B0FC-80093651FCE9}"/>
              </a:ext>
            </a:extLst>
          </p:cNvPr>
          <p:cNvGrpSpPr/>
          <p:nvPr/>
        </p:nvGrpSpPr>
        <p:grpSpPr>
          <a:xfrm>
            <a:off x="4334933" y="1676400"/>
            <a:ext cx="3522134" cy="4521200"/>
            <a:chOff x="4334933" y="1676400"/>
            <a:chExt cx="3522134" cy="4521200"/>
          </a:xfrm>
        </p:grpSpPr>
        <p:sp>
          <p:nvSpPr>
            <p:cNvPr id="12" name="Rectangle: Rounded Corners 11">
              <a:extLst>
                <a:ext uri="{FF2B5EF4-FFF2-40B4-BE49-F238E27FC236}">
                  <a16:creationId xmlns:a16="http://schemas.microsoft.com/office/drawing/2014/main" id="{6825FBCB-915E-57F2-6AF2-E6C9442657F7}"/>
                </a:ext>
              </a:extLst>
            </p:cNvPr>
            <p:cNvSpPr/>
            <p:nvPr/>
          </p:nvSpPr>
          <p:spPr>
            <a:xfrm>
              <a:off x="4334933" y="1676400"/>
              <a:ext cx="3522134" cy="45212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FCA0254-80DC-270A-F0FB-2A9C965A7A21}"/>
                </a:ext>
              </a:extLst>
            </p:cNvPr>
            <p:cNvSpPr/>
            <p:nvPr/>
          </p:nvSpPr>
          <p:spPr>
            <a:xfrm>
              <a:off x="4538133"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D8879D5-ED6E-BA51-7A89-C022A575A9E8}"/>
                </a:ext>
              </a:extLst>
            </p:cNvPr>
            <p:cNvSpPr/>
            <p:nvPr/>
          </p:nvSpPr>
          <p:spPr>
            <a:xfrm>
              <a:off x="4538133" y="20066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B103069F-9D0C-9169-088B-63BD8016DCFD}"/>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2070100"/>
              <a:ext cx="279400" cy="279400"/>
            </a:xfrm>
            <a:prstGeom prst="rect">
              <a:avLst/>
            </a:prstGeom>
          </p:spPr>
        </p:pic>
        <p:sp>
          <p:nvSpPr>
            <p:cNvPr id="17" name="TextBox 16">
              <a:extLst>
                <a:ext uri="{FF2B5EF4-FFF2-40B4-BE49-F238E27FC236}">
                  <a16:creationId xmlns:a16="http://schemas.microsoft.com/office/drawing/2014/main" id="{93497743-D806-CC53-7B19-03DE6CE768AA}"/>
                </a:ext>
              </a:extLst>
            </p:cNvPr>
            <p:cNvSpPr txBox="1"/>
            <p:nvPr/>
          </p:nvSpPr>
          <p:spPr>
            <a:xfrm>
              <a:off x="4538133" y="2540000"/>
              <a:ext cx="3115733" cy="1966820"/>
            </a:xfrm>
            <a:prstGeom prst="rect">
              <a:avLst/>
            </a:prstGeom>
            <a:noFill/>
          </p:spPr>
          <p:txBody>
            <a:bodyPr vert="horz" wrap="square" lIns="0" tIns="0" rtlCol="0">
              <a:spAutoFit/>
            </a:bodyPr>
            <a:lstStyle/>
            <a:p>
              <a:pPr>
                <a:lnSpc>
                  <a:spcPct val="125000"/>
                </a:lnSpc>
                <a:spcAft>
                  <a:spcPts val="800"/>
                </a:spcAft>
              </a:pPr>
              <a:r>
                <a:rPr lang="en-US" b="1">
                  <a:solidFill>
                    <a:srgbClr val="FFFFFF"/>
                  </a:solidFill>
                  <a:latin typeface="Segoe UI" panose="020B0502040204020203" pitchFamily="34" charset="0"/>
                </a:rPr>
                <a:t>Bài Tập Phân Tích Bảng Sống
</a:t>
              </a:r>
              <a:r>
                <a:rPr lang="en-US" sz="1500">
                  <a:solidFill>
                    <a:srgbClr val="CBD5E1"/>
                  </a:solidFill>
                  <a:latin typeface="Segoe UI" panose="020B0502040204020203" pitchFamily="34" charset="0"/>
                </a:rPr>
                <a:t>Dựa vào bảng sống rút gọn, tính toán kỳ vọng sống còn lại ở độ tuổi 60 (e_60) để phục vụ tính toán quỹ bảo hiểm xã hội.</a:t>
              </a:r>
            </a:p>
          </p:txBody>
        </p:sp>
      </p:grpSp>
      <p:grpSp>
        <p:nvGrpSpPr>
          <p:cNvPr id="25" name="!!Stage_Sub_Card_2">
            <a:extLst>
              <a:ext uri="{FF2B5EF4-FFF2-40B4-BE49-F238E27FC236}">
                <a16:creationId xmlns:a16="http://schemas.microsoft.com/office/drawing/2014/main" id="{F7B51831-0023-FC41-55D2-5558D990162D}"/>
              </a:ext>
            </a:extLst>
          </p:cNvPr>
          <p:cNvGrpSpPr/>
          <p:nvPr/>
        </p:nvGrpSpPr>
        <p:grpSpPr>
          <a:xfrm>
            <a:off x="8060267" y="1676400"/>
            <a:ext cx="3522133" cy="4521200"/>
            <a:chOff x="8060267" y="1676400"/>
            <a:chExt cx="3522133" cy="4521200"/>
          </a:xfrm>
        </p:grpSpPr>
        <p:sp>
          <p:nvSpPr>
            <p:cNvPr id="19" name="Rectangle: Rounded Corners 18">
              <a:extLst>
                <a:ext uri="{FF2B5EF4-FFF2-40B4-BE49-F238E27FC236}">
                  <a16:creationId xmlns:a16="http://schemas.microsoft.com/office/drawing/2014/main" id="{95D90BFC-6707-32CC-ADE8-21429B492DB4}"/>
                </a:ext>
              </a:extLst>
            </p:cNvPr>
            <p:cNvSpPr/>
            <p:nvPr/>
          </p:nvSpPr>
          <p:spPr>
            <a:xfrm>
              <a:off x="8060267" y="1676400"/>
              <a:ext cx="3522133" cy="45212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1C6B78C-EBA4-6211-9D75-A5B35894A6CF}"/>
                </a:ext>
              </a:extLst>
            </p:cNvPr>
            <p:cNvSpPr/>
            <p:nvPr/>
          </p:nvSpPr>
          <p:spPr>
            <a:xfrm>
              <a:off x="8263467"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9239DE3-E44C-B081-3C85-40C5F51B6847}"/>
                </a:ext>
              </a:extLst>
            </p:cNvPr>
            <p:cNvSpPr/>
            <p:nvPr/>
          </p:nvSpPr>
          <p:spPr>
            <a:xfrm>
              <a:off x="8263467" y="20066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6ACA25A7-9BDC-02A8-01F6-0C28D3A64E25}"/>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2070100"/>
              <a:ext cx="279400" cy="279400"/>
            </a:xfrm>
            <a:prstGeom prst="rect">
              <a:avLst/>
            </a:prstGeom>
          </p:spPr>
        </p:pic>
        <p:sp>
          <p:nvSpPr>
            <p:cNvPr id="24" name="TextBox 23">
              <a:extLst>
                <a:ext uri="{FF2B5EF4-FFF2-40B4-BE49-F238E27FC236}">
                  <a16:creationId xmlns:a16="http://schemas.microsoft.com/office/drawing/2014/main" id="{72491E8B-EBD8-92E7-A5C9-7A9318970689}"/>
                </a:ext>
              </a:extLst>
            </p:cNvPr>
            <p:cNvSpPr txBox="1"/>
            <p:nvPr/>
          </p:nvSpPr>
          <p:spPr>
            <a:xfrm>
              <a:off x="8263467" y="2540000"/>
              <a:ext cx="3115733" cy="1966820"/>
            </a:xfrm>
            <a:prstGeom prst="rect">
              <a:avLst/>
            </a:prstGeom>
            <a:noFill/>
          </p:spPr>
          <p:txBody>
            <a:bodyPr vert="horz" wrap="square" lIns="0" tIns="0" rtlCol="0">
              <a:spAutoFit/>
            </a:bodyPr>
            <a:lstStyle/>
            <a:p>
              <a:pPr>
                <a:lnSpc>
                  <a:spcPct val="125000"/>
                </a:lnSpc>
                <a:spcAft>
                  <a:spcPts val="800"/>
                </a:spcAft>
              </a:pPr>
              <a:r>
                <a:rPr lang="en-US" b="1">
                  <a:solidFill>
                    <a:srgbClr val="FFFFFF"/>
                  </a:solidFill>
                  <a:latin typeface="Segoe UI" panose="020B0502040204020203" pitchFamily="34" charset="0"/>
                </a:rPr>
                <a:t>Câu Hỏi Thảo Luận Chính Sách
</a:t>
              </a:r>
              <a:r>
                <a:rPr lang="en-US" sz="1500">
                  <a:solidFill>
                    <a:srgbClr val="CBD5E1"/>
                  </a:solidFill>
                  <a:latin typeface="Segoe UI" panose="020B0502040204020203" pitchFamily="34" charset="0"/>
                </a:rPr>
                <a:t>Tại sao các chính sách khuyến sinh ở Hàn Quốc, Singapore ít hiệu quả? Bài học nào cho các đô thị lớn tại Việt Nam?</a:t>
              </a:r>
            </a:p>
          </p:txBody>
        </p:sp>
      </p:grpSp>
      <p:sp>
        <p:nvSpPr>
          <p:cNvPr id="26" name="!!Anchor_Source_Footer">
            <a:extLst>
              <a:ext uri="{FF2B5EF4-FFF2-40B4-BE49-F238E27FC236}">
                <a16:creationId xmlns:a16="http://schemas.microsoft.com/office/drawing/2014/main" id="{EFB3F3B6-354A-C42B-D769-EAF944587A08}"/>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Tài liệu đào tạo Dân số học chuẩn quốc gia</a:t>
            </a:r>
          </a:p>
        </p:txBody>
      </p:sp>
    </p:spTree>
    <p:extLst>
      <p:ext uri="{BB962C8B-B14F-4D97-AF65-F5344CB8AC3E}">
        <p14:creationId xmlns:p14="http://schemas.microsoft.com/office/powerpoint/2010/main" val="30241293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450" fill="hold"/>
                                        <p:tgtEl>
                                          <p:spTgt spid="25"/>
                                        </p:tgtEl>
                                        <p:attrNameLst>
                                          <p:attrName>ppt_x</p:attrName>
                                        </p:attrNameLst>
                                      </p:cBhvr>
                                      <p:tavLst>
                                        <p:tav tm="0">
                                          <p:val>
                                            <p:strVal val="#ppt_x"/>
                                          </p:val>
                                        </p:tav>
                                        <p:tav tm="100000">
                                          <p:val>
                                            <p:strVal val="#ppt_x"/>
                                          </p:val>
                                        </p:tav>
                                      </p:tavLst>
                                    </p:anim>
                                    <p:anim calcmode="lin" valueType="num">
                                      <p:cBhvr additive="base">
                                        <p:cTn id="14" dur="45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3230</Words>
  <Application>Microsoft Office PowerPoint</Application>
  <PresentationFormat>Custom</PresentationFormat>
  <Paragraphs>200</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Bahnschrift</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Thanh Ninh Bui</dc:creator>
  <cp:lastModifiedBy>Thanh Ninh Bui</cp:lastModifiedBy>
  <cp:revision>1</cp:revision>
  <dcterms:created xsi:type="dcterms:W3CDTF">2026-09-18T09:15:24Z</dcterms:created>
  <dcterms:modified xsi:type="dcterms:W3CDTF">2026-09-18T09:15:24Z</dcterms:modified>
</cp:coreProperties>
</file>