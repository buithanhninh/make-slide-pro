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0C10-7E64-69A9-B8F0-25F8BEF57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C0208-C956-4600-1F41-9B02262948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1C44E-3C15-7205-9909-ADB8EFD42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6E50F-CED4-BDAB-6311-4B1A47AB9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21DA4-EF94-7F53-352B-335D721E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81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64064-E967-B471-90CC-683FE4C9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9F577-9CFA-9867-17AD-8D0B8621B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B607BD-6F62-E7EA-5E5D-A2AA55E6D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1A546-0B46-834B-F6AB-2948C333F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FC611-0AFE-43D0-0A6E-6BEF903E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6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56FA2-9716-DEFA-9C91-4F9B2828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7871C-1FFE-887A-298F-520E07FB7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61DCE-B29F-167B-C989-0E1C666B4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25DCF-AA0A-3EDE-CEA9-CB578C9AD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D62C4-358A-5F64-42C8-54892CCEE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259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40A1B-BA47-1A00-EC33-D1EF646CC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469F4-BDD4-C5C8-DC05-5367AAC6D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DF7A7D-353A-3121-774C-430C2B72E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4FF781-FD79-5AAE-BC14-A46157413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7C7F8-8FA4-48D2-0B35-F19141AFB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6967F-594F-1FDB-CC82-0D498E4B4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50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44647-DA6C-C6DB-3D6B-6103A6F2D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BBE2C-73D4-8457-FAC3-BFEFB24D5D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C5154-3D02-9E4F-6122-874C3CE1E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46631-0137-4500-ED73-2EEBC3BF8D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23BDE2-F396-8FB6-929D-F9969CF47F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3A705-5D79-67DA-5E15-2A013E42C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54B527-96C8-0DEB-1D4E-596949A30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CC462F-F707-EF26-0C06-668FC1432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2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296D3-7711-D7C9-96D7-DB614AF12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714A-A5EE-317E-297D-9651FCAA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B4AF9-AA43-A953-B54D-F327F55F2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8A9EA4-9F79-AED8-EE97-1288FA49E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81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BFF02A-8F11-B51A-1F8D-451A91C72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D6C921-687D-AE6D-35A9-851169D8A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5B82A3-FD87-D723-DE09-7D47E567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664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E5166-6389-49F3-F7EE-D046BAA74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FAAEE-05B2-7ED8-A7BE-9A073C5F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387960-D268-43C7-3C6C-B6962E6CD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8AB59-DAB4-EEB1-2FA4-045E1F14E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BF33EC-2A0C-5031-D2B4-E86669F93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214FF-1592-E9A1-0193-0373D6F9F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93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FAA1-B04D-170B-7D12-FB29EAC70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F45F64-5912-E60D-440B-3C5758310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C0953-8B06-8961-AFEF-D8A89ABB1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E5578-8894-6159-D1C9-D95C0B51D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9A9F4-31DA-D5AA-A1A0-519E67F9B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C67F8E-EBC0-B474-3E86-870B40622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095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A086-F2A6-0E30-96F3-09D714C2E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A903B-E9BD-D37E-D183-AC98D75BE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E0BA5-A01B-9F67-F9DC-6CADE05D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45FC0-4CB6-1685-CB5C-0E320E3F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9BE37-C63D-7BB3-BA35-EE1ACCCB1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3879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8E2EE66-83CD-7406-1440-083BAE86E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1AF75A-C8F0-7D2E-D998-1D1EC838F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A08794-9EA4-16C4-28EF-923F82255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C31D4-0D9B-0DDA-C918-BC884FC79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1E008-32A0-2851-6317-5447E022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05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81FA2-C7A3-2457-665B-775D6C521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97DCC-16B5-4043-713A-5D49B1567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87014-1EF0-8093-9343-22F6606A42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3245CC-C84B-4C5B-9A2C-4738F9A6B6C5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6BA63F-A882-EFD2-9986-F9CE8BAADE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90DDF-6E49-F5A6-9903-920A0F1F3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D4D02-856D-4856-A515-52B7CEBE49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06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2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19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40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41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svg"/><Relationship Id="rId5" Type="http://schemas.openxmlformats.org/officeDocument/2006/relationships/image" Target="../media/image43.svg"/><Relationship Id="rId4" Type="http://schemas.openxmlformats.org/officeDocument/2006/relationships/image" Target="../media/image1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7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34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AF7EB46-F768-E280-D06C-06A1877C8925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38065F-4DFD-B5B6-AC4E-304DCE47FA81}"/>
              </a:ext>
            </a:extLst>
          </p:cNvPr>
          <p:cNvSpPr txBox="1"/>
          <p:nvPr/>
        </p:nvSpPr>
        <p:spPr>
          <a:xfrm>
            <a:off x="609600" y="1041400"/>
            <a:ext cx="5266944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59669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059669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7DAA3B-6D68-866D-8CD6-701313E2F184}"/>
              </a:ext>
            </a:extLst>
          </p:cNvPr>
          <p:cNvSpPr txBox="1"/>
          <p:nvPr/>
        </p:nvSpPr>
        <p:spPr>
          <a:xfrm>
            <a:off x="609600" y="1447800"/>
            <a:ext cx="5266944" cy="166199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3400" b="1">
                <a:solidFill>
                  <a:srgbClr val="0F172A"/>
                </a:solidFill>
                <a:latin typeface="Segoe UI" panose="020B0502040204020203" pitchFamily="34" charset="0"/>
              </a:rPr>
              <a:t>BÀI 2: QUY MÔ, CƠ CẤU VÀ CHẤT LƯỢNG DÂN SỐ</a:t>
            </a:r>
            <a:endParaRPr lang="en-US" sz="3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5ACB9-7CD3-5362-C5FE-B3D02AD34457}"/>
              </a:ext>
            </a:extLst>
          </p:cNvPr>
          <p:cNvSpPr txBox="1"/>
          <p:nvPr/>
        </p:nvSpPr>
        <p:spPr>
          <a:xfrm>
            <a:off x="609600" y="3187700"/>
            <a:ext cx="5266944" cy="830997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475569"/>
                </a:solidFill>
                <a:latin typeface="Segoe UI" panose="020B0502040204020203" pitchFamily="34" charset="0"/>
              </a:rPr>
              <a:t>Hệ thống chỉ báo đo lường động lực học dân số, các mô hình tháp tuổi - giới tính và nâng cao chất lượng dân số Việt Nam.</a:t>
            </a:r>
            <a:endParaRPr lang="en-US" sz="1600">
              <a:solidFill>
                <a:srgbClr val="475569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4092CE-9715-4621-D107-14026CE948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333500"/>
            <a:ext cx="5401056" cy="3014980"/>
          </a:xfrm>
          <a:prstGeom prst="roundRect">
            <a:avLst/>
          </a:prstGeom>
          <a:ln w="19050">
            <a:solidFill>
              <a:srgbClr val="0284C7"/>
            </a:solidFill>
          </a:ln>
        </p:spPr>
      </p:pic>
    </p:spTree>
    <p:extLst>
      <p:ext uri="{BB962C8B-B14F-4D97-AF65-F5344CB8AC3E}">
        <p14:creationId xmlns:p14="http://schemas.microsoft.com/office/powerpoint/2010/main" val="3148031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BF45BCE-F476-71C2-8ED1-C92BE5E18017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C36514CA-5241-567A-031B-60F68402AB7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02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25F313E-2D16-1462-03DE-AA4E228D6521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Năng Lực Tính Toán Chỉ Số Đo Lường Và Đánh Giá Biến Động Sinh Tử Di Cư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3F196F91-75E3-D9EE-DCE0-5CF265C48407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F34833B-9440-0FE8-CB3C-F65E0B779494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21EB39A-6D6E-12AA-702D-6EA22D38A03E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2883A50-B9A0-9D93-07EC-A908F530B110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E165E75-8BE4-17C4-72B6-A8CA154BC68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DAB7E50-1DDD-4490-C497-EE82500AFA00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Năng Lực Đo Lường Định Lượng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Làm chủ phương trình cân bằng dân số, các công thức tính dân số trung bình, tỷ số giới tính và tỷ số phụ thuộc.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CA72CBE4-6E46-B032-D607-496EB4F1DA8C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8C1C899-F274-0185-4FBD-CC6629CB7D0C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16A4DED-68AE-9060-B7A2-C756C104F418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B5A2C25-2CE6-E67F-7C9C-1AF217A0DECE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A5DAA85-3DC6-8A3F-36E8-12C9E5AF1F7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523221A-2220-57E6-42E9-BD0B8246B8DF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1205458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Nhận Diện Dân Số Vàng &amp; Già Hóa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Đánh giá cơ hội lịch sử từ cơ cấu dân số vàng với 68% lao động và nhận diện thách thức già hóa dân số diễn ra với tốc độ rất nhanh.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772B5CD4-73EC-1344-3000-8DC395097355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A5E89C8-226B-6865-CDB3-4016911D91CB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CA25DEC-461B-09CF-F7E0-5A86EEADD898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CBDD70A-200E-8C57-D6F1-8D5B5D27BBD4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01903178-4DF1-CACF-E659-3BBA99B7A81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A5CAE6-9128-67A6-E2D1-7D32D3749B53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Nâng Cao Chất Lượng Toàn Diện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Nắm vững chỉ số phát triển con người HDI, các chỉ báo sức khỏe thể chất, giáo dục và chính sách nâng cao thể trạng dân số.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F4E3C5BC-23E3-3AC6-5EB3-82BFE9215E3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Khung chuẩn đầu ra chuyên đề</a:t>
            </a:r>
          </a:p>
        </p:txBody>
      </p:sp>
    </p:spTree>
    <p:extLst>
      <p:ext uri="{BB962C8B-B14F-4D97-AF65-F5344CB8AC3E}">
        <p14:creationId xmlns:p14="http://schemas.microsoft.com/office/powerpoint/2010/main" val="31903166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9755B1B0-EB49-7FD4-824E-BB2CC447CDA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QUY MÔ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C315C38-7566-9933-C12A-B56F63388C0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03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59AC0D8-B573-44B2-ECD2-7F89EFA3EDA0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Khái Niệm Quy Mô Dân Số Và Thời Điểm Thống Kê Xác Định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8ACF84CC-6EC2-2851-B29E-68EC92B29C66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F27017AF-912B-F813-6905-CEA290775F54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8D8F21E-0DEB-6695-658F-A53263C980EE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426ABBE-7B91-1D10-4DEC-369DBB6C57B8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4BA304B-626F-6A84-5083-03FD1C0570A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94E59E0-C0DC-C1FA-97CA-510A88995CB0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Quy mô dân số là tổng số người sống trong một lãnh thổ tại một thời điểm xác định, là chỉ báo quy mô cơ bản nhất.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4ECC5DC0-2A77-3344-866E-12CD45256BCC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8DC9372-B1D3-3860-ACBB-2E72FD17A48C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7A1BBFA-C015-E40C-3708-D615D9EAF343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42DD96E-8AB3-915C-CAB1-1D3D4BD027A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D3D895C-71ED-9CB1-AC9E-9EA95FAC1B53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Khái Niệm Quy Mô Dân Số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Tổng số dân sinh sống thường trú trên một đơn vị hành chính lãnh thổ nhất định, đo lường sức chứa và tầm vóc quốc gia.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8F11463F-8AFA-CAC0-55CC-EE3E85242F32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30E433E6-898C-025D-5891-5E3B153980D0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47EBD7A9-7ABF-AE7F-FA98-CC6B23689ADC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E000E93A-660D-9DD9-A24A-CDCF785FAEF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08FA2A9-BCD9-DC45-5F21-6957565C72E7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Thời Điểm Thống Kê (Census Time)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Quy ước thời điểm đo đạc chuẩn mực (ví dụ 0 giờ ngày 1 tháng 4 trong các kỳ Tổng điều tra dân số tại Việt Nam).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C4D49D23-E8C9-8A07-55EB-9647F70D9FF1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4457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3754EECF-1BD3-1CEF-1592-937ACE6E660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ĐO LƯỜNG QUY MÔ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0105C1C-344C-1FBC-6619-D637F80061D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04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1EBAFF2-30A6-9EBB-35C7-AE5E070CCBF5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Chỉ Số Dân Số Trung Bình Và Ứng Dụng Làm Mẫu Số Cho Mọi Tỷ Suất</a:t>
            </a: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51E60149-EDC3-6323-3EEC-4217F80EFB60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E17AB38-8FF7-82B6-D400-C0F882612FAF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2C8E116-9E1B-CF4C-1D63-ACDDEB23B4E4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2DD9EE3-5057-78F7-A30D-96818061304C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P_tb = (P_0 + P_t) / 2 = [0.5*P_1 + P_2 + P_3 + 0.5*P_n] / (n - 1)</a:t>
              </a:r>
              <a:endParaRPr lang="en-US" sz="24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7ECC3D49-B251-B330-0E36-802C999C1D70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18C5C45-3B60-7876-AF66-C6FB44340342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50B0379-D1CE-26D1-72F3-BFBD38CD7DBF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F56E9A3-C0C9-BEEF-8973-C3970651686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65C50FA-42A5-17A1-ABDE-B40373FDF0D8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Công Thức Số Học Đơn Giản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P_tb = (P_0 + P_t) / 2. Áp dụng khi quy mô dân số gia tăng đều đặn qua các tháng trong năm dương lịch.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4B81E117-EDA4-2C00-F239-A3A290700D8E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31725FF-16C1-2DBC-D461-C150F56741D9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44739C-9DA5-2B4F-1FE3-A05A916FF867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DE356220-C560-B93E-AB2B-F21FAA8F80A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CDEF3EE-A563-0032-9BF7-CC25CE12A010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Công Thức Thời Điểm Có Trọng Số
</a:t>
              </a:r>
              <a:r>
                <a:rPr lang="en-US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P_tb = [0.5*P_1 + P_2 + P_3 + 0.5*P_n] / (n - 1). Áp dụng khi có số liệu thống kê tại nhiều mốc thời điểm trong năm.</a:t>
              </a: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441B966C-F739-15A6-6BE1-4C70F979C726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906740D-AB6D-1B97-0863-0012968665C4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9E8A96C-353F-EEB6-3937-CCD93BC71D30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8B3749DF-AF12-C24C-3F25-8C96F841E32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5F94F85-A127-3BC3-E516-09960EC7824A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Ý Nghĩa Thực Tiễn Mẫu Số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Là mẫu số bắt buộc để tính toán các tỷ suất sinh thô (CBR), tỷ suất chết thô (CDR) và thu nhập bình quân đầu người.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ADD18157-3BD7-B5E9-D8A7-8CEFC1EBB920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Nguyên lý thống kê dân số</a:t>
            </a:r>
          </a:p>
        </p:txBody>
      </p:sp>
    </p:spTree>
    <p:extLst>
      <p:ext uri="{BB962C8B-B14F-4D97-AF65-F5344CB8AC3E}">
        <p14:creationId xmlns:p14="http://schemas.microsoft.com/office/powerpoint/2010/main" val="467964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6DB1AE4-45B0-74D8-329D-F021DDAC120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PHƯƠNG TRÌNH CÂN BẰNG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BEEBC95-F28E-8757-AC9B-C1C5C9A1E01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05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AE3F421-95DD-754B-7C91-707845D0A6F6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Phương Trình Cân Bằng Dân Số Cơ Bản Xác Định Biến Động Qua Thời Gian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73C67745-1C57-174C-E606-CA9B52C3900B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3213254-E78E-3C2D-585D-F80001D671E3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15F2173-16C3-FCB8-55E6-AC71B70B37DB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7BB6A52-43E2-864B-476E-8F10480F6D4E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P_t = P_0 + (B - D) + (I - O) = P_0 + N_i + N_m</a:t>
              </a:r>
              <a:endParaRPr lang="en-US" sz="24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0B56D653-CA35-96B8-A42E-2816012F4A6B}"/>
              </a:ext>
            </a:extLst>
          </p:cNvPr>
          <p:cNvGrpSpPr/>
          <p:nvPr/>
        </p:nvGrpSpPr>
        <p:grpSpPr>
          <a:xfrm>
            <a:off x="609600" y="2971800"/>
            <a:ext cx="5384800" cy="1536700"/>
            <a:chOff x="609600" y="2971800"/>
            <a:chExt cx="5384800" cy="15367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37FC2F2-A58E-9EC5-EC36-B5C9CC9569C4}"/>
                </a:ext>
              </a:extLst>
            </p:cNvPr>
            <p:cNvSpPr/>
            <p:nvPr/>
          </p:nvSpPr>
          <p:spPr>
            <a:xfrm>
              <a:off x="609600" y="2971800"/>
              <a:ext cx="5384800" cy="15367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E71DAA19-88FC-3732-BCD4-B17996C00864}"/>
                </a:ext>
              </a:extLst>
            </p:cNvPr>
            <p:cNvSpPr/>
            <p:nvPr/>
          </p:nvSpPr>
          <p:spPr>
            <a:xfrm>
              <a:off x="787400" y="314960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ED2125D-BF96-9CC8-7BD5-F1327FC2562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38200" y="3200400"/>
              <a:ext cx="254000" cy="254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038439-7427-F55E-9F96-85B98B55A365}"/>
                </a:ext>
              </a:extLst>
            </p:cNvPr>
            <p:cNvSpPr txBox="1"/>
            <p:nvPr/>
          </p:nvSpPr>
          <p:spPr>
            <a:xfrm>
              <a:off x="1244600" y="3073400"/>
              <a:ext cx="4622800" cy="801886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500" b="1">
                  <a:solidFill>
                    <a:srgbClr val="0F172A"/>
                  </a:solidFill>
                  <a:latin typeface="Segoe UI" panose="020B0502040204020203" pitchFamily="34" charset="0"/>
                </a:rPr>
                <a:t>Dân Số Thời Điểm Gốc (P_0)
</a:t>
              </a:r>
              <a:r>
                <a:rPr lang="vi-VN" sz="1250" b="1">
                  <a:solidFill>
                    <a:srgbClr val="334155"/>
                  </a:solidFill>
                  <a:latin typeface="Segoe UI" panose="020B0502040204020203" pitchFamily="34" charset="0"/>
                </a:rPr>
                <a:t>Quy mô dân số ban đầu tại thời điểm xuất phát điểm được kiểm kê hoặc ước lượng chính xác.</a:t>
              </a:r>
              <a:endParaRPr lang="en-US" sz="12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D0D3853D-7769-CA58-E711-DD2347919CA5}"/>
              </a:ext>
            </a:extLst>
          </p:cNvPr>
          <p:cNvGrpSpPr/>
          <p:nvPr/>
        </p:nvGrpSpPr>
        <p:grpSpPr>
          <a:xfrm>
            <a:off x="6197600" y="2971800"/>
            <a:ext cx="5384800" cy="1536700"/>
            <a:chOff x="6197600" y="2971800"/>
            <a:chExt cx="5384800" cy="15367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D4EF834-C855-4DD8-79B7-813C8191126C}"/>
                </a:ext>
              </a:extLst>
            </p:cNvPr>
            <p:cNvSpPr/>
            <p:nvPr/>
          </p:nvSpPr>
          <p:spPr>
            <a:xfrm>
              <a:off x="6197600" y="2971800"/>
              <a:ext cx="5384800" cy="15367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BD716B8-F3DE-BEBB-B1DB-44105F0E171E}"/>
                </a:ext>
              </a:extLst>
            </p:cNvPr>
            <p:cNvSpPr/>
            <p:nvPr/>
          </p:nvSpPr>
          <p:spPr>
            <a:xfrm>
              <a:off x="6375400" y="314960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57EB6621-A095-0281-4A62-0AFC7CCD075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26200" y="3200400"/>
              <a:ext cx="254000" cy="2540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0670361-78A8-786D-9277-9C158A355DF3}"/>
                </a:ext>
              </a:extLst>
            </p:cNvPr>
            <p:cNvSpPr txBox="1"/>
            <p:nvPr/>
          </p:nvSpPr>
          <p:spPr>
            <a:xfrm>
              <a:off x="6832600" y="3073400"/>
              <a:ext cx="4622800" cy="801886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500" b="1">
                  <a:solidFill>
                    <a:srgbClr val="0F172A"/>
                  </a:solidFill>
                  <a:latin typeface="Segoe UI" panose="020B0502040204020203" pitchFamily="34" charset="0"/>
                </a:rPr>
                <a:t>Số Sinh Sống (Births - B)
</a:t>
              </a:r>
              <a:r>
                <a:rPr lang="en-US" sz="1250" b="1">
                  <a:solidFill>
                    <a:srgbClr val="334155"/>
                  </a:solidFill>
                  <a:latin typeface="Segoe UI" panose="020B0502040204020203" pitchFamily="34" charset="0"/>
                </a:rPr>
                <a:t>Tổng số trẻ em sinh ra còn sống trong suốt khoảng thời gian từ thời điểm 0 đến thời điểm t.</a:t>
              </a: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F9B36B2C-ADC3-ACF4-C3A7-651A896380D4}"/>
              </a:ext>
            </a:extLst>
          </p:cNvPr>
          <p:cNvGrpSpPr/>
          <p:nvPr/>
        </p:nvGrpSpPr>
        <p:grpSpPr>
          <a:xfrm>
            <a:off x="609600" y="4660900"/>
            <a:ext cx="5384800" cy="1536700"/>
            <a:chOff x="609600" y="4660900"/>
            <a:chExt cx="5384800" cy="15367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46FF5ED4-F4C1-FC7B-1C34-F5FC6B76437F}"/>
                </a:ext>
              </a:extLst>
            </p:cNvPr>
            <p:cNvSpPr/>
            <p:nvPr/>
          </p:nvSpPr>
          <p:spPr>
            <a:xfrm>
              <a:off x="609600" y="4660900"/>
              <a:ext cx="5384800" cy="15367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9333CDBE-9450-A539-80A5-F59DF945C41A}"/>
                </a:ext>
              </a:extLst>
            </p:cNvPr>
            <p:cNvSpPr/>
            <p:nvPr/>
          </p:nvSpPr>
          <p:spPr>
            <a:xfrm>
              <a:off x="787400" y="483870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413BEA3-3C62-C0D6-AEF8-4E6A7E567D7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8200" y="4889500"/>
              <a:ext cx="254000" cy="2540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4DD2D7F-32D6-CA24-2A93-C491D6FE298D}"/>
                </a:ext>
              </a:extLst>
            </p:cNvPr>
            <p:cNvSpPr txBox="1"/>
            <p:nvPr/>
          </p:nvSpPr>
          <p:spPr>
            <a:xfrm>
              <a:off x="1244600" y="4762500"/>
              <a:ext cx="4622800" cy="801886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500" b="1">
                  <a:solidFill>
                    <a:srgbClr val="0F172A"/>
                  </a:solidFill>
                  <a:latin typeface="Segoe UI" panose="020B0502040204020203" pitchFamily="34" charset="0"/>
                </a:rPr>
                <a:t>Số Người Tử Vong (Deaths - D)
</a:t>
              </a:r>
              <a:r>
                <a:rPr lang="en-US" sz="1250" b="1">
                  <a:solidFill>
                    <a:srgbClr val="334155"/>
                  </a:solidFill>
                  <a:latin typeface="Segoe UI" panose="020B0502040204020203" pitchFamily="34" charset="0"/>
                </a:rPr>
                <a:t>Tổng số ca tử vong xảy ra trong quần thể dân số trong khoảng thời gian nghiên cứu.</a:t>
              </a:r>
            </a:p>
          </p:txBody>
        </p:sp>
      </p:grpSp>
      <p:grpSp>
        <p:nvGrpSpPr>
          <p:cNvPr id="32" name="!!Stage_Sub_Card_4">
            <a:extLst>
              <a:ext uri="{FF2B5EF4-FFF2-40B4-BE49-F238E27FC236}">
                <a16:creationId xmlns:a16="http://schemas.microsoft.com/office/drawing/2014/main" id="{EB49B7C1-250D-A3E6-B342-FF20EF620EA2}"/>
              </a:ext>
            </a:extLst>
          </p:cNvPr>
          <p:cNvGrpSpPr/>
          <p:nvPr/>
        </p:nvGrpSpPr>
        <p:grpSpPr>
          <a:xfrm>
            <a:off x="6197600" y="4660900"/>
            <a:ext cx="5384800" cy="1536700"/>
            <a:chOff x="6197600" y="4660900"/>
            <a:chExt cx="5384800" cy="1536700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5A82028-1CDB-5AF2-04CA-8891CB343961}"/>
                </a:ext>
              </a:extLst>
            </p:cNvPr>
            <p:cNvSpPr/>
            <p:nvPr/>
          </p:nvSpPr>
          <p:spPr>
            <a:xfrm>
              <a:off x="6197600" y="4660900"/>
              <a:ext cx="5384800" cy="15367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C8C6834-9B32-D8F8-1CCA-DA56CBFA4461}"/>
                </a:ext>
              </a:extLst>
            </p:cNvPr>
            <p:cNvSpPr/>
            <p:nvPr/>
          </p:nvSpPr>
          <p:spPr>
            <a:xfrm>
              <a:off x="6375400" y="483870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01965FA5-DEAA-3D39-59AF-CFF9CEFA6C0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26200" y="4889500"/>
              <a:ext cx="254000" cy="25400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933209D-BCAD-5A8C-3A6F-8E225B07DE6A}"/>
                </a:ext>
              </a:extLst>
            </p:cNvPr>
            <p:cNvSpPr txBox="1"/>
            <p:nvPr/>
          </p:nvSpPr>
          <p:spPr>
            <a:xfrm>
              <a:off x="6832600" y="4762500"/>
              <a:ext cx="4622800" cy="801886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it-IT" sz="1500" b="1">
                  <a:solidFill>
                    <a:srgbClr val="0F172A"/>
                  </a:solidFill>
                  <a:latin typeface="Segoe UI" panose="020B0502040204020203" pitchFamily="34" charset="0"/>
                </a:rPr>
                <a:t>Di Cư Thuần (Net Migration: I - O)
</a:t>
              </a:r>
              <a:r>
                <a:rPr lang="vi-VN" sz="1250" b="1">
                  <a:solidFill>
                    <a:srgbClr val="334155"/>
                  </a:solidFill>
                  <a:latin typeface="Segoe UI" panose="020B0502040204020203" pitchFamily="34" charset="0"/>
                </a:rPr>
                <a:t>Chênh lệch giữa số người nhập cư (In-migrants) và số người xuất cư (Out-migrants) của địa phương.</a:t>
              </a:r>
              <a:endParaRPr lang="en-US" sz="12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3" name="!!Anchor_Source_Footer">
            <a:extLst>
              <a:ext uri="{FF2B5EF4-FFF2-40B4-BE49-F238E27FC236}">
                <a16:creationId xmlns:a16="http://schemas.microsoft.com/office/drawing/2014/main" id="{E8191787-46A8-ACE6-D6D8-7CD705FC2930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Phương trình cân bằng dân số quốc tế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603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4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98501C1-4FF8-101B-579E-A0774115D26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TĂNG TRƯỞNG DÂN SỐ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734ABD5A-4388-7F0E-5924-05134482EE0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06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18DF703-2948-83CD-EDB0-7015DD053B9F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Ba Thước Đo Tăng Trưởng Dân Số: Tự Nhiên, Cơ Học Và Tăng Tổng Số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E8A1822-A825-CCDB-197A-A49F39BB1BCB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2087E7F-2741-9209-4470-8AB23DA75F01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511CF07-D9A0-FB30-25F5-27B1FE87C926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856ED61B-3042-FAD2-67E2-B90EA60B0AF4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64DD35B-1880-802A-E11A-7AB0ECC95EE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B830007-9559-B1ED-E1B5-14250D458981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Lệ Tăng Tự Nhiên (r)
</a:t>
              </a:r>
              <a:r>
                <a:rPr lang="en-US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r = CBR - CDR. Tỷ lệ phần trăm chênh lệch giữa tỷ suất sinh thô và tỷ suất chết thô của dân số trong năm.</a:t>
              </a: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419CF71F-3AD2-03AE-2E48-4F34C336167E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136D341-20AE-A839-D95D-B68BCBF8B385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F071FA5-FDE4-D269-A780-C03FB6CDC9C2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672BE09-EE62-7104-7CEC-4DE34D8B15DD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BF0C1F4-95AF-50D4-2DEF-020AF6EB68A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B87EB1-23C3-CB6E-84DB-C2BE240A2E7D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215013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Tỷ Lệ Tăng Cơ Học (m)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m = IR - OR. Chênh lệch giữa tỷ suất nhập cư và xuất cư trên một nghìn dân trung bình.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AB0F59BC-019E-71BA-4514-C6C65C3B29F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Hệ thống chỉ tiêu thống kê quốc gia</a:t>
            </a:r>
          </a:p>
        </p:txBody>
      </p:sp>
    </p:spTree>
    <p:extLst>
      <p:ext uri="{BB962C8B-B14F-4D97-AF65-F5344CB8AC3E}">
        <p14:creationId xmlns:p14="http://schemas.microsoft.com/office/powerpoint/2010/main" val="11899412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4289322-4E82-52E5-23FC-BED66426888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MÔ HÌNH HÀM MŨ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96C82CF-6195-AF3F-2D11-F8092F200EB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07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717EA23-FF27-C5DF-25B2-8361C09C865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Tốc Độ Gia Tăng Dân Số Và Mô Hình Tăng Trưởng Hàm Số Mũ Liên Tục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582022EE-C984-D0E8-4090-139E78BA71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6EDA435A-BE2E-3F6E-82BB-5CE74D55FEF1}"/>
              </a:ext>
            </a:extLst>
          </p:cNvPr>
          <p:cNvGrpSpPr/>
          <p:nvPr/>
        </p:nvGrpSpPr>
        <p:grpSpPr>
          <a:xfrm>
            <a:off x="6644640" y="1676400"/>
            <a:ext cx="4937760" cy="2184400"/>
            <a:chOff x="6644640" y="1676400"/>
            <a:chExt cx="4937760" cy="218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A1A5DF8-2D41-8E82-C90C-7E4FAE3F8EAB}"/>
                </a:ext>
              </a:extLst>
            </p:cNvPr>
            <p:cNvSpPr/>
            <p:nvPr/>
          </p:nvSpPr>
          <p:spPr>
            <a:xfrm>
              <a:off x="6644640" y="1676400"/>
              <a:ext cx="4937760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94C6F5A-44F0-1DE4-E9B3-CA7C29A42F2C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C050D94-BFAA-9D07-52FE-7D76222B497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2A956A2-637B-577E-3C5C-0D9EEF46342E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Mô Hình Tăng Trưởng Hàm Mũ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P_t = P_0 * e^(r*t). Với r là tỷ lệ tăng trưởng liên tục hàng năm, e là cơ số logarit tự nhiên (xấp xỉ 2.71828).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8B406021-8E6A-A289-CC1E-4D17BDC58A1F}"/>
              </a:ext>
            </a:extLst>
          </p:cNvPr>
          <p:cNvGrpSpPr/>
          <p:nvPr/>
        </p:nvGrpSpPr>
        <p:grpSpPr>
          <a:xfrm>
            <a:off x="6644640" y="4013200"/>
            <a:ext cx="4937760" cy="2184400"/>
            <a:chOff x="6644640" y="4013200"/>
            <a:chExt cx="4937760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AF7AC27-7F3E-CBEC-A2DA-E0B1D4FA020A}"/>
                </a:ext>
              </a:extLst>
            </p:cNvPr>
            <p:cNvSpPr/>
            <p:nvPr/>
          </p:nvSpPr>
          <p:spPr>
            <a:xfrm>
              <a:off x="6644640" y="4013200"/>
              <a:ext cx="4937760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BE45225-387D-A1E5-2EFB-45F7CFC52FB7}"/>
                </a:ext>
              </a:extLst>
            </p:cNvPr>
            <p:cNvSpPr/>
            <p:nvPr/>
          </p:nvSpPr>
          <p:spPr>
            <a:xfrm>
              <a:off x="6822440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7D24DC6-BA07-A041-478E-086FD5C60B0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42545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256D01C-2BA0-B335-3AA3-BB8841F5366F}"/>
                </a:ext>
              </a:extLst>
            </p:cNvPr>
            <p:cNvSpPr txBox="1"/>
            <p:nvPr/>
          </p:nvSpPr>
          <p:spPr>
            <a:xfrm>
              <a:off x="7305040" y="41402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Xác Định Tỷ Lệ Tăng Trưởng (r)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r = [ln(P_t / P_0)] / t. Cho phép tính toán chính xác tốc độ tăng trưởng bình quân giữa hai kỳ điều tra dân số.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FC31A1B6-96CD-DE5F-915F-81C93571827E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Mô hình toán học dân số</a:t>
            </a:r>
          </a:p>
        </p:txBody>
      </p:sp>
    </p:spTree>
    <p:extLst>
      <p:ext uri="{BB962C8B-B14F-4D97-AF65-F5344CB8AC3E}">
        <p14:creationId xmlns:p14="http://schemas.microsoft.com/office/powerpoint/2010/main" val="2096873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34550AE-F7E4-03F9-A535-B0A533BFB61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THỜI GIAN NHÂN ĐÔI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75282D39-3404-7656-54E4-FB7CB7E15EB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08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A4EACCE-8183-3B78-7E29-811750712F0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Quy Tắc 70 Và Thời Gian Nhân Đôi Quy Mô Dân Số (Doubling Time)</a:t>
            </a: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55C282BE-7F07-EC76-C5FB-296102767E51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E7D3452-D1B7-FA86-2F7C-CA2F6BBA1F1F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9D6B6609-A8CE-231E-42DA-4DE5376022A1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A1B5E4-65CC-0FD9-8ABC-248DA9EA9A5D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T_2 = ln(2) / r ≈ 70 / r(%)  (Quy tắc 70 nhân đôi dân số)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21943DB3-D862-1652-4BA9-8E7514119968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360C148-AA95-1E21-A690-EC1C54BC586D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5A6CD80-B585-B9AB-6149-01EAB8B8208C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CBC235BA-7793-DEB8-2B6D-50E6FA96BE0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A328E79-8FCD-599D-966B-85F63970B912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49207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Công Thức Thời Gian Nhân Đôi (T_2)
</a:t>
              </a:r>
              <a:r>
                <a:rPr lang="en-US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T_2 = ln(2) / r ≈ 70 / r(%). Nếu dân số tăng 1.0%/năm thì sau đúng 70 năm quy mô dân số sẽ tăng gấp đôi.</a:t>
              </a: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D6F6A3AF-2DF4-9650-858A-86906C2D0F6D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9D40A2B-FA55-255E-A3F8-0DB13BA8A1E9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DE19338-53CD-C145-B6CB-301E4918375D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14E8E4F6-A878-FDAE-FE73-F3C0A5ABB93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2604318-17DC-5016-33B5-6612DA5B2EE1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Áp Lực Lên Hệ Thống Hạ Tầng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Thời gian nhân đôi càng ngắn đòi hỏi quốc gia phải tăng gấp đôi trường học, bệnh viện, nhà ở và năng lượng trong cùng thời gian.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CABB149D-0597-58D3-4A5F-E2E9F82EB788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79CA7FF-11B7-729D-4266-EF72AE349F63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2462CF-A7F8-276D-5B80-D0243725EB94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5D557DA0-5D81-E2E7-F832-F96D4476A4D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8B9B779-1FF9-A605-491C-9797B0F8D32E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Ứng Dụng Trong Cảnh Báo Sớm
</a:t>
              </a:r>
              <a:r>
                <a:rPr lang="en-US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Là công cụ trực quan giúp các nhà hoạch định chính sách hình dung tốc độ cạn kiệt tài nguyên nếu không kiểm soát mức sinh.</a:t>
              </a: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D68EB3BD-0840-1582-FA56-2FD2A492B7F0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Sổ tay nhân khẩu học ứng dụng</a:t>
            </a:r>
          </a:p>
        </p:txBody>
      </p:sp>
    </p:spTree>
    <p:extLst>
      <p:ext uri="{BB962C8B-B14F-4D97-AF65-F5344CB8AC3E}">
        <p14:creationId xmlns:p14="http://schemas.microsoft.com/office/powerpoint/2010/main" val="18797557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5FED8466-0F69-F129-9A33-9C3420EF9B0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QUY MÔ DÂN SỐ VN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69A5B8C-0C1C-AA58-3888-C9E3613FD16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09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AEBB5708-1773-AD24-1F2A-D4D3BD801051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Tiến Trình Gia Tăng Quy Mô Dân Số Việt Nam Qua Các Kỳ Tổng Điều Tra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8307F4B3-F493-E11A-6D3D-C74775DF696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C2CF3B28-9A1D-566F-0682-23F0547D82FD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370ECDF-70FC-D973-C061-983739870060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E7128F9-F954-3B3D-959F-BEB933534F7B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C7E268E-1943-59B4-B149-F7DFC236264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9885AEC-BF73-1993-BA5C-16A5378F86BC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1979: 52.7 Triệu Dân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Tốc độ gia tăng dân số thời kỳ sau chiến tranh rất cao, vượt ngưỡng 2.1%/năm do mức sinh còn cao.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EB887A51-8C21-741E-FED4-150A42DC2EE1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18423A0-94F9-9252-A407-F693B012ACE4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A9DF151-897B-57F1-E0DF-C0F71992D67E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F98FCBD-C146-5E97-4D5B-0C8DC34F5EF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72FBA1E-9A22-DA65-0B3C-D868B527AD7A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2019: 96.2 Triệu Dân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Tốc độ tăng dân số bình quân giai đoạn 2009-2019 giảm xuống còn 1.14%/năm nhờ chính sách kế hoạch hóa gia đình.</a:t>
              </a: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C0D77B4A-9A87-B9B1-842F-AF94538C94A2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50C02900-F0EB-0F41-AFAC-81E21B3EF756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983A0D0-F1FC-196D-3071-EDFBFFA02D17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A74671FC-83C0-B416-878B-AC1EB1E4A55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D8DC80-87E6-6E31-599F-E9C3C289985B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2024: Vượt 100.3 Triệu Dân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Quy mô đạt mốc lịch sử nhưng tỷ lệ gia tăng dân số hiện chỉ còn dưới 0.9%/năm và đang tiếp tục xu hướng giảm.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85648F83-8709-5863-F29E-F0A4EEAA481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Tổng cục Thống kê - Dữ liệu chuỗi thời gian 1979-2024</a:t>
            </a:r>
          </a:p>
        </p:txBody>
      </p:sp>
    </p:spTree>
    <p:extLst>
      <p:ext uri="{BB962C8B-B14F-4D97-AF65-F5344CB8AC3E}">
        <p14:creationId xmlns:p14="http://schemas.microsoft.com/office/powerpoint/2010/main" val="403326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49E1621-0451-010D-6EB6-145291AB844F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DÂN SỐ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1F3F1B5-B645-2E8F-606C-781E0429B85B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10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B535C57-5F38-3064-DA2C-AE0E1B55477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Khái Niệm Cơ Cấu Dân Số Và Ý Nghĩa Chi Phí Xã Hội Trong Hoạch Định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6E8485D2-7CAE-0C53-A8E1-F4281AAAC9D3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0212164-36E6-E050-C72B-D1A466D21B49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9B2AB7E-D190-3FD5-83E1-70E5F83A2552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194FD2D-A899-2CE8-D8AF-935CF22C6EBC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86B0E8E5-E298-A244-C3BF-09FC1BA5C88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E56FD4-97B7-0599-8E28-445101007031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Cơ Cấu Tự Nhiên Sinh Học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Phân chia theo độ tuổi và giới tính. Đây là cơ cấu khách quan, ít biến đổi đột ngột và mang tính quy luật sinh học cao.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9447B7D2-7F09-4B87-7E68-72094F8CC85F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DDAF053-3288-3FEC-0B9A-45E9F27C79E8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9505452-3707-48B6-5875-6DC9F7670045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C51167F-B801-870D-4019-A8FE207E4485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8037739C-49E8-4000-36B1-4E1AD787D4D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278B144-17BC-BFF9-5BA9-253785E1BECA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Cơ Cấu Xã Hội - Kinh Tế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Phân chia theo học vấn, nghề nghiệp, dân tộc, tôn giáo và tình trạng hôn nhân, phản ánh trình độ tiến hóa xã hội.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41C5F1CB-4D8C-553A-BF42-8DED4AE4A0F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9546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8693C7F6-4EF2-B110-5F76-3D5513CA457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THEO TUỔI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157A4BE-C1D8-FA16-2CC0-4E0593AE0A0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11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099B30B3-1B31-1328-2A05-B2AC77614857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Ba Khoảng Tuổi Sinh Học Cơ Bản Trong Phân Tích Cơ Cấu Lực Lượng Lao Động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925D80CE-069B-FCB1-67EF-75145D5EC73A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9763DF8-2FF6-F6C9-58EF-D2310474AD44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A06F096-388C-B79C-342F-0A8CBCA19DE4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06F275C-3A54-8965-2001-0BC3237D442C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6D43FBF-E5E3-F7C3-272E-29A2F538989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6D2DCFA-17EA-5932-4BD5-DC63A740BEBA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Tương quan tỷ lệ giữa 3 nhóm tuổi định hình trực tiếp mô hình tiêu dùng, gánh nặng phụ thuộc và tiềm năng sản xuất quốc gia.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2D1B186-3F88-40E7-952D-7FA82FABB055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0185024-A2A1-C697-800A-AC1F27A9B99B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F4CEFDE-445A-ADB7-7882-984F0CCDA93D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D3A0E5DC-5CBD-4E9C-9A43-09C948478DC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95A17E7-81FA-898C-C854-E13424D6A3BA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pt-BR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Nhóm Trẻ Em (0 - 14 Tuổi)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Nhóm dân số dưới độ tuổi lao động, tiêu dùng nhiều dịch vụ nhi khoa, dinh dưỡng và hệ thống giáo dục phổ thông.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41203FE5-3114-3814-D89B-C7C024EBB676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892AF77C-0CD5-E558-78BB-DE258BFC61CA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49054E8-14DC-EE0D-5439-FBF2E3C11271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9E39C3B-A329-EC0D-628E-96DFFDB11A4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A5082DE-2787-F015-58D5-7F2C2121E63E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Nhóm Lao Động (15 - 64 Tuổi)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Lực lượng trực tiếp tạo ra của cải vật chất, đóng góp thuế, tiết kiệm và đóng bảo hiểm xã hội nuôi sống các nhóm phụ thuộc.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F8E2F6A0-A494-F4CE-8D28-AB0A8CCC108B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A5E0565-688C-88B2-C35A-A0AB1189B14E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66A4313-A97C-84A6-CFCE-67BED2181D1A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BD44F82-2D59-E92A-2254-4708115E61B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802AF8D-6290-5311-1D78-6FC9C137AAB6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Nhóm Người Cao Tuổi (65+ Tuổi)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Nhóm hết tuổi lao động, có nhu cầu lớn về dịch vụ an sinh hưu trí, chăm sóc y tế lão khoa và hỗ trợ sinh hoạt dài hạn.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5B2CADAA-2D77-0354-BD71-630D0D4469F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Chuẩn phân loại Liên Hợp Quốc (UN DESA)</a:t>
            </a:r>
          </a:p>
        </p:txBody>
      </p:sp>
    </p:spTree>
    <p:extLst>
      <p:ext uri="{BB962C8B-B14F-4D97-AF65-F5344CB8AC3E}">
        <p14:creationId xmlns:p14="http://schemas.microsoft.com/office/powerpoint/2010/main" val="2587840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C98641C-8AFE-68EA-DC84-4148D7CD090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TỶ SỐ PHỤ THUỘC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6D3462F3-217D-2A4B-F98B-6F31851365A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12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A80DE29-2465-E42F-944B-004316F3275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Hệ Thống Ba Tỷ Số Phụ Thuộc: Trẻ Em, Người Già Và Phụ Thuộc Chung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44FBBB0F-1AF5-6103-069C-5B0A7D4A42D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E9055552-3B9E-4DFB-227D-BB56F5117553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2EC3215-E424-81EA-CE25-14057F4F86B4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37B17F8-E8CA-AAD3-967C-0D1B79912A25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70B6581-A60A-64EC-6930-FE04CCC9C4E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657B118-5792-B1D7-45A9-FAC81BDC3BE0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774571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Số Phụ Thuộc Trẻ Em (YDR)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YDR = (Dân số 0-14 / Dân số 15-64) * 100. Đo lường gánh nặng nuôi dạy thế hệ tương lai.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9EF04E45-17F9-96EA-BD44-35546381848D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B0BDCAA-B246-6F57-37CB-843D311D7C45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C7B507-886A-5349-0554-14496F0CC0B1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3DE8473-B518-8BFD-C6DB-7F194B0FEBF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9351CBB-0F16-A231-BAD0-701AE5398445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Số Phụ Thuộc Người Già (ADR)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ADR = (Dân số 65+ / Dân số 15-64) * 100. Đo lường gánh nặng an sinh và chăm sóc người cao tuổi.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43261C1F-6E82-5B50-45E6-1407BD974A8C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1901166-F737-4CB8-3C03-5A8965039AB0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D1296CB-6AFC-E112-95CD-749F9ACE96F0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D2363F52-7237-B781-BD90-2B593B1FB92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62CF57E-36D3-29AF-351E-1F84F4D4D655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Số Phụ Thuộc Chung (CDR)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CDR = YDR + ADR. Khi CDR &lt; 50, quốc gia chính thức bước vào thời kỳ cơ cấu dân số vàng quý giá.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01E8AAA2-A248-AF64-6940-91433F62CCF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Phương pháp tính toán nhân khẩu học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2464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52AEC75C-6D2D-8FC2-8989-A34B7A63985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GIỚI TÍNH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D7ECA41-E3BC-632F-FD57-4E10B035C5AC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13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8C1DDF96-6B9C-E153-16DC-A09762487A4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Cơ Cấu Dân Số Theo Giới Tính Và Tỷ Số Giới Tính (Sex Ratio)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341A540B-BD55-E81A-A5C2-41C8613A9826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8D8FCF3-1C44-63ED-6A97-CFA986A2FB9F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A1C0895-8B40-5A7E-A5F2-0B8E8D815298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0353352-90BD-C411-9AE9-93164216B4D4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SR = (Số Nam / Số Nữ) * 100  |  SRB = (Bé Trai / Bé Gái) * 100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D1B6B163-B8D5-F825-3FEA-84C244C260A4}"/>
              </a:ext>
            </a:extLst>
          </p:cNvPr>
          <p:cNvGrpSpPr/>
          <p:nvPr/>
        </p:nvGrpSpPr>
        <p:grpSpPr>
          <a:xfrm>
            <a:off x="609600" y="2971800"/>
            <a:ext cx="5384800" cy="3225800"/>
            <a:chOff x="609600" y="2971800"/>
            <a:chExt cx="5384800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B4902AF8-1624-B096-282E-71037C9C5E59}"/>
                </a:ext>
              </a:extLst>
            </p:cNvPr>
            <p:cNvSpPr/>
            <p:nvPr/>
          </p:nvSpPr>
          <p:spPr>
            <a:xfrm>
              <a:off x="609600" y="2971800"/>
              <a:ext cx="5384800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7CFF9E5-237B-BABD-B6C7-B3A41E9BA0CE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42DF59E-3D7F-26F6-4077-5E66355AB4E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0E88A44-F06A-4AB1-C922-3CC09ADA70B2}"/>
                </a:ext>
              </a:extLst>
            </p:cNvPr>
            <p:cNvSpPr txBox="1"/>
            <p:nvPr/>
          </p:nvSpPr>
          <p:spPr>
            <a:xfrm>
              <a:off x="812800" y="3683000"/>
              <a:ext cx="4978400" cy="92461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Tỷ Số Giới Tính (Sex Ratio - SR)
</a:t>
              </a:r>
              <a:r>
                <a:rPr lang="en-US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SR = (Số nam / Số nữ) * 100. Tại Việt Nam tỷ số giới tính toàn bộ dân số hiện đạt xấp xỉ 99.5 nam trên 100 nữ.</a:t>
              </a: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318469B5-90A1-F058-B59E-C63CD413E26F}"/>
              </a:ext>
            </a:extLst>
          </p:cNvPr>
          <p:cNvGrpSpPr/>
          <p:nvPr/>
        </p:nvGrpSpPr>
        <p:grpSpPr>
          <a:xfrm>
            <a:off x="6197600" y="2971800"/>
            <a:ext cx="5384800" cy="3225800"/>
            <a:chOff x="6197600" y="2971800"/>
            <a:chExt cx="5384800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45E8202F-0595-20D6-1FEC-83DB5AE82091}"/>
                </a:ext>
              </a:extLst>
            </p:cNvPr>
            <p:cNvSpPr/>
            <p:nvPr/>
          </p:nvSpPr>
          <p:spPr>
            <a:xfrm>
              <a:off x="6197600" y="2971800"/>
              <a:ext cx="5384800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D472A90-2888-DEA5-4FF4-68C95D77322C}"/>
                </a:ext>
              </a:extLst>
            </p:cNvPr>
            <p:cNvSpPr/>
            <p:nvPr/>
          </p:nvSpPr>
          <p:spPr>
            <a:xfrm>
              <a:off x="6400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9350C5BC-748F-1BAC-0B1A-FE02E09373F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64300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9A3D0C5-C9EF-B82B-0E92-3DCA30AF6198}"/>
                </a:ext>
              </a:extLst>
            </p:cNvPr>
            <p:cNvSpPr txBox="1"/>
            <p:nvPr/>
          </p:nvSpPr>
          <p:spPr>
            <a:xfrm>
              <a:off x="6400800" y="3683000"/>
              <a:ext cx="4978400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Quy Luật Biến Động Theo Tuổi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Nam giới chiếm ưu thế ở nhóm tuổi trẻ (do số sinh nam cao hơn), cân bằng ở tuổi thanh niên và nữ giới vượt trội ở tuổi già.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1" name="!!Anchor_Source_Footer">
            <a:extLst>
              <a:ext uri="{FF2B5EF4-FFF2-40B4-BE49-F238E27FC236}">
                <a16:creationId xmlns:a16="http://schemas.microsoft.com/office/drawing/2014/main" id="{047D9DF8-7185-EFEC-9E31-B4BC94BA954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Giáo trình Dân số học đại cương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265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F08891F-059A-28FA-2FCA-C4BBECCAC63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MẤT CÂN BẰNG GIỚI TÍNH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1965D57D-424E-23E6-1BB0-88BBF0A79604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14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CE33C4AB-9CA6-8F7D-4BAD-51B33F121EE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Thực Trạng Mất Cân Bằng Tỷ Số Giới Tính Khi Sinh (SRB) Tại Việt Nam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8D141EC2-04DE-04BE-2560-AA183D173AC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02CCD1E0-31C8-D5FF-4552-9ADAB139185D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B31DAEF-BC6B-6FBB-8F93-3E2A110CD7DD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6EF73FE-79E0-FF47-80E6-C1BF67390D8B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E6F187E-27F8-64EA-A7F7-20736D9DE05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87C2DD6-C2DE-3152-B132-3E53324851EB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Ngưỡng Sinh Học Bình Thường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Mức chuẩn tự nhiên trên thế giới là 104 - 106 bé trai / 100 bé gái sinh sống, bảo đảm bù đắp tử vong nam ở tuổi trưởng thành.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BD874A09-D3D4-E3FA-A524-D3713F8E6F75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1AB5D4C-FBF2-DF61-75E8-E8CB6839070C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89A4D18-4B5E-C9A3-2335-2F96783941ED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E1A9AD1-867B-1D9F-EFDD-1ED0314B206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511A91-9DDD-BA9C-35F2-1A47FDFB8471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Thực Trạng Việt Nam (112 - 115)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SRB tại nhiều tỉnh Đồng bằng sông Hồng vượt ngưỡng 115 bé trai / 100 bé gái, đặc biệt nghiêm trọng ở lần sinh thứ ba trở lên.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2C43C1D2-3F4C-43E4-B6EF-B47AE56BA944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D759303B-F5BE-4F6D-A007-D9C3DE0B72E8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B1B96E93-9284-B378-126F-3D9FC8CE4358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2D1C6893-C3E3-86DA-F9C8-FD4C816B370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C91FE6-36B9-F4E9-215F-9076A3BDA29F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Hệ Lụy Xã Hội Nghiêm Trọng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Dự báo đến năm 2034 Việt Nam sẽ dư thừa từ 1.5 đến 2.5 triệu nam giới trong độ tuổi kết hôn, gây mất ổn định trật tự xã hội.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B730CE6B-5EE5-D576-51E5-5F2A0B9A4B1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Báo cáo thực trạng mất cân bằng giới tính khi sinh - UNFPA &amp; GSO</a:t>
            </a:r>
          </a:p>
        </p:txBody>
      </p:sp>
    </p:spTree>
    <p:extLst>
      <p:ext uri="{BB962C8B-B14F-4D97-AF65-F5344CB8AC3E}">
        <p14:creationId xmlns:p14="http://schemas.microsoft.com/office/powerpoint/2010/main" val="15709002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63B51BD-8DCB-CB73-3811-CA1115958522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DÂN SỐ VÀNG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CB35818D-E656-6D7E-BB3D-429915066ED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15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ACCDC66F-265C-F367-688F-7B178EE761D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Thời Kỳ Cơ Cấu Dân Số Vàng: Cơ Hội Bứt Phá Năng Suất Lao Động Lịch Sử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009242C8-CBB7-AE2C-FCFE-C70651F5AB3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8BD2C8E1-FB3E-5139-C1FB-36E4C4B9B9F1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7F93AFD-637E-F5D4-57EC-97E6C07755A8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A639B13-40E5-1D52-54A0-BBEBA9033629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A1DBFF2-A24E-98CA-0810-C7A2C03B2B3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A55EDE5-3B23-4C1F-8F1E-8CECE95500C9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Cơ Hội Dân Số Vàng (2007 - 2039)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Việt Nam có hơn 2 người trong độ tuổi lao động phụ thuộc 1 người ăn theo, tạo dư địa lớn để chuyển dịch cơ cấu kinh tế.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FB35EB0E-A59E-A672-F448-C0851E58EF0D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FCAE3C1-C8AA-4FA5-342B-7848EDDA7F8D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D8B8DE8-D94E-3BAD-9F6B-1E19AF38B8B2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AD9E4DC-A498-3C89-FD0C-D3EAE7F9CA9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38591E3-214B-8F33-586F-A5DE5190F4CC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Nguy Cơ Bẫy Thu Nhập Trung Bình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Nếu không kịp thời đào tạo kỹ năng số và nâng cao năng suất, thời kỳ dân số vàng sẽ trôi qua mà đất nước chưa kịp giàu.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1837AF70-9D95-21CD-B19B-FB41D335375A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90E8A6CF-1270-D72A-5881-56E03DAE97BB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1AF85CE-A6BC-5336-4724-9265096E3927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3163D7FD-C83F-3896-43FD-AB9A5C175CF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AF41EFE-F550-A41C-92FC-A004629A06BF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Hành Động Khẩn Trương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Đẩy mạnh công nghiệp công nghệ cao, khuyến khích đổi mới sáng tạo và tạo việc làm thỏa đáng cho thanh niên.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D5C6B74C-DD15-81EA-5179-5AA85D9923E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Nghiên cứu cơ cấu dân số vàng tại Việt Nam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8096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268B9B63-423A-5299-F29E-CACB7B9824CB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GIÀ HÓA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579F521-24E9-3FE7-FAA0-95F8236358D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16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84F4CD47-6621-44A4-5ABE-FF226DD03B68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Tiến Trình Già Hóa Dân Số Và Tốc Độ Chuyển Tiếp Thuộc Hàng Nhanh Nhất Thế Giới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5CA39BA9-65B3-0B65-5D21-9831E637AE5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FADC248D-38D0-253F-A73E-1C116D91BBEC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F936F192-73DA-FF3D-5BF3-A0CF0BCA82B6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22FFDEE-C6F3-9227-000A-32135C66232F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C6C9560B-FDCD-500A-E232-06F477EF643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B68A723-91F9-5485-9290-3E3B454852D3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Hai Ngưỡng Già Hóa Quốc Tế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Xã hội già hóa (Aging Phase) khi tỷ lệ người 65+ đạt 7%; Xã hội già (Aged Phase) khi tỷ lệ này chạm ngưỡng 14%.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0A693754-E770-CFB0-DEA7-B64DE382C881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B460D59-5433-200A-A915-F1ABC94D9E79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9D40318-98C9-D0C8-9729-7E9BDA8CB8E4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33A370A-B259-B0EE-4553-4F8AB5CFC2D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FC0037-535D-D4F6-077B-59A714542028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Tốc Độ Nhanh Kỷ Lục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Pháp mất 115 năm, Thụy Điển mất 85 năm, Nhật Bản mất 26 năm, trong khi Việt Nam chỉ mất chưa đầy 20 năm để chuyển tiếp.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D4E0607A-0DC1-02E2-876A-04566C9EA78F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9AC05A8-125A-1CEC-1507-162631C41F91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D718885-822E-D899-6EED-5E3B4B6F413A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EE81EF1-749D-CCF1-0599-946BDB17C43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795E101-3858-E8A2-C01A-14F66078D341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Áp Lực Kép Lên Hệ Thống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Quá tải quỹ hưu trí bảo hiểm xã hội, mô hình bệnh tật kép (bệnh mạn tính không lây) và thiếu hụt mạng lưới điều dưỡng lão khoa.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73BC4094-32A9-10E0-B429-44824CB6566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Tổng cục Dân số - Kế hoạch hóa gia đình</a:t>
            </a:r>
          </a:p>
        </p:txBody>
      </p:sp>
    </p:spTree>
    <p:extLst>
      <p:ext uri="{BB962C8B-B14F-4D97-AF65-F5344CB8AC3E}">
        <p14:creationId xmlns:p14="http://schemas.microsoft.com/office/powerpoint/2010/main" val="2241792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D87DF11-8823-FA4D-A7B1-6E10B87723AA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THÁP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D2C3A85-56CF-4E88-D0E6-61F4468D908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17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5A39F78-1751-6648-2307-952921B7B0A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Tháp Dân Số: Cấu Trúc Trực Quan Và Giá Trị Nhận Thức Lịch Sử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A78F7FBB-BE7B-EDA3-1A84-C74AEB6EAD4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5F62E890-A8BF-A2EC-2644-5E5EFD22F615}"/>
              </a:ext>
            </a:extLst>
          </p:cNvPr>
          <p:cNvGrpSpPr/>
          <p:nvPr/>
        </p:nvGrpSpPr>
        <p:grpSpPr>
          <a:xfrm>
            <a:off x="6644640" y="1676400"/>
            <a:ext cx="4937760" cy="2184400"/>
            <a:chOff x="6644640" y="1676400"/>
            <a:chExt cx="4937760" cy="218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4297204-3026-4E6E-D3DD-4AB1CBA4E71A}"/>
                </a:ext>
              </a:extLst>
            </p:cNvPr>
            <p:cNvSpPr/>
            <p:nvPr/>
          </p:nvSpPr>
          <p:spPr>
            <a:xfrm>
              <a:off x="6644640" y="1676400"/>
              <a:ext cx="4937760" cy="218440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884E648-C91A-1791-6A8E-B50A1447D009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4F03BF5F-2808-4EE4-35F9-09ACE4968DF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8F89A77-0AA0-8D68-B65E-F6AF6240BDEF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Cấu Trúc Trục Biểu Đồ Tháp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Trục tung chia theo các độ tuổi (thường là nhóm 5 tuổi), trục hoành biểu thị tỷ lệ hoặc số lượng: bên trái là Nam, bên phải là Nữ.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D074BF18-8D19-BEA2-A106-CCC86388D9DE}"/>
              </a:ext>
            </a:extLst>
          </p:cNvPr>
          <p:cNvGrpSpPr/>
          <p:nvPr/>
        </p:nvGrpSpPr>
        <p:grpSpPr>
          <a:xfrm>
            <a:off x="6644640" y="4013200"/>
            <a:ext cx="4937760" cy="2184400"/>
            <a:chOff x="6644640" y="4013200"/>
            <a:chExt cx="4937760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DB77D59-A1AB-26F5-3E81-3F6CC05737A0}"/>
                </a:ext>
              </a:extLst>
            </p:cNvPr>
            <p:cNvSpPr/>
            <p:nvPr/>
          </p:nvSpPr>
          <p:spPr>
            <a:xfrm>
              <a:off x="6644640" y="4013200"/>
              <a:ext cx="4937760" cy="21844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707626B-C580-FCD4-8635-5A28FCF6AEB6}"/>
                </a:ext>
              </a:extLst>
            </p:cNvPr>
            <p:cNvSpPr/>
            <p:nvPr/>
          </p:nvSpPr>
          <p:spPr>
            <a:xfrm>
              <a:off x="6822440" y="41910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0EE197D2-2306-F996-B73E-992FFAF95C5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42545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F0C1D16-6114-CD2F-C8BC-58EBF5FCBD75}"/>
                </a:ext>
              </a:extLst>
            </p:cNvPr>
            <p:cNvSpPr txBox="1"/>
            <p:nvPr/>
          </p:nvSpPr>
          <p:spPr>
            <a:xfrm>
              <a:off x="7305040" y="41402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Giá Trị Nhận Thức Nhân Khẩu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Các vết lõm phản ánh chiến tranh, dịch bệnh hoặc giảm sinh; các phần phình to phản ánh làn sóng bùng nổ trẻ em (Baby Boom).</a:t>
              </a: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C96F8BC7-7CD8-5018-BCD1-710E2E85AF91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Kỹ thuật phân tích tháp dân số</a:t>
            </a:r>
          </a:p>
        </p:txBody>
      </p:sp>
    </p:spTree>
    <p:extLst>
      <p:ext uri="{BB962C8B-B14F-4D97-AF65-F5344CB8AC3E}">
        <p14:creationId xmlns:p14="http://schemas.microsoft.com/office/powerpoint/2010/main" val="8964849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D38A285-840A-F4E8-B736-C8AD04DF5EE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DẠNG THÁP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3E26117-12F0-5EA6-0515-D473FDB8319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18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C35F4A6-2686-EF2F-1D58-2727B07BE24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Ba Dạng Tháp Dân Số Kinh Điển: Mở Rộng, Ổn Định Và Thu Hẹp</a:t>
            </a:r>
          </a:p>
        </p:txBody>
      </p:sp>
      <p:graphicFrame>
        <p:nvGraphicFramePr>
          <p:cNvPr id="5" name="!!Stage_Hero_Container">
            <a:extLst>
              <a:ext uri="{FF2B5EF4-FFF2-40B4-BE49-F238E27FC236}">
                <a16:creationId xmlns:a16="http://schemas.microsoft.com/office/drawing/2014/main" id="{33252C34-F1E1-2F7F-32D3-30E4DA2056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75286"/>
              </p:ext>
            </p:extLst>
          </p:nvPr>
        </p:nvGraphicFramePr>
        <p:xfrm>
          <a:off x="609600" y="1676400"/>
          <a:ext cx="109728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4016">
                  <a:extLst>
                    <a:ext uri="{9D8B030D-6E8A-4147-A177-3AD203B41FA5}">
                      <a16:colId xmlns:a16="http://schemas.microsoft.com/office/drawing/2014/main" val="480660860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2969123297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502433182"/>
                    </a:ext>
                  </a:extLst>
                </a:gridCol>
                <a:gridCol w="1975104">
                  <a:extLst>
                    <a:ext uri="{9D8B030D-6E8A-4147-A177-3AD203B41FA5}">
                      <a16:colId xmlns:a16="http://schemas.microsoft.com/office/drawing/2014/main" val="1279155156"/>
                    </a:ext>
                  </a:extLst>
                </a:gridCol>
                <a:gridCol w="2633472">
                  <a:extLst>
                    <a:ext uri="{9D8B030D-6E8A-4147-A177-3AD203B41FA5}">
                      <a16:colId xmlns:a16="http://schemas.microsoft.com/office/drawing/2014/main" val="646071304"/>
                    </a:ext>
                  </a:extLst>
                </a:gridCol>
              </a:tblGrid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DẠNG THÁP DÂN SỐ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ĐÁY THÁP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THÂN THÁP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ĐỈNH THÁP</a:t>
                      </a: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300" b="1">
                          <a:solidFill>
                            <a:srgbClr val="FFFFFF"/>
                          </a:solidFill>
                          <a:latin typeface="Segoe UI" panose="020B0502040204020203" pitchFamily="34" charset="0"/>
                        </a:rPr>
                        <a:t>ĐẶC TRƯNG DÂN SỐ &amp; ĐIỂN HÌNH</a:t>
                      </a:r>
                      <a:endParaRPr lang="en-US" sz="1300" b="1">
                        <a:solidFill>
                          <a:srgbClr val="FFFFFF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600983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Tháp Mở Rộng (Expansive)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Rất rộng, đáy mở to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Thu hẹp nhanh dần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Đỉnh tháp nhọn hẹp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Dân số trẻ, sinh cao, tử giảm (Các nước đang phát triển)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245493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Tháp Ổn Định (Stationary)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vi-VN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Tương đương thân</a:t>
                      </a:r>
                      <a:endParaRPr lang="en-US" sz="1200" b="0">
                        <a:solidFill>
                          <a:srgbClr val="0F172A"/>
                        </a:solidFill>
                        <a:latin typeface="Segoe UI" panose="020B0502040204020203" pitchFamily="34" charset="0"/>
                      </a:endParaRP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Thẳng đứng, đều đặn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Đỉnh tháp mở rộng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Dân số dừng, TFR ≈ 2.1 con, sống thọ (Bắc Âu, Thụy Điển)</a:t>
                      </a:r>
                    </a:p>
                  </a:txBody>
                  <a:tcPr marT="76200" marB="762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706923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algn="l"/>
                      <a:r>
                        <a:rPr lang="en-US" sz="1200" b="1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Tháp Thu Hẹp (Constrictive)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Co thắt, hẹp hơn thân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Phình to ở giữa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Đỉnh tháp rất rộng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0F172A"/>
                          </a:solidFill>
                          <a:latin typeface="Segoe UI" panose="020B0502040204020203" pitchFamily="34" charset="0"/>
                        </a:rPr>
                        <a:t>Dân số già, sinh thấp kéo dài (Nhật Bản, Đức, Ý)</a:t>
                      </a:r>
                    </a:p>
                  </a:txBody>
                  <a:tcPr marT="76200" marB="76200" anchor="ctr"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609344"/>
                  </a:ext>
                </a:extLst>
              </a:tr>
            </a:tbl>
          </a:graphicData>
        </a:graphic>
      </p:graphicFrame>
      <p:sp>
        <p:nvSpPr>
          <p:cNvPr id="6" name="!!Anchor_Source_Footer">
            <a:extLst>
              <a:ext uri="{FF2B5EF4-FFF2-40B4-BE49-F238E27FC236}">
                <a16:creationId xmlns:a16="http://schemas.microsoft.com/office/drawing/2014/main" id="{DD449C0D-7916-3086-4C49-101BD0B9400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Phân loại tháp dân số của Liên Hợp Quốc</a:t>
            </a:r>
          </a:p>
        </p:txBody>
      </p:sp>
    </p:spTree>
    <p:extLst>
      <p:ext uri="{BB962C8B-B14F-4D97-AF65-F5344CB8AC3E}">
        <p14:creationId xmlns:p14="http://schemas.microsoft.com/office/powerpoint/2010/main" val="11758077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9D11B356-95E9-214D-53E1-9394814934C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THÁP DÂN SỐ VN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0D5CDB8-4683-16CB-60FF-6CCC02269DF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19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0EB7B8D2-5318-9472-E274-792AB0FE59F4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Biến Đổi Hình Thái Tháp Dân Số Việt Nam Từ Dạng Đáy Rộng Sang Con Thoi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956C921F-16DB-4E1B-A32D-8CE9CBD4D8D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96CF902E-A992-E448-2D40-0304ED25F641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817C682-9A0E-0C35-FD70-72EAF55CC3D7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3E19C46-459B-2FDC-7C7A-02BB815C1877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57CA40C3-55F1-04EB-2A30-589434254EB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73D63F-0B62-BA3F-63C9-A7696D92EA91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Năm 1989: Tháp Đáy Rộng Tam Giác
</a:t>
              </a:r>
              <a:r>
                <a:rPr lang="en-US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Nhóm tuổi 0-14 chiếm trên 40% dân số, gánh nặng phụ thuộc trẻ em rất lớn, mức sinh bình quân còn trên 3.8 con/phụ nữ.</a:t>
              </a: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94F4761D-447E-EA8E-326E-69DD596E83E5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7CFAE0A4-363F-CF2E-E92F-F4DCC32B8559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F25BDA2-C807-4936-13D2-CA4AF53A5F15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5A21474-47BA-2705-DE4F-C9D4DC6071A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CAC9D30-FED6-2A82-4FDD-34EC1A69C539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1205458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Năm 2019: Tháp Dạng Con Thoi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Thân tháp phình to ở nhóm tuổi 20-39 với 68.0% người trong độ tuổi lao động (dân số vàng), đáy tháp co hẹp lại do mức sinh ổn định.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6185043D-7F96-6F40-1347-80B4A4749727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AF45E75-6849-265F-1F8E-46D92F51A6DE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62CB8D4-FE6C-DE3B-4188-2335E93D468E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3A2C214-6DDF-3C93-33F5-6B0D922BFBC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8C8CB6-364D-77B6-88F6-30E0D1ABEF25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Xu Hướng Đến Năm 2040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Đỉnh tháp phình to mạnh mẽ do số người cao tuổi tăng nhanh, đòi hỏi chuẩn bị ngay hệ sinh thái dịch vụ dưỡng lão chuyên nghiệp.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F8E3D49A-7918-1525-3826-07B6177759A1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Dữ liệu Tổng điều tra dân số 1989 - 2019</a:t>
            </a:r>
          </a:p>
        </p:txBody>
      </p:sp>
    </p:spTree>
    <p:extLst>
      <p:ext uri="{BB962C8B-B14F-4D97-AF65-F5344CB8AC3E}">
        <p14:creationId xmlns:p14="http://schemas.microsoft.com/office/powerpoint/2010/main" val="11454518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83F3CAC0-FE1B-EE70-79B5-42F15E9C378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CƠ CẤU XÃ HỘI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50AE1AF-C0E4-9141-7D35-F9BE0F1D875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20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B71F83B-A157-6310-3630-3BF5AB5E53BB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Cơ Cấu Xã Hội Của Dân Số: Hôn Nhân, Dân Tộc Và Học Vấn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5F3EB9D5-B8C4-464D-664B-5BB48C6CC46D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5E809B9C-03D6-40D4-9007-402D3515B51C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229DFAD-EC6A-0416-6E55-1E1D32D451FD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7886AA7-D34B-1EF1-4C5E-4375E26F49B3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31966A1C-1870-CB0E-5586-7CD72CDBF2B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2F2B38B-B91D-55A0-AAF3-3F94394D0982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Tình Trạng Hôn Nhân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Tỷ lệ độc thân tăng, tuổi kết hôn lần đầu trung bình tăng lên 27.2 tuổi (nam 29.8, nữ 24.6), mức sinh có xu hướng giảm.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A7AA5D4B-0253-6D7F-A2C6-D6D59BB0AC14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A669A93E-F5DA-64BE-99EC-DFE354092555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EA45396-B524-B103-A026-403D69551B70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B1089E2-34BD-56DB-82E8-96B3E7828F8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6DB0061-EFB9-6CC3-BEC0-7DAC6C5A0DE2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Cơ Cấu Dân Tộc (54 Dân Tộc)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Dân tộc Kinh chiếm khoảng 85.3%, 53 dân tộc thiểu số chiếm 14.7%, đòi hỏi chính sách hỗ trợ phát triển vùng đồng bào thiểu số.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9CD9AC10-464B-4569-A7F2-6CFE5CA39D7C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27EE5D6-BFC3-BAC7-65A3-7B7BB41AEAB5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27455BC-FA8D-ACD2-9AAD-79E31181EFA8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F6799CDA-EF4E-03A3-1E40-E8A6E752B9C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FB6D263-5498-15FD-2FE4-F91F50425B18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Trình Độ Học Vấn &amp; Tay Nghề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Tỷ lệ biết chữ đạt trên 95%, nhưng tỷ lệ lao động có chứng chỉ kỹ năng nghề vẫn là điểm nghẽn cần tháo gỡ cấp bách.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53778ECD-976C-2275-034E-28E76D720D1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Kết quả khảo sát dân tộc thiểu số và mức sống dân cư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97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9267EC49-EE76-961D-022F-C9428BCD55E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CHẤT LƯỢNG DÂN SỐ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5ECEF73-0225-FC0E-4349-321112AC651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21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493F97C-7968-8FA2-7BA7-EA474FBF1BC1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Khái Niệm Toàn Diện Về Chất Lượng Dân Số: Thể Chất, Trí Tuệ Và Tinh Thần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2938C397-B2FC-4245-4D56-F9C775DC1ED6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406CF60-DB2E-210A-11D6-7EEB8C195BF0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CBD5E1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86F186B8-267C-9345-AFD1-E3AE68F1975E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8BABB4B-BBA2-5FF9-DDC5-152E453D6885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AAF1A7B-A068-C1C9-DB47-B85FBC289D2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0B851B8-E05F-F3A4-2BC3-2C465483B085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0F172A"/>
                  </a:solidFill>
                  <a:latin typeface="Segoe UI" panose="020B0502040204020203" pitchFamily="34" charset="0"/>
                </a:rPr>
                <a:t>Chất lượng dân số phản ánh năng lực thể chất, trình độ học vấn trí tuệ và sự an lạc tinh thần của toàn bộ cộng đồng.</a:t>
              </a:r>
              <a:endParaRPr lang="en-US" sz="1250" b="1">
                <a:solidFill>
                  <a:srgbClr val="0F172A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12218A36-EC94-92B3-54F3-57760323C91D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D3A3C5C-3B16-6D50-7BF7-79C7160B84F7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82F559D0-0289-394E-58CB-DAC633F4A8CC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E2F8B64-9E09-A701-9ABD-3B104C1B98A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9355ABF-6A9A-5C13-3BC6-790F8B26F5D7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Chất Lượng Thể Chất (Physical)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Đo lường bằng tuổi thọ bình quân, kỳ vọng sống khỏe mạnh, chiều cao, cân nặng, sức bền và tỷ lệ suy dinh dưỡng trẻ em.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DB93F4D9-1BC6-EBE4-81B1-5F3880F10F2E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AC8CC255-363C-503D-1EDA-03259CFC2D90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D986DBC-DB4B-734A-0BB3-1B3186F1EDC1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993D3DB7-02F6-0A49-FDB2-8113333D87F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CEF4B6F-77D7-A5C9-9FFA-6488A33A41B5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Chất Lượng Trí Tuệ (Intellectual)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Biểu hiện qua tỷ lệ biết chữ, số năm đi học bình quân, tỷ lệ lao động có chuyên môn kỹ thuật và năng lực sáng tạo công nghệ.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78AE7765-6323-2209-6C20-38C2EA89D304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476E63D0-B96A-D66C-F37A-03BA48B7D635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D87CE3C-D404-ABFA-8C2A-5AB19856D287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CDA1F073-DA3F-605E-4B0C-5CA51562B74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7CD32DF-D242-A88D-236D-2343E56FDE00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Chất Lượng Tinh Thần (Mental)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Phản ánh qua mức độ hài lòng cuộc sống, sức khỏe tâm thần, môi trường gia đình ấm no và các chuẩn mực đạo đức xã hội.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6FB50956-4A64-EBE3-58F7-329C826A190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Pháp lệnh Dân số Việt Nam</a:t>
            </a:r>
          </a:p>
        </p:txBody>
      </p:sp>
    </p:spTree>
    <p:extLst>
      <p:ext uri="{BB962C8B-B14F-4D97-AF65-F5344CB8AC3E}">
        <p14:creationId xmlns:p14="http://schemas.microsoft.com/office/powerpoint/2010/main" val="22430216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6E9DE92-475D-DBE7-04E0-A1E26174396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CHỈ SỐ HDI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4C611A2-9449-48DB-1732-39B740A1E48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22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B745C8F-98DE-E9E2-85A4-9ABC2E485DC6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Chỉ Số Phát Triển Con Người (HDI) Và Ba Trụ Cột Thành Phần Đo Lường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34A95E85-52F1-D330-A351-6EFEFB2C2D59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F3552BF-C000-F545-2DBB-078F4B633BEA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A8DCCCD1-59D7-D0D6-1ADD-4D91B0E7D018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6BB227-F209-C49F-BA04-A5ABA1AEDE00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0284C7"/>
                  </a:solidFill>
                  <a:latin typeface="Segoe UI" panose="020B0502040204020203" pitchFamily="34" charset="0"/>
                </a:rPr>
                <a:t>HDI = [I_Health * I_Education * I_Income]^(1/3) = (LEI * EI * II)^(1/3)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3BA1C946-B8A0-DB3E-EBA5-5920D3B99650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86EE173B-5207-5A82-51FD-B532E807A5D7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71F6D7E-8120-C343-CD41-5954A70FFBF8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97AFC09-513D-DF12-35B9-845C2ED6C37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19D5B78-6BF7-28D0-0D0E-F1847C3A4C58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1. Trụ Cột Sức Khỏe (LEI)
</a:t>
              </a:r>
              <a:r>
                <a:rPr lang="en-US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Đo bằng tuổi thọ kỳ vọng khi sinh (Life Expectancy Index). Chuẩn hóa trong khoảng từ 20 năm đến 85 năm.</a:t>
              </a: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081A70B4-887D-C770-6EF0-39F9F425DA70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9812C51E-249C-5320-D549-1408A7D43DA3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EEA150B-83D4-FE7C-8131-E749EE0B0857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D4BED33C-DE88-4CB0-7123-5D74B43F737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3B2306-497D-16AC-9832-119BF59694A2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2. Trụ Cột Giáo Dục (EI)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Kết hợp giữa số năm đi học kỳ vọng của trẻ em (EYS) và số năm đi học bình quân của người từ 25 tuổi trở lên (MYS).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C905208B-41E6-46A8-334D-D9AA3117C304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B547CFA3-3691-6CDF-8EB3-5476A723ADC2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FECB70C-1F73-3D30-9BF0-7A62AECA35EE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AA144143-63B5-2145-1D51-F6953D704FA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3D57045-B84C-6BD2-4A36-49442CEC46B3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44398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3. Trụ Cột Thu Nhập (II)
</a:t>
              </a:r>
              <a:r>
                <a:rPr lang="vi-VN" sz="1350" b="1">
                  <a:solidFill>
                    <a:srgbClr val="334155"/>
                  </a:solidFill>
                  <a:latin typeface="Segoe UI" panose="020B0502040204020203" pitchFamily="34" charset="0"/>
                </a:rPr>
                <a:t>Đo bằng Tổng thu nhập quốc dân (GNI) bình quân đầu người tính theo sức mua tương đương (PPP tính bằng USD).</a:t>
              </a:r>
              <a:endParaRPr lang="en-US" sz="135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FF89D35F-7E3C-6797-3DF5-65FC4CCC22E8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Chương trình Phát triển Liên Hợp Quốc (UNDP HDR)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2416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15A8BF75-F054-49F2-BD35-F06E6830547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HDI VIỆT NAM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7F3115AD-29D9-ED1E-14D0-83A1758B89B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23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408690E-F62E-1C48-A905-ABB959239620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Vị Thế Và Tiến Trình Cải Thiện Chỉ Số HDI Của Việt Nam Trên Bản Đồ Thế Giới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00CB175C-D14D-6A00-79A5-119810F0044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CBD5E1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D204B7DB-7D62-6E37-D6CF-94339DD72F8B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CDA51B6C-738B-9422-9552-5402F00B8D64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A2DC23-FD71-32E2-0830-8A971A30EF8F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A9537EF4-B544-1462-AA4E-B035A853D2F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F6164A4-CDC2-59DE-85EE-5214C8DD6E25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HDI Đạt 0.726 (2023)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Việt Nam xếp thứ 107 trên 193 quốc gia, thuộc nhóm phát triển con người cao nhờ cải thiện liên tục suốt 3 thập kỷ.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6F00F471-2530-93C5-048F-F667A1D4F9AC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350669B-5413-B499-72BE-3D5429853B25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8A79FB3-7E5F-D301-6F61-62019CEF4A7F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A996DCB-6ECB-C6D7-DA78-E1DDE242051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449A90-22D0-FA97-D94B-A94F25A28E24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Điểm Mạnh Tuổi Thọ (73.7 Tuổi)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Chỉ số sức khỏe của Việt Nam vượt trội so với các quốc gia có cùng mức thu nhập bình quân đầu người.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90AA59BB-3966-B5FB-B431-336E16FDD827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33F873B-C2BA-F34D-655F-84A8EBC3A800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53ED5C6-D00B-B76D-990C-D25D9D0BDF04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63C672AE-9AB7-896A-9D97-D1F90C43B66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A5BB5E1-F3B1-5488-F947-964CF9CA6EE2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0F172A"/>
                  </a:solidFill>
                  <a:latin typeface="Segoe UI" panose="020B0502040204020203" pitchFamily="34" charset="0"/>
                </a:rPr>
                <a:t>Dư Địa Cải Thiện Thu Nhập &amp; Giáo Dục
</a:t>
              </a:r>
              <a:r>
                <a:rPr lang="vi-VN" sz="1400" b="1">
                  <a:solidFill>
                    <a:srgbClr val="334155"/>
                  </a:solidFill>
                  <a:latin typeface="Segoe UI" panose="020B0502040204020203" pitchFamily="34" charset="0"/>
                </a:rPr>
                <a:t>Cần thúc đẩy đào tạo sau phổ thông và chuyển đổi mô hình kinh tế để nâng cao thực chất GNI bình quân đầu người.</a:t>
              </a:r>
              <a:endParaRPr lang="en-US" sz="14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9D8D1714-6B63-9A45-3EF2-B845B61E084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Báo cáo Phát triển Con người Toàn cầu - UNDP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15332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C747DE63-789A-87C7-7D3B-89A7AE6A462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SỨC KHỎE DÂN SỐ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85BCE9D-2CF5-CECD-4504-EFA69720925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24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9BB7AED-3C56-9501-38C8-E43563688648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Hệ Thống Chỉ Báo Đo Lường Sức Khỏe Thể Lực Và Tình Trạng Dinh Dưỡng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C2464268-0F55-56DD-58B9-AE80840D9C33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1EA96DDC-93BE-57A9-C3B5-22B8ADBC2D84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FCFCF9D-A5AA-B8C6-41B6-12888F1B7594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B91191F-B4EE-D7E5-D649-49B68A1EF352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5D2ECD4E-A2E7-5C5E-02A3-755975744D8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059850A-C759-1DCB-D1D1-6201AC0F518F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Tử Vong Trẻ Em (IMR &amp; U5MR)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Tỷ suất tử vong trẻ sơ sinh (IMR) giảm xuống dưới 12‰; tử vong dưới 5 tuổi (U5MR) giảm mạnh về mức 18.9‰.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E6C35074-692D-5D47-2F9D-5C63D1247E6E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E364DB3-4919-82DE-70C5-D712ECAA680C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D0581D-0464-9650-BE00-D7E0CDB1BF6B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1BC375C-27AF-F6DE-0D60-77242D1A5CD0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60D2CCE-E9D9-10FD-F9FC-54F5E10ACE5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EEF43A-3C3C-0517-8815-C38C45FE8E66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2255361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Chiều Cao Thanh Niên Cải Thiện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Chiều cao trung bình của nam thanh niên đạt 168.1 cm, nữ đạt 156.2 cm, tăng hơn 3 cm sau 10 năm can thiệp dinh dưỡng học đường.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9334D2EE-7810-EC50-7BB3-90A750C18A3D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5677A5C-DDD8-3E56-875D-22B70D142AEC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4E6BE1-2B54-5818-2A66-D6E6B884B67F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FE64E87-D967-3621-94A8-9EFC8381CB01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1067E9FC-79D2-C45E-2B03-260FE18556C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75A7060-D1F2-8DF4-9377-E076DE512083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Mô Hình Bệnh Tật Kép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Bệnh không lây nhiễm (tim mạch, ung thư, tiểu đường) chiếm hơn 70% gánh nặng bệnh tật và nguyên nhân tử vong.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A2E87F33-4555-3BC7-EBA5-ACB16E9F69E6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Bộ Y tế - Khảo sát Dinh dưỡng Quốc gia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7455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3AA7C1A-CC9A-798F-BBF4-63D98FC6CB4C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YẾU TỐ ẢNH HƯỞNG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1B618E3-CC2E-A857-D1A5-DF911B35BBB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25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9ED1D45-ABB5-41B2-1126-D8AC880B88F5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Bốn Nhóm Yếu Tố Quyết Định Nâng Cao Chất Lượng Dân Số Bền Vững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7610188-3008-18E1-D7EC-07F755F3E614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888EF56-0086-4BAD-C122-E9FCC419FEEA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EB973F2-1442-54D1-13B8-7307D2D3FB6F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B6C9CBB-0058-FBE6-0FC0-1A66D9B74839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4F0D7C7-B65B-EA08-3636-B65D96EAC93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C90453E-9D01-7048-1B0A-9F7F4F4E538E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Kinh Tế &amp; An Sinh Xã Hội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Tăng trưởng thu nhập, giảm nghèo bền vững và mở rộng bao phủ bảo hiểm y tế toàn dân tạo nền tảng vật chất vững chắc.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CB1F0FCF-B389-C3C0-39DF-AB26E62B70C9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80173018-7E1A-4828-1D25-88BF4A35FBDD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204E9F-9346-D003-3F02-9656B73898AC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B09FFA-B0D5-BFE6-0731-13EC4E0C4DB9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9CE05DC-8CE6-8F32-1C75-A974852AF28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70C2AD7-CC3C-EA33-B201-BB941434D356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Y Tế &amp; Chăm Sóc Đầu Đời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Khám sức khỏe tiền hôn nhân, tầm soát trước sinh và sơ sinh giúp giảm thiểu tối đa dị tật bẩm sinh di truyền.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92F0360A-8702-321D-D0DA-86C94F3032B4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EB31F60-2EA5-DD98-4D38-9911595DF387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508919B-CA3A-C54C-8F05-1831C5882AEA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E822F14-84FE-4B32-35EB-DD3946D52C01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BD043633-0FDE-87C8-415F-2B992B541C4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9C6CEB9-6498-C8B6-98F5-CF52D80722C3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Hệ Thống Giáo Dục &amp; Kỹ Năng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Đổi mới căn bản giáo dục phổ thông, phát triển trường nghề chất lượng cao và xây dựng xã hội học tập suốt đời.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D73E623E-0D86-C2F7-328A-593A3834390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Chiến lược Dân số và Sức khỏe sinh sản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4139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9DF33092-D5A3-3F28-E90E-5BA53F4915D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MỐI QUAN HỆ BIỆN CHỨNG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3AD6ACF-D4B3-047B-3F17-BE5B28C2823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26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CB39758-F969-1BD4-B3DD-B059D5B1613C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Mối Quan Hệ Biện Chứng Giữa Quy Mô, Cơ Cấu Và Chất Lượng Dân Số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89881BB5-94BC-D400-8B0A-6936B44E7525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EB3E5FA-A8D1-885E-0B86-9F438199C405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C3542DC-4B7C-B5F6-549E-C70C11FF6074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80EC25D-9F6A-7C62-CD48-5F68479525E0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7BC1E73-655E-7F95-01DF-9369FFE263F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B6F96F6-7685-6C6B-93D7-AD38F6AC08E3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F172A"/>
                  </a:solidFill>
                  <a:latin typeface="Segoe UI" panose="020B0502040204020203" pitchFamily="34" charset="0"/>
                </a:rPr>
                <a:t>Cơ Cấu Vàng Là Thời Cơ Nâng Cao Chất Lượng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Tỷ lệ người phụ thuộc thấp cho phép gia đình và nhà nước dồn nguồn lực đầu tư giáo dục, dinh dưỡng chất lượng cao cho con em.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127F16A0-4F29-1C0C-FA9D-04F5AB113EF8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EE964D4-D187-C947-B79D-520394B7832C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50D18E8-E3F6-76A3-EC9A-6A2B7A0F3260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D1FAE5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59669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059669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6D946BF-C59F-7C8C-9695-2616C6B38FB8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1D5574F8-49E9-A715-5AEA-01E6C1B82732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8F5271-F31D-2424-4381-441210D81CB7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915204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vi-VN" sz="2000" b="1">
                  <a:solidFill>
                    <a:srgbClr val="0284C7"/>
                  </a:solidFill>
                  <a:latin typeface="Segoe UI" panose="020B0502040204020203" pitchFamily="34" charset="0"/>
                </a:rPr>
                <a:t>Chất Lượng Cao Bù Đắp Suy Giảm Số Lượng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Khi quy mô bước vào giai đoạn chững lại và cơ cấu già hóa, năng suất lao động vượt trội sẽ bù đắp hoàn toàn sự thiếu hụt số lượng.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2DE37FBC-08AE-9E41-9950-DC8B354449C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Nghị quyết 21-NQ/TW</a:t>
            </a:r>
          </a:p>
        </p:txBody>
      </p:sp>
    </p:spTree>
    <p:extLst>
      <p:ext uri="{BB962C8B-B14F-4D97-AF65-F5344CB8AC3E}">
        <p14:creationId xmlns:p14="http://schemas.microsoft.com/office/powerpoint/2010/main" val="11574502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155984D-D761-41E4-2152-D023DCFF448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ĐỊNH HƯỚNG CHIẾN LƯỢC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75331ADA-3FEB-72B9-3EBD-6EBDF48A0FB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27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DAA8EB2-7C0A-F0F1-F305-678660BD525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0F172A"/>
                </a:solidFill>
                <a:latin typeface="Segoe UI" panose="020B0502040204020203" pitchFamily="34" charset="0"/>
              </a:rPr>
              <a:t>Định Hướng Chiến Lược Nâng Cao Toàn Diện Chất Lượng Dân Số Đến 2030</a:t>
            </a:r>
            <a:endParaRPr lang="en-US" sz="2400" b="1">
              <a:solidFill>
                <a:srgbClr val="0F172A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A709AFE1-A591-8A71-A678-4FA9D33B75A4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7CD8BA7C-4E4E-EA98-CF0F-DE242DEF1246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5A5FCE-8A21-D421-952E-A355677F9D2C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E454F35B-14B3-D705-2F27-E3DF8DF38F3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C57135E-C32C-7188-9264-783946326504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1. Duy Trì Mức Sinh Thay Thế
</a:t>
              </a:r>
              <a:r>
                <a:rPr lang="en-US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Vận động mỗi cặp vợ chồng sinh đủ 2 con, kiểm soát không để mức sinh giảm quá sâu tại các đô thị phát triển.</a:t>
              </a: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2E247A60-385F-D88A-687A-DE8482DC8219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79C26256-E562-08B7-4F0A-1927ED36EEC4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F7E0F14-C30B-85B2-E570-6B931FC8681B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6950C163-88AA-04F3-7DA1-6220F7E9DBC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699E6F5-54CC-663B-B4E5-FC9D15619879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2. Đưa SRB Về Mức Tự Nhiên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Phấn đấu đưa tỷ số giới tính khi sinh về dưới 109 bé trai / 100 bé gái vào năm 2030 qua kiểm soát nghiêm ngặt y tế.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3DB3A284-4CFA-FA44-6020-25FC812C29BF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DA6BF8C4-FAE7-DA79-DC3B-71A043242094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9620C3D-2AC3-F43B-60FE-49582D1FC984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E8847DD8-18E8-D2D1-B72E-F71DFB41E3E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4C22961-0753-9D11-0052-4972FBF9A9E3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3. Tận Dụng Vàng &amp; Thích Ứng Già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Phát triển công nghiệp giá trị gia tăng cao và chuẩn bị cơ sở hạ tầng, y tế lão khoa thích ứng xã hội dân số già.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379C6549-E820-9F88-7D5C-237820A1955C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9A053DAB-1821-BE69-5E97-3C219175645F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01FAC2-C174-5ED7-6B22-554DB1A463B3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0F172A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573BC881-EFEF-29BE-3404-70D69239A3B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ABE07E0-44FB-8AF5-075B-083127336001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0F172A"/>
                  </a:solidFill>
                  <a:latin typeface="Segoe UI" panose="020B0502040204020203" pitchFamily="34" charset="0"/>
                </a:rPr>
                <a:t>4. Tầm Soát Sức Khỏe Đầu Đời
</a:t>
              </a:r>
              <a:r>
                <a:rPr lang="vi-VN" sz="1500" b="1">
                  <a:solidFill>
                    <a:srgbClr val="334155"/>
                  </a:solidFill>
                  <a:latin typeface="Segoe UI" panose="020B0502040204020203" pitchFamily="34" charset="0"/>
                </a:rPr>
                <a:t>70% phụ nữ mang thai được sàng lọc trước sinh; 90% trẻ sơ sinh được sàng lọc 5 bệnh tật bẩm sinh phổ biến nhất.</a:t>
              </a:r>
              <a:endParaRPr lang="en-US" sz="1500" b="1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03C4D09F-CDF6-8C07-5480-4205AA738361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334155"/>
                </a:solidFill>
                <a:latin typeface="Segoe UI" panose="020B0502040204020203" pitchFamily="34" charset="0"/>
              </a:rPr>
              <a:t>Chiến lược Dân số Việt Nam đến năm 2030</a:t>
            </a:r>
            <a:endParaRPr lang="en-US" sz="1000">
              <a:solidFill>
                <a:srgbClr val="334155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558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71FC163-4FDE-0462-515B-7968BACC58B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TỔNG KẾT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5B97781-1F9C-B230-1F5A-3890D9C9350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334155"/>
                </a:solidFill>
                <a:latin typeface="Bahnschrift" panose="020B0502040204020203" pitchFamily="34" charset="0"/>
              </a:rPr>
              <a:t>28 / 28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2AA60A76-0E05-AE95-34AF-D8979920198F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0F172A"/>
                </a:solidFill>
                <a:latin typeface="Segoe UI" panose="020B0502040204020203" pitchFamily="34" charset="0"/>
              </a:rPr>
              <a:t>Tổng Kết Chuyên Đề Và Bài Tập Thực Hành Tính Toán Dân Số Học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2B2522D1-370B-3952-B550-71847516CCB2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41F39AC-D986-A71B-F29A-B7F7E93CBA52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6E42BBE-2C6D-9A42-2F37-14EBBA9BA714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E929DA9-F9D7-62F2-8B07-98C7DAA01132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1CB29D97-1E73-CB36-EF29-92875CD9B4E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D9AEE25-52F3-F8AE-7885-480FA4539C46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Bài Tập 1: Cân Bằng Dân Số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Cho P_0 = 1,000,000 người; B = 16,000; D = 6,000; I = 8,000; O = 3,000. Hãy tính quy mô dân số P_t và tỷ lệ tăng tổng số r_g.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DCB3E284-EE5A-A68A-1504-ED4D03ABB8C8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007C4A8-DF6F-A050-5396-4C2179152812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289C3D-9BA5-8DC5-1871-B2869822BC53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34A84D3-8B5A-9730-B1DC-78237BDCD7D6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6B48A9EA-D3A3-2DB9-7C07-F9A1EE2467B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D46035-C106-0F3B-0E42-DDB9688C4B39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Bài Tập 2: Tỷ Số Phụ Thuộc
</a:t>
              </a:r>
              <a:r>
                <a:rPr lang="vi-VN" sz="1500">
                  <a:solidFill>
                    <a:srgbClr val="334155"/>
                  </a:solidFill>
                  <a:latin typeface="Segoe UI" panose="020B0502040204020203" pitchFamily="34" charset="0"/>
                </a:rPr>
                <a:t>Dân số 0-14 chiếm 23%, dân số 65+ chiếm 9%, dân số 15-64 chiếm 68%. Tính YDR, ADR, CDR và xác định có thuộc cơ cấu vàng không?</a:t>
              </a:r>
              <a:endParaRPr lang="en-US" sz="1500">
                <a:solidFill>
                  <a:srgbClr val="334155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3D16A24A-2A3D-13F4-B474-399B57AB2376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6E1D91F7-3DD6-AB52-2A3B-8DB02138E356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CBD5E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B9AD06D-D066-2620-4153-38C7D031A6F4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114CD1E-E5F6-A355-63CF-DFBFFA4BCA1A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E0F2FE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3FF0FB2-0B86-265B-1168-6C192E0388E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1E27935-0957-1480-19BE-8BEE429226E8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0F172A"/>
                  </a:solidFill>
                  <a:latin typeface="Segoe UI" panose="020B0502040204020203" pitchFamily="34" charset="0"/>
                </a:rPr>
                <a:t>Thảo Luận Chính Sách 3
</a:t>
              </a:r>
              <a:r>
                <a:rPr lang="en-US" sz="1500">
                  <a:solidFill>
                    <a:srgbClr val="334155"/>
                  </a:solidFill>
                  <a:latin typeface="Segoe UI" panose="020B0502040204020203" pitchFamily="34" charset="0"/>
                </a:rPr>
                <a:t>Đề xuất 3 giải pháp chính sách an sinh xã hội khả thi để Việt Nam chủ động ứng phó với tốc độ già hóa dân số nhanh hiện nay.</a:t>
              </a: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1FEAF2D3-0E14-EF5A-23DF-9379C0A494F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334155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34319015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4199</Words>
  <Application>Microsoft Office PowerPoint</Application>
  <PresentationFormat>Custom</PresentationFormat>
  <Paragraphs>230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2026-09-18T09:14:27Z</dcterms:created>
  <dcterms:modified xsi:type="dcterms:W3CDTF">2026-09-18T09:14:27Z</dcterms:modified>
</cp:coreProperties>
</file>